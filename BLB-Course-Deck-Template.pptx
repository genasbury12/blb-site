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notesMasterIdLst>
    <p:notesMasterId r:id="rId10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notesMaster" Target="notesMasters/notesMaster1.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Ink panel left, circle right. Swap course name and subtitle.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RIGHT. Body copy left, a script pull-quote in the tinted panel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PINK STATEMENT. The loudest slide type. Use two or three times 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DIAGONAL LIST. Headline top-left, list steps down to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BAND. Cards overlap the dark band. Good for 3-4 parallel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2x2 GRID. Four parallel items. Different rhythm from a three-across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ICON ROWS. Horizontal bands, alternating fills. Reads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BREATHER. Nothing to read. A beat between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DIVIDER. Giant numeral bleeds off the left. Duplicate per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INK STATEMENT. Text left, soft shape right. Asymmetric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WORD. A huge tinted word sits behind the content. Very on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ARROW. Two blocks with an arrow. Shows a transformation, not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LEFT + CHECKLIST RIGHT. Both columns optically centred, soft brand circles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LEFT. Dark title panel on the left, numbered points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RIGHT. Body copy left, a script pull-quote in the tinted panel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HUGE STAT. One number, dominating. Never two of these in a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WORD. A huge tinted word sits behind the content. Very on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STACKED. Old way on top, new way below. Reads as a before/after.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Oversized quote mark bleeding into the corner, text set to the right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Full-height image panel on the right. Replace the tint block with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TWO COLUMN on ink. A different feel from the light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PROMPT. Pink header band, writing space below. Pause the video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on purple. Big italic figures instead of circles. Closes every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BREATHER. Nothing to read. A beat between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DIVIDER. Giant numeral bleeds off the left. Duplicate per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PINK STATEMENT. The loudest slide type. Use two or three times 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RIGHT. Body copy left, a script pull-quote in the tinted panel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STAGGERED CARDS. Offsetting the heights stops a card row feeling like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VERTICAL. Stacked down the page instead of across. Fits longer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BLUSH STATEMENT. Softest of the three statement styles.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DIAGONAL LIST. Headline top-left, list steps down to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ARROW. Two blocks with an arrow. Shows a transformation, not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Full-height image panel on the right. Replace the tint block with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CENTERED. Symmetrical, circles instead of cards. Good for a short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PROMPT. Pink header band, writing space below. Pause the video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WORD. A huge tinted word sits behind the content. Very on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BAND. Cards overlap the dark band. Good for 3-4 parallel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2x2 GRID. Four parallel items. Different rhythm from a three-across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LEFT + CHECKLIST RIGHT. Both columns optically centred, soft brand circles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 TRIO. Three numbers side by side. Different beat from one big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TWO COLUMN on ink. A different feel from the light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Oversized quote mark bleeding into the corner, text set to the right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PROMPT. Pink header band, writing space below. Pause the video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on purple. Big italic figures instead of circles. Closes every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DIVIDER. Giant numeral bleeds off the left. Duplicate per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PINK STATEMENT. The loudest slide type. Use two or three times 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STACKED. Old way on top, new way below. Reads as a before/after.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A real line with dots. Use for a sequence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STAGGERED CARDS. Offsetting the heights stops a card row feeling like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LEFT. Dark title panel on the left, numbered points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DIAGONAL LIST. Headline top-left, list steps down to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ARROW. Two blocks with an arrow. Shows a transformation, not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Full-height image panel on the right. Replace the tint block with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WORD. A huge tinted word sits behind the content. Very on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2x2 GRID. Four parallel items. Different rhythm from a three-across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TWO COLUMN on ink. A different feel from the light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 SPLIT. Number in a solid pink panel, the meaning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Oversized quote mark bleeding into the corner, text set to the right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PROMPT. Pink header band, writing space below. Pause the video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RIGHT. Body copy left, a script pull-quote in the tinted panel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on purple. Big italic figures instead of circles. Closes every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BREATHER. Nothing to read. A beat between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DIVIDER. Giant numeral bleeds off the left. Duplicate per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INK STATEMENT. Text left, soft shape right. Asymmetric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WORD. A huge tinted word sits behind the content. Very on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A real line with dots. Use for a sequence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BAND. Cards overlap the dark band. Good for 3-4 parallel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LEFT + CHECKLIST RIGHT. Both columns optically centred, soft brand circles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ARROW. Two blocks with an arrow. Shows a transformation, not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Full-height image panel on the right. Replace the tint block with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LEFT. Dark title panel on the left, numbered points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CENTERED. Symmetrical, circles instead of cards. Good for a short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2x2 GRID. Four parallel items. Different rhythm from a three-across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STACKED. Old way on top, new way below. Reads as a before/after.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TWO COLUMN on ink. A different feel from the light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HUGE STAT. One number, dominating. Never two of these in a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Oversized quote mark bleeding into the corner, text set to the right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PROMPT. Pink header band, writing space below. Pause the video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RIGHT. Body copy left, a script pull-quote in the tinted panel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on purple. Big italic figures instead of circles. Closes every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DIVIDER. Giant numeral bleeds off the left. Duplicate per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BLUSH STATEMENT. Softest of the three statement styles.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WORD. A huge tinted word sits behind the content. Very on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STAGGERED CARDS. Offsetting the heights stops a card row feeling like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A real line with dots. Use for a sequence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DIAGONAL LIST. Headline top-left, list steps down to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ARROW. Two blocks with an arrow. Shows a transformation, not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LEFT. Dark title panel on the left, numbered points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TWO COLUMN on ink. A different feel from the light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Oversized quote mark bleeding into the corner, text set to the right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PROMPT. Pink header band, writing space below. Pause the video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on purple. Big italic figures instead of circles. Closes every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DIVIDER. Giant numeral bleeds off the left. Duplicate per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CENTERED. Symmetrical, circles instead of cards. Good for a short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A real line with dots. Use for a sequence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TWO COLUMN on ink. A different feel from the light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PINK STATEMENT. The loudest slide type. Use two or three times 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on ink. Links and where to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Pink panel left, price card right. Every course ends with a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Warm sign off plus where to find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7053682" cy="6858000"/>
          </a:xfrm>
          <a:prstGeom prst="rect">
            <a:avLst/>
          </a:prstGeom>
          <a:solidFill>
            <a:srgbClr val="2E1F27"/>
          </a:solidFill>
          <a:ln/>
        </p:spPr>
      </p:sp>
      <p:sp>
        <p:nvSpPr>
          <p:cNvPr id="3" name="Shape 1"/>
          <p:cNvSpPr/>
          <p:nvPr/>
        </p:nvSpPr>
        <p:spPr>
          <a:xfrm>
            <a:off x="6323990" y="1051560"/>
            <a:ext cx="4754880" cy="4754880"/>
          </a:xfrm>
          <a:prstGeom prst="ellipse">
            <a:avLst/>
          </a:prstGeom>
          <a:solidFill>
            <a:srgbClr val="A93F63"/>
          </a:solidFill>
          <a:ln/>
        </p:spPr>
      </p:sp>
      <p:sp>
        <p:nvSpPr>
          <p:cNvPr id="4" name="Shape 2"/>
          <p:cNvSpPr/>
          <p:nvPr/>
        </p:nvSpPr>
        <p:spPr>
          <a:xfrm>
            <a:off x="6781190" y="1508760"/>
            <a:ext cx="3840480" cy="3840480"/>
          </a:xfrm>
          <a:prstGeom prst="ellipse">
            <a:avLst/>
          </a:prstGeom>
          <a:solidFill>
            <a:srgbClr val="FBF6EE"/>
          </a:solidFill>
          <a:ln/>
        </p:spPr>
      </p:sp>
      <p:sp>
        <p:nvSpPr>
          <p:cNvPr id="5" name="Text 3"/>
          <p:cNvSpPr/>
          <p:nvPr/>
        </p:nvSpPr>
        <p:spPr>
          <a:xfrm>
            <a:off x="777240" y="1234440"/>
            <a:ext cx="5120640" cy="274320"/>
          </a:xfrm>
          <a:prstGeom prst="rect">
            <a:avLst/>
          </a:prstGeom>
          <a:noFill/>
          <a:ln/>
        </p:spPr>
        <p:txBody>
          <a:bodyPr wrap="square" lIns="0" tIns="0" rIns="0" bIns="0" rtlCol="0" anchor="t"/>
          <a:lstStyle/>
          <a:p>
            <a:pPr indent="0" marL="0">
              <a:buNone/>
            </a:pPr>
            <a:r>
              <a:rPr lang="en-US" sz="1150" b="1" spc="400" kern="0" dirty="0">
                <a:solidFill>
                  <a:srgbClr val="BC8A47"/>
                </a:solidFill>
                <a:latin typeface="Karla" pitchFamily="34" charset="0"/>
                <a:ea typeface="Karla" pitchFamily="34" charset="-122"/>
                <a:cs typeface="Karla" pitchFamily="34" charset="-120"/>
              </a:rPr>
              <a:t>A BOSS LADY BLOGGERS COURSE</a:t>
            </a:r>
            <a:endParaRPr lang="en-US" sz="1150" dirty="0"/>
          </a:p>
        </p:txBody>
      </p:sp>
      <p:sp>
        <p:nvSpPr>
          <p:cNvPr id="6" name="Text 4"/>
          <p:cNvSpPr/>
          <p:nvPr/>
        </p:nvSpPr>
        <p:spPr>
          <a:xfrm>
            <a:off x="777240" y="1783080"/>
            <a:ext cx="5486400" cy="2377440"/>
          </a:xfrm>
          <a:prstGeom prst="rect">
            <a:avLst/>
          </a:prstGeom>
          <a:noFill/>
          <a:ln/>
        </p:spPr>
        <p:txBody>
          <a:bodyPr wrap="square" lIns="0" tIns="0" rIns="0" bIns="0" rtlCol="0" anchor="ctr"/>
          <a:lstStyle/>
          <a:p>
            <a:pPr indent="0" marL="0">
              <a:lnSpc>
                <a:spcPts val="4800"/>
              </a:lnSpc>
              <a:buNone/>
            </a:pPr>
            <a:r>
              <a:rPr lang="en-US" sz="4400" dirty="0">
                <a:solidFill>
                  <a:srgbClr val="FBF6EE"/>
                </a:solidFill>
                <a:latin typeface="Fraunces" pitchFamily="34" charset="0"/>
                <a:ea typeface="Fraunces" pitchFamily="34" charset="-122"/>
                <a:cs typeface="Fraunces" pitchFamily="34" charset="-120"/>
              </a:rPr>
              <a:t>Blog Foundations:</a:t>
            </a:r>
            <a:endParaRPr lang="en-US" sz="4400" dirty="0"/>
          </a:p>
          <a:p>
            <a:pPr indent="0" marL="0">
              <a:lnSpc>
                <a:spcPts val="4800"/>
              </a:lnSpc>
              <a:buNone/>
            </a:pPr>
            <a:r>
              <a:rPr lang="en-US" sz="4400" dirty="0">
                <a:solidFill>
                  <a:srgbClr val="FBF6EE"/>
                </a:solidFill>
                <a:latin typeface="Fraunces" pitchFamily="34" charset="0"/>
                <a:ea typeface="Fraunces" pitchFamily="34" charset="-122"/>
                <a:cs typeface="Fraunces" pitchFamily="34" charset="-120"/>
              </a:rPr>
              <a:t>build a blog that </a:t>
            </a:r>
            <a:endParaRPr lang="en-US" sz="4400" dirty="0"/>
          </a:p>
          <a:p>
            <a:pPr indent="0" marL="0">
              <a:lnSpc>
                <a:spcPts val="4800"/>
              </a:lnSpc>
              <a:buNone/>
            </a:pPr>
            <a:r>
              <a:rPr lang="en-US" sz="4400" i="1" dirty="0">
                <a:solidFill>
                  <a:srgbClr val="A93F63"/>
                </a:solidFill>
                <a:latin typeface="Fraunces" pitchFamily="34" charset="0"/>
                <a:ea typeface="Fraunces" pitchFamily="34" charset="-122"/>
                <a:cs typeface="Fraunces" pitchFamily="34" charset="-120"/>
              </a:rPr>
              <a:t>actually sells.</a:t>
            </a:r>
            <a:endParaRPr lang="en-US" sz="4400" dirty="0"/>
          </a:p>
        </p:txBody>
      </p:sp>
      <p:sp>
        <p:nvSpPr>
          <p:cNvPr id="7" name="Text 5"/>
          <p:cNvSpPr/>
          <p:nvPr/>
        </p:nvSpPr>
        <p:spPr>
          <a:xfrm>
            <a:off x="777240" y="4343400"/>
            <a:ext cx="5212080" cy="1005840"/>
          </a:xfrm>
          <a:prstGeom prst="rect">
            <a:avLst/>
          </a:prstGeom>
          <a:noFill/>
          <a:ln/>
        </p:spPr>
        <p:txBody>
          <a:bodyPr wrap="square" lIns="0" tIns="0" rIns="0" bIns="0" rtlCol="0" anchor="t"/>
          <a:lstStyle/>
          <a:p>
            <a:pPr indent="0" marL="0">
              <a:lnSpc>
                <a:spcPts val="2200"/>
              </a:lnSpc>
              <a:buNone/>
            </a:pPr>
            <a:r>
              <a:rPr lang="en-US" sz="1350" dirty="0">
                <a:solidFill>
                  <a:srgbClr val="D8CBC3"/>
                </a:solidFill>
                <a:latin typeface="Karla" pitchFamily="34" charset="0"/>
                <a:ea typeface="Karla" pitchFamily="34" charset="-122"/>
                <a:cs typeface="Karla" pitchFamily="34" charset="-120"/>
              </a:rPr>
              <a:t>The five things that turn a blog nobody pays for into a business. No fluff, no hosting affiliate links, no "just keep posting."</a:t>
            </a:r>
            <a:endParaRPr lang="en-US" sz="1350" dirty="0"/>
          </a:p>
        </p:txBody>
      </p:sp>
      <p:sp>
        <p:nvSpPr>
          <p:cNvPr id="8" name="Text 6"/>
          <p:cNvSpPr/>
          <p:nvPr/>
        </p:nvSpPr>
        <p:spPr>
          <a:xfrm>
            <a:off x="777240" y="5852160"/>
            <a:ext cx="4572000" cy="411480"/>
          </a:xfrm>
          <a:prstGeom prst="rect">
            <a:avLst/>
          </a:prstGeom>
          <a:noFill/>
          <a:ln/>
        </p:spPr>
        <p:txBody>
          <a:bodyPr wrap="square" lIns="0" tIns="0" rIns="0" bIns="0" rtlCol="0" anchor="ctr"/>
          <a:lstStyle/>
          <a:p>
            <a:pPr indent="0" marL="0">
              <a:buNone/>
            </a:pPr>
            <a:r>
              <a:rPr lang="en-US" sz="1800" dirty="0">
                <a:solidFill>
                  <a:srgbClr val="FBF6EE"/>
                </a:solidFill>
                <a:latin typeface="Fraunces" pitchFamily="34" charset="0"/>
                <a:ea typeface="Fraunces" pitchFamily="34" charset="-122"/>
                <a:cs typeface="Fraunces" pitchFamily="34" charset="-120"/>
              </a:rPr>
              <a:t>Boss </a:t>
            </a:r>
            <a:pPr indent="0" marL="0">
              <a:buNone/>
            </a:pPr>
            <a:r>
              <a:rPr lang="en-US" sz="1800" i="1" dirty="0">
                <a:solidFill>
                  <a:srgbClr val="A93F63"/>
                </a:solidFill>
                <a:latin typeface="Fraunces" pitchFamily="34" charset="0"/>
                <a:ea typeface="Fraunces" pitchFamily="34" charset="-122"/>
                <a:cs typeface="Fraunces" pitchFamily="34" charset="-120"/>
              </a:rPr>
              <a:t>Lady</a:t>
            </a:r>
            <a:pPr indent="0" marL="0">
              <a:buNone/>
            </a:pPr>
            <a:r>
              <a:rPr lang="en-US" sz="1800" dirty="0">
                <a:solidFill>
                  <a:srgbClr val="FBF6EE"/>
                </a:solidFill>
                <a:latin typeface="Fraunces" pitchFamily="34" charset="0"/>
                <a:ea typeface="Fraunces" pitchFamily="34" charset="-122"/>
                <a:cs typeface="Fraunces" pitchFamily="34" charset="-120"/>
              </a:rPr>
              <a:t> Bloggers</a:t>
            </a:r>
            <a:endParaRPr lang="en-US" sz="1800" dirty="0"/>
          </a:p>
        </p:txBody>
      </p:sp>
      <p:sp>
        <p:nvSpPr>
          <p:cNvPr id="9" name="Text 7"/>
          <p:cNvSpPr/>
          <p:nvPr/>
        </p:nvSpPr>
        <p:spPr>
          <a:xfrm>
            <a:off x="7192670" y="2514600"/>
            <a:ext cx="3931920" cy="1371600"/>
          </a:xfrm>
          <a:prstGeom prst="rect">
            <a:avLst/>
          </a:prstGeom>
          <a:noFill/>
          <a:ln/>
        </p:spPr>
        <p:txBody>
          <a:bodyPr wrap="square" lIns="0" tIns="0" rIns="0" bIns="0" rtlCol="0" anchor="ctr"/>
          <a:lstStyle/>
          <a:p>
            <a:pPr algn="ctr" indent="0" marL="0">
              <a:lnSpc>
                <a:spcPts val="3800"/>
              </a:lnSpc>
              <a:buNone/>
            </a:pPr>
            <a:r>
              <a:rPr lang="en-US" sz="3400" dirty="0">
                <a:solidFill>
                  <a:srgbClr val="7C2B48"/>
                </a:solidFill>
                <a:latin typeface="Ephesis" pitchFamily="34" charset="0"/>
                <a:ea typeface="Ephesis" pitchFamily="34" charset="-122"/>
                <a:cs typeface="Ephesis" pitchFamily="34" charset="-120"/>
              </a:rPr>
              <a:t>blog like she</a:t>
            </a:r>
            <a:endParaRPr lang="en-US" sz="3400" dirty="0"/>
          </a:p>
          <a:p>
            <a:pPr algn="ctr" indent="0" marL="0">
              <a:lnSpc>
                <a:spcPts val="3800"/>
              </a:lnSpc>
              <a:buNone/>
            </a:pPr>
            <a:r>
              <a:rPr lang="en-US" sz="3400" dirty="0">
                <a:solidFill>
                  <a:srgbClr val="7C2B48"/>
                </a:solidFill>
                <a:latin typeface="Ephesis" pitchFamily="34" charset="0"/>
                <a:ea typeface="Ephesis" pitchFamily="34" charset="-122"/>
                <a:cs typeface="Ephesis" pitchFamily="34" charset="-120"/>
              </a:rPr>
              <a:t>means business</a:t>
            </a:r>
            <a:endParaRPr lang="en-US" sz="3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2</a:t>
            </a:r>
            <a:endParaRPr lang="en-US" sz="950" dirty="0"/>
          </a:p>
        </p:txBody>
      </p:sp>
      <p:sp>
        <p:nvSpPr>
          <p:cNvPr id="3" name="Shape 1"/>
          <p:cNvSpPr/>
          <p:nvPr/>
        </p:nvSpPr>
        <p:spPr>
          <a:xfrm>
            <a:off x="7680960" y="0"/>
            <a:ext cx="4480560" cy="6858000"/>
          </a:xfrm>
          <a:prstGeom prst="rect">
            <a:avLst/>
          </a:prstGeom>
          <a:solidFill>
            <a:srgbClr val="F4EBDE"/>
          </a:solidFill>
          <a:ln/>
        </p:spPr>
      </p:sp>
      <p:sp>
        <p:nvSpPr>
          <p:cNvPr id="4" name="Text 2"/>
          <p:cNvSpPr/>
          <p:nvPr/>
        </p:nvSpPr>
        <p:spPr>
          <a:xfrm>
            <a:off x="777240" y="1371600"/>
            <a:ext cx="621792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HI, I'M GENASYS</a:t>
            </a:r>
            <a:endParaRPr lang="en-US" sz="1100" dirty="0"/>
          </a:p>
        </p:txBody>
      </p:sp>
      <p:sp>
        <p:nvSpPr>
          <p:cNvPr id="5" name="Text 3"/>
          <p:cNvSpPr/>
          <p:nvPr/>
        </p:nvSpPr>
        <p:spPr>
          <a:xfrm>
            <a:off x="777240" y="1783080"/>
            <a:ext cx="6400800" cy="1371600"/>
          </a:xfrm>
          <a:prstGeom prst="rect">
            <a:avLst/>
          </a:prstGeom>
          <a:noFill/>
          <a:ln/>
        </p:spPr>
        <p:txBody>
          <a:bodyPr wrap="square" lIns="0" tIns="0" rIns="0" bIns="0" rtlCol="0" anchor="t"/>
          <a:lstStyle/>
          <a:p>
            <a:pPr indent="0" marL="0">
              <a:lnSpc>
                <a:spcPts val="3500"/>
              </a:lnSpc>
              <a:buNone/>
            </a:pPr>
            <a:r>
              <a:rPr lang="en-US" sz="3100" dirty="0">
                <a:solidFill>
                  <a:srgbClr val="2E1F27"/>
                </a:solidFill>
                <a:latin typeface="Fraunces" pitchFamily="34" charset="0"/>
                <a:ea typeface="Fraunces" pitchFamily="34" charset="-122"/>
                <a:cs typeface="Fraunces" pitchFamily="34" charset="-120"/>
              </a:rPr>
              <a:t>The short version of why I teach this.</a:t>
            </a:r>
            <a:endParaRPr lang="en-US" sz="3100" dirty="0"/>
          </a:p>
        </p:txBody>
      </p:sp>
      <p:sp>
        <p:nvSpPr>
          <p:cNvPr id="6" name="Text 4"/>
          <p:cNvSpPr/>
          <p:nvPr/>
        </p:nvSpPr>
        <p:spPr>
          <a:xfrm>
            <a:off x="777240" y="3200400"/>
            <a:ext cx="6309360" cy="2651760"/>
          </a:xfrm>
          <a:prstGeom prst="rect">
            <a:avLst/>
          </a:prstGeom>
          <a:noFill/>
          <a:ln/>
        </p:spPr>
        <p:txBody>
          <a:bodyPr wrap="square" lIns="0" tIns="0" rIns="0" bIns="0" rtlCol="0" anchor="ctr"/>
          <a:lstStyle/>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I started blogging in 2017 from my aunt's basement, typing "how to make money online" into Google. I did everything the internet told me to do.</a:t>
            </a:r>
            <a:endParaRPr lang="en-US" sz="1450" dirty="0"/>
          </a:p>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Two years later I had a site I could not stand to look at and almost no income to show for it.</a:t>
            </a:r>
            <a:endParaRPr lang="en-US" sz="1450" dirty="0"/>
          </a:p>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Then I changed the order I built things in. Four months after that, I made $4,000.</a:t>
            </a:r>
            <a:endParaRPr lang="en-US" sz="1450" dirty="0"/>
          </a:p>
        </p:txBody>
      </p:sp>
      <p:sp>
        <p:nvSpPr>
          <p:cNvPr id="7" name="Shape 5"/>
          <p:cNvSpPr/>
          <p:nvPr/>
        </p:nvSpPr>
        <p:spPr>
          <a:xfrm>
            <a:off x="9765792" y="1965960"/>
            <a:ext cx="310896" cy="310896"/>
          </a:xfrm>
          <a:prstGeom prst="ellipse">
            <a:avLst/>
          </a:prstGeom>
          <a:solidFill>
            <a:srgbClr val="BC8A47"/>
          </a:solidFill>
          <a:ln/>
        </p:spPr>
      </p:sp>
      <p:sp>
        <p:nvSpPr>
          <p:cNvPr id="8" name="Text 6"/>
          <p:cNvSpPr/>
          <p:nvPr/>
        </p:nvSpPr>
        <p:spPr>
          <a:xfrm>
            <a:off x="7909560" y="2651760"/>
            <a:ext cx="4023360" cy="2194560"/>
          </a:xfrm>
          <a:prstGeom prst="rect">
            <a:avLst/>
          </a:prstGeom>
          <a:noFill/>
          <a:ln/>
        </p:spPr>
        <p:txBody>
          <a:bodyPr wrap="square" lIns="0" tIns="0" rIns="0" bIns="0" rtlCol="0" anchor="ctr"/>
          <a:lstStyle/>
          <a:p>
            <a:pPr algn="ctr" indent="0" marL="0">
              <a:buNone/>
            </a:pPr>
            <a:r>
              <a:rPr lang="en-US" sz="4600" dirty="0">
                <a:solidFill>
                  <a:srgbClr val="A93F63"/>
                </a:solidFill>
                <a:latin typeface="Ephesis" pitchFamily="34" charset="0"/>
                <a:ea typeface="Ephesis" pitchFamily="34" charset="-122"/>
                <a:cs typeface="Ephesis" pitchFamily="34" charset="-120"/>
              </a:rPr>
              <a:t>same hours,</a:t>
            </a:r>
            <a:endParaRPr lang="en-US" sz="4600" dirty="0"/>
          </a:p>
          <a:p>
            <a:pPr algn="ctr" indent="0" marL="0">
              <a:buNone/>
            </a:pPr>
            <a:r>
              <a:rPr lang="en-US" sz="4600" dirty="0">
                <a:solidFill>
                  <a:srgbClr val="A93F63"/>
                </a:solidFill>
                <a:latin typeface="Ephesis" pitchFamily="34" charset="0"/>
                <a:ea typeface="Ephesis" pitchFamily="34" charset="-122"/>
                <a:cs typeface="Ephesis" pitchFamily="34" charset="-120"/>
              </a:rPr>
              <a:t>different order</a:t>
            </a:r>
            <a:endParaRPr lang="en-US" sz="4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93F63"/>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3</a:t>
            </a:r>
            <a:endParaRPr lang="en-US" sz="950" dirty="0"/>
          </a:p>
        </p:txBody>
      </p:sp>
      <p:sp>
        <p:nvSpPr>
          <p:cNvPr id="3" name="Shape 1"/>
          <p:cNvSpPr/>
          <p:nvPr/>
        </p:nvSpPr>
        <p:spPr>
          <a:xfrm>
            <a:off x="-2377440" y="-2377440"/>
            <a:ext cx="5669280" cy="5669280"/>
          </a:xfrm>
          <a:prstGeom prst="ellipse">
            <a:avLst/>
          </a:prstGeom>
          <a:solidFill>
            <a:srgbClr val="FBF6EE">
              <a:alpha val="10000"/>
            </a:srgbClr>
          </a:solidFill>
          <a:ln/>
        </p:spPr>
      </p:sp>
      <p:sp>
        <p:nvSpPr>
          <p:cNvPr id="4" name="Shape 2"/>
          <p:cNvSpPr/>
          <p:nvPr/>
        </p:nvSpPr>
        <p:spPr>
          <a:xfrm>
            <a:off x="9601200" y="4480560"/>
            <a:ext cx="5120640" cy="5120640"/>
          </a:xfrm>
          <a:prstGeom prst="ellipse">
            <a:avLst/>
          </a:prstGeom>
          <a:solidFill>
            <a:srgbClr val="7C2B48">
              <a:alpha val="45000"/>
            </a:srgbClr>
          </a:solidFill>
          <a:ln/>
        </p:spPr>
      </p:sp>
      <p:sp>
        <p:nvSpPr>
          <p:cNvPr id="5" name="Text 3"/>
          <p:cNvSpPr/>
          <p:nvPr/>
        </p:nvSpPr>
        <p:spPr>
          <a:xfrm>
            <a:off x="1463040" y="1783080"/>
            <a:ext cx="9235440" cy="2743200"/>
          </a:xfrm>
          <a:prstGeom prst="rect">
            <a:avLst/>
          </a:prstGeom>
          <a:noFill/>
          <a:ln/>
        </p:spPr>
        <p:txBody>
          <a:bodyPr wrap="square" lIns="0" tIns="0" rIns="0" bIns="0" rtlCol="0" anchor="ctr"/>
          <a:lstStyle/>
          <a:p>
            <a:pPr algn="ctr" indent="0" marL="0">
              <a:lnSpc>
                <a:spcPts val="5200"/>
              </a:lnSpc>
              <a:buNone/>
            </a:pPr>
            <a:r>
              <a:rPr lang="en-US" sz="4600" dirty="0">
                <a:solidFill>
                  <a:srgbClr val="FBF6EE"/>
                </a:solidFill>
                <a:latin typeface="Fraunces" pitchFamily="34" charset="0"/>
                <a:ea typeface="Fraunces" pitchFamily="34" charset="-122"/>
                <a:cs typeface="Fraunces" pitchFamily="34" charset="-120"/>
              </a:rPr>
              <a:t>Two years of nothing.
</a:t>
            </a:r>
            <a:pPr algn="ctr" indent="0" marL="0">
              <a:lnSpc>
                <a:spcPts val="5200"/>
              </a:lnSpc>
              <a:buNone/>
            </a:pPr>
            <a:r>
              <a:rPr lang="en-US" sz="4600" i="1" dirty="0">
                <a:solidFill>
                  <a:srgbClr val="2E1F27"/>
                </a:solidFill>
                <a:latin typeface="Fraunces" pitchFamily="34" charset="0"/>
                <a:ea typeface="Fraunces" pitchFamily="34" charset="-122"/>
                <a:cs typeface="Fraunces" pitchFamily="34" charset="-120"/>
              </a:rPr>
              <a:t>Four months of something.</a:t>
            </a:r>
            <a:endParaRPr lang="en-US" sz="4600" dirty="0"/>
          </a:p>
        </p:txBody>
      </p:sp>
      <p:sp>
        <p:nvSpPr>
          <p:cNvPr id="6" name="Text 4"/>
          <p:cNvSpPr/>
          <p:nvPr/>
        </p:nvSpPr>
        <p:spPr>
          <a:xfrm>
            <a:off x="2377440" y="4754880"/>
            <a:ext cx="7406640" cy="548640"/>
          </a:xfrm>
          <a:prstGeom prst="rect">
            <a:avLst/>
          </a:prstGeom>
          <a:noFill/>
          <a:ln/>
        </p:spPr>
        <p:txBody>
          <a:bodyPr wrap="square" lIns="0" tIns="0" rIns="0" bIns="0" rtlCol="0" anchor="t"/>
          <a:lstStyle/>
          <a:p>
            <a:pPr algn="ctr" indent="0" marL="0">
              <a:buNone/>
            </a:pPr>
            <a:r>
              <a:rPr lang="en-US" sz="1350" dirty="0">
                <a:solidFill>
                  <a:srgbClr val="F9E7EC"/>
                </a:solidFill>
                <a:latin typeface="Karla" pitchFamily="34" charset="0"/>
                <a:ea typeface="Karla" pitchFamily="34" charset="-122"/>
                <a:cs typeface="Karla" pitchFamily="34" charset="-120"/>
              </a:rPr>
              <a:t>Nothing about me changed. Only the order I built in.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4</a:t>
            </a:r>
            <a:endParaRPr lang="en-US" sz="950" dirty="0"/>
          </a:p>
        </p:txBody>
      </p:sp>
      <p:sp>
        <p:nvSpPr>
          <p:cNvPr id="3" name="Shape 1"/>
          <p:cNvSpPr/>
          <p:nvPr/>
        </p:nvSpPr>
        <p:spPr>
          <a:xfrm>
            <a:off x="-2103120" y="3566160"/>
            <a:ext cx="4937760" cy="4937760"/>
          </a:xfrm>
          <a:prstGeom prst="ellipse">
            <a:avLst/>
          </a:prstGeom>
          <a:solidFill>
            <a:srgbClr val="F4EBDE">
              <a:alpha val="70000"/>
            </a:srgbClr>
          </a:solidFill>
          <a:ln/>
        </p:spPr>
      </p:sp>
      <p:sp>
        <p:nvSpPr>
          <p:cNvPr id="4" name="Text 2"/>
          <p:cNvSpPr/>
          <p:nvPr/>
        </p:nvSpPr>
        <p:spPr>
          <a:xfrm>
            <a:off x="777240" y="1143000"/>
            <a:ext cx="51206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THE PROMISE</a:t>
            </a:r>
            <a:endParaRPr lang="en-US" sz="1100" dirty="0"/>
          </a:p>
        </p:txBody>
      </p:sp>
      <p:sp>
        <p:nvSpPr>
          <p:cNvPr id="5" name="Text 3"/>
          <p:cNvSpPr/>
          <p:nvPr/>
        </p:nvSpPr>
        <p:spPr>
          <a:xfrm>
            <a:off x="777240" y="1554480"/>
            <a:ext cx="4846320" cy="1828800"/>
          </a:xfrm>
          <a:prstGeom prst="rect">
            <a:avLst/>
          </a:prstGeom>
          <a:noFill/>
          <a:ln/>
        </p:spPr>
        <p:txBody>
          <a:bodyPr wrap="square" lIns="0" tIns="0" rIns="0" bIns="0" rtlCol="0" anchor="t"/>
          <a:lstStyle/>
          <a:p>
            <a:pPr indent="0" marL="0">
              <a:lnSpc>
                <a:spcPts val="3600"/>
              </a:lnSpc>
              <a:buNone/>
            </a:pPr>
            <a:r>
              <a:rPr lang="en-US" sz="3200" dirty="0">
                <a:solidFill>
                  <a:srgbClr val="2E1F27"/>
                </a:solidFill>
                <a:latin typeface="Fraunces" pitchFamily="34" charset="0"/>
                <a:ea typeface="Fraunces" pitchFamily="34" charset="-122"/>
                <a:cs typeface="Fraunces" pitchFamily="34" charset="-120"/>
              </a:rPr>
              <a:t>By the end of this course you will be able to:</a:t>
            </a:r>
            <a:endParaRPr lang="en-US" sz="3200" dirty="0"/>
          </a:p>
        </p:txBody>
      </p:sp>
      <p:sp>
        <p:nvSpPr>
          <p:cNvPr id="6" name="Shape 4"/>
          <p:cNvSpPr/>
          <p:nvPr/>
        </p:nvSpPr>
        <p:spPr>
          <a:xfrm>
            <a:off x="5777179" y="2651760"/>
            <a:ext cx="137160" cy="137160"/>
          </a:xfrm>
          <a:prstGeom prst="ellipse">
            <a:avLst/>
          </a:prstGeom>
          <a:solidFill>
            <a:srgbClr val="BC8A47"/>
          </a:solidFill>
          <a:ln/>
        </p:spPr>
      </p:sp>
      <p:sp>
        <p:nvSpPr>
          <p:cNvPr id="7" name="Text 5"/>
          <p:cNvSpPr/>
          <p:nvPr/>
        </p:nvSpPr>
        <p:spPr>
          <a:xfrm>
            <a:off x="6188659" y="245973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Name exactly what your blog sells, in one sentence</a:t>
            </a:r>
            <a:endParaRPr lang="en-US" sz="1400" dirty="0"/>
          </a:p>
        </p:txBody>
      </p:sp>
      <p:sp>
        <p:nvSpPr>
          <p:cNvPr id="8" name="Shape 6"/>
          <p:cNvSpPr/>
          <p:nvPr/>
        </p:nvSpPr>
        <p:spPr>
          <a:xfrm>
            <a:off x="5777179" y="3429000"/>
            <a:ext cx="137160" cy="137160"/>
          </a:xfrm>
          <a:prstGeom prst="ellipse">
            <a:avLst/>
          </a:prstGeom>
          <a:solidFill>
            <a:srgbClr val="BC8A47"/>
          </a:solidFill>
          <a:ln/>
        </p:spPr>
      </p:sp>
      <p:sp>
        <p:nvSpPr>
          <p:cNvPr id="9" name="Text 7"/>
          <p:cNvSpPr/>
          <p:nvPr/>
        </p:nvSpPr>
        <p:spPr>
          <a:xfrm>
            <a:off x="6188659" y="323697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Write a page that turns a reader into a buyer</a:t>
            </a:r>
            <a:endParaRPr lang="en-US" sz="1400" dirty="0"/>
          </a:p>
        </p:txBody>
      </p:sp>
      <p:sp>
        <p:nvSpPr>
          <p:cNvPr id="10" name="Shape 8"/>
          <p:cNvSpPr/>
          <p:nvPr/>
        </p:nvSpPr>
        <p:spPr>
          <a:xfrm>
            <a:off x="5777179" y="4206240"/>
            <a:ext cx="137160" cy="137160"/>
          </a:xfrm>
          <a:prstGeom prst="ellipse">
            <a:avLst/>
          </a:prstGeom>
          <a:solidFill>
            <a:srgbClr val="BC8A47"/>
          </a:solidFill>
          <a:ln/>
        </p:spPr>
      </p:sp>
      <p:sp>
        <p:nvSpPr>
          <p:cNvPr id="11" name="Text 9"/>
          <p:cNvSpPr/>
          <p:nvPr/>
        </p:nvSpPr>
        <p:spPr>
          <a:xfrm>
            <a:off x="6188659" y="401421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Design your site around that offer, not around a template</a:t>
            </a:r>
            <a:endParaRPr lang="en-US" sz="1400" dirty="0"/>
          </a:p>
        </p:txBody>
      </p:sp>
      <p:sp>
        <p:nvSpPr>
          <p:cNvPr id="12" name="Shape 10"/>
          <p:cNvSpPr/>
          <p:nvPr/>
        </p:nvSpPr>
        <p:spPr>
          <a:xfrm>
            <a:off x="5777179" y="4983480"/>
            <a:ext cx="137160" cy="137160"/>
          </a:xfrm>
          <a:prstGeom prst="ellipse">
            <a:avLst/>
          </a:prstGeom>
          <a:solidFill>
            <a:srgbClr val="BC8A47"/>
          </a:solidFill>
          <a:ln/>
        </p:spPr>
      </p:sp>
      <p:sp>
        <p:nvSpPr>
          <p:cNvPr id="13" name="Text 11"/>
          <p:cNvSpPr/>
          <p:nvPr/>
        </p:nvSpPr>
        <p:spPr>
          <a:xfrm>
            <a:off x="6188659" y="479145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Choose the traffic that actually converts</a:t>
            </a:r>
            <a:endParaRPr lang="en-US" sz="1400" dirty="0"/>
          </a:p>
        </p:txBody>
      </p:sp>
      <p:sp>
        <p:nvSpPr>
          <p:cNvPr id="14" name="Shape 12"/>
          <p:cNvSpPr/>
          <p:nvPr/>
        </p:nvSpPr>
        <p:spPr>
          <a:xfrm>
            <a:off x="5777179" y="5760720"/>
            <a:ext cx="137160" cy="137160"/>
          </a:xfrm>
          <a:prstGeom prst="ellipse">
            <a:avLst/>
          </a:prstGeom>
          <a:solidFill>
            <a:srgbClr val="BC8A47"/>
          </a:solidFill>
          <a:ln/>
        </p:spPr>
      </p:sp>
      <p:sp>
        <p:nvSpPr>
          <p:cNvPr id="15" name="Text 13"/>
          <p:cNvSpPr/>
          <p:nvPr/>
        </p:nvSpPr>
        <p:spPr>
          <a:xfrm>
            <a:off x="6188659" y="556869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Know the order to build in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5</a:t>
            </a:r>
            <a:endParaRPr lang="en-US" sz="950" dirty="0"/>
          </a:p>
        </p:txBody>
      </p:sp>
      <p:sp>
        <p:nvSpPr>
          <p:cNvPr id="3" name="Shape 1"/>
          <p:cNvSpPr/>
          <p:nvPr/>
        </p:nvSpPr>
        <p:spPr>
          <a:xfrm>
            <a:off x="0" y="0"/>
            <a:ext cx="12161520" cy="2926080"/>
          </a:xfrm>
          <a:prstGeom prst="rect">
            <a:avLst/>
          </a:prstGeom>
          <a:solidFill>
            <a:srgbClr val="2E1F27"/>
          </a:solidFill>
          <a:ln/>
        </p:spPr>
      </p:sp>
      <p:sp>
        <p:nvSpPr>
          <p:cNvPr id="4" name="Text 2"/>
          <p:cNvSpPr/>
          <p:nvPr/>
        </p:nvSpPr>
        <p:spPr>
          <a:xfrm>
            <a:off x="777240" y="685800"/>
            <a:ext cx="1060704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WHAT'S INSIDE</a:t>
            </a:r>
            <a:endParaRPr lang="en-US" sz="1100" dirty="0"/>
          </a:p>
        </p:txBody>
      </p:sp>
      <p:sp>
        <p:nvSpPr>
          <p:cNvPr id="5" name="Text 3"/>
          <p:cNvSpPr/>
          <p:nvPr/>
        </p:nvSpPr>
        <p:spPr>
          <a:xfrm>
            <a:off x="777240" y="1097280"/>
            <a:ext cx="7863840" cy="1463040"/>
          </a:xfrm>
          <a:prstGeom prst="rect">
            <a:avLst/>
          </a:prstGeom>
          <a:noFill/>
          <a:ln/>
        </p:spPr>
        <p:txBody>
          <a:bodyPr wrap="square" lIns="0" tIns="0" rIns="0" bIns="0" rtlCol="0" anchor="t"/>
          <a:lstStyle/>
          <a:p>
            <a:pPr indent="0" marL="0">
              <a:lnSpc>
                <a:spcPts val="3800"/>
              </a:lnSpc>
              <a:buNone/>
            </a:pPr>
            <a:r>
              <a:rPr lang="en-US" sz="3400" dirty="0">
                <a:solidFill>
                  <a:srgbClr val="FBF6EE"/>
                </a:solidFill>
                <a:latin typeface="Fraunces" pitchFamily="34" charset="0"/>
                <a:ea typeface="Fraunces" pitchFamily="34" charset="-122"/>
                <a:cs typeface="Fraunces" pitchFamily="34" charset="-120"/>
              </a:rPr>
              <a:t>Five modules, in the order that works.</a:t>
            </a:r>
            <a:endParaRPr lang="en-US" sz="3400" dirty="0"/>
          </a:p>
        </p:txBody>
      </p:sp>
      <p:sp>
        <p:nvSpPr>
          <p:cNvPr id="6" name="Shape 4"/>
          <p:cNvSpPr/>
          <p:nvPr/>
        </p:nvSpPr>
        <p:spPr>
          <a:xfrm>
            <a:off x="777240" y="2331720"/>
            <a:ext cx="3322320" cy="3566160"/>
          </a:xfrm>
          <a:prstGeom prst="roundRect">
            <a:avLst>
              <a:gd name="adj" fmla="val 3853"/>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7" name="Text 5"/>
          <p:cNvSpPr/>
          <p:nvPr/>
        </p:nvSpPr>
        <p:spPr>
          <a:xfrm>
            <a:off x="1124712" y="2697480"/>
            <a:ext cx="2627376"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Why blogs make nothing</a:t>
            </a:r>
            <a:endParaRPr lang="en-US" sz="1900" dirty="0"/>
          </a:p>
        </p:txBody>
      </p:sp>
      <p:sp>
        <p:nvSpPr>
          <p:cNvPr id="8" name="Text 6"/>
          <p:cNvSpPr/>
          <p:nvPr/>
        </p:nvSpPr>
        <p:spPr>
          <a:xfrm>
            <a:off x="1124712" y="3611880"/>
            <a:ext cx="2627376" cy="201168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The four traps that keep good bloggers broke, and how to spot them in your own site.</a:t>
            </a:r>
            <a:endParaRPr lang="en-US" sz="1250" dirty="0"/>
          </a:p>
        </p:txBody>
      </p:sp>
      <p:sp>
        <p:nvSpPr>
          <p:cNvPr id="9" name="Shape 7"/>
          <p:cNvSpPr/>
          <p:nvPr/>
        </p:nvSpPr>
        <p:spPr>
          <a:xfrm>
            <a:off x="4419600" y="2331720"/>
            <a:ext cx="3322320" cy="3566160"/>
          </a:xfrm>
          <a:prstGeom prst="roundRect">
            <a:avLst>
              <a:gd name="adj" fmla="val 3853"/>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0" name="Text 8"/>
          <p:cNvSpPr/>
          <p:nvPr/>
        </p:nvSpPr>
        <p:spPr>
          <a:xfrm>
            <a:off x="4767072" y="2697480"/>
            <a:ext cx="2627376"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Your offer comes first</a:t>
            </a:r>
            <a:endParaRPr lang="en-US" sz="1900" dirty="0"/>
          </a:p>
        </p:txBody>
      </p:sp>
      <p:sp>
        <p:nvSpPr>
          <p:cNvPr id="11" name="Text 9"/>
          <p:cNvSpPr/>
          <p:nvPr/>
        </p:nvSpPr>
        <p:spPr>
          <a:xfrm>
            <a:off x="4767072" y="3611880"/>
            <a:ext cx="2627376" cy="201168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Finding, shaping, and pricing the thing you sell before you touch a design.</a:t>
            </a:r>
            <a:endParaRPr lang="en-US" sz="1250" dirty="0"/>
          </a:p>
        </p:txBody>
      </p:sp>
      <p:sp>
        <p:nvSpPr>
          <p:cNvPr id="12" name="Shape 10"/>
          <p:cNvSpPr/>
          <p:nvPr/>
        </p:nvSpPr>
        <p:spPr>
          <a:xfrm>
            <a:off x="8061960" y="2331720"/>
            <a:ext cx="3322320" cy="3566160"/>
          </a:xfrm>
          <a:prstGeom prst="roundRect">
            <a:avLst>
              <a:gd name="adj" fmla="val 3853"/>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3" name="Text 11"/>
          <p:cNvSpPr/>
          <p:nvPr/>
        </p:nvSpPr>
        <p:spPr>
          <a:xfrm>
            <a:off x="8409432" y="2697480"/>
            <a:ext cx="2627376"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Copy that sells</a:t>
            </a:r>
            <a:endParaRPr lang="en-US" sz="1900" dirty="0"/>
          </a:p>
        </p:txBody>
      </p:sp>
      <p:sp>
        <p:nvSpPr>
          <p:cNvPr id="14" name="Text 12"/>
          <p:cNvSpPr/>
          <p:nvPr/>
        </p:nvSpPr>
        <p:spPr>
          <a:xfrm>
            <a:off x="8409432" y="3611880"/>
            <a:ext cx="2627376" cy="201168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The words that do the work, from the headline down to the button.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6</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AND THEN</a:t>
            </a:r>
            <a:endParaRPr lang="en-US" sz="1100" dirty="0"/>
          </a:p>
        </p:txBody>
      </p:sp>
      <p:sp>
        <p:nvSpPr>
          <p:cNvPr id="4" name="Text 2"/>
          <p:cNvSpPr/>
          <p:nvPr/>
        </p:nvSpPr>
        <p:spPr>
          <a:xfrm>
            <a:off x="777240" y="1051560"/>
            <a:ext cx="78638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The last two modules, plus how this fits together.</a:t>
            </a:r>
            <a:endParaRPr lang="en-US" sz="3300" dirty="0"/>
          </a:p>
        </p:txBody>
      </p:sp>
      <p:sp>
        <p:nvSpPr>
          <p:cNvPr id="5" name="Shape 3"/>
          <p:cNvSpPr/>
          <p:nvPr/>
        </p:nvSpPr>
        <p:spPr>
          <a:xfrm>
            <a:off x="777240" y="2240280"/>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6" name="Shape 4"/>
          <p:cNvSpPr/>
          <p:nvPr/>
        </p:nvSpPr>
        <p:spPr>
          <a:xfrm>
            <a:off x="1088136" y="2569464"/>
            <a:ext cx="457200" cy="457200"/>
          </a:xfrm>
          <a:prstGeom prst="ellipse">
            <a:avLst/>
          </a:prstGeom>
          <a:solidFill>
            <a:srgbClr val="A93F63"/>
          </a:solidFill>
          <a:ln/>
        </p:spPr>
      </p:sp>
      <p:sp>
        <p:nvSpPr>
          <p:cNvPr id="7" name="Text 5"/>
          <p:cNvSpPr/>
          <p:nvPr/>
        </p:nvSpPr>
        <p:spPr>
          <a:xfrm>
            <a:off x="1088136" y="256946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1</a:t>
            </a:r>
            <a:endParaRPr lang="en-US" sz="1200" dirty="0"/>
          </a:p>
        </p:txBody>
      </p:sp>
      <p:sp>
        <p:nvSpPr>
          <p:cNvPr id="8" name="Text 6"/>
          <p:cNvSpPr/>
          <p:nvPr/>
        </p:nvSpPr>
        <p:spPr>
          <a:xfrm>
            <a:off x="1691640" y="2569464"/>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Module four</a:t>
            </a:r>
            <a:endParaRPr lang="en-US" sz="1750" dirty="0"/>
          </a:p>
        </p:txBody>
      </p:sp>
      <p:sp>
        <p:nvSpPr>
          <p:cNvPr id="9" name="Text 7"/>
          <p:cNvSpPr/>
          <p:nvPr/>
        </p:nvSpPr>
        <p:spPr>
          <a:xfrm>
            <a:off x="1691640" y="3044952"/>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Design built around the offer. Your site is a salesperson.</a:t>
            </a:r>
            <a:endParaRPr lang="en-US" sz="1200" dirty="0"/>
          </a:p>
        </p:txBody>
      </p:sp>
      <p:sp>
        <p:nvSpPr>
          <p:cNvPr id="10" name="Shape 8"/>
          <p:cNvSpPr/>
          <p:nvPr/>
        </p:nvSpPr>
        <p:spPr>
          <a:xfrm>
            <a:off x="6245352" y="2240280"/>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1" name="Shape 9"/>
          <p:cNvSpPr/>
          <p:nvPr/>
        </p:nvSpPr>
        <p:spPr>
          <a:xfrm>
            <a:off x="6556248" y="2569464"/>
            <a:ext cx="457200" cy="457200"/>
          </a:xfrm>
          <a:prstGeom prst="ellipse">
            <a:avLst/>
          </a:prstGeom>
          <a:solidFill>
            <a:srgbClr val="A93F63"/>
          </a:solidFill>
          <a:ln/>
        </p:spPr>
      </p:sp>
      <p:sp>
        <p:nvSpPr>
          <p:cNvPr id="12" name="Text 10"/>
          <p:cNvSpPr/>
          <p:nvPr/>
        </p:nvSpPr>
        <p:spPr>
          <a:xfrm>
            <a:off x="6556248" y="256946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2</a:t>
            </a:r>
            <a:endParaRPr lang="en-US" sz="1200" dirty="0"/>
          </a:p>
        </p:txBody>
      </p:sp>
      <p:sp>
        <p:nvSpPr>
          <p:cNvPr id="13" name="Text 11"/>
          <p:cNvSpPr/>
          <p:nvPr/>
        </p:nvSpPr>
        <p:spPr>
          <a:xfrm>
            <a:off x="7159752" y="2569464"/>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Module five</a:t>
            </a:r>
            <a:endParaRPr lang="en-US" sz="1750" dirty="0"/>
          </a:p>
        </p:txBody>
      </p:sp>
      <p:sp>
        <p:nvSpPr>
          <p:cNvPr id="14" name="Text 12"/>
          <p:cNvSpPr/>
          <p:nvPr/>
        </p:nvSpPr>
        <p:spPr>
          <a:xfrm>
            <a:off x="7159752" y="3044952"/>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Traffic that converts, and why it comes last.</a:t>
            </a:r>
            <a:endParaRPr lang="en-US" sz="1200" dirty="0"/>
          </a:p>
        </p:txBody>
      </p:sp>
      <p:sp>
        <p:nvSpPr>
          <p:cNvPr id="15" name="Shape 13"/>
          <p:cNvSpPr/>
          <p:nvPr/>
        </p:nvSpPr>
        <p:spPr>
          <a:xfrm>
            <a:off x="777240" y="4352544"/>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6" name="Shape 14"/>
          <p:cNvSpPr/>
          <p:nvPr/>
        </p:nvSpPr>
        <p:spPr>
          <a:xfrm>
            <a:off x="1088136" y="4681728"/>
            <a:ext cx="457200" cy="457200"/>
          </a:xfrm>
          <a:prstGeom prst="ellipse">
            <a:avLst/>
          </a:prstGeom>
          <a:solidFill>
            <a:srgbClr val="A93F63"/>
          </a:solidFill>
          <a:ln/>
        </p:spPr>
      </p:sp>
      <p:sp>
        <p:nvSpPr>
          <p:cNvPr id="17" name="Text 15"/>
          <p:cNvSpPr/>
          <p:nvPr/>
        </p:nvSpPr>
        <p:spPr>
          <a:xfrm>
            <a:off x="1088136" y="46817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3</a:t>
            </a:r>
            <a:endParaRPr lang="en-US" sz="1200" dirty="0"/>
          </a:p>
        </p:txBody>
      </p:sp>
      <p:sp>
        <p:nvSpPr>
          <p:cNvPr id="18" name="Text 16"/>
          <p:cNvSpPr/>
          <p:nvPr/>
        </p:nvSpPr>
        <p:spPr>
          <a:xfrm>
            <a:off x="1691640" y="4681728"/>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The workbook</a:t>
            </a:r>
            <a:endParaRPr lang="en-US" sz="1750" dirty="0"/>
          </a:p>
        </p:txBody>
      </p:sp>
      <p:sp>
        <p:nvSpPr>
          <p:cNvPr id="19" name="Text 17"/>
          <p:cNvSpPr/>
          <p:nvPr/>
        </p:nvSpPr>
        <p:spPr>
          <a:xfrm>
            <a:off x="1691640" y="5157216"/>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Every prompt slide is a pause point. Actually write.</a:t>
            </a:r>
            <a:endParaRPr lang="en-US" sz="1200" dirty="0"/>
          </a:p>
        </p:txBody>
      </p:sp>
      <p:sp>
        <p:nvSpPr>
          <p:cNvPr id="20" name="Shape 18"/>
          <p:cNvSpPr/>
          <p:nvPr/>
        </p:nvSpPr>
        <p:spPr>
          <a:xfrm>
            <a:off x="6245352" y="4352544"/>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21" name="Shape 19"/>
          <p:cNvSpPr/>
          <p:nvPr/>
        </p:nvSpPr>
        <p:spPr>
          <a:xfrm>
            <a:off x="6556248" y="4681728"/>
            <a:ext cx="457200" cy="457200"/>
          </a:xfrm>
          <a:prstGeom prst="ellipse">
            <a:avLst/>
          </a:prstGeom>
          <a:solidFill>
            <a:srgbClr val="A93F63"/>
          </a:solidFill>
          <a:ln/>
        </p:spPr>
      </p:sp>
      <p:sp>
        <p:nvSpPr>
          <p:cNvPr id="22" name="Text 20"/>
          <p:cNvSpPr/>
          <p:nvPr/>
        </p:nvSpPr>
        <p:spPr>
          <a:xfrm>
            <a:off x="6556248" y="46817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4</a:t>
            </a:r>
            <a:endParaRPr lang="en-US" sz="1200" dirty="0"/>
          </a:p>
        </p:txBody>
      </p:sp>
      <p:sp>
        <p:nvSpPr>
          <p:cNvPr id="23" name="Text 21"/>
          <p:cNvSpPr/>
          <p:nvPr/>
        </p:nvSpPr>
        <p:spPr>
          <a:xfrm>
            <a:off x="7159752" y="4681728"/>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The order</a:t>
            </a:r>
            <a:endParaRPr lang="en-US" sz="1750" dirty="0"/>
          </a:p>
        </p:txBody>
      </p:sp>
      <p:sp>
        <p:nvSpPr>
          <p:cNvPr id="24" name="Text 22"/>
          <p:cNvSpPr/>
          <p:nvPr/>
        </p:nvSpPr>
        <p:spPr>
          <a:xfrm>
            <a:off x="7159752" y="5157216"/>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Which matters more than how hard you work.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7</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HOW TO USE THIS</a:t>
            </a:r>
            <a:endParaRPr lang="en-US" sz="1100" dirty="0"/>
          </a:p>
        </p:txBody>
      </p:sp>
      <p:sp>
        <p:nvSpPr>
          <p:cNvPr id="4" name="Text 2"/>
          <p:cNvSpPr/>
          <p:nvPr/>
        </p:nvSpPr>
        <p:spPr>
          <a:xfrm>
            <a:off x="777240" y="1051560"/>
            <a:ext cx="83210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Three things before we start.</a:t>
            </a:r>
            <a:endParaRPr lang="en-US" sz="3300" dirty="0"/>
          </a:p>
        </p:txBody>
      </p:sp>
      <p:sp>
        <p:nvSpPr>
          <p:cNvPr id="5" name="Shape 3"/>
          <p:cNvSpPr/>
          <p:nvPr/>
        </p:nvSpPr>
        <p:spPr>
          <a:xfrm>
            <a:off x="777240" y="2331720"/>
            <a:ext cx="10607040" cy="1005840"/>
          </a:xfrm>
          <a:prstGeom prst="roundRect">
            <a:avLst>
              <a:gd name="adj" fmla="val 12727"/>
            </a:avLst>
          </a:prstGeom>
          <a:solidFill>
            <a:srgbClr val="FFFFFF"/>
          </a:solidFill>
          <a:ln w="9525">
            <a:solidFill>
              <a:srgbClr val="E2D8CE"/>
            </a:solidFill>
            <a:prstDash val="solid"/>
          </a:ln>
        </p:spPr>
      </p:sp>
      <p:sp>
        <p:nvSpPr>
          <p:cNvPr id="6" name="Shape 4"/>
          <p:cNvSpPr/>
          <p:nvPr/>
        </p:nvSpPr>
        <p:spPr>
          <a:xfrm>
            <a:off x="1088136" y="2560320"/>
            <a:ext cx="548640" cy="548640"/>
          </a:xfrm>
          <a:prstGeom prst="ellipse">
            <a:avLst/>
          </a:prstGeom>
          <a:solidFill>
            <a:srgbClr val="2E1F27"/>
          </a:solidFill>
          <a:ln/>
        </p:spPr>
      </p:sp>
      <p:sp>
        <p:nvSpPr>
          <p:cNvPr id="7" name="Text 5"/>
          <p:cNvSpPr/>
          <p:nvPr/>
        </p:nvSpPr>
        <p:spPr>
          <a:xfrm>
            <a:off x="1088136" y="2560320"/>
            <a:ext cx="548640" cy="548640"/>
          </a:xfrm>
          <a:prstGeom prst="rect">
            <a:avLst/>
          </a:prstGeom>
          <a:noFill/>
          <a:ln/>
        </p:spPr>
        <p:txBody>
          <a:bodyPr wrap="square" lIns="0" tIns="0" rIns="0" bIns="0" rtlCol="0" anchor="ctr"/>
          <a:lstStyle/>
          <a:p>
            <a:pPr algn="ctr" indent="0" marL="0">
              <a:buNone/>
            </a:pPr>
            <a:r>
              <a:rPr lang="en-US" sz="1800" dirty="0">
                <a:solidFill>
                  <a:srgbClr val="FBF6EE"/>
                </a:solidFill>
                <a:latin typeface="Fraunces" pitchFamily="34" charset="0"/>
                <a:ea typeface="Fraunces" pitchFamily="34" charset="-122"/>
                <a:cs typeface="Fraunces" pitchFamily="34" charset="-120"/>
              </a:rPr>
              <a:t>1</a:t>
            </a:r>
            <a:endParaRPr lang="en-US" sz="1800" dirty="0"/>
          </a:p>
        </p:txBody>
      </p:sp>
      <p:sp>
        <p:nvSpPr>
          <p:cNvPr id="8" name="Text 6"/>
          <p:cNvSpPr/>
          <p:nvPr/>
        </p:nvSpPr>
        <p:spPr>
          <a:xfrm>
            <a:off x="1874520" y="2514600"/>
            <a:ext cx="3108960" cy="457200"/>
          </a:xfrm>
          <a:prstGeom prst="rect">
            <a:avLst/>
          </a:prstGeom>
          <a:noFill/>
          <a:ln/>
        </p:spPr>
        <p:txBody>
          <a:bodyPr wrap="square" lIns="0" tIns="0" rIns="0" bIns="0" rtlCol="0" anchor="t"/>
          <a:lstStyle/>
          <a:p>
            <a:pPr indent="0" marL="0">
              <a:buNone/>
            </a:pPr>
            <a:r>
              <a:rPr lang="en-US" sz="1800" dirty="0">
                <a:solidFill>
                  <a:srgbClr val="2E1F27"/>
                </a:solidFill>
                <a:latin typeface="Fraunces" pitchFamily="34" charset="0"/>
                <a:ea typeface="Fraunces" pitchFamily="34" charset="-122"/>
                <a:cs typeface="Fraunces" pitchFamily="34" charset="-120"/>
              </a:rPr>
              <a:t>Watch in order</a:t>
            </a:r>
            <a:endParaRPr lang="en-US" sz="1800" dirty="0"/>
          </a:p>
        </p:txBody>
      </p:sp>
      <p:sp>
        <p:nvSpPr>
          <p:cNvPr id="9" name="Text 7"/>
          <p:cNvSpPr/>
          <p:nvPr/>
        </p:nvSpPr>
        <p:spPr>
          <a:xfrm>
            <a:off x="5074920" y="2551176"/>
            <a:ext cx="5943600" cy="64008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The modules build on each other and the order is the entire point.</a:t>
            </a:r>
            <a:endParaRPr lang="en-US" sz="1250" dirty="0"/>
          </a:p>
        </p:txBody>
      </p:sp>
      <p:sp>
        <p:nvSpPr>
          <p:cNvPr id="10" name="Shape 8"/>
          <p:cNvSpPr/>
          <p:nvPr/>
        </p:nvSpPr>
        <p:spPr>
          <a:xfrm>
            <a:off x="777240" y="3502152"/>
            <a:ext cx="10607040" cy="1005840"/>
          </a:xfrm>
          <a:prstGeom prst="roundRect">
            <a:avLst>
              <a:gd name="adj" fmla="val 12727"/>
            </a:avLst>
          </a:prstGeom>
          <a:solidFill>
            <a:srgbClr val="F4EBDE"/>
          </a:solidFill>
          <a:ln w="9525">
            <a:solidFill>
              <a:srgbClr val="E8DDD0"/>
            </a:solidFill>
            <a:prstDash val="solid"/>
          </a:ln>
        </p:spPr>
      </p:sp>
      <p:sp>
        <p:nvSpPr>
          <p:cNvPr id="11" name="Shape 9"/>
          <p:cNvSpPr/>
          <p:nvPr/>
        </p:nvSpPr>
        <p:spPr>
          <a:xfrm>
            <a:off x="1088136" y="3730752"/>
            <a:ext cx="548640" cy="548640"/>
          </a:xfrm>
          <a:prstGeom prst="ellipse">
            <a:avLst/>
          </a:prstGeom>
          <a:solidFill>
            <a:srgbClr val="A93F63"/>
          </a:solidFill>
          <a:ln/>
        </p:spPr>
      </p:sp>
      <p:sp>
        <p:nvSpPr>
          <p:cNvPr id="12" name="Text 10"/>
          <p:cNvSpPr/>
          <p:nvPr/>
        </p:nvSpPr>
        <p:spPr>
          <a:xfrm>
            <a:off x="1088136" y="3730752"/>
            <a:ext cx="548640" cy="548640"/>
          </a:xfrm>
          <a:prstGeom prst="rect">
            <a:avLst/>
          </a:prstGeom>
          <a:noFill/>
          <a:ln/>
        </p:spPr>
        <p:txBody>
          <a:bodyPr wrap="square" lIns="0" tIns="0" rIns="0" bIns="0" rtlCol="0" anchor="ctr"/>
          <a:lstStyle/>
          <a:p>
            <a:pPr algn="ctr" indent="0" marL="0">
              <a:buNone/>
            </a:pPr>
            <a:r>
              <a:rPr lang="en-US" sz="1800" dirty="0">
                <a:solidFill>
                  <a:srgbClr val="FBF6EE"/>
                </a:solidFill>
                <a:latin typeface="Fraunces" pitchFamily="34" charset="0"/>
                <a:ea typeface="Fraunces" pitchFamily="34" charset="-122"/>
                <a:cs typeface="Fraunces" pitchFamily="34" charset="-120"/>
              </a:rPr>
              <a:t>2</a:t>
            </a:r>
            <a:endParaRPr lang="en-US" sz="1800" dirty="0"/>
          </a:p>
        </p:txBody>
      </p:sp>
      <p:sp>
        <p:nvSpPr>
          <p:cNvPr id="13" name="Text 11"/>
          <p:cNvSpPr/>
          <p:nvPr/>
        </p:nvSpPr>
        <p:spPr>
          <a:xfrm>
            <a:off x="1874520" y="3685032"/>
            <a:ext cx="3108960" cy="457200"/>
          </a:xfrm>
          <a:prstGeom prst="rect">
            <a:avLst/>
          </a:prstGeom>
          <a:noFill/>
          <a:ln/>
        </p:spPr>
        <p:txBody>
          <a:bodyPr wrap="square" lIns="0" tIns="0" rIns="0" bIns="0" rtlCol="0" anchor="t"/>
          <a:lstStyle/>
          <a:p>
            <a:pPr indent="0" marL="0">
              <a:buNone/>
            </a:pPr>
            <a:r>
              <a:rPr lang="en-US" sz="1800" dirty="0">
                <a:solidFill>
                  <a:srgbClr val="2E1F27"/>
                </a:solidFill>
                <a:latin typeface="Fraunces" pitchFamily="34" charset="0"/>
                <a:ea typeface="Fraunces" pitchFamily="34" charset="-122"/>
                <a:cs typeface="Fraunces" pitchFamily="34" charset="-120"/>
              </a:rPr>
              <a:t>Do the prompts</a:t>
            </a:r>
            <a:endParaRPr lang="en-US" sz="1800" dirty="0"/>
          </a:p>
        </p:txBody>
      </p:sp>
      <p:sp>
        <p:nvSpPr>
          <p:cNvPr id="14" name="Text 12"/>
          <p:cNvSpPr/>
          <p:nvPr/>
        </p:nvSpPr>
        <p:spPr>
          <a:xfrm>
            <a:off x="5074920" y="3721608"/>
            <a:ext cx="5943600" cy="64008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Every time you see a workbook slide, pause and actually write it down.</a:t>
            </a:r>
            <a:endParaRPr lang="en-US" sz="1250" dirty="0"/>
          </a:p>
        </p:txBody>
      </p:sp>
      <p:sp>
        <p:nvSpPr>
          <p:cNvPr id="15" name="Shape 13"/>
          <p:cNvSpPr/>
          <p:nvPr/>
        </p:nvSpPr>
        <p:spPr>
          <a:xfrm>
            <a:off x="777240" y="4672584"/>
            <a:ext cx="10607040" cy="1005840"/>
          </a:xfrm>
          <a:prstGeom prst="roundRect">
            <a:avLst>
              <a:gd name="adj" fmla="val 12727"/>
            </a:avLst>
          </a:prstGeom>
          <a:solidFill>
            <a:srgbClr val="FFFFFF"/>
          </a:solidFill>
          <a:ln w="9525">
            <a:solidFill>
              <a:srgbClr val="E2D8CE"/>
            </a:solidFill>
            <a:prstDash val="solid"/>
          </a:ln>
        </p:spPr>
      </p:sp>
      <p:sp>
        <p:nvSpPr>
          <p:cNvPr id="16" name="Shape 14"/>
          <p:cNvSpPr/>
          <p:nvPr/>
        </p:nvSpPr>
        <p:spPr>
          <a:xfrm>
            <a:off x="1088136" y="4901184"/>
            <a:ext cx="548640" cy="548640"/>
          </a:xfrm>
          <a:prstGeom prst="ellipse">
            <a:avLst/>
          </a:prstGeom>
          <a:solidFill>
            <a:srgbClr val="2E1F27"/>
          </a:solidFill>
          <a:ln/>
        </p:spPr>
      </p:sp>
      <p:sp>
        <p:nvSpPr>
          <p:cNvPr id="17" name="Text 15"/>
          <p:cNvSpPr/>
          <p:nvPr/>
        </p:nvSpPr>
        <p:spPr>
          <a:xfrm>
            <a:off x="1088136" y="4901184"/>
            <a:ext cx="548640" cy="548640"/>
          </a:xfrm>
          <a:prstGeom prst="rect">
            <a:avLst/>
          </a:prstGeom>
          <a:noFill/>
          <a:ln/>
        </p:spPr>
        <p:txBody>
          <a:bodyPr wrap="square" lIns="0" tIns="0" rIns="0" bIns="0" rtlCol="0" anchor="ctr"/>
          <a:lstStyle/>
          <a:p>
            <a:pPr algn="ctr" indent="0" marL="0">
              <a:buNone/>
            </a:pPr>
            <a:r>
              <a:rPr lang="en-US" sz="1800" dirty="0">
                <a:solidFill>
                  <a:srgbClr val="FBF6EE"/>
                </a:solidFill>
                <a:latin typeface="Fraunces" pitchFamily="34" charset="0"/>
                <a:ea typeface="Fraunces" pitchFamily="34" charset="-122"/>
                <a:cs typeface="Fraunces" pitchFamily="34" charset="-120"/>
              </a:rPr>
              <a:t>3</a:t>
            </a:r>
            <a:endParaRPr lang="en-US" sz="1800" dirty="0"/>
          </a:p>
        </p:txBody>
      </p:sp>
      <p:sp>
        <p:nvSpPr>
          <p:cNvPr id="18" name="Text 16"/>
          <p:cNvSpPr/>
          <p:nvPr/>
        </p:nvSpPr>
        <p:spPr>
          <a:xfrm>
            <a:off x="1874520" y="4855464"/>
            <a:ext cx="3108960" cy="457200"/>
          </a:xfrm>
          <a:prstGeom prst="rect">
            <a:avLst/>
          </a:prstGeom>
          <a:noFill/>
          <a:ln/>
        </p:spPr>
        <p:txBody>
          <a:bodyPr wrap="square" lIns="0" tIns="0" rIns="0" bIns="0" rtlCol="0" anchor="t"/>
          <a:lstStyle/>
          <a:p>
            <a:pPr indent="0" marL="0">
              <a:buNone/>
            </a:pPr>
            <a:r>
              <a:rPr lang="en-US" sz="1800" dirty="0">
                <a:solidFill>
                  <a:srgbClr val="2E1F27"/>
                </a:solidFill>
                <a:latin typeface="Fraunces" pitchFamily="34" charset="0"/>
                <a:ea typeface="Fraunces" pitchFamily="34" charset="-122"/>
                <a:cs typeface="Fraunces" pitchFamily="34" charset="-120"/>
              </a:rPr>
              <a:t>Finish messy</a:t>
            </a:r>
            <a:endParaRPr lang="en-US" sz="1800" dirty="0"/>
          </a:p>
        </p:txBody>
      </p:sp>
      <p:sp>
        <p:nvSpPr>
          <p:cNvPr id="19" name="Text 17"/>
          <p:cNvSpPr/>
          <p:nvPr/>
        </p:nvSpPr>
        <p:spPr>
          <a:xfrm>
            <a:off x="5074920" y="4892040"/>
            <a:ext cx="5943600" cy="64008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A finished offer you can improve beats a perfect one you never launched.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8</a:t>
            </a:r>
            <a:endParaRPr lang="en-US" sz="950" dirty="0"/>
          </a:p>
        </p:txBody>
      </p:sp>
      <p:sp>
        <p:nvSpPr>
          <p:cNvPr id="3" name="Shape 1"/>
          <p:cNvSpPr/>
          <p:nvPr/>
        </p:nvSpPr>
        <p:spPr>
          <a:xfrm>
            <a:off x="3703320" y="1005840"/>
            <a:ext cx="4754880" cy="4754880"/>
          </a:xfrm>
          <a:prstGeom prst="ellipse">
            <a:avLst/>
          </a:prstGeom>
          <a:solidFill>
            <a:srgbClr val="F0DCE2">
              <a:alpha val="65000"/>
            </a:srgbClr>
          </a:solidFill>
          <a:ln/>
        </p:spPr>
      </p:sp>
      <p:sp>
        <p:nvSpPr>
          <p:cNvPr id="4" name="Text 2"/>
          <p:cNvSpPr/>
          <p:nvPr/>
        </p:nvSpPr>
        <p:spPr>
          <a:xfrm>
            <a:off x="1371600" y="2651760"/>
            <a:ext cx="9418320" cy="1188720"/>
          </a:xfrm>
          <a:prstGeom prst="rect">
            <a:avLst/>
          </a:prstGeom>
          <a:noFill/>
          <a:ln/>
        </p:spPr>
        <p:txBody>
          <a:bodyPr wrap="square" lIns="0" tIns="0" rIns="0" bIns="0" rtlCol="0" anchor="t"/>
          <a:lstStyle/>
          <a:p>
            <a:pPr algn="ctr" indent="0" marL="0">
              <a:buNone/>
            </a:pPr>
            <a:r>
              <a:rPr lang="en-US" sz="5200" dirty="0">
                <a:solidFill>
                  <a:srgbClr val="A93F63"/>
                </a:solidFill>
                <a:latin typeface="Ephesis" pitchFamily="34" charset="0"/>
                <a:ea typeface="Ephesis" pitchFamily="34" charset="-122"/>
                <a:cs typeface="Ephesis" pitchFamily="34" charset="-120"/>
              </a:rPr>
              <a:t>okay babe, let's go</a:t>
            </a:r>
            <a:endParaRPr lang="en-US" sz="5200" dirty="0"/>
          </a:p>
        </p:txBody>
      </p:sp>
      <p:sp>
        <p:nvSpPr>
          <p:cNvPr id="5" name="Text 3"/>
          <p:cNvSpPr/>
          <p:nvPr/>
        </p:nvSpPr>
        <p:spPr>
          <a:xfrm>
            <a:off x="2286000" y="3977640"/>
            <a:ext cx="7589520" cy="457200"/>
          </a:xfrm>
          <a:prstGeom prst="rect">
            <a:avLst/>
          </a:prstGeom>
          <a:noFill/>
          <a:ln/>
        </p:spPr>
        <p:txBody>
          <a:bodyPr wrap="square" lIns="0" tIns="0" rIns="0" bIns="0" rtlCol="0" anchor="t"/>
          <a:lstStyle/>
          <a:p>
            <a:pPr algn="ctr" indent="0" marL="0">
              <a:buNone/>
            </a:pPr>
            <a:r>
              <a:rPr lang="en-US" sz="1200" spc="300" kern="0" dirty="0">
                <a:solidFill>
                  <a:srgbClr val="6E5C63"/>
                </a:solidFill>
                <a:latin typeface="Karla" pitchFamily="34" charset="0"/>
                <a:ea typeface="Karla" pitchFamily="34" charset="-122"/>
                <a:cs typeface="Karla" pitchFamily="34" charset="-120"/>
              </a:rPr>
              <a:t>MODULE ONE STARTS NOW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9</a:t>
            </a:r>
            <a:endParaRPr lang="en-US" sz="950" dirty="0"/>
          </a:p>
        </p:txBody>
      </p:sp>
      <p:sp>
        <p:nvSpPr>
          <p:cNvPr id="3" name="Text 1"/>
          <p:cNvSpPr/>
          <p:nvPr/>
        </p:nvSpPr>
        <p:spPr>
          <a:xfrm>
            <a:off x="-640080" y="182880"/>
            <a:ext cx="5486400" cy="4937760"/>
          </a:xfrm>
          <a:prstGeom prst="rect">
            <a:avLst/>
          </a:prstGeom>
          <a:noFill/>
          <a:ln/>
        </p:spPr>
        <p:txBody>
          <a:bodyPr wrap="square" lIns="0" tIns="0" rIns="0" bIns="0" rtlCol="0" anchor="ctr"/>
          <a:lstStyle/>
          <a:p>
            <a:pPr indent="0" marL="0">
              <a:buNone/>
            </a:pPr>
            <a:r>
              <a:rPr lang="en-US" sz="25000" i="1" dirty="0">
                <a:solidFill>
                  <a:srgbClr val="7C2B48"/>
                </a:solidFill>
                <a:latin typeface="Fraunces" pitchFamily="34" charset="0"/>
                <a:ea typeface="Fraunces" pitchFamily="34" charset="-122"/>
                <a:cs typeface="Fraunces" pitchFamily="34" charset="-120"/>
              </a:rPr>
              <a:t>01</a:t>
            </a:r>
            <a:endParaRPr lang="en-US" sz="25000" dirty="0"/>
          </a:p>
        </p:txBody>
      </p:sp>
      <p:sp>
        <p:nvSpPr>
          <p:cNvPr id="4" name="Shape 2"/>
          <p:cNvSpPr/>
          <p:nvPr/>
        </p:nvSpPr>
        <p:spPr>
          <a:xfrm>
            <a:off x="9235440" y="-1005840"/>
            <a:ext cx="4023360" cy="4023360"/>
          </a:xfrm>
          <a:prstGeom prst="ellipse">
            <a:avLst/>
          </a:prstGeom>
          <a:solidFill>
            <a:srgbClr val="A93F63">
              <a:alpha val="30000"/>
            </a:srgbClr>
          </a:solidFill>
          <a:ln/>
        </p:spPr>
      </p:sp>
      <p:sp>
        <p:nvSpPr>
          <p:cNvPr id="5" name="Text 3"/>
          <p:cNvSpPr/>
          <p:nvPr/>
        </p:nvSpPr>
        <p:spPr>
          <a:xfrm>
            <a:off x="3931920" y="1920240"/>
            <a:ext cx="7315200" cy="1737360"/>
          </a:xfrm>
          <a:prstGeom prst="rect">
            <a:avLst/>
          </a:prstGeom>
          <a:noFill/>
          <a:ln/>
        </p:spPr>
        <p:txBody>
          <a:bodyPr wrap="square" lIns="0" tIns="0" rIns="0" bIns="0" rtlCol="0" anchor="t"/>
          <a:lstStyle/>
          <a:p>
            <a:pPr indent="0" marL="0">
              <a:lnSpc>
                <a:spcPts val="4600"/>
              </a:lnSpc>
              <a:buNone/>
            </a:pPr>
            <a:r>
              <a:rPr lang="en-US" sz="4200" dirty="0">
                <a:solidFill>
                  <a:srgbClr val="FBF6EE"/>
                </a:solidFill>
                <a:latin typeface="Fraunces" pitchFamily="34" charset="0"/>
                <a:ea typeface="Fraunces" pitchFamily="34" charset="-122"/>
                <a:cs typeface="Fraunces" pitchFamily="34" charset="-120"/>
              </a:rPr>
              <a:t>Why most blogs</a:t>
            </a:r>
            <a:endParaRPr lang="en-US" sz="4200" dirty="0"/>
          </a:p>
          <a:p>
            <a:pPr indent="0" marL="0">
              <a:lnSpc>
                <a:spcPts val="4600"/>
              </a:lnSpc>
              <a:buNone/>
            </a:pPr>
            <a:r>
              <a:rPr lang="en-US" sz="4200" dirty="0">
                <a:solidFill>
                  <a:srgbClr val="FBF6EE"/>
                </a:solidFill>
                <a:latin typeface="Fraunces" pitchFamily="34" charset="0"/>
                <a:ea typeface="Fraunces" pitchFamily="34" charset="-122"/>
                <a:cs typeface="Fraunces" pitchFamily="34" charset="-120"/>
              </a:rPr>
              <a:t>make nothing</a:t>
            </a:r>
            <a:endParaRPr lang="en-US" sz="4200" dirty="0"/>
          </a:p>
        </p:txBody>
      </p:sp>
      <p:sp>
        <p:nvSpPr>
          <p:cNvPr id="6" name="Text 4"/>
          <p:cNvSpPr/>
          <p:nvPr/>
        </p:nvSpPr>
        <p:spPr>
          <a:xfrm>
            <a:off x="3977640" y="3703320"/>
            <a:ext cx="7223760" cy="548640"/>
          </a:xfrm>
          <a:prstGeom prst="rect">
            <a:avLst/>
          </a:prstGeom>
          <a:noFill/>
          <a:ln/>
        </p:spPr>
        <p:txBody>
          <a:bodyPr wrap="square" lIns="0" tIns="0" rIns="0" bIns="0" rtlCol="0" anchor="t"/>
          <a:lstStyle/>
          <a:p>
            <a:pPr indent="0" marL="0">
              <a:buNone/>
            </a:pPr>
            <a:r>
              <a:rPr lang="en-US" sz="2600" dirty="0">
                <a:solidFill>
                  <a:srgbClr val="BC8A47"/>
                </a:solidFill>
                <a:latin typeface="Ephesis" pitchFamily="34" charset="0"/>
                <a:ea typeface="Ephesis" pitchFamily="34" charset="-122"/>
                <a:cs typeface="Ephesis" pitchFamily="34" charset="-120"/>
              </a:rPr>
              <a:t>the part nobody tells you</a:t>
            </a:r>
            <a:endParaRPr lang="en-US" sz="2600" dirty="0"/>
          </a:p>
        </p:txBody>
      </p:sp>
      <p:sp>
        <p:nvSpPr>
          <p:cNvPr id="7" name="Shape 5"/>
          <p:cNvSpPr/>
          <p:nvPr/>
        </p:nvSpPr>
        <p:spPr>
          <a:xfrm>
            <a:off x="4023360" y="4526280"/>
            <a:ext cx="146304" cy="146304"/>
          </a:xfrm>
          <a:prstGeom prst="ellipse">
            <a:avLst/>
          </a:prstGeom>
          <a:solidFill>
            <a:srgbClr val="A93F63"/>
          </a:solidFill>
          <a:ln/>
        </p:spPr>
      </p:sp>
      <p:sp>
        <p:nvSpPr>
          <p:cNvPr id="8" name="Text 6"/>
          <p:cNvSpPr/>
          <p:nvPr/>
        </p:nvSpPr>
        <p:spPr>
          <a:xfrm>
            <a:off x="4389120" y="441655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The four traps that keep good bloggers broke</a:t>
            </a:r>
            <a:endParaRPr lang="en-US" sz="1300" dirty="0"/>
          </a:p>
        </p:txBody>
      </p:sp>
      <p:sp>
        <p:nvSpPr>
          <p:cNvPr id="9" name="Shape 7"/>
          <p:cNvSpPr/>
          <p:nvPr/>
        </p:nvSpPr>
        <p:spPr>
          <a:xfrm>
            <a:off x="4023360" y="5029200"/>
            <a:ext cx="146304" cy="146304"/>
          </a:xfrm>
          <a:prstGeom prst="ellipse">
            <a:avLst/>
          </a:prstGeom>
          <a:solidFill>
            <a:srgbClr val="A93F63"/>
          </a:solidFill>
          <a:ln/>
        </p:spPr>
      </p:sp>
      <p:sp>
        <p:nvSpPr>
          <p:cNvPr id="10" name="Text 8"/>
          <p:cNvSpPr/>
          <p:nvPr/>
        </p:nvSpPr>
        <p:spPr>
          <a:xfrm>
            <a:off x="4389120" y="491947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How to audit your own blog honestly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10</a:t>
            </a:r>
            <a:endParaRPr lang="en-US" sz="950" dirty="0"/>
          </a:p>
        </p:txBody>
      </p:sp>
      <p:sp>
        <p:nvSpPr>
          <p:cNvPr id="3" name="Shape 1"/>
          <p:cNvSpPr/>
          <p:nvPr/>
        </p:nvSpPr>
        <p:spPr>
          <a:xfrm>
            <a:off x="8503920" y="914400"/>
            <a:ext cx="4937760" cy="4937760"/>
          </a:xfrm>
          <a:prstGeom prst="ellipse">
            <a:avLst/>
          </a:prstGeom>
          <a:solidFill>
            <a:srgbClr val="7C2B48">
              <a:alpha val="55000"/>
            </a:srgbClr>
          </a:solidFill>
          <a:ln/>
        </p:spPr>
      </p:sp>
      <p:sp>
        <p:nvSpPr>
          <p:cNvPr id="4" name="Text 2"/>
          <p:cNvSpPr/>
          <p:nvPr/>
        </p:nvSpPr>
        <p:spPr>
          <a:xfrm>
            <a:off x="777240" y="1920240"/>
            <a:ext cx="6766560" cy="2743200"/>
          </a:xfrm>
          <a:prstGeom prst="rect">
            <a:avLst/>
          </a:prstGeom>
          <a:noFill/>
          <a:ln/>
        </p:spPr>
        <p:txBody>
          <a:bodyPr wrap="square" lIns="0" tIns="0" rIns="0" bIns="0" rtlCol="0" anchor="ctr"/>
          <a:lstStyle/>
          <a:p>
            <a:pPr indent="0" marL="0">
              <a:lnSpc>
                <a:spcPts val="4800"/>
              </a:lnSpc>
              <a:buNone/>
            </a:pPr>
            <a:r>
              <a:rPr lang="en-US" sz="4200" dirty="0">
                <a:solidFill>
                  <a:srgbClr val="FBF6EE"/>
                </a:solidFill>
                <a:latin typeface="Fraunces" pitchFamily="34" charset="0"/>
                <a:ea typeface="Fraunces" pitchFamily="34" charset="-122"/>
                <a:cs typeface="Fraunces" pitchFamily="34" charset="-120"/>
              </a:rPr>
              <a:t>Your blog isn't
your business.
</a:t>
            </a:r>
            <a:pPr indent="0" marL="0">
              <a:lnSpc>
                <a:spcPts val="4800"/>
              </a:lnSpc>
              <a:buNone/>
            </a:pPr>
            <a:r>
              <a:rPr lang="en-US" sz="4200" i="1" dirty="0">
                <a:solidFill>
                  <a:srgbClr val="A93F63"/>
                </a:solidFill>
                <a:latin typeface="Fraunces" pitchFamily="34" charset="0"/>
                <a:ea typeface="Fraunces" pitchFamily="34" charset="-122"/>
                <a:cs typeface="Fraunces" pitchFamily="34" charset="-120"/>
              </a:rPr>
              <a:t>It's your marketing.</a:t>
            </a:r>
            <a:endParaRPr lang="en-US" sz="4200" dirty="0"/>
          </a:p>
        </p:txBody>
      </p:sp>
      <p:sp>
        <p:nvSpPr>
          <p:cNvPr id="5" name="Text 3"/>
          <p:cNvSpPr/>
          <p:nvPr/>
        </p:nvSpPr>
        <p:spPr>
          <a:xfrm>
            <a:off x="777240" y="4800600"/>
            <a:ext cx="6217920" cy="640080"/>
          </a:xfrm>
          <a:prstGeom prst="rect">
            <a:avLst/>
          </a:prstGeom>
          <a:noFill/>
          <a:ln/>
        </p:spPr>
        <p:txBody>
          <a:bodyPr wrap="square" lIns="0" tIns="0" rIns="0" bIns="0" rtlCol="0" anchor="t"/>
          <a:lstStyle/>
          <a:p>
            <a:pPr indent="0" marL="0">
              <a:lnSpc>
                <a:spcPts val="2000"/>
              </a:lnSpc>
              <a:buNone/>
            </a:pPr>
            <a:r>
              <a:rPr lang="en-US" sz="1350" dirty="0">
                <a:solidFill>
                  <a:srgbClr val="D8CBC3"/>
                </a:solidFill>
                <a:latin typeface="Karla" pitchFamily="34" charset="0"/>
                <a:ea typeface="Karla" pitchFamily="34" charset="-122"/>
                <a:cs typeface="Karla" pitchFamily="34" charset="-120"/>
              </a:rPr>
              <a:t>This one sentence changes everything that follows.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11</a:t>
            </a:r>
            <a:endParaRPr lang="en-US" sz="950" dirty="0"/>
          </a:p>
        </p:txBody>
      </p:sp>
      <p:sp>
        <p:nvSpPr>
          <p:cNvPr id="3" name="Text 1"/>
          <p:cNvSpPr/>
          <p:nvPr/>
        </p:nvSpPr>
        <p:spPr>
          <a:xfrm>
            <a:off x="-457200" y="1188720"/>
            <a:ext cx="13075920" cy="3657600"/>
          </a:xfrm>
          <a:prstGeom prst="rect">
            <a:avLst/>
          </a:prstGeom>
          <a:noFill/>
          <a:ln/>
        </p:spPr>
        <p:txBody>
          <a:bodyPr wrap="square" lIns="0" tIns="0" rIns="0" bIns="0" rtlCol="0" anchor="ctr"/>
          <a:lstStyle/>
          <a:p>
            <a:pPr algn="ctr" indent="0" marL="0">
              <a:buNone/>
            </a:pPr>
            <a:r>
              <a:rPr lang="en-US" sz="19000" i="1" dirty="0">
                <a:solidFill>
                  <a:srgbClr val="EADFD1"/>
                </a:solidFill>
                <a:latin typeface="Fraunces" pitchFamily="34" charset="0"/>
                <a:ea typeface="Fraunces" pitchFamily="34" charset="-122"/>
                <a:cs typeface="Fraunces" pitchFamily="34" charset="-120"/>
              </a:rPr>
              <a:t>marketing</a:t>
            </a:r>
            <a:endParaRPr lang="en-US" sz="19000" dirty="0"/>
          </a:p>
        </p:txBody>
      </p:sp>
      <p:sp>
        <p:nvSpPr>
          <p:cNvPr id="4" name="Text 2"/>
          <p:cNvSpPr/>
          <p:nvPr/>
        </p:nvSpPr>
        <p:spPr>
          <a:xfrm>
            <a:off x="777240" y="1371600"/>
            <a:ext cx="594360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THE DISTINCTION</a:t>
            </a:r>
            <a:endParaRPr lang="en-US" sz="1100" dirty="0"/>
          </a:p>
        </p:txBody>
      </p:sp>
      <p:sp>
        <p:nvSpPr>
          <p:cNvPr id="5" name="Text 3"/>
          <p:cNvSpPr/>
          <p:nvPr/>
        </p:nvSpPr>
        <p:spPr>
          <a:xfrm>
            <a:off x="777240" y="1783080"/>
            <a:ext cx="6035040" cy="155448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Marketing brings them in. The offer gets you paid.</a:t>
            </a:r>
            <a:endParaRPr lang="en-US" sz="3300" dirty="0"/>
          </a:p>
        </p:txBody>
      </p:sp>
      <p:sp>
        <p:nvSpPr>
          <p:cNvPr id="6" name="Text 4"/>
          <p:cNvSpPr/>
          <p:nvPr/>
        </p:nvSpPr>
        <p:spPr>
          <a:xfrm>
            <a:off x="777240" y="3520440"/>
            <a:ext cx="5852160" cy="2468880"/>
          </a:xfrm>
          <a:prstGeom prst="rect">
            <a:avLst/>
          </a:prstGeom>
          <a:noFill/>
          <a:ln/>
        </p:spPr>
        <p:txBody>
          <a:bodyPr wrap="square" lIns="0" tIns="0" rIns="0" bIns="0" rtlCol="0" anchor="ctr"/>
          <a:lstStyle/>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A blog is how people find you and decide they like you. That is a real job and it matters enormously.</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But it is not the thing that takes their money. Something else has to do that.</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Build the blog without the offer and you have a beautiful machine pointing at nothing.</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12</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THE ORDER PROBLEM</a:t>
            </a:r>
            <a:endParaRPr lang="en-US" sz="1100" dirty="0"/>
          </a:p>
        </p:txBody>
      </p:sp>
      <p:sp>
        <p:nvSpPr>
          <p:cNvPr id="4" name="Text 2"/>
          <p:cNvSpPr/>
          <p:nvPr/>
        </p:nvSpPr>
        <p:spPr>
          <a:xfrm>
            <a:off x="777240" y="1051560"/>
            <a:ext cx="83210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Same pieces. Completely different results.</a:t>
            </a:r>
            <a:endParaRPr lang="en-US" sz="3300" dirty="0"/>
          </a:p>
        </p:txBody>
      </p:sp>
      <p:sp>
        <p:nvSpPr>
          <p:cNvPr id="5" name="Shape 3"/>
          <p:cNvSpPr/>
          <p:nvPr/>
        </p:nvSpPr>
        <p:spPr>
          <a:xfrm>
            <a:off x="777240" y="2468880"/>
            <a:ext cx="4572000" cy="2743200"/>
          </a:xfrm>
          <a:prstGeom prst="roundRect">
            <a:avLst>
              <a:gd name="adj" fmla="val 4667"/>
            </a:avLst>
          </a:prstGeom>
          <a:solidFill>
            <a:srgbClr val="FFFFFF"/>
          </a:solidFill>
          <a:ln w="9525">
            <a:solidFill>
              <a:srgbClr val="DCD2C7"/>
            </a:solidFill>
            <a:prstDash val="solid"/>
          </a:ln>
        </p:spPr>
      </p:sp>
      <p:sp>
        <p:nvSpPr>
          <p:cNvPr id="6" name="Text 4"/>
          <p:cNvSpPr/>
          <p:nvPr/>
        </p:nvSpPr>
        <p:spPr>
          <a:xfrm>
            <a:off x="1143000" y="2788920"/>
            <a:ext cx="3840480" cy="274320"/>
          </a:xfrm>
          <a:prstGeom prst="rect">
            <a:avLst/>
          </a:prstGeom>
          <a:noFill/>
          <a:ln/>
        </p:spPr>
        <p:txBody>
          <a:bodyPr wrap="square" lIns="0" tIns="0" rIns="0" bIns="0" rtlCol="0" anchor="t"/>
          <a:lstStyle/>
          <a:p>
            <a:pPr indent="0" marL="0">
              <a:buNone/>
            </a:pPr>
            <a:r>
              <a:rPr lang="en-US" sz="1050" b="1" spc="300" kern="0" dirty="0">
                <a:solidFill>
                  <a:srgbClr val="6E5C63"/>
                </a:solidFill>
                <a:latin typeface="Karla" pitchFamily="34" charset="0"/>
                <a:ea typeface="Karla" pitchFamily="34" charset="-122"/>
                <a:cs typeface="Karla" pitchFamily="34" charset="-120"/>
              </a:rPr>
              <a:t>THE WAY MOST PEOPLE BUILD</a:t>
            </a:r>
            <a:endParaRPr lang="en-US" sz="1050" dirty="0"/>
          </a:p>
        </p:txBody>
      </p:sp>
      <p:sp>
        <p:nvSpPr>
          <p:cNvPr id="7" name="Text 5"/>
          <p:cNvSpPr/>
          <p:nvPr/>
        </p:nvSpPr>
        <p:spPr>
          <a:xfrm>
            <a:off x="1143000" y="3246120"/>
            <a:ext cx="3840480" cy="173736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Pick a pretty template</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Write posts and hope</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Chase traffic</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Add ads and affiliates</a:t>
            </a:r>
            <a:endParaRPr lang="en-US" sz="1250" dirty="0"/>
          </a:p>
        </p:txBody>
      </p:sp>
      <p:sp>
        <p:nvSpPr>
          <p:cNvPr id="8" name="Text 6"/>
          <p:cNvSpPr/>
          <p:nvPr/>
        </p:nvSpPr>
        <p:spPr>
          <a:xfrm>
            <a:off x="5486400" y="3474720"/>
            <a:ext cx="1188720" cy="822960"/>
          </a:xfrm>
          <a:prstGeom prst="rect">
            <a:avLst/>
          </a:prstGeom>
          <a:noFill/>
          <a:ln/>
        </p:spPr>
        <p:txBody>
          <a:bodyPr wrap="square" lIns="0" tIns="0" rIns="0" bIns="0" rtlCol="0" anchor="t"/>
          <a:lstStyle/>
          <a:p>
            <a:pPr algn="ctr" indent="0" marL="0">
              <a:buNone/>
            </a:pPr>
            <a:r>
              <a:rPr lang="en-US" sz="4400" dirty="0">
                <a:solidFill>
                  <a:srgbClr val="A93F63"/>
                </a:solidFill>
                <a:latin typeface="Fraunces" pitchFamily="34" charset="0"/>
                <a:ea typeface="Fraunces" pitchFamily="34" charset="-122"/>
                <a:cs typeface="Fraunces" pitchFamily="34" charset="-120"/>
              </a:rPr>
              <a:t>→</a:t>
            </a:r>
            <a:endParaRPr lang="en-US" sz="4400" dirty="0"/>
          </a:p>
        </p:txBody>
      </p:sp>
      <p:sp>
        <p:nvSpPr>
          <p:cNvPr id="9" name="Shape 7"/>
          <p:cNvSpPr/>
          <p:nvPr/>
        </p:nvSpPr>
        <p:spPr>
          <a:xfrm>
            <a:off x="6812280" y="2468880"/>
            <a:ext cx="4572000" cy="2743200"/>
          </a:xfrm>
          <a:prstGeom prst="roundRect">
            <a:avLst>
              <a:gd name="adj" fmla="val 4667"/>
            </a:avLst>
          </a:prstGeom>
          <a:solidFill>
            <a:srgbClr val="2E1F27"/>
          </a:solidFill>
          <a:ln w="9525">
            <a:solidFill>
              <a:srgbClr val="2E1F27"/>
            </a:solidFill>
            <a:prstDash val="solid"/>
          </a:ln>
          <a:effectLst>
            <a:outerShdw sx="100000" sy="100000" kx="0" ky="0" algn="bl" rotWithShape="0" blurRad="203200" dist="63500" dir="5400000">
              <a:srgbClr val="2E1F27">
                <a:alpha val="15000"/>
              </a:srgbClr>
            </a:outerShdw>
          </a:effectLst>
        </p:spPr>
      </p:sp>
      <p:sp>
        <p:nvSpPr>
          <p:cNvPr id="10" name="Text 8"/>
          <p:cNvSpPr/>
          <p:nvPr/>
        </p:nvSpPr>
        <p:spPr>
          <a:xfrm>
            <a:off x="7178040" y="2788920"/>
            <a:ext cx="3840480" cy="274320"/>
          </a:xfrm>
          <a:prstGeom prst="rect">
            <a:avLst/>
          </a:prstGeom>
          <a:noFill/>
          <a:ln/>
        </p:spPr>
        <p:txBody>
          <a:bodyPr wrap="square" lIns="0" tIns="0" rIns="0" bIns="0" rtlCol="0" anchor="t"/>
          <a:lstStyle/>
          <a:p>
            <a:pPr indent="0" marL="0">
              <a:buNone/>
            </a:pPr>
            <a:r>
              <a:rPr lang="en-US" sz="1050" b="1" spc="300" kern="0" dirty="0">
                <a:solidFill>
                  <a:srgbClr val="BC8A47"/>
                </a:solidFill>
                <a:latin typeface="Karla" pitchFamily="34" charset="0"/>
                <a:ea typeface="Karla" pitchFamily="34" charset="-122"/>
                <a:cs typeface="Karla" pitchFamily="34" charset="-120"/>
              </a:rPr>
              <a:t>THE WAY THAT WORKS</a:t>
            </a:r>
            <a:endParaRPr lang="en-US" sz="1050" dirty="0"/>
          </a:p>
        </p:txBody>
      </p:sp>
      <p:sp>
        <p:nvSpPr>
          <p:cNvPr id="11" name="Text 9"/>
          <p:cNvSpPr/>
          <p:nvPr/>
        </p:nvSpPr>
        <p:spPr>
          <a:xfrm>
            <a:off x="7178040" y="3246120"/>
            <a:ext cx="3840480" cy="173736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Decide what you sell</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Write copy that sells it</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Design around that</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Then bring traffic</a:t>
            </a:r>
            <a:endParaRPr lang="en-US" sz="1250" dirty="0"/>
          </a:p>
        </p:txBody>
      </p:sp>
      <p:sp>
        <p:nvSpPr>
          <p:cNvPr id="12" name="Text 10"/>
          <p:cNvSpPr/>
          <p:nvPr/>
        </p:nvSpPr>
        <p:spPr>
          <a:xfrm>
            <a:off x="1828800" y="5440680"/>
            <a:ext cx="8503920" cy="548640"/>
          </a:xfrm>
          <a:prstGeom prst="rect">
            <a:avLst/>
          </a:prstGeom>
          <a:noFill/>
          <a:ln/>
        </p:spPr>
        <p:txBody>
          <a:bodyPr wrap="square" lIns="0" tIns="0" rIns="0" bIns="0" rtlCol="0" anchor="t"/>
          <a:lstStyle/>
          <a:p>
            <a:pPr algn="ctr" indent="0" marL="0">
              <a:buNone/>
            </a:pPr>
            <a:r>
              <a:rPr lang="en-US" sz="2600" dirty="0">
                <a:solidFill>
                  <a:srgbClr val="A93F63"/>
                </a:solidFill>
                <a:latin typeface="Ephesis" pitchFamily="34" charset="0"/>
                <a:ea typeface="Ephesis" pitchFamily="34" charset="-122"/>
                <a:cs typeface="Ephesis" pitchFamily="34" charset="-120"/>
              </a:rPr>
              <a:t>two years, zero dollars → four months, $4,000</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13</a:t>
            </a:r>
            <a:endParaRPr lang="en-US" sz="950" dirty="0"/>
          </a:p>
        </p:txBody>
      </p:sp>
      <p:sp>
        <p:nvSpPr>
          <p:cNvPr id="3" name="Shape 1"/>
          <p:cNvSpPr/>
          <p:nvPr/>
        </p:nvSpPr>
        <p:spPr>
          <a:xfrm>
            <a:off x="-1737360" y="3749040"/>
            <a:ext cx="4572000" cy="4572000"/>
          </a:xfrm>
          <a:prstGeom prst="ellipse">
            <a:avLst/>
          </a:prstGeom>
          <a:solidFill>
            <a:srgbClr val="F0DCE2">
              <a:alpha val="65000"/>
            </a:srgbClr>
          </a:solidFill>
          <a:ln/>
        </p:spPr>
      </p:sp>
      <p:sp>
        <p:nvSpPr>
          <p:cNvPr id="4" name="Shape 2"/>
          <p:cNvSpPr/>
          <p:nvPr/>
        </p:nvSpPr>
        <p:spPr>
          <a:xfrm>
            <a:off x="10789920" y="-1371600"/>
            <a:ext cx="3291840" cy="3291840"/>
          </a:xfrm>
          <a:prstGeom prst="ellipse">
            <a:avLst/>
          </a:prstGeom>
          <a:solidFill>
            <a:srgbClr val="F4EBDE">
              <a:alpha val="80000"/>
            </a:srgbClr>
          </a:solidFill>
          <a:ln/>
        </p:spPr>
      </p:sp>
      <p:sp>
        <p:nvSpPr>
          <p:cNvPr id="5" name="Text 3"/>
          <p:cNvSpPr/>
          <p:nvPr/>
        </p:nvSpPr>
        <p:spPr>
          <a:xfrm>
            <a:off x="1234440" y="2057400"/>
            <a:ext cx="42062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THE FOUR TRAPS</a:t>
            </a:r>
            <a:endParaRPr lang="en-US" sz="1100" dirty="0"/>
          </a:p>
        </p:txBody>
      </p:sp>
      <p:sp>
        <p:nvSpPr>
          <p:cNvPr id="6" name="Text 4"/>
          <p:cNvSpPr/>
          <p:nvPr/>
        </p:nvSpPr>
        <p:spPr>
          <a:xfrm>
            <a:off x="1234440" y="2468880"/>
            <a:ext cx="4389120" cy="2011680"/>
          </a:xfrm>
          <a:prstGeom prst="rect">
            <a:avLst/>
          </a:prstGeom>
          <a:noFill/>
          <a:ln/>
        </p:spPr>
        <p:txBody>
          <a:bodyPr wrap="square" lIns="0" tIns="0" rIns="0" bIns="0" rtlCol="0" anchor="t"/>
          <a:lstStyle/>
          <a:p>
            <a:pPr indent="0" marL="0">
              <a:lnSpc>
                <a:spcPts val="3600"/>
              </a:lnSpc>
              <a:buNone/>
            </a:pPr>
            <a:r>
              <a:rPr lang="en-US" sz="3200" dirty="0">
                <a:solidFill>
                  <a:srgbClr val="2E1F27"/>
                </a:solidFill>
                <a:latin typeface="Fraunces" pitchFamily="34" charset="0"/>
                <a:ea typeface="Fraunces" pitchFamily="34" charset="-122"/>
                <a:cs typeface="Fraunces" pitchFamily="34" charset="-120"/>
              </a:rPr>
              <a:t>Almost every stuck blog is stuck on one of these.</a:t>
            </a:r>
            <a:endParaRPr lang="en-US" sz="3200" dirty="0"/>
          </a:p>
        </p:txBody>
      </p:sp>
      <p:sp>
        <p:nvSpPr>
          <p:cNvPr id="7" name="Shape 5"/>
          <p:cNvSpPr/>
          <p:nvPr/>
        </p:nvSpPr>
        <p:spPr>
          <a:xfrm>
            <a:off x="6309360" y="1938528"/>
            <a:ext cx="347472" cy="347472"/>
          </a:xfrm>
          <a:prstGeom prst="roundRect">
            <a:avLst>
              <a:gd name="adj" fmla="val 18421"/>
            </a:avLst>
          </a:prstGeom>
          <a:solidFill>
            <a:srgbClr val="FFFFFF"/>
          </a:solidFill>
          <a:ln w="15875">
            <a:solidFill>
              <a:srgbClr val="A93F63"/>
            </a:solidFill>
            <a:prstDash val="solid"/>
          </a:ln>
        </p:spPr>
      </p:sp>
      <p:sp>
        <p:nvSpPr>
          <p:cNvPr id="8" name="Text 6"/>
          <p:cNvSpPr/>
          <p:nvPr/>
        </p:nvSpPr>
        <p:spPr>
          <a:xfrm>
            <a:off x="6903720" y="1874520"/>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Waiting for traffic before you have anything to sell</a:t>
            </a:r>
            <a:endParaRPr lang="en-US" sz="1350" dirty="0"/>
          </a:p>
        </p:txBody>
      </p:sp>
      <p:sp>
        <p:nvSpPr>
          <p:cNvPr id="9" name="Shape 7"/>
          <p:cNvSpPr/>
          <p:nvPr/>
        </p:nvSpPr>
        <p:spPr>
          <a:xfrm>
            <a:off x="6309360" y="2779776"/>
            <a:ext cx="347472" cy="347472"/>
          </a:xfrm>
          <a:prstGeom prst="roundRect">
            <a:avLst>
              <a:gd name="adj" fmla="val 18421"/>
            </a:avLst>
          </a:prstGeom>
          <a:solidFill>
            <a:srgbClr val="FFFFFF"/>
          </a:solidFill>
          <a:ln w="15875">
            <a:solidFill>
              <a:srgbClr val="A93F63"/>
            </a:solidFill>
            <a:prstDash val="solid"/>
          </a:ln>
        </p:spPr>
      </p:sp>
      <p:sp>
        <p:nvSpPr>
          <p:cNvPr id="10" name="Text 8"/>
          <p:cNvSpPr/>
          <p:nvPr/>
        </p:nvSpPr>
        <p:spPr>
          <a:xfrm>
            <a:off x="6903720" y="2715768"/>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Monetizing with ads instead of your own offer</a:t>
            </a:r>
            <a:endParaRPr lang="en-US" sz="1350" dirty="0"/>
          </a:p>
        </p:txBody>
      </p:sp>
      <p:sp>
        <p:nvSpPr>
          <p:cNvPr id="11" name="Shape 9"/>
          <p:cNvSpPr/>
          <p:nvPr/>
        </p:nvSpPr>
        <p:spPr>
          <a:xfrm>
            <a:off x="6309360" y="3621024"/>
            <a:ext cx="347472" cy="347472"/>
          </a:xfrm>
          <a:prstGeom prst="roundRect">
            <a:avLst>
              <a:gd name="adj" fmla="val 18421"/>
            </a:avLst>
          </a:prstGeom>
          <a:solidFill>
            <a:srgbClr val="FFFFFF"/>
          </a:solidFill>
          <a:ln w="15875">
            <a:solidFill>
              <a:srgbClr val="A93F63"/>
            </a:solidFill>
            <a:prstDash val="solid"/>
          </a:ln>
        </p:spPr>
      </p:sp>
      <p:sp>
        <p:nvSpPr>
          <p:cNvPr id="12" name="Text 10"/>
          <p:cNvSpPr/>
          <p:nvPr/>
        </p:nvSpPr>
        <p:spPr>
          <a:xfrm>
            <a:off x="6903720" y="3557016"/>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Writing content with no destination</a:t>
            </a:r>
            <a:endParaRPr lang="en-US" sz="1350" dirty="0"/>
          </a:p>
        </p:txBody>
      </p:sp>
      <p:sp>
        <p:nvSpPr>
          <p:cNvPr id="13" name="Shape 11"/>
          <p:cNvSpPr/>
          <p:nvPr/>
        </p:nvSpPr>
        <p:spPr>
          <a:xfrm>
            <a:off x="6309360" y="4462272"/>
            <a:ext cx="347472" cy="347472"/>
          </a:xfrm>
          <a:prstGeom prst="roundRect">
            <a:avLst>
              <a:gd name="adj" fmla="val 18421"/>
            </a:avLst>
          </a:prstGeom>
          <a:solidFill>
            <a:srgbClr val="FFFFFF"/>
          </a:solidFill>
          <a:ln w="15875">
            <a:solidFill>
              <a:srgbClr val="A93F63"/>
            </a:solidFill>
            <a:prstDash val="solid"/>
          </a:ln>
        </p:spPr>
      </p:sp>
      <p:sp>
        <p:nvSpPr>
          <p:cNvPr id="14" name="Text 12"/>
          <p:cNvSpPr/>
          <p:nvPr/>
        </p:nvSpPr>
        <p:spPr>
          <a:xfrm>
            <a:off x="6903720" y="4398264"/>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Designing first and deciding what it is for later</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14</a:t>
            </a:r>
            <a:endParaRPr lang="en-US" sz="950" dirty="0"/>
          </a:p>
        </p:txBody>
      </p:sp>
      <p:sp>
        <p:nvSpPr>
          <p:cNvPr id="3" name="Shape 1"/>
          <p:cNvSpPr/>
          <p:nvPr/>
        </p:nvSpPr>
        <p:spPr>
          <a:xfrm>
            <a:off x="0" y="0"/>
            <a:ext cx="5029200" cy="6858000"/>
          </a:xfrm>
          <a:prstGeom prst="rect">
            <a:avLst/>
          </a:prstGeom>
          <a:solidFill>
            <a:srgbClr val="2E1F27"/>
          </a:solidFill>
          <a:ln/>
        </p:spPr>
      </p:sp>
      <p:sp>
        <p:nvSpPr>
          <p:cNvPr id="4" name="Text 2"/>
          <p:cNvSpPr/>
          <p:nvPr/>
        </p:nvSpPr>
        <p:spPr>
          <a:xfrm>
            <a:off x="777240" y="1371600"/>
            <a:ext cx="384048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TRAP ONE</a:t>
            </a:r>
            <a:endParaRPr lang="en-US" sz="1100" dirty="0"/>
          </a:p>
        </p:txBody>
      </p:sp>
      <p:sp>
        <p:nvSpPr>
          <p:cNvPr id="5" name="Text 3"/>
          <p:cNvSpPr/>
          <p:nvPr/>
        </p:nvSpPr>
        <p:spPr>
          <a:xfrm>
            <a:off x="777240" y="1828800"/>
            <a:ext cx="3931920" cy="2377440"/>
          </a:xfrm>
          <a:prstGeom prst="rect">
            <a:avLst/>
          </a:prstGeom>
          <a:noFill/>
          <a:ln/>
        </p:spPr>
        <p:txBody>
          <a:bodyPr wrap="square" lIns="0" tIns="0" rIns="0" bIns="0" rtlCol="0" anchor="t"/>
          <a:lstStyle/>
          <a:p>
            <a:pPr indent="0" marL="0">
              <a:lnSpc>
                <a:spcPts val="3600"/>
              </a:lnSpc>
              <a:buNone/>
            </a:pPr>
            <a:r>
              <a:rPr lang="en-US" sz="3200" dirty="0">
                <a:solidFill>
                  <a:srgbClr val="FBF6EE"/>
                </a:solidFill>
                <a:latin typeface="Fraunces" pitchFamily="34" charset="0"/>
                <a:ea typeface="Fraunces" pitchFamily="34" charset="-122"/>
                <a:cs typeface="Fraunces" pitchFamily="34" charset="-120"/>
              </a:rPr>
              <a:t>Waiting for traffic to show up first.</a:t>
            </a:r>
            <a:endParaRPr lang="en-US" sz="3200" dirty="0"/>
          </a:p>
        </p:txBody>
      </p:sp>
      <p:sp>
        <p:nvSpPr>
          <p:cNvPr id="6" name="Shape 4"/>
          <p:cNvSpPr/>
          <p:nvPr/>
        </p:nvSpPr>
        <p:spPr>
          <a:xfrm>
            <a:off x="5760720" y="1463040"/>
            <a:ext cx="512064" cy="512064"/>
          </a:xfrm>
          <a:prstGeom prst="ellipse">
            <a:avLst/>
          </a:prstGeom>
          <a:solidFill>
            <a:srgbClr val="A93F63"/>
          </a:solidFill>
          <a:ln/>
        </p:spPr>
      </p:sp>
      <p:sp>
        <p:nvSpPr>
          <p:cNvPr id="7" name="Text 5"/>
          <p:cNvSpPr/>
          <p:nvPr/>
        </p:nvSpPr>
        <p:spPr>
          <a:xfrm>
            <a:off x="5760720" y="146304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1</a:t>
            </a:r>
            <a:endParaRPr lang="en-US" sz="1500" dirty="0"/>
          </a:p>
        </p:txBody>
      </p:sp>
      <p:sp>
        <p:nvSpPr>
          <p:cNvPr id="8" name="Text 6"/>
          <p:cNvSpPr/>
          <p:nvPr/>
        </p:nvSpPr>
        <p:spPr>
          <a:xfrm>
            <a:off x="6492240" y="1444752"/>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The logic feels right</a:t>
            </a:r>
            <a:endParaRPr lang="en-US" sz="1900" dirty="0"/>
          </a:p>
        </p:txBody>
      </p:sp>
      <p:sp>
        <p:nvSpPr>
          <p:cNvPr id="9" name="Text 7"/>
          <p:cNvSpPr/>
          <p:nvPr/>
        </p:nvSpPr>
        <p:spPr>
          <a:xfrm>
            <a:off x="6492240" y="1874520"/>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Get the audience, then figure out how to make money from it. Everyone says it.</a:t>
            </a:r>
            <a:endParaRPr lang="en-US" sz="1250" dirty="0"/>
          </a:p>
        </p:txBody>
      </p:sp>
      <p:sp>
        <p:nvSpPr>
          <p:cNvPr id="10" name="Shape 8"/>
          <p:cNvSpPr/>
          <p:nvPr/>
        </p:nvSpPr>
        <p:spPr>
          <a:xfrm>
            <a:off x="5760720" y="2944368"/>
            <a:ext cx="512064" cy="512064"/>
          </a:xfrm>
          <a:prstGeom prst="ellipse">
            <a:avLst/>
          </a:prstGeom>
          <a:solidFill>
            <a:srgbClr val="A93F63"/>
          </a:solidFill>
          <a:ln/>
        </p:spPr>
      </p:sp>
      <p:sp>
        <p:nvSpPr>
          <p:cNvPr id="11" name="Text 9"/>
          <p:cNvSpPr/>
          <p:nvPr/>
        </p:nvSpPr>
        <p:spPr>
          <a:xfrm>
            <a:off x="5760720" y="294436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2</a:t>
            </a:r>
            <a:endParaRPr lang="en-US" sz="1500" dirty="0"/>
          </a:p>
        </p:txBody>
      </p:sp>
      <p:sp>
        <p:nvSpPr>
          <p:cNvPr id="12" name="Text 10"/>
          <p:cNvSpPr/>
          <p:nvPr/>
        </p:nvSpPr>
        <p:spPr>
          <a:xfrm>
            <a:off x="6492240" y="2926080"/>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The problem</a:t>
            </a:r>
            <a:endParaRPr lang="en-US" sz="1900" dirty="0"/>
          </a:p>
        </p:txBody>
      </p:sp>
      <p:sp>
        <p:nvSpPr>
          <p:cNvPr id="13" name="Text 11"/>
          <p:cNvSpPr/>
          <p:nvPr/>
        </p:nvSpPr>
        <p:spPr>
          <a:xfrm>
            <a:off x="6492240" y="3355848"/>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Traffic without an offer teaches you nothing. Ten thousand visitors who had nothing to buy tell you as much as zero.</a:t>
            </a:r>
            <a:endParaRPr lang="en-US" sz="1250" dirty="0"/>
          </a:p>
        </p:txBody>
      </p:sp>
      <p:sp>
        <p:nvSpPr>
          <p:cNvPr id="14" name="Shape 12"/>
          <p:cNvSpPr/>
          <p:nvPr/>
        </p:nvSpPr>
        <p:spPr>
          <a:xfrm>
            <a:off x="5760720" y="4425696"/>
            <a:ext cx="512064" cy="512064"/>
          </a:xfrm>
          <a:prstGeom prst="ellipse">
            <a:avLst/>
          </a:prstGeom>
          <a:solidFill>
            <a:srgbClr val="A93F63"/>
          </a:solidFill>
          <a:ln/>
        </p:spPr>
      </p:sp>
      <p:sp>
        <p:nvSpPr>
          <p:cNvPr id="15" name="Text 13"/>
          <p:cNvSpPr/>
          <p:nvPr/>
        </p:nvSpPr>
        <p:spPr>
          <a:xfrm>
            <a:off x="5760720" y="442569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3</a:t>
            </a:r>
            <a:endParaRPr lang="en-US" sz="1500" dirty="0"/>
          </a:p>
        </p:txBody>
      </p:sp>
      <p:sp>
        <p:nvSpPr>
          <p:cNvPr id="16" name="Text 14"/>
          <p:cNvSpPr/>
          <p:nvPr/>
        </p:nvSpPr>
        <p:spPr>
          <a:xfrm>
            <a:off x="6492240" y="4407408"/>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What to do instead</a:t>
            </a:r>
            <a:endParaRPr lang="en-US" sz="1900" dirty="0"/>
          </a:p>
        </p:txBody>
      </p:sp>
      <p:sp>
        <p:nvSpPr>
          <p:cNvPr id="17" name="Text 15"/>
          <p:cNvSpPr/>
          <p:nvPr/>
        </p:nvSpPr>
        <p:spPr>
          <a:xfrm>
            <a:off x="6492240" y="4837176"/>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A hundred visitors and a real offer will teach you more in a week than a year of watching analytics.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15</a:t>
            </a:r>
            <a:endParaRPr lang="en-US" sz="950" dirty="0"/>
          </a:p>
        </p:txBody>
      </p:sp>
      <p:sp>
        <p:nvSpPr>
          <p:cNvPr id="3" name="Shape 1"/>
          <p:cNvSpPr/>
          <p:nvPr/>
        </p:nvSpPr>
        <p:spPr>
          <a:xfrm>
            <a:off x="7680960" y="0"/>
            <a:ext cx="4480560" cy="6858000"/>
          </a:xfrm>
          <a:prstGeom prst="rect">
            <a:avLst/>
          </a:prstGeom>
          <a:solidFill>
            <a:srgbClr val="F4EBDE"/>
          </a:solidFill>
          <a:ln/>
        </p:spPr>
      </p:sp>
      <p:sp>
        <p:nvSpPr>
          <p:cNvPr id="4" name="Text 2"/>
          <p:cNvSpPr/>
          <p:nvPr/>
        </p:nvSpPr>
        <p:spPr>
          <a:xfrm>
            <a:off x="777240" y="1371600"/>
            <a:ext cx="621792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TRAP TWO</a:t>
            </a:r>
            <a:endParaRPr lang="en-US" sz="1100" dirty="0"/>
          </a:p>
        </p:txBody>
      </p:sp>
      <p:sp>
        <p:nvSpPr>
          <p:cNvPr id="5" name="Text 3"/>
          <p:cNvSpPr/>
          <p:nvPr/>
        </p:nvSpPr>
        <p:spPr>
          <a:xfrm>
            <a:off x="777240" y="1783080"/>
            <a:ext cx="6400800" cy="1371600"/>
          </a:xfrm>
          <a:prstGeom prst="rect">
            <a:avLst/>
          </a:prstGeom>
          <a:noFill/>
          <a:ln/>
        </p:spPr>
        <p:txBody>
          <a:bodyPr wrap="square" lIns="0" tIns="0" rIns="0" bIns="0" rtlCol="0" anchor="t"/>
          <a:lstStyle/>
          <a:p>
            <a:pPr indent="0" marL="0">
              <a:lnSpc>
                <a:spcPts val="3500"/>
              </a:lnSpc>
              <a:buNone/>
            </a:pPr>
            <a:r>
              <a:rPr lang="en-US" sz="3100" dirty="0">
                <a:solidFill>
                  <a:srgbClr val="2E1F27"/>
                </a:solidFill>
                <a:latin typeface="Fraunces" pitchFamily="34" charset="0"/>
                <a:ea typeface="Fraunces" pitchFamily="34" charset="-122"/>
                <a:cs typeface="Fraunces" pitchFamily="34" charset="-120"/>
              </a:rPr>
              <a:t>Ads and affiliate links as the whole plan.</a:t>
            </a:r>
            <a:endParaRPr lang="en-US" sz="3100" dirty="0"/>
          </a:p>
        </p:txBody>
      </p:sp>
      <p:sp>
        <p:nvSpPr>
          <p:cNvPr id="6" name="Text 4"/>
          <p:cNvSpPr/>
          <p:nvPr/>
        </p:nvSpPr>
        <p:spPr>
          <a:xfrm>
            <a:off x="777240" y="3200400"/>
            <a:ext cx="6309360" cy="2651760"/>
          </a:xfrm>
          <a:prstGeom prst="rect">
            <a:avLst/>
          </a:prstGeom>
          <a:noFill/>
          <a:ln/>
        </p:spPr>
        <p:txBody>
          <a:bodyPr wrap="square" lIns="0" tIns="0" rIns="0" bIns="0" rtlCol="0" anchor="ctr"/>
          <a:lstStyle/>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Display ads pay in pennies per visitor, and they send people away from your site for a living.</a:t>
            </a:r>
            <a:endParaRPr lang="en-US" sz="1450" dirty="0"/>
          </a:p>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Affiliate links are better, and genuinely fine on the side. But you are still selling somebody else's thing for a slice.</a:t>
            </a:r>
            <a:endParaRPr lang="en-US" sz="1450" dirty="0"/>
          </a:p>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Neither should be the plan. They are a nice extra on top of a business that already works.</a:t>
            </a:r>
            <a:endParaRPr lang="en-US" sz="1450" dirty="0"/>
          </a:p>
        </p:txBody>
      </p:sp>
      <p:sp>
        <p:nvSpPr>
          <p:cNvPr id="7" name="Shape 5"/>
          <p:cNvSpPr/>
          <p:nvPr/>
        </p:nvSpPr>
        <p:spPr>
          <a:xfrm>
            <a:off x="9765792" y="1965960"/>
            <a:ext cx="310896" cy="310896"/>
          </a:xfrm>
          <a:prstGeom prst="ellipse">
            <a:avLst/>
          </a:prstGeom>
          <a:solidFill>
            <a:srgbClr val="BC8A47"/>
          </a:solidFill>
          <a:ln/>
        </p:spPr>
      </p:sp>
      <p:sp>
        <p:nvSpPr>
          <p:cNvPr id="8" name="Text 6"/>
          <p:cNvSpPr/>
          <p:nvPr/>
        </p:nvSpPr>
        <p:spPr>
          <a:xfrm>
            <a:off x="7909560" y="2651760"/>
            <a:ext cx="4023360" cy="2194560"/>
          </a:xfrm>
          <a:prstGeom prst="rect">
            <a:avLst/>
          </a:prstGeom>
          <a:noFill/>
          <a:ln/>
        </p:spPr>
        <p:txBody>
          <a:bodyPr wrap="square" lIns="0" tIns="0" rIns="0" bIns="0" rtlCol="0" anchor="ctr"/>
          <a:lstStyle/>
          <a:p>
            <a:pPr algn="ctr" indent="0" marL="0">
              <a:buNone/>
            </a:pPr>
            <a:r>
              <a:rPr lang="en-US" sz="4600" dirty="0">
                <a:solidFill>
                  <a:srgbClr val="A93F63"/>
                </a:solidFill>
                <a:latin typeface="Ephesis" pitchFamily="34" charset="0"/>
                <a:ea typeface="Ephesis" pitchFamily="34" charset="-122"/>
                <a:cs typeface="Ephesis" pitchFamily="34" charset="-120"/>
              </a:rPr>
              <a:t>pennies</a:t>
            </a:r>
            <a:endParaRPr lang="en-US" sz="4600" dirty="0"/>
          </a:p>
          <a:p>
            <a:pPr algn="ctr" indent="0" marL="0">
              <a:buNone/>
            </a:pPr>
            <a:r>
              <a:rPr lang="en-US" sz="4600" dirty="0">
                <a:solidFill>
                  <a:srgbClr val="A93F63"/>
                </a:solidFill>
                <a:latin typeface="Ephesis" pitchFamily="34" charset="0"/>
                <a:ea typeface="Ephesis" pitchFamily="34" charset="-122"/>
                <a:cs typeface="Ephesis" pitchFamily="34" charset="-120"/>
              </a:rPr>
              <a:t>are still</a:t>
            </a:r>
            <a:endParaRPr lang="en-US" sz="4600" dirty="0"/>
          </a:p>
          <a:p>
            <a:pPr algn="ctr" indent="0" marL="0">
              <a:buNone/>
            </a:pPr>
            <a:r>
              <a:rPr lang="en-US" sz="4600" dirty="0">
                <a:solidFill>
                  <a:srgbClr val="A93F63"/>
                </a:solidFill>
                <a:latin typeface="Ephesis" pitchFamily="34" charset="0"/>
                <a:ea typeface="Ephesis" pitchFamily="34" charset="-122"/>
                <a:cs typeface="Ephesis" pitchFamily="34" charset="-120"/>
              </a:rPr>
              <a:t>pennies</a:t>
            </a:r>
            <a:endParaRPr lang="en-US" sz="4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16</a:t>
            </a:r>
            <a:endParaRPr lang="en-US" sz="950" dirty="0"/>
          </a:p>
        </p:txBody>
      </p:sp>
      <p:sp>
        <p:nvSpPr>
          <p:cNvPr id="3" name="Shape 1"/>
          <p:cNvSpPr/>
          <p:nvPr/>
        </p:nvSpPr>
        <p:spPr>
          <a:xfrm>
            <a:off x="2971800" y="320040"/>
            <a:ext cx="6217920" cy="6217920"/>
          </a:xfrm>
          <a:prstGeom prst="ellipse">
            <a:avLst/>
          </a:prstGeom>
          <a:solidFill>
            <a:srgbClr val="7C2B48">
              <a:alpha val="45000"/>
            </a:srgbClr>
          </a:solidFill>
          <a:ln/>
        </p:spPr>
      </p:sp>
      <p:sp>
        <p:nvSpPr>
          <p:cNvPr id="4" name="Text 2"/>
          <p:cNvSpPr/>
          <p:nvPr/>
        </p:nvSpPr>
        <p:spPr>
          <a:xfrm>
            <a:off x="914400" y="960120"/>
            <a:ext cx="10332720" cy="3108960"/>
          </a:xfrm>
          <a:prstGeom prst="rect">
            <a:avLst/>
          </a:prstGeom>
          <a:noFill/>
          <a:ln/>
        </p:spPr>
        <p:txBody>
          <a:bodyPr wrap="square" lIns="0" tIns="0" rIns="0" bIns="0" rtlCol="0" anchor="ctr"/>
          <a:lstStyle/>
          <a:p>
            <a:pPr algn="ctr" indent="0" marL="0">
              <a:buNone/>
            </a:pPr>
            <a:r>
              <a:rPr lang="en-US" sz="15000" i="1" dirty="0">
                <a:solidFill>
                  <a:srgbClr val="A93F63"/>
                </a:solidFill>
                <a:latin typeface="Fraunces" pitchFamily="34" charset="0"/>
                <a:ea typeface="Fraunces" pitchFamily="34" charset="-122"/>
                <a:cs typeface="Fraunces" pitchFamily="34" charset="-120"/>
              </a:rPr>
              <a:t>$0</a:t>
            </a:r>
            <a:endParaRPr lang="en-US" sz="15000" dirty="0"/>
          </a:p>
        </p:txBody>
      </p:sp>
      <p:sp>
        <p:nvSpPr>
          <p:cNvPr id="5" name="Text 3"/>
          <p:cNvSpPr/>
          <p:nvPr/>
        </p:nvSpPr>
        <p:spPr>
          <a:xfrm>
            <a:off x="1371600" y="4114800"/>
            <a:ext cx="9418320" cy="411480"/>
          </a:xfrm>
          <a:prstGeom prst="rect">
            <a:avLst/>
          </a:prstGeom>
          <a:noFill/>
          <a:ln/>
        </p:spPr>
        <p:txBody>
          <a:bodyPr wrap="square" lIns="0" tIns="0" rIns="0" bIns="0" rtlCol="0" anchor="t"/>
          <a:lstStyle/>
          <a:p>
            <a:pPr algn="ctr" indent="0" marL="0">
              <a:buNone/>
            </a:pPr>
            <a:r>
              <a:rPr lang="en-US" sz="1300" b="1" spc="400" kern="0" dirty="0">
                <a:solidFill>
                  <a:srgbClr val="BC8A47"/>
                </a:solidFill>
                <a:latin typeface="Karla" pitchFamily="34" charset="0"/>
                <a:ea typeface="Karla" pitchFamily="34" charset="-122"/>
                <a:cs typeface="Karla" pitchFamily="34" charset="-120"/>
              </a:rPr>
              <a:t>WHAT TWO YEARS OF ADS AND AFFILIATES EARNED ME</a:t>
            </a:r>
            <a:endParaRPr lang="en-US" sz="1300" dirty="0"/>
          </a:p>
        </p:txBody>
      </p:sp>
      <p:sp>
        <p:nvSpPr>
          <p:cNvPr id="6" name="Text 4"/>
          <p:cNvSpPr/>
          <p:nvPr/>
        </p:nvSpPr>
        <p:spPr>
          <a:xfrm>
            <a:off x="2743200" y="4709160"/>
            <a:ext cx="6675120" cy="914400"/>
          </a:xfrm>
          <a:prstGeom prst="rect">
            <a:avLst/>
          </a:prstGeom>
          <a:noFill/>
          <a:ln/>
        </p:spPr>
        <p:txBody>
          <a:bodyPr wrap="square" lIns="0" tIns="0" rIns="0" bIns="0" rtlCol="0" anchor="t"/>
          <a:lstStyle/>
          <a:p>
            <a:pPr algn="ctr" indent="0" marL="0">
              <a:lnSpc>
                <a:spcPts val="2200"/>
              </a:lnSpc>
              <a:buNone/>
            </a:pPr>
            <a:r>
              <a:rPr lang="en-US" sz="1400" dirty="0">
                <a:solidFill>
                  <a:srgbClr val="D8CBC3"/>
                </a:solidFill>
                <a:latin typeface="Karla" pitchFamily="34" charset="0"/>
                <a:ea typeface="Karla" pitchFamily="34" charset="-122"/>
                <a:cs typeface="Karla" pitchFamily="34" charset="-120"/>
              </a:rPr>
              <a:t>Not because I was lazy. Because I was building in the wrong order.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17</a:t>
            </a:r>
            <a:endParaRPr lang="en-US" sz="950" dirty="0"/>
          </a:p>
        </p:txBody>
      </p:sp>
      <p:sp>
        <p:nvSpPr>
          <p:cNvPr id="3" name="Text 1"/>
          <p:cNvSpPr/>
          <p:nvPr/>
        </p:nvSpPr>
        <p:spPr>
          <a:xfrm>
            <a:off x="-457200" y="1188720"/>
            <a:ext cx="13075920" cy="3657600"/>
          </a:xfrm>
          <a:prstGeom prst="rect">
            <a:avLst/>
          </a:prstGeom>
          <a:noFill/>
          <a:ln/>
        </p:spPr>
        <p:txBody>
          <a:bodyPr wrap="square" lIns="0" tIns="0" rIns="0" bIns="0" rtlCol="0" anchor="ctr"/>
          <a:lstStyle/>
          <a:p>
            <a:pPr algn="ctr" indent="0" marL="0">
              <a:buNone/>
            </a:pPr>
            <a:r>
              <a:rPr lang="en-US" sz="19000" i="1" dirty="0">
                <a:solidFill>
                  <a:srgbClr val="EADFD1"/>
                </a:solidFill>
                <a:latin typeface="Fraunces" pitchFamily="34" charset="0"/>
                <a:ea typeface="Fraunces" pitchFamily="34" charset="-122"/>
                <a:cs typeface="Fraunces" pitchFamily="34" charset="-120"/>
              </a:rPr>
              <a:t>dead end</a:t>
            </a:r>
            <a:endParaRPr lang="en-US" sz="19000" dirty="0"/>
          </a:p>
        </p:txBody>
      </p:sp>
      <p:sp>
        <p:nvSpPr>
          <p:cNvPr id="4" name="Text 2"/>
          <p:cNvSpPr/>
          <p:nvPr/>
        </p:nvSpPr>
        <p:spPr>
          <a:xfrm>
            <a:off x="777240" y="1371600"/>
            <a:ext cx="594360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TRAP THREE</a:t>
            </a:r>
            <a:endParaRPr lang="en-US" sz="1100" dirty="0"/>
          </a:p>
        </p:txBody>
      </p:sp>
      <p:sp>
        <p:nvSpPr>
          <p:cNvPr id="5" name="Text 3"/>
          <p:cNvSpPr/>
          <p:nvPr/>
        </p:nvSpPr>
        <p:spPr>
          <a:xfrm>
            <a:off x="777240" y="1783080"/>
            <a:ext cx="6035040" cy="155448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Content with nowhere to go.</a:t>
            </a:r>
            <a:endParaRPr lang="en-US" sz="3300" dirty="0"/>
          </a:p>
        </p:txBody>
      </p:sp>
      <p:sp>
        <p:nvSpPr>
          <p:cNvPr id="6" name="Text 4"/>
          <p:cNvSpPr/>
          <p:nvPr/>
        </p:nvSpPr>
        <p:spPr>
          <a:xfrm>
            <a:off x="777240" y="3520440"/>
            <a:ext cx="5852160" cy="2468880"/>
          </a:xfrm>
          <a:prstGeom prst="rect">
            <a:avLst/>
          </a:prstGeom>
          <a:noFill/>
          <a:ln/>
        </p:spPr>
        <p:txBody>
          <a:bodyPr wrap="square" lIns="0" tIns="0" rIns="0" bIns="0" rtlCol="0" anchor="ctr"/>
          <a:lstStyle/>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Most blog posts end with "let me know in the comments." That is a lovely thought and a dead end.</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Every post should point somewhere: a freebie, an email list, a service page, a product.</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You are not being pushy. A reader who liked your post wants to know what to do with the feeling.</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18</a:t>
            </a:r>
            <a:endParaRPr lang="en-US" sz="950" dirty="0"/>
          </a:p>
        </p:txBody>
      </p:sp>
      <p:sp>
        <p:nvSpPr>
          <p:cNvPr id="3" name="Text 1"/>
          <p:cNvSpPr/>
          <p:nvPr/>
        </p:nvSpPr>
        <p:spPr>
          <a:xfrm>
            <a:off x="777240" y="640080"/>
            <a:ext cx="106070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TRAP FOUR</a:t>
            </a:r>
            <a:endParaRPr lang="en-US" sz="1100" dirty="0"/>
          </a:p>
        </p:txBody>
      </p:sp>
      <p:sp>
        <p:nvSpPr>
          <p:cNvPr id="4" name="Text 2"/>
          <p:cNvSpPr/>
          <p:nvPr/>
        </p:nvSpPr>
        <p:spPr>
          <a:xfrm>
            <a:off x="777240" y="1024128"/>
            <a:ext cx="8321040" cy="914400"/>
          </a:xfrm>
          <a:prstGeom prst="rect">
            <a:avLst/>
          </a:prstGeom>
          <a:noFill/>
          <a:ln/>
        </p:spPr>
        <p:txBody>
          <a:bodyPr wrap="square" lIns="0" tIns="0" rIns="0" bIns="0" rtlCol="0" anchor="t"/>
          <a:lstStyle/>
          <a:p>
            <a:pPr indent="0" marL="0">
              <a:lnSpc>
                <a:spcPts val="3600"/>
              </a:lnSpc>
              <a:buNone/>
            </a:pPr>
            <a:r>
              <a:rPr lang="en-US" sz="3200" dirty="0">
                <a:solidFill>
                  <a:srgbClr val="2E1F27"/>
                </a:solidFill>
                <a:latin typeface="Fraunces" pitchFamily="34" charset="0"/>
                <a:ea typeface="Fraunces" pitchFamily="34" charset="-122"/>
                <a:cs typeface="Fraunces" pitchFamily="34" charset="-120"/>
              </a:rPr>
              <a:t>Design is the last step, not the first.</a:t>
            </a:r>
            <a:endParaRPr lang="en-US" sz="3200" dirty="0"/>
          </a:p>
        </p:txBody>
      </p:sp>
      <p:sp>
        <p:nvSpPr>
          <p:cNvPr id="5" name="Shape 3"/>
          <p:cNvSpPr/>
          <p:nvPr/>
        </p:nvSpPr>
        <p:spPr>
          <a:xfrm>
            <a:off x="777240" y="2148840"/>
            <a:ext cx="10607040" cy="1691640"/>
          </a:xfrm>
          <a:prstGeom prst="roundRect">
            <a:avLst>
              <a:gd name="adj" fmla="val 7568"/>
            </a:avLst>
          </a:prstGeom>
          <a:solidFill>
            <a:srgbClr val="FBF6EE"/>
          </a:solidFill>
          <a:ln w="9525">
            <a:solidFill>
              <a:srgbClr val="D8CCC0"/>
            </a:solidFill>
            <a:prstDash val="solid"/>
          </a:ln>
        </p:spPr>
      </p:sp>
      <p:sp>
        <p:nvSpPr>
          <p:cNvPr id="6" name="Text 4"/>
          <p:cNvSpPr/>
          <p:nvPr/>
        </p:nvSpPr>
        <p:spPr>
          <a:xfrm>
            <a:off x="1143000" y="2423160"/>
            <a:ext cx="2926080" cy="274320"/>
          </a:xfrm>
          <a:prstGeom prst="rect">
            <a:avLst/>
          </a:prstGeom>
          <a:noFill/>
          <a:ln/>
        </p:spPr>
        <p:txBody>
          <a:bodyPr wrap="square" lIns="0" tIns="0" rIns="0" bIns="0" rtlCol="0" anchor="t"/>
          <a:lstStyle/>
          <a:p>
            <a:pPr indent="0" marL="0">
              <a:buNone/>
            </a:pPr>
            <a:r>
              <a:rPr lang="en-US" sz="1100" b="1" spc="300" kern="0" dirty="0">
                <a:solidFill>
                  <a:srgbClr val="6E5C63"/>
                </a:solidFill>
                <a:latin typeface="Karla" pitchFamily="34" charset="0"/>
                <a:ea typeface="Karla" pitchFamily="34" charset="-122"/>
                <a:cs typeface="Karla" pitchFamily="34" charset="-120"/>
              </a:rPr>
              <a:t>WHAT MOST PEOPLE DO</a:t>
            </a:r>
            <a:endParaRPr lang="en-US" sz="1100" dirty="0"/>
          </a:p>
        </p:txBody>
      </p:sp>
      <p:sp>
        <p:nvSpPr>
          <p:cNvPr id="7" name="Text 5"/>
          <p:cNvSpPr/>
          <p:nvPr/>
        </p:nvSpPr>
        <p:spPr>
          <a:xfrm>
            <a:off x="1143000" y="2880360"/>
            <a:ext cx="9875520" cy="731520"/>
          </a:xfrm>
          <a:prstGeom prst="rect">
            <a:avLst/>
          </a:prstGeom>
          <a:noFill/>
          <a:ln/>
        </p:spPr>
        <p:txBody>
          <a:bodyPr wrap="square" lIns="0" tIns="0" rIns="0" bIns="0" rtlCol="0" anchor="t"/>
          <a:lstStyle/>
          <a:p>
            <a:pPr indent="0" marL="0">
              <a:lnSpc>
                <a:spcPts val="2000"/>
              </a:lnSpc>
              <a:buNone/>
            </a:pPr>
            <a:r>
              <a:rPr lang="en-US" sz="1350" dirty="0">
                <a:solidFill>
                  <a:srgbClr val="6E5C63"/>
                </a:solidFill>
                <a:latin typeface="Karla" pitchFamily="34" charset="0"/>
                <a:ea typeface="Karla" pitchFamily="34" charset="-122"/>
                <a:cs typeface="Karla" pitchFamily="34" charset="-120"/>
              </a:rPr>
              <a:t>Buy a pretty template   ·   Fill it with whatever fits   ·   Add the offer later</a:t>
            </a:r>
            <a:endParaRPr lang="en-US" sz="1350" dirty="0"/>
          </a:p>
        </p:txBody>
      </p:sp>
      <p:sp>
        <p:nvSpPr>
          <p:cNvPr id="8" name="Shape 6"/>
          <p:cNvSpPr/>
          <p:nvPr/>
        </p:nvSpPr>
        <p:spPr>
          <a:xfrm>
            <a:off x="777240" y="4069080"/>
            <a:ext cx="10607040" cy="1783080"/>
          </a:xfrm>
          <a:prstGeom prst="roundRect">
            <a:avLst>
              <a:gd name="adj" fmla="val 7179"/>
            </a:avLst>
          </a:prstGeom>
          <a:solidFill>
            <a:srgbClr val="2E1F27"/>
          </a:solidFill>
          <a:ln w="9525">
            <a:solidFill>
              <a:srgbClr val="2E1F27"/>
            </a:solidFill>
            <a:prstDash val="solid"/>
          </a:ln>
          <a:effectLst>
            <a:outerShdw sx="100000" sy="100000" kx="0" ky="0" algn="bl" rotWithShape="0" blurRad="203200" dist="63500" dir="5400000">
              <a:srgbClr val="2E1F27">
                <a:alpha val="15000"/>
              </a:srgbClr>
            </a:outerShdw>
          </a:effectLst>
        </p:spPr>
      </p:sp>
      <p:sp>
        <p:nvSpPr>
          <p:cNvPr id="9" name="Text 7"/>
          <p:cNvSpPr/>
          <p:nvPr/>
        </p:nvSpPr>
        <p:spPr>
          <a:xfrm>
            <a:off x="1143000" y="4370832"/>
            <a:ext cx="292608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WHAT ACTUALLY WORKS</a:t>
            </a:r>
            <a:endParaRPr lang="en-US" sz="1100" dirty="0"/>
          </a:p>
        </p:txBody>
      </p:sp>
      <p:sp>
        <p:nvSpPr>
          <p:cNvPr id="10" name="Text 8"/>
          <p:cNvSpPr/>
          <p:nvPr/>
        </p:nvSpPr>
        <p:spPr>
          <a:xfrm>
            <a:off x="1143000" y="4828032"/>
            <a:ext cx="9875520" cy="777240"/>
          </a:xfrm>
          <a:prstGeom prst="rect">
            <a:avLst/>
          </a:prstGeom>
          <a:noFill/>
          <a:ln/>
        </p:spPr>
        <p:txBody>
          <a:bodyPr wrap="square" lIns="0" tIns="0" rIns="0" bIns="0" rtlCol="0" anchor="t"/>
          <a:lstStyle/>
          <a:p>
            <a:pPr indent="0" marL="0">
              <a:lnSpc>
                <a:spcPts val="2000"/>
              </a:lnSpc>
              <a:buNone/>
            </a:pPr>
            <a:r>
              <a:rPr lang="en-US" sz="1350" dirty="0">
                <a:solidFill>
                  <a:srgbClr val="FBF6EE"/>
                </a:solidFill>
                <a:latin typeface="Karla" pitchFamily="34" charset="0"/>
                <a:ea typeface="Karla" pitchFamily="34" charset="-122"/>
                <a:cs typeface="Karla" pitchFamily="34" charset="-120"/>
              </a:rPr>
              <a:t>Decide the offer   ·   Let copy shape the layout   ·   Design around both</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DCE2"/>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19</a:t>
            </a:r>
            <a:endParaRPr lang="en-US" sz="950" dirty="0"/>
          </a:p>
        </p:txBody>
      </p:sp>
      <p:sp>
        <p:nvSpPr>
          <p:cNvPr id="3" name="Shape 1"/>
          <p:cNvSpPr/>
          <p:nvPr/>
        </p:nvSpPr>
        <p:spPr>
          <a:xfrm>
            <a:off x="-2194560" y="-2194560"/>
            <a:ext cx="5852160" cy="5852160"/>
          </a:xfrm>
          <a:prstGeom prst="ellipse">
            <a:avLst/>
          </a:prstGeom>
          <a:solidFill>
            <a:srgbClr val="FBF6EE">
              <a:alpha val="55000"/>
            </a:srgbClr>
          </a:solidFill>
          <a:ln/>
        </p:spPr>
      </p:sp>
      <p:sp>
        <p:nvSpPr>
          <p:cNvPr id="4" name="Shape 2"/>
          <p:cNvSpPr/>
          <p:nvPr/>
        </p:nvSpPr>
        <p:spPr>
          <a:xfrm>
            <a:off x="10149840" y="4663440"/>
            <a:ext cx="4206240" cy="4206240"/>
          </a:xfrm>
          <a:prstGeom prst="ellipse">
            <a:avLst/>
          </a:prstGeom>
          <a:solidFill>
            <a:srgbClr val="FBF6EE">
              <a:alpha val="38000"/>
            </a:srgbClr>
          </a:solidFill>
          <a:ln/>
        </p:spPr>
      </p:sp>
      <p:sp>
        <p:nvSpPr>
          <p:cNvPr id="5" name="Text 3"/>
          <p:cNvSpPr/>
          <p:nvPr/>
        </p:nvSpPr>
        <p:spPr>
          <a:xfrm>
            <a:off x="868680" y="1051560"/>
            <a:ext cx="2011680" cy="2011680"/>
          </a:xfrm>
          <a:prstGeom prst="rect">
            <a:avLst/>
          </a:prstGeom>
          <a:noFill/>
          <a:ln/>
        </p:spPr>
        <p:txBody>
          <a:bodyPr wrap="square" lIns="0" tIns="0" rIns="0" bIns="0" rtlCol="0" anchor="t"/>
          <a:lstStyle/>
          <a:p>
            <a:pPr indent="0" marL="0">
              <a:buNone/>
            </a:pPr>
            <a:r>
              <a:rPr lang="en-US" sz="13200" i="1" dirty="0">
                <a:solidFill>
                  <a:srgbClr val="A93F63"/>
                </a:solidFill>
                <a:latin typeface="Fraunces" pitchFamily="34" charset="0"/>
                <a:ea typeface="Fraunces" pitchFamily="34" charset="-122"/>
                <a:cs typeface="Fraunces" pitchFamily="34" charset="-120"/>
              </a:rPr>
              <a:t>“</a:t>
            </a:r>
            <a:endParaRPr lang="en-US" sz="13200" dirty="0"/>
          </a:p>
        </p:txBody>
      </p:sp>
      <p:sp>
        <p:nvSpPr>
          <p:cNvPr id="6" name="Text 4"/>
          <p:cNvSpPr/>
          <p:nvPr/>
        </p:nvSpPr>
        <p:spPr>
          <a:xfrm>
            <a:off x="2514600" y="1965960"/>
            <a:ext cx="8229600" cy="2651760"/>
          </a:xfrm>
          <a:prstGeom prst="rect">
            <a:avLst/>
          </a:prstGeom>
          <a:noFill/>
          <a:ln/>
        </p:spPr>
        <p:txBody>
          <a:bodyPr wrap="square" lIns="0" tIns="0" rIns="0" bIns="0" rtlCol="0" anchor="ctr"/>
          <a:lstStyle/>
          <a:p>
            <a:pPr indent="0" marL="0">
              <a:lnSpc>
                <a:spcPts val="3700"/>
              </a:lnSpc>
              <a:buNone/>
            </a:pPr>
            <a:r>
              <a:rPr lang="en-US" sz="2900" i="1" dirty="0">
                <a:solidFill>
                  <a:srgbClr val="2E1F27"/>
                </a:solidFill>
                <a:latin typeface="Fraunces" pitchFamily="34" charset="0"/>
                <a:ea typeface="Fraunces" pitchFamily="34" charset="-122"/>
                <a:cs typeface="Fraunces" pitchFamily="34" charset="-120"/>
              </a:rPr>
              <a:t>Pretty and profitable were never opposites. Somewhere along the way women got told to pick one.</a:t>
            </a:r>
            <a:endParaRPr lang="en-US" sz="2900" dirty="0"/>
          </a:p>
        </p:txBody>
      </p:sp>
      <p:sp>
        <p:nvSpPr>
          <p:cNvPr id="7" name="Text 5"/>
          <p:cNvSpPr/>
          <p:nvPr/>
        </p:nvSpPr>
        <p:spPr>
          <a:xfrm>
            <a:off x="2514600" y="4846320"/>
            <a:ext cx="8229600" cy="365760"/>
          </a:xfrm>
          <a:prstGeom prst="rect">
            <a:avLst/>
          </a:prstGeom>
          <a:noFill/>
          <a:ln/>
        </p:spPr>
        <p:txBody>
          <a:bodyPr wrap="square" lIns="0" tIns="0" rIns="0" bIns="0" rtlCol="0" anchor="t"/>
          <a:lstStyle/>
          <a:p>
            <a:pPr indent="0" marL="0">
              <a:buNone/>
            </a:pPr>
            <a:r>
              <a:rPr lang="en-US" sz="1100" b="1" spc="400" kern="0" dirty="0">
                <a:solidFill>
                  <a:srgbClr val="7C2B48"/>
                </a:solidFill>
                <a:latin typeface="Karla" pitchFamily="34" charset="0"/>
                <a:ea typeface="Karla" pitchFamily="34" charset="-122"/>
                <a:cs typeface="Karla" pitchFamily="34" charset="-120"/>
              </a:rPr>
              <a:t>GENASYS, BOSS LADY BLOGGERS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20</a:t>
            </a:r>
            <a:endParaRPr lang="en-US" sz="950" dirty="0"/>
          </a:p>
        </p:txBody>
      </p:sp>
      <p:sp>
        <p:nvSpPr>
          <p:cNvPr id="3" name="Shape 1"/>
          <p:cNvSpPr/>
          <p:nvPr/>
        </p:nvSpPr>
        <p:spPr>
          <a:xfrm>
            <a:off x="6445606" y="0"/>
            <a:ext cx="5715914" cy="6858000"/>
          </a:xfrm>
          <a:prstGeom prst="rect">
            <a:avLst/>
          </a:prstGeom>
          <a:solidFill>
            <a:srgbClr val="F4EBDE"/>
          </a:solidFill>
          <a:ln/>
        </p:spPr>
      </p:sp>
      <p:sp>
        <p:nvSpPr>
          <p:cNvPr id="4" name="Shape 2"/>
          <p:cNvSpPr/>
          <p:nvPr/>
        </p:nvSpPr>
        <p:spPr>
          <a:xfrm>
            <a:off x="6994246" y="1143000"/>
            <a:ext cx="4481474" cy="4572000"/>
          </a:xfrm>
          <a:prstGeom prst="roundRect">
            <a:avLst>
              <a:gd name="adj" fmla="val 2040"/>
            </a:avLst>
          </a:prstGeom>
          <a:solidFill>
            <a:srgbClr val="FFFFFF"/>
          </a:solidFill>
          <a:ln w="15875">
            <a:solidFill>
              <a:srgbClr val="CFC2B4"/>
            </a:solidFill>
            <a:prstDash val="dash"/>
          </a:ln>
        </p:spPr>
      </p:sp>
      <p:sp>
        <p:nvSpPr>
          <p:cNvPr id="5" name="Shape 3"/>
          <p:cNvSpPr/>
          <p:nvPr/>
        </p:nvSpPr>
        <p:spPr>
          <a:xfrm>
            <a:off x="8850935" y="2715768"/>
            <a:ext cx="768096" cy="768096"/>
          </a:xfrm>
          <a:prstGeom prst="ellipse">
            <a:avLst/>
          </a:prstGeom>
          <a:solidFill>
            <a:srgbClr val="F4EBDE"/>
          </a:solidFill>
          <a:ln/>
        </p:spPr>
      </p:sp>
      <p:sp>
        <p:nvSpPr>
          <p:cNvPr id="6" name="Text 4"/>
          <p:cNvSpPr/>
          <p:nvPr/>
        </p:nvSpPr>
        <p:spPr>
          <a:xfrm>
            <a:off x="8850935" y="2679192"/>
            <a:ext cx="768096" cy="768096"/>
          </a:xfrm>
          <a:prstGeom prst="rect">
            <a:avLst/>
          </a:prstGeom>
          <a:noFill/>
          <a:ln/>
        </p:spPr>
        <p:txBody>
          <a:bodyPr wrap="square" lIns="0" tIns="0" rIns="0" bIns="0" rtlCol="0" anchor="ctr"/>
          <a:lstStyle/>
          <a:p>
            <a:pPr algn="ctr" indent="0" marL="0">
              <a:buNone/>
            </a:pPr>
            <a:r>
              <a:rPr lang="en-US" sz="3200" dirty="0">
                <a:solidFill>
                  <a:srgbClr val="B6A899"/>
                </a:solidFill>
                <a:latin typeface="Fraunces" pitchFamily="34" charset="0"/>
                <a:ea typeface="Fraunces" pitchFamily="34" charset="-122"/>
                <a:cs typeface="Fraunces" pitchFamily="34" charset="-120"/>
              </a:rPr>
              <a:t>+</a:t>
            </a:r>
            <a:endParaRPr lang="en-US" sz="3200" dirty="0"/>
          </a:p>
        </p:txBody>
      </p:sp>
      <p:sp>
        <p:nvSpPr>
          <p:cNvPr id="7" name="Text 5"/>
          <p:cNvSpPr/>
          <p:nvPr/>
        </p:nvSpPr>
        <p:spPr>
          <a:xfrm>
            <a:off x="6994246" y="3630168"/>
            <a:ext cx="4481474" cy="457200"/>
          </a:xfrm>
          <a:prstGeom prst="rect">
            <a:avLst/>
          </a:prstGeom>
          <a:noFill/>
          <a:ln/>
        </p:spPr>
        <p:txBody>
          <a:bodyPr wrap="square" lIns="0" tIns="0" rIns="0" bIns="0" rtlCol="0" anchor="t"/>
          <a:lstStyle/>
          <a:p>
            <a:pPr algn="ctr" indent="0" marL="0">
              <a:buNone/>
            </a:pPr>
            <a:r>
              <a:rPr lang="en-US" sz="1050" b="1" spc="250" kern="0" dirty="0">
                <a:solidFill>
                  <a:srgbClr val="B6A899"/>
                </a:solidFill>
                <a:latin typeface="Karla" pitchFamily="34" charset="0"/>
                <a:ea typeface="Karla" pitchFamily="34" charset="-122"/>
                <a:cs typeface="Karla" pitchFamily="34" charset="-120"/>
              </a:rPr>
              <a:t>DROP YOUR SCREENSHOT HERE</a:t>
            </a:r>
            <a:endParaRPr lang="en-US" sz="1050" dirty="0"/>
          </a:p>
        </p:txBody>
      </p:sp>
      <p:sp>
        <p:nvSpPr>
          <p:cNvPr id="8" name="Text 6"/>
          <p:cNvSpPr/>
          <p:nvPr/>
        </p:nvSpPr>
        <p:spPr>
          <a:xfrm>
            <a:off x="777240" y="1600200"/>
            <a:ext cx="502920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SEE IT IN THE WILD</a:t>
            </a:r>
            <a:endParaRPr lang="en-US" sz="1100" dirty="0"/>
          </a:p>
        </p:txBody>
      </p:sp>
      <p:sp>
        <p:nvSpPr>
          <p:cNvPr id="9" name="Text 7"/>
          <p:cNvSpPr/>
          <p:nvPr/>
        </p:nvSpPr>
        <p:spPr>
          <a:xfrm>
            <a:off x="777240" y="2011680"/>
            <a:ext cx="5120640" cy="1463040"/>
          </a:xfrm>
          <a:prstGeom prst="rect">
            <a:avLst/>
          </a:prstGeom>
          <a:noFill/>
          <a:ln/>
        </p:spPr>
        <p:txBody>
          <a:bodyPr wrap="square" lIns="0" tIns="0" rIns="0" bIns="0" rtlCol="0" anchor="t"/>
          <a:lstStyle/>
          <a:p>
            <a:pPr indent="0" marL="0">
              <a:lnSpc>
                <a:spcPts val="3400"/>
              </a:lnSpc>
              <a:buNone/>
            </a:pPr>
            <a:r>
              <a:rPr lang="en-US" sz="3000" dirty="0">
                <a:solidFill>
                  <a:srgbClr val="2E1F27"/>
                </a:solidFill>
                <a:latin typeface="Fraunces" pitchFamily="34" charset="0"/>
                <a:ea typeface="Fraunces" pitchFamily="34" charset="-122"/>
                <a:cs typeface="Fraunces" pitchFamily="34" charset="-120"/>
              </a:rPr>
              <a:t>What a blog built in the right order looks like.</a:t>
            </a:r>
            <a:endParaRPr lang="en-US" sz="3000" dirty="0"/>
          </a:p>
        </p:txBody>
      </p:sp>
      <p:sp>
        <p:nvSpPr>
          <p:cNvPr id="10" name="Text 8"/>
          <p:cNvSpPr/>
          <p:nvPr/>
        </p:nvSpPr>
        <p:spPr>
          <a:xfrm>
            <a:off x="777240" y="3566160"/>
            <a:ext cx="5029200" cy="640080"/>
          </a:xfrm>
          <a:prstGeom prst="rect">
            <a:avLst/>
          </a:prstGeom>
          <a:noFill/>
          <a:ln/>
        </p:spPr>
        <p:txBody>
          <a:bodyPr wrap="square" lIns="0" tIns="0" rIns="0" bIns="0" rtlCol="0" anchor="t"/>
          <a:lstStyle/>
          <a:p>
            <a:pPr indent="0" marL="0">
              <a:buNone/>
            </a:pPr>
            <a:r>
              <a:rPr lang="en-US" sz="2700" dirty="0">
                <a:solidFill>
                  <a:srgbClr val="BC8A47"/>
                </a:solidFill>
                <a:latin typeface="Ephesis" pitchFamily="34" charset="0"/>
                <a:ea typeface="Ephesis" pitchFamily="34" charset="-122"/>
                <a:cs typeface="Ephesis" pitchFamily="34" charset="-120"/>
              </a:rPr>
              <a:t>watch the first three seconds</a:t>
            </a:r>
            <a:endParaRPr lang="en-US" sz="2700" dirty="0"/>
          </a:p>
        </p:txBody>
      </p:sp>
      <p:sp>
        <p:nvSpPr>
          <p:cNvPr id="11" name="Text 9"/>
          <p:cNvSpPr/>
          <p:nvPr/>
        </p:nvSpPr>
        <p:spPr>
          <a:xfrm>
            <a:off x="777240" y="4315968"/>
            <a:ext cx="5029200" cy="1828800"/>
          </a:xfrm>
          <a:prstGeom prst="rect">
            <a:avLst/>
          </a:prstGeom>
          <a:noFill/>
          <a:ln/>
        </p:spPr>
        <p:txBody>
          <a:bodyPr wrap="square" lIns="0" tIns="0" rIns="0" bIns="0" rtlCol="0" anchor="t"/>
          <a:lstStyle/>
          <a:p>
            <a:pPr indent="0" marL="0">
              <a:lnSpc>
                <a:spcPts val="2000"/>
              </a:lnSpc>
              <a:buNone/>
            </a:pPr>
            <a:r>
              <a:rPr lang="en-US" sz="1300" dirty="0">
                <a:solidFill>
                  <a:srgbClr val="6E5C63"/>
                </a:solidFill>
                <a:latin typeface="Karla" pitchFamily="34" charset="0"/>
                <a:ea typeface="Karla" pitchFamily="34" charset="-122"/>
                <a:cs typeface="Karla" pitchFamily="34" charset="-120"/>
              </a:rPr>
              <a:t>The visitor knows immediately who it is for, what is being sold, and what to do next. That clarity is not a design trick. It comes from knowing the offer before the design started.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21</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AUDIT YOUR OWN BLOG</a:t>
            </a:r>
            <a:endParaRPr lang="en-US" sz="1100" dirty="0"/>
          </a:p>
        </p:txBody>
      </p:sp>
      <p:sp>
        <p:nvSpPr>
          <p:cNvPr id="4" name="Text 2"/>
          <p:cNvSpPr/>
          <p:nvPr/>
        </p:nvSpPr>
        <p:spPr>
          <a:xfrm>
            <a:off x="777240" y="1051560"/>
            <a:ext cx="7863840" cy="91440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Be honest. Tick what is true today.</a:t>
            </a:r>
            <a:endParaRPr lang="en-US" sz="3300" dirty="0"/>
          </a:p>
        </p:txBody>
      </p:sp>
      <p:sp>
        <p:nvSpPr>
          <p:cNvPr id="5" name="Shape 3"/>
          <p:cNvSpPr/>
          <p:nvPr/>
        </p:nvSpPr>
        <p:spPr>
          <a:xfrm>
            <a:off x="777240" y="2514600"/>
            <a:ext cx="347472" cy="347472"/>
          </a:xfrm>
          <a:prstGeom prst="roundRect">
            <a:avLst>
              <a:gd name="adj" fmla="val 21053"/>
            </a:avLst>
          </a:prstGeom>
          <a:solidFill>
            <a:srgbClr val="2E1F27"/>
          </a:solidFill>
          <a:ln w="15875">
            <a:solidFill>
              <a:srgbClr val="A93F63"/>
            </a:solidFill>
            <a:prstDash val="solid"/>
          </a:ln>
        </p:spPr>
      </p:sp>
      <p:sp>
        <p:nvSpPr>
          <p:cNvPr id="6" name="Text 4"/>
          <p:cNvSpPr/>
          <p:nvPr/>
        </p:nvSpPr>
        <p:spPr>
          <a:xfrm>
            <a:off x="13441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can name what my blog sells in one sentence</a:t>
            </a:r>
            <a:endParaRPr lang="en-US" sz="1300" dirty="0"/>
          </a:p>
        </p:txBody>
      </p:sp>
      <p:sp>
        <p:nvSpPr>
          <p:cNvPr id="7" name="Shape 5"/>
          <p:cNvSpPr/>
          <p:nvPr/>
        </p:nvSpPr>
        <p:spPr>
          <a:xfrm>
            <a:off x="777240" y="3538728"/>
            <a:ext cx="347472" cy="347472"/>
          </a:xfrm>
          <a:prstGeom prst="roundRect">
            <a:avLst>
              <a:gd name="adj" fmla="val 21053"/>
            </a:avLst>
          </a:prstGeom>
          <a:solidFill>
            <a:srgbClr val="2E1F27"/>
          </a:solidFill>
          <a:ln w="15875">
            <a:solidFill>
              <a:srgbClr val="A93F63"/>
            </a:solidFill>
            <a:prstDash val="solid"/>
          </a:ln>
        </p:spPr>
      </p:sp>
      <p:sp>
        <p:nvSpPr>
          <p:cNvPr id="8" name="Text 6"/>
          <p:cNvSpPr/>
          <p:nvPr/>
        </p:nvSpPr>
        <p:spPr>
          <a:xfrm>
            <a:off x="13441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A visitor knows what to do next within ten seconds</a:t>
            </a:r>
            <a:endParaRPr lang="en-US" sz="1300" dirty="0"/>
          </a:p>
        </p:txBody>
      </p:sp>
      <p:sp>
        <p:nvSpPr>
          <p:cNvPr id="9" name="Shape 7"/>
          <p:cNvSpPr/>
          <p:nvPr/>
        </p:nvSpPr>
        <p:spPr>
          <a:xfrm>
            <a:off x="777240" y="4562856"/>
            <a:ext cx="347472" cy="347472"/>
          </a:xfrm>
          <a:prstGeom prst="roundRect">
            <a:avLst>
              <a:gd name="adj" fmla="val 21053"/>
            </a:avLst>
          </a:prstGeom>
          <a:solidFill>
            <a:srgbClr val="2E1F27"/>
          </a:solidFill>
          <a:ln w="15875">
            <a:solidFill>
              <a:srgbClr val="A93F63"/>
            </a:solidFill>
            <a:prstDash val="solid"/>
          </a:ln>
        </p:spPr>
      </p:sp>
      <p:sp>
        <p:nvSpPr>
          <p:cNvPr id="10" name="Text 8"/>
          <p:cNvSpPr/>
          <p:nvPr/>
        </p:nvSpPr>
        <p:spPr>
          <a:xfrm>
            <a:off x="13441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Every post points somewhere specific</a:t>
            </a:r>
            <a:endParaRPr lang="en-US" sz="1300" dirty="0"/>
          </a:p>
        </p:txBody>
      </p:sp>
      <p:sp>
        <p:nvSpPr>
          <p:cNvPr id="11" name="Shape 9"/>
          <p:cNvSpPr/>
          <p:nvPr/>
        </p:nvSpPr>
        <p:spPr>
          <a:xfrm>
            <a:off x="6263640" y="2514600"/>
            <a:ext cx="347472" cy="347472"/>
          </a:xfrm>
          <a:prstGeom prst="roundRect">
            <a:avLst>
              <a:gd name="adj" fmla="val 21053"/>
            </a:avLst>
          </a:prstGeom>
          <a:solidFill>
            <a:srgbClr val="2E1F27"/>
          </a:solidFill>
          <a:ln w="15875">
            <a:solidFill>
              <a:srgbClr val="A93F63"/>
            </a:solidFill>
            <a:prstDash val="solid"/>
          </a:ln>
        </p:spPr>
      </p:sp>
      <p:sp>
        <p:nvSpPr>
          <p:cNvPr id="12" name="Text 10"/>
          <p:cNvSpPr/>
          <p:nvPr/>
        </p:nvSpPr>
        <p:spPr>
          <a:xfrm>
            <a:off x="68305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My homepage sells, it does not just introduce me</a:t>
            </a:r>
            <a:endParaRPr lang="en-US" sz="1300" dirty="0"/>
          </a:p>
        </p:txBody>
      </p:sp>
      <p:sp>
        <p:nvSpPr>
          <p:cNvPr id="13" name="Shape 11"/>
          <p:cNvSpPr/>
          <p:nvPr/>
        </p:nvSpPr>
        <p:spPr>
          <a:xfrm>
            <a:off x="6263640" y="3538728"/>
            <a:ext cx="347472" cy="347472"/>
          </a:xfrm>
          <a:prstGeom prst="roundRect">
            <a:avLst>
              <a:gd name="adj" fmla="val 21053"/>
            </a:avLst>
          </a:prstGeom>
          <a:solidFill>
            <a:srgbClr val="2E1F27"/>
          </a:solidFill>
          <a:ln w="15875">
            <a:solidFill>
              <a:srgbClr val="A93F63"/>
            </a:solidFill>
            <a:prstDash val="solid"/>
          </a:ln>
        </p:spPr>
      </p:sp>
      <p:sp>
        <p:nvSpPr>
          <p:cNvPr id="14" name="Text 12"/>
          <p:cNvSpPr/>
          <p:nvPr/>
        </p:nvSpPr>
        <p:spPr>
          <a:xfrm>
            <a:off x="68305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am collecting emails, not just pageviews</a:t>
            </a:r>
            <a:endParaRPr lang="en-US" sz="1300" dirty="0"/>
          </a:p>
        </p:txBody>
      </p:sp>
      <p:sp>
        <p:nvSpPr>
          <p:cNvPr id="15" name="Shape 13"/>
          <p:cNvSpPr/>
          <p:nvPr/>
        </p:nvSpPr>
        <p:spPr>
          <a:xfrm>
            <a:off x="6263640" y="4562856"/>
            <a:ext cx="347472" cy="347472"/>
          </a:xfrm>
          <a:prstGeom prst="roundRect">
            <a:avLst>
              <a:gd name="adj" fmla="val 21053"/>
            </a:avLst>
          </a:prstGeom>
          <a:solidFill>
            <a:srgbClr val="2E1F27"/>
          </a:solidFill>
          <a:ln w="15875">
            <a:solidFill>
              <a:srgbClr val="A93F63"/>
            </a:solidFill>
            <a:prstDash val="solid"/>
          </a:ln>
        </p:spPr>
      </p:sp>
      <p:sp>
        <p:nvSpPr>
          <p:cNvPr id="16" name="Text 14"/>
          <p:cNvSpPr/>
          <p:nvPr/>
        </p:nvSpPr>
        <p:spPr>
          <a:xfrm>
            <a:off x="68305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have asked someone to buy in the last month</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22</a:t>
            </a:r>
            <a:endParaRPr lang="en-US" sz="950" dirty="0"/>
          </a:p>
        </p:txBody>
      </p:sp>
      <p:sp>
        <p:nvSpPr>
          <p:cNvPr id="3" name="Shape 1"/>
          <p:cNvSpPr/>
          <p:nvPr/>
        </p:nvSpPr>
        <p:spPr>
          <a:xfrm>
            <a:off x="0" y="0"/>
            <a:ext cx="12161520" cy="2331720"/>
          </a:xfrm>
          <a:prstGeom prst="rect">
            <a:avLst/>
          </a:prstGeom>
          <a:solidFill>
            <a:srgbClr val="A93F63"/>
          </a:solidFill>
          <a:ln/>
        </p:spPr>
      </p:sp>
      <p:sp>
        <p:nvSpPr>
          <p:cNvPr id="4" name="Text 2"/>
          <p:cNvSpPr/>
          <p:nvPr/>
        </p:nvSpPr>
        <p:spPr>
          <a:xfrm>
            <a:off x="777240" y="713232"/>
            <a:ext cx="10607040" cy="274320"/>
          </a:xfrm>
          <a:prstGeom prst="rect">
            <a:avLst/>
          </a:prstGeom>
          <a:noFill/>
          <a:ln/>
        </p:spPr>
        <p:txBody>
          <a:bodyPr wrap="square" lIns="0" tIns="0" rIns="0" bIns="0" rtlCol="0" anchor="t"/>
          <a:lstStyle/>
          <a:p>
            <a:pPr indent="0" marL="0">
              <a:buNone/>
            </a:pPr>
            <a:r>
              <a:rPr lang="en-US" sz="1100" b="1" spc="350" kern="0" dirty="0">
                <a:solidFill>
                  <a:srgbClr val="F6DCE5"/>
                </a:solidFill>
                <a:latin typeface="Karla" pitchFamily="34" charset="0"/>
                <a:ea typeface="Karla" pitchFamily="34" charset="-122"/>
                <a:cs typeface="Karla" pitchFamily="34" charset="-120"/>
              </a:rPr>
              <a:t>YOUR TURN</a:t>
            </a:r>
            <a:endParaRPr lang="en-US" sz="1100" dirty="0"/>
          </a:p>
        </p:txBody>
      </p:sp>
      <p:sp>
        <p:nvSpPr>
          <p:cNvPr id="5" name="Text 3"/>
          <p:cNvSpPr/>
          <p:nvPr/>
        </p:nvSpPr>
        <p:spPr>
          <a:xfrm>
            <a:off x="777240" y="1115568"/>
            <a:ext cx="7406640" cy="100584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The honest inventory.</a:t>
            </a:r>
            <a:endParaRPr lang="en-US" sz="3300" dirty="0"/>
          </a:p>
        </p:txBody>
      </p:sp>
      <p:sp>
        <p:nvSpPr>
          <p:cNvPr id="6" name="Shape 4"/>
          <p:cNvSpPr/>
          <p:nvPr/>
        </p:nvSpPr>
        <p:spPr>
          <a:xfrm>
            <a:off x="777240" y="2743200"/>
            <a:ext cx="10607040" cy="3291840"/>
          </a:xfrm>
          <a:prstGeom prst="roundRect">
            <a:avLst>
              <a:gd name="adj" fmla="val 388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7" name="Text 5"/>
          <p:cNvSpPr/>
          <p:nvPr/>
        </p:nvSpPr>
        <p:spPr>
          <a:xfrm>
            <a:off x="1234440" y="3063240"/>
            <a:ext cx="9692640" cy="777240"/>
          </a:xfrm>
          <a:prstGeom prst="rect">
            <a:avLst/>
          </a:prstGeom>
          <a:noFill/>
          <a:ln/>
        </p:spPr>
        <p:txBody>
          <a:bodyPr wrap="square" lIns="0" tIns="0" rIns="0" bIns="0" rtlCol="0" anchor="t"/>
          <a:lstStyle/>
          <a:p>
            <a:pPr indent="0" marL="0">
              <a:lnSpc>
                <a:spcPts val="2300"/>
              </a:lnSpc>
              <a:buNone/>
            </a:pPr>
            <a:r>
              <a:rPr lang="en-US" sz="1900" i="1" dirty="0">
                <a:solidFill>
                  <a:srgbClr val="A93F63"/>
                </a:solidFill>
                <a:latin typeface="Fraunces" pitchFamily="34" charset="0"/>
                <a:ea typeface="Fraunces" pitchFamily="34" charset="-122"/>
                <a:cs typeface="Fraunces" pitchFamily="34" charset="-120"/>
              </a:rPr>
              <a:t>Which of the four traps is your blog stuck in right now, and what has it cost you so far?</a:t>
            </a:r>
            <a:endParaRPr lang="en-US" sz="1900" dirty="0"/>
          </a:p>
        </p:txBody>
      </p:sp>
      <p:sp>
        <p:nvSpPr>
          <p:cNvPr id="8" name="Shape 6"/>
          <p:cNvSpPr/>
          <p:nvPr/>
        </p:nvSpPr>
        <p:spPr>
          <a:xfrm>
            <a:off x="1234440" y="3977640"/>
            <a:ext cx="9692640" cy="0"/>
          </a:xfrm>
          <a:prstGeom prst="line">
            <a:avLst/>
          </a:prstGeom>
          <a:noFill/>
          <a:ln w="12700">
            <a:solidFill>
              <a:srgbClr val="DCD2C7"/>
            </a:solidFill>
            <a:prstDash val="dash"/>
          </a:ln>
        </p:spPr>
      </p:sp>
      <p:sp>
        <p:nvSpPr>
          <p:cNvPr id="9" name="Shape 7"/>
          <p:cNvSpPr/>
          <p:nvPr/>
        </p:nvSpPr>
        <p:spPr>
          <a:xfrm>
            <a:off x="1234440" y="4480560"/>
            <a:ext cx="9692640" cy="0"/>
          </a:xfrm>
          <a:prstGeom prst="line">
            <a:avLst/>
          </a:prstGeom>
          <a:noFill/>
          <a:ln w="12700">
            <a:solidFill>
              <a:srgbClr val="DCD2C7"/>
            </a:solidFill>
            <a:prstDash val="dash"/>
          </a:ln>
        </p:spPr>
      </p:sp>
      <p:sp>
        <p:nvSpPr>
          <p:cNvPr id="10" name="Shape 8"/>
          <p:cNvSpPr/>
          <p:nvPr/>
        </p:nvSpPr>
        <p:spPr>
          <a:xfrm>
            <a:off x="1234440" y="4983480"/>
            <a:ext cx="9692640" cy="0"/>
          </a:xfrm>
          <a:prstGeom prst="line">
            <a:avLst/>
          </a:prstGeom>
          <a:noFill/>
          <a:ln w="12700">
            <a:solidFill>
              <a:srgbClr val="DCD2C7"/>
            </a:solidFill>
            <a:prstDash val="dash"/>
          </a:ln>
        </p:spPr>
      </p:sp>
      <p:sp>
        <p:nvSpPr>
          <p:cNvPr id="11" name="Shape 9"/>
          <p:cNvSpPr/>
          <p:nvPr/>
        </p:nvSpPr>
        <p:spPr>
          <a:xfrm>
            <a:off x="1234440" y="5486400"/>
            <a:ext cx="9692640" cy="0"/>
          </a:xfrm>
          <a:prstGeom prst="line">
            <a:avLst/>
          </a:prstGeom>
          <a:noFill/>
          <a:ln w="12700">
            <a:solidFill>
              <a:srgbClr val="DCD2C7"/>
            </a:solidFill>
            <a:prstDash val="dash"/>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7C2B48"/>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23</a:t>
            </a:r>
            <a:endParaRPr lang="en-US" sz="950" dirty="0"/>
          </a:p>
        </p:txBody>
      </p:sp>
      <p:sp>
        <p:nvSpPr>
          <p:cNvPr id="3" name="Text 1"/>
          <p:cNvSpPr/>
          <p:nvPr/>
        </p:nvSpPr>
        <p:spPr>
          <a:xfrm>
            <a:off x="777240" y="685800"/>
            <a:ext cx="10607040" cy="274320"/>
          </a:xfrm>
          <a:prstGeom prst="rect">
            <a:avLst/>
          </a:prstGeom>
          <a:noFill/>
          <a:ln/>
        </p:spPr>
        <p:txBody>
          <a:bodyPr wrap="square" lIns="0" tIns="0" rIns="0" bIns="0" rtlCol="0" anchor="t"/>
          <a:lstStyle/>
          <a:p>
            <a:pPr indent="0" marL="0">
              <a:buNone/>
            </a:pPr>
            <a:r>
              <a:rPr lang="en-US" sz="1100" b="1" spc="300" kern="0" dirty="0">
                <a:solidFill>
                  <a:srgbClr val="F0DCE2"/>
                </a:solidFill>
                <a:latin typeface="Karla" pitchFamily="34" charset="0"/>
                <a:ea typeface="Karla" pitchFamily="34" charset="-122"/>
                <a:cs typeface="Karla" pitchFamily="34" charset="-120"/>
              </a:rPr>
              <a:t>MODULE ONE</a:t>
            </a:r>
            <a:endParaRPr lang="en-US" sz="1100" dirty="0"/>
          </a:p>
        </p:txBody>
      </p:sp>
      <p:sp>
        <p:nvSpPr>
          <p:cNvPr id="4" name="Text 2"/>
          <p:cNvSpPr/>
          <p:nvPr/>
        </p:nvSpPr>
        <p:spPr>
          <a:xfrm>
            <a:off x="777240" y="1097280"/>
            <a:ext cx="7863840" cy="914400"/>
          </a:xfrm>
          <a:prstGeom prst="rect">
            <a:avLst/>
          </a:prstGeom>
          <a:noFill/>
          <a:ln/>
        </p:spPr>
        <p:txBody>
          <a:bodyPr wrap="square" lIns="0" tIns="0" rIns="0" bIns="0" rtlCol="0" anchor="t"/>
          <a:lstStyle/>
          <a:p>
            <a:pPr indent="0" marL="0">
              <a:lnSpc>
                <a:spcPts val="3800"/>
              </a:lnSpc>
              <a:buNone/>
            </a:pPr>
            <a:r>
              <a:rPr lang="en-US" sz="3400" dirty="0">
                <a:solidFill>
                  <a:srgbClr val="FBF6EE"/>
                </a:solidFill>
                <a:latin typeface="Fraunces" pitchFamily="34" charset="0"/>
                <a:ea typeface="Fraunces" pitchFamily="34" charset="-122"/>
                <a:cs typeface="Fraunces" pitchFamily="34" charset="-120"/>
              </a:rPr>
              <a:t>What to take with you.</a:t>
            </a:r>
            <a:endParaRPr lang="en-US" sz="3400" dirty="0"/>
          </a:p>
        </p:txBody>
      </p:sp>
      <p:sp>
        <p:nvSpPr>
          <p:cNvPr id="5" name="Text 3"/>
          <p:cNvSpPr/>
          <p:nvPr/>
        </p:nvSpPr>
        <p:spPr>
          <a:xfrm>
            <a:off x="777240" y="24048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01</a:t>
            </a:r>
            <a:endParaRPr lang="en-US" sz="3400" dirty="0"/>
          </a:p>
        </p:txBody>
      </p:sp>
      <p:sp>
        <p:nvSpPr>
          <p:cNvPr id="6" name="Text 4"/>
          <p:cNvSpPr/>
          <p:nvPr/>
        </p:nvSpPr>
        <p:spPr>
          <a:xfrm>
            <a:off x="1920240" y="24963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Your blog is marketing. The offer is the business.</a:t>
            </a:r>
            <a:endParaRPr lang="en-US" sz="1450" dirty="0"/>
          </a:p>
        </p:txBody>
      </p:sp>
      <p:sp>
        <p:nvSpPr>
          <p:cNvPr id="7" name="Text 5"/>
          <p:cNvSpPr/>
          <p:nvPr/>
        </p:nvSpPr>
        <p:spPr>
          <a:xfrm>
            <a:off x="777240" y="33192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02</a:t>
            </a:r>
            <a:endParaRPr lang="en-US" sz="3400" dirty="0"/>
          </a:p>
        </p:txBody>
      </p:sp>
      <p:sp>
        <p:nvSpPr>
          <p:cNvPr id="8" name="Text 6"/>
          <p:cNvSpPr/>
          <p:nvPr/>
        </p:nvSpPr>
        <p:spPr>
          <a:xfrm>
            <a:off x="1920240" y="34107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Traffic without an offer teaches you nothing.</a:t>
            </a:r>
            <a:endParaRPr lang="en-US" sz="1450" dirty="0"/>
          </a:p>
        </p:txBody>
      </p:sp>
      <p:sp>
        <p:nvSpPr>
          <p:cNvPr id="9" name="Text 7"/>
          <p:cNvSpPr/>
          <p:nvPr/>
        </p:nvSpPr>
        <p:spPr>
          <a:xfrm>
            <a:off x="777240" y="42336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03</a:t>
            </a:r>
            <a:endParaRPr lang="en-US" sz="3400" dirty="0"/>
          </a:p>
        </p:txBody>
      </p:sp>
      <p:sp>
        <p:nvSpPr>
          <p:cNvPr id="10" name="Text 8"/>
          <p:cNvSpPr/>
          <p:nvPr/>
        </p:nvSpPr>
        <p:spPr>
          <a:xfrm>
            <a:off x="1920240" y="43251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Ads and affiliates are a side dish, never the meal.</a:t>
            </a:r>
            <a:endParaRPr lang="en-US" sz="1450" dirty="0"/>
          </a:p>
        </p:txBody>
      </p:sp>
      <p:sp>
        <p:nvSpPr>
          <p:cNvPr id="11" name="Text 9"/>
          <p:cNvSpPr/>
          <p:nvPr/>
        </p:nvSpPr>
        <p:spPr>
          <a:xfrm>
            <a:off x="777240" y="51480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04</a:t>
            </a:r>
            <a:endParaRPr lang="en-US" sz="3400" dirty="0"/>
          </a:p>
        </p:txBody>
      </p:sp>
      <p:sp>
        <p:nvSpPr>
          <p:cNvPr id="12" name="Text 10"/>
          <p:cNvSpPr/>
          <p:nvPr/>
        </p:nvSpPr>
        <p:spPr>
          <a:xfrm>
            <a:off x="1920240" y="52395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The order you build in beats how hard you work.</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24</a:t>
            </a:r>
            <a:endParaRPr lang="en-US" sz="950" dirty="0"/>
          </a:p>
        </p:txBody>
      </p:sp>
      <p:sp>
        <p:nvSpPr>
          <p:cNvPr id="3" name="Shape 1"/>
          <p:cNvSpPr/>
          <p:nvPr/>
        </p:nvSpPr>
        <p:spPr>
          <a:xfrm>
            <a:off x="3703320" y="1005840"/>
            <a:ext cx="4754880" cy="4754880"/>
          </a:xfrm>
          <a:prstGeom prst="ellipse">
            <a:avLst/>
          </a:prstGeom>
          <a:solidFill>
            <a:srgbClr val="F0DCE2">
              <a:alpha val="65000"/>
            </a:srgbClr>
          </a:solidFill>
          <a:ln/>
        </p:spPr>
      </p:sp>
      <p:sp>
        <p:nvSpPr>
          <p:cNvPr id="4" name="Text 2"/>
          <p:cNvSpPr/>
          <p:nvPr/>
        </p:nvSpPr>
        <p:spPr>
          <a:xfrm>
            <a:off x="1371600" y="2651760"/>
            <a:ext cx="9418320" cy="1188720"/>
          </a:xfrm>
          <a:prstGeom prst="rect">
            <a:avLst/>
          </a:prstGeom>
          <a:noFill/>
          <a:ln/>
        </p:spPr>
        <p:txBody>
          <a:bodyPr wrap="square" lIns="0" tIns="0" rIns="0" bIns="0" rtlCol="0" anchor="t"/>
          <a:lstStyle/>
          <a:p>
            <a:pPr algn="ctr" indent="0" marL="0">
              <a:buNone/>
            </a:pPr>
            <a:r>
              <a:rPr lang="en-US" sz="5200" dirty="0">
                <a:solidFill>
                  <a:srgbClr val="A93F63"/>
                </a:solidFill>
                <a:latin typeface="Ephesis" pitchFamily="34" charset="0"/>
                <a:ea typeface="Ephesis" pitchFamily="34" charset="-122"/>
                <a:cs typeface="Ephesis" pitchFamily="34" charset="-120"/>
              </a:rPr>
              <a:t>one down, four to go</a:t>
            </a:r>
            <a:endParaRPr lang="en-US" sz="5200" dirty="0"/>
          </a:p>
        </p:txBody>
      </p:sp>
      <p:sp>
        <p:nvSpPr>
          <p:cNvPr id="5" name="Text 3"/>
          <p:cNvSpPr/>
          <p:nvPr/>
        </p:nvSpPr>
        <p:spPr>
          <a:xfrm>
            <a:off x="2286000" y="3977640"/>
            <a:ext cx="7589520" cy="457200"/>
          </a:xfrm>
          <a:prstGeom prst="rect">
            <a:avLst/>
          </a:prstGeom>
          <a:noFill/>
          <a:ln/>
        </p:spPr>
        <p:txBody>
          <a:bodyPr wrap="square" lIns="0" tIns="0" rIns="0" bIns="0" rtlCol="0" anchor="t"/>
          <a:lstStyle/>
          <a:p>
            <a:pPr algn="ctr" indent="0" marL="0">
              <a:buNone/>
            </a:pPr>
            <a:r>
              <a:rPr lang="en-US" sz="1200" spc="300" kern="0" dirty="0">
                <a:solidFill>
                  <a:srgbClr val="6E5C63"/>
                </a:solidFill>
                <a:latin typeface="Karla" pitchFamily="34" charset="0"/>
                <a:ea typeface="Karla" pitchFamily="34" charset="-122"/>
                <a:cs typeface="Karla" pitchFamily="34" charset="-120"/>
              </a:rPr>
              <a:t>MODULE TWO: YOUR OFFER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25</a:t>
            </a:r>
            <a:endParaRPr lang="en-US" sz="950" dirty="0"/>
          </a:p>
        </p:txBody>
      </p:sp>
      <p:sp>
        <p:nvSpPr>
          <p:cNvPr id="3" name="Text 1"/>
          <p:cNvSpPr/>
          <p:nvPr/>
        </p:nvSpPr>
        <p:spPr>
          <a:xfrm>
            <a:off x="-640080" y="182880"/>
            <a:ext cx="5486400" cy="4937760"/>
          </a:xfrm>
          <a:prstGeom prst="rect">
            <a:avLst/>
          </a:prstGeom>
          <a:noFill/>
          <a:ln/>
        </p:spPr>
        <p:txBody>
          <a:bodyPr wrap="square" lIns="0" tIns="0" rIns="0" bIns="0" rtlCol="0" anchor="ctr"/>
          <a:lstStyle/>
          <a:p>
            <a:pPr indent="0" marL="0">
              <a:buNone/>
            </a:pPr>
            <a:r>
              <a:rPr lang="en-US" sz="25000" i="1" dirty="0">
                <a:solidFill>
                  <a:srgbClr val="7C2B48"/>
                </a:solidFill>
                <a:latin typeface="Fraunces" pitchFamily="34" charset="0"/>
                <a:ea typeface="Fraunces" pitchFamily="34" charset="-122"/>
                <a:cs typeface="Fraunces" pitchFamily="34" charset="-120"/>
              </a:rPr>
              <a:t>02</a:t>
            </a:r>
            <a:endParaRPr lang="en-US" sz="25000" dirty="0"/>
          </a:p>
        </p:txBody>
      </p:sp>
      <p:sp>
        <p:nvSpPr>
          <p:cNvPr id="4" name="Shape 2"/>
          <p:cNvSpPr/>
          <p:nvPr/>
        </p:nvSpPr>
        <p:spPr>
          <a:xfrm>
            <a:off x="9235440" y="-1005840"/>
            <a:ext cx="4023360" cy="4023360"/>
          </a:xfrm>
          <a:prstGeom prst="ellipse">
            <a:avLst/>
          </a:prstGeom>
          <a:solidFill>
            <a:srgbClr val="A93F63">
              <a:alpha val="30000"/>
            </a:srgbClr>
          </a:solidFill>
          <a:ln/>
        </p:spPr>
      </p:sp>
      <p:sp>
        <p:nvSpPr>
          <p:cNvPr id="5" name="Text 3"/>
          <p:cNvSpPr/>
          <p:nvPr/>
        </p:nvSpPr>
        <p:spPr>
          <a:xfrm>
            <a:off x="3931920" y="1920240"/>
            <a:ext cx="7315200" cy="1737360"/>
          </a:xfrm>
          <a:prstGeom prst="rect">
            <a:avLst/>
          </a:prstGeom>
          <a:noFill/>
          <a:ln/>
        </p:spPr>
        <p:txBody>
          <a:bodyPr wrap="square" lIns="0" tIns="0" rIns="0" bIns="0" rtlCol="0" anchor="t"/>
          <a:lstStyle/>
          <a:p>
            <a:pPr indent="0" marL="0">
              <a:lnSpc>
                <a:spcPts val="4600"/>
              </a:lnSpc>
              <a:buNone/>
            </a:pPr>
            <a:r>
              <a:rPr lang="en-US" sz="4200" dirty="0">
                <a:solidFill>
                  <a:srgbClr val="FBF6EE"/>
                </a:solidFill>
                <a:latin typeface="Fraunces" pitchFamily="34" charset="0"/>
                <a:ea typeface="Fraunces" pitchFamily="34" charset="-122"/>
                <a:cs typeface="Fraunces" pitchFamily="34" charset="-120"/>
              </a:rPr>
              <a:t>Your offer</a:t>
            </a:r>
            <a:endParaRPr lang="en-US" sz="4200" dirty="0"/>
          </a:p>
          <a:p>
            <a:pPr indent="0" marL="0">
              <a:lnSpc>
                <a:spcPts val="4600"/>
              </a:lnSpc>
              <a:buNone/>
            </a:pPr>
            <a:r>
              <a:rPr lang="en-US" sz="4200" dirty="0">
                <a:solidFill>
                  <a:srgbClr val="FBF6EE"/>
                </a:solidFill>
                <a:latin typeface="Fraunces" pitchFamily="34" charset="0"/>
                <a:ea typeface="Fraunces" pitchFamily="34" charset="-122"/>
                <a:cs typeface="Fraunces" pitchFamily="34" charset="-120"/>
              </a:rPr>
              <a:t>comes first</a:t>
            </a:r>
            <a:endParaRPr lang="en-US" sz="4200" dirty="0"/>
          </a:p>
        </p:txBody>
      </p:sp>
      <p:sp>
        <p:nvSpPr>
          <p:cNvPr id="6" name="Text 4"/>
          <p:cNvSpPr/>
          <p:nvPr/>
        </p:nvSpPr>
        <p:spPr>
          <a:xfrm>
            <a:off x="3977640" y="3703320"/>
            <a:ext cx="7223760" cy="548640"/>
          </a:xfrm>
          <a:prstGeom prst="rect">
            <a:avLst/>
          </a:prstGeom>
          <a:noFill/>
          <a:ln/>
        </p:spPr>
        <p:txBody>
          <a:bodyPr wrap="square" lIns="0" tIns="0" rIns="0" bIns="0" rtlCol="0" anchor="t"/>
          <a:lstStyle/>
          <a:p>
            <a:pPr indent="0" marL="0">
              <a:buNone/>
            </a:pPr>
            <a:r>
              <a:rPr lang="en-US" sz="2600" dirty="0">
                <a:solidFill>
                  <a:srgbClr val="BC8A47"/>
                </a:solidFill>
                <a:latin typeface="Ephesis" pitchFamily="34" charset="0"/>
                <a:ea typeface="Ephesis" pitchFamily="34" charset="-122"/>
                <a:cs typeface="Ephesis" pitchFamily="34" charset="-120"/>
              </a:rPr>
              <a:t>the part that actually pays you</a:t>
            </a:r>
            <a:endParaRPr lang="en-US" sz="2600" dirty="0"/>
          </a:p>
        </p:txBody>
      </p:sp>
      <p:sp>
        <p:nvSpPr>
          <p:cNvPr id="7" name="Shape 5"/>
          <p:cNvSpPr/>
          <p:nvPr/>
        </p:nvSpPr>
        <p:spPr>
          <a:xfrm>
            <a:off x="4023360" y="4526280"/>
            <a:ext cx="146304" cy="146304"/>
          </a:xfrm>
          <a:prstGeom prst="ellipse">
            <a:avLst/>
          </a:prstGeom>
          <a:solidFill>
            <a:srgbClr val="A93F63"/>
          </a:solidFill>
          <a:ln/>
        </p:spPr>
      </p:sp>
      <p:sp>
        <p:nvSpPr>
          <p:cNvPr id="8" name="Text 6"/>
          <p:cNvSpPr/>
          <p:nvPr/>
        </p:nvSpPr>
        <p:spPr>
          <a:xfrm>
            <a:off x="4389120" y="441655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How to find the offer you already have</a:t>
            </a:r>
            <a:endParaRPr lang="en-US" sz="1300" dirty="0"/>
          </a:p>
        </p:txBody>
      </p:sp>
      <p:sp>
        <p:nvSpPr>
          <p:cNvPr id="9" name="Shape 7"/>
          <p:cNvSpPr/>
          <p:nvPr/>
        </p:nvSpPr>
        <p:spPr>
          <a:xfrm>
            <a:off x="4023360" y="5029200"/>
            <a:ext cx="146304" cy="146304"/>
          </a:xfrm>
          <a:prstGeom prst="ellipse">
            <a:avLst/>
          </a:prstGeom>
          <a:solidFill>
            <a:srgbClr val="A93F63"/>
          </a:solidFill>
          <a:ln/>
        </p:spPr>
      </p:sp>
      <p:sp>
        <p:nvSpPr>
          <p:cNvPr id="10" name="Text 8"/>
          <p:cNvSpPr/>
          <p:nvPr/>
        </p:nvSpPr>
        <p:spPr>
          <a:xfrm>
            <a:off x="4389120" y="491947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Shaping it, pricing it, and testing it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93F63"/>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26</a:t>
            </a:r>
            <a:endParaRPr lang="en-US" sz="950" dirty="0"/>
          </a:p>
        </p:txBody>
      </p:sp>
      <p:sp>
        <p:nvSpPr>
          <p:cNvPr id="3" name="Shape 1"/>
          <p:cNvSpPr/>
          <p:nvPr/>
        </p:nvSpPr>
        <p:spPr>
          <a:xfrm>
            <a:off x="-2377440" y="-2377440"/>
            <a:ext cx="5669280" cy="5669280"/>
          </a:xfrm>
          <a:prstGeom prst="ellipse">
            <a:avLst/>
          </a:prstGeom>
          <a:solidFill>
            <a:srgbClr val="FBF6EE">
              <a:alpha val="10000"/>
            </a:srgbClr>
          </a:solidFill>
          <a:ln/>
        </p:spPr>
      </p:sp>
      <p:sp>
        <p:nvSpPr>
          <p:cNvPr id="4" name="Shape 2"/>
          <p:cNvSpPr/>
          <p:nvPr/>
        </p:nvSpPr>
        <p:spPr>
          <a:xfrm>
            <a:off x="9601200" y="4480560"/>
            <a:ext cx="5120640" cy="5120640"/>
          </a:xfrm>
          <a:prstGeom prst="ellipse">
            <a:avLst/>
          </a:prstGeom>
          <a:solidFill>
            <a:srgbClr val="7C2B48">
              <a:alpha val="45000"/>
            </a:srgbClr>
          </a:solidFill>
          <a:ln/>
        </p:spPr>
      </p:sp>
      <p:sp>
        <p:nvSpPr>
          <p:cNvPr id="5" name="Text 3"/>
          <p:cNvSpPr/>
          <p:nvPr/>
        </p:nvSpPr>
        <p:spPr>
          <a:xfrm>
            <a:off x="1463040" y="1783080"/>
            <a:ext cx="9235440" cy="2743200"/>
          </a:xfrm>
          <a:prstGeom prst="rect">
            <a:avLst/>
          </a:prstGeom>
          <a:noFill/>
          <a:ln/>
        </p:spPr>
        <p:txBody>
          <a:bodyPr wrap="square" lIns="0" tIns="0" rIns="0" bIns="0" rtlCol="0" anchor="ctr"/>
          <a:lstStyle/>
          <a:p>
            <a:pPr algn="ctr" indent="0" marL="0">
              <a:lnSpc>
                <a:spcPts val="5200"/>
              </a:lnSpc>
              <a:buNone/>
            </a:pPr>
            <a:r>
              <a:rPr lang="en-US" sz="4600" dirty="0">
                <a:solidFill>
                  <a:srgbClr val="FBF6EE"/>
                </a:solidFill>
                <a:latin typeface="Fraunces" pitchFamily="34" charset="0"/>
                <a:ea typeface="Fraunces" pitchFamily="34" charset="-122"/>
                <a:cs typeface="Fraunces" pitchFamily="34" charset="-120"/>
              </a:rPr>
              <a:t>The offer is how
</a:t>
            </a:r>
            <a:pPr algn="ctr" indent="0" marL="0">
              <a:lnSpc>
                <a:spcPts val="5200"/>
              </a:lnSpc>
              <a:buNone/>
            </a:pPr>
            <a:r>
              <a:rPr lang="en-US" sz="4600" i="1" dirty="0">
                <a:solidFill>
                  <a:srgbClr val="2E1F27"/>
                </a:solidFill>
                <a:latin typeface="Fraunces" pitchFamily="34" charset="0"/>
                <a:ea typeface="Fraunces" pitchFamily="34" charset="-122"/>
                <a:cs typeface="Fraunces" pitchFamily="34" charset="-120"/>
              </a:rPr>
              <a:t>you get paid.</a:t>
            </a:r>
            <a:endParaRPr lang="en-US" sz="4600" dirty="0"/>
          </a:p>
        </p:txBody>
      </p:sp>
      <p:sp>
        <p:nvSpPr>
          <p:cNvPr id="6" name="Text 4"/>
          <p:cNvSpPr/>
          <p:nvPr/>
        </p:nvSpPr>
        <p:spPr>
          <a:xfrm>
            <a:off x="2377440" y="4754880"/>
            <a:ext cx="7406640" cy="548640"/>
          </a:xfrm>
          <a:prstGeom prst="rect">
            <a:avLst/>
          </a:prstGeom>
          <a:noFill/>
          <a:ln/>
        </p:spPr>
        <p:txBody>
          <a:bodyPr wrap="square" lIns="0" tIns="0" rIns="0" bIns="0" rtlCol="0" anchor="t"/>
          <a:lstStyle/>
          <a:p>
            <a:pPr algn="ctr" indent="0" marL="0">
              <a:buNone/>
            </a:pPr>
            <a:r>
              <a:rPr lang="en-US" sz="1350" dirty="0">
                <a:solidFill>
                  <a:srgbClr val="F9E7EC"/>
                </a:solidFill>
                <a:latin typeface="Karla" pitchFamily="34" charset="0"/>
                <a:ea typeface="Karla" pitchFamily="34" charset="-122"/>
                <a:cs typeface="Karla" pitchFamily="34" charset="-120"/>
              </a:rPr>
              <a:t>Everything else on your site exists to point at it.</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27</a:t>
            </a:r>
            <a:endParaRPr lang="en-US" sz="950" dirty="0"/>
          </a:p>
        </p:txBody>
      </p:sp>
      <p:sp>
        <p:nvSpPr>
          <p:cNvPr id="3" name="Shape 1"/>
          <p:cNvSpPr/>
          <p:nvPr/>
        </p:nvSpPr>
        <p:spPr>
          <a:xfrm>
            <a:off x="7680960" y="0"/>
            <a:ext cx="4480560" cy="6858000"/>
          </a:xfrm>
          <a:prstGeom prst="rect">
            <a:avLst/>
          </a:prstGeom>
          <a:solidFill>
            <a:srgbClr val="F4EBDE"/>
          </a:solidFill>
          <a:ln/>
        </p:spPr>
      </p:sp>
      <p:sp>
        <p:nvSpPr>
          <p:cNvPr id="4" name="Text 2"/>
          <p:cNvSpPr/>
          <p:nvPr/>
        </p:nvSpPr>
        <p:spPr>
          <a:xfrm>
            <a:off x="777240" y="1371600"/>
            <a:ext cx="621792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WHAT AN OFFER IS</a:t>
            </a:r>
            <a:endParaRPr lang="en-US" sz="1100" dirty="0"/>
          </a:p>
        </p:txBody>
      </p:sp>
      <p:sp>
        <p:nvSpPr>
          <p:cNvPr id="5" name="Text 3"/>
          <p:cNvSpPr/>
          <p:nvPr/>
        </p:nvSpPr>
        <p:spPr>
          <a:xfrm>
            <a:off x="777240" y="1783080"/>
            <a:ext cx="6400800" cy="1371600"/>
          </a:xfrm>
          <a:prstGeom prst="rect">
            <a:avLst/>
          </a:prstGeom>
          <a:noFill/>
          <a:ln/>
        </p:spPr>
        <p:txBody>
          <a:bodyPr wrap="square" lIns="0" tIns="0" rIns="0" bIns="0" rtlCol="0" anchor="t"/>
          <a:lstStyle/>
          <a:p>
            <a:pPr indent="0" marL="0">
              <a:lnSpc>
                <a:spcPts val="3500"/>
              </a:lnSpc>
              <a:buNone/>
            </a:pPr>
            <a:r>
              <a:rPr lang="en-US" sz="3100" dirty="0">
                <a:solidFill>
                  <a:srgbClr val="2E1F27"/>
                </a:solidFill>
                <a:latin typeface="Fraunces" pitchFamily="34" charset="0"/>
                <a:ea typeface="Fraunces" pitchFamily="34" charset="-122"/>
                <a:cs typeface="Fraunces" pitchFamily="34" charset="-120"/>
              </a:rPr>
              <a:t>Not a product. A solved problem with a price on it.</a:t>
            </a:r>
            <a:endParaRPr lang="en-US" sz="3100" dirty="0"/>
          </a:p>
        </p:txBody>
      </p:sp>
      <p:sp>
        <p:nvSpPr>
          <p:cNvPr id="6" name="Text 4"/>
          <p:cNvSpPr/>
          <p:nvPr/>
        </p:nvSpPr>
        <p:spPr>
          <a:xfrm>
            <a:off x="777240" y="3200400"/>
            <a:ext cx="6309360" cy="2651760"/>
          </a:xfrm>
          <a:prstGeom prst="rect">
            <a:avLst/>
          </a:prstGeom>
          <a:noFill/>
          <a:ln/>
        </p:spPr>
        <p:txBody>
          <a:bodyPr wrap="square" lIns="0" tIns="0" rIns="0" bIns="0" rtlCol="0" anchor="ctr"/>
          <a:lstStyle/>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An offer is a specific outcome you deliver, for a specific person, for a specific amount of money.</a:t>
            </a:r>
            <a:endParaRPr lang="en-US" sz="1450" dirty="0"/>
          </a:p>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It is not "coaching." It is "I will get your blog launched and selling in 21 days." Same work, completely different clarity.</a:t>
            </a:r>
            <a:endParaRPr lang="en-US" sz="1450" dirty="0"/>
          </a:p>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The test: can someone read one sentence and know whether it is for them?</a:t>
            </a:r>
            <a:endParaRPr lang="en-US" sz="1450" dirty="0"/>
          </a:p>
        </p:txBody>
      </p:sp>
      <p:sp>
        <p:nvSpPr>
          <p:cNvPr id="7" name="Shape 5"/>
          <p:cNvSpPr/>
          <p:nvPr/>
        </p:nvSpPr>
        <p:spPr>
          <a:xfrm>
            <a:off x="9765792" y="1965960"/>
            <a:ext cx="310896" cy="310896"/>
          </a:xfrm>
          <a:prstGeom prst="ellipse">
            <a:avLst/>
          </a:prstGeom>
          <a:solidFill>
            <a:srgbClr val="BC8A47"/>
          </a:solidFill>
          <a:ln/>
        </p:spPr>
      </p:sp>
      <p:sp>
        <p:nvSpPr>
          <p:cNvPr id="8" name="Text 6"/>
          <p:cNvSpPr/>
          <p:nvPr/>
        </p:nvSpPr>
        <p:spPr>
          <a:xfrm>
            <a:off x="7909560" y="2651760"/>
            <a:ext cx="4023360" cy="2194560"/>
          </a:xfrm>
          <a:prstGeom prst="rect">
            <a:avLst/>
          </a:prstGeom>
          <a:noFill/>
          <a:ln/>
        </p:spPr>
        <p:txBody>
          <a:bodyPr wrap="square" lIns="0" tIns="0" rIns="0" bIns="0" rtlCol="0" anchor="ctr"/>
          <a:lstStyle/>
          <a:p>
            <a:pPr algn="ctr" indent="0" marL="0">
              <a:buNone/>
            </a:pPr>
            <a:r>
              <a:rPr lang="en-US" sz="4600" dirty="0">
                <a:solidFill>
                  <a:srgbClr val="A93F63"/>
                </a:solidFill>
                <a:latin typeface="Ephesis" pitchFamily="34" charset="0"/>
                <a:ea typeface="Ephesis" pitchFamily="34" charset="-122"/>
                <a:cs typeface="Ephesis" pitchFamily="34" charset="-120"/>
              </a:rPr>
              <a:t>clarity</a:t>
            </a:r>
            <a:endParaRPr lang="en-US" sz="4600" dirty="0"/>
          </a:p>
          <a:p>
            <a:pPr algn="ctr" indent="0" marL="0">
              <a:buNone/>
            </a:pPr>
            <a:r>
              <a:rPr lang="en-US" sz="4600" dirty="0">
                <a:solidFill>
                  <a:srgbClr val="A93F63"/>
                </a:solidFill>
                <a:latin typeface="Ephesis" pitchFamily="34" charset="0"/>
                <a:ea typeface="Ephesis" pitchFamily="34" charset="-122"/>
                <a:cs typeface="Ephesis" pitchFamily="34" charset="-120"/>
              </a:rPr>
              <a:t>is the</a:t>
            </a:r>
            <a:endParaRPr lang="en-US" sz="4600" dirty="0"/>
          </a:p>
          <a:p>
            <a:pPr algn="ctr" indent="0" marL="0">
              <a:buNone/>
            </a:pPr>
            <a:r>
              <a:rPr lang="en-US" sz="4600" dirty="0">
                <a:solidFill>
                  <a:srgbClr val="A93F63"/>
                </a:solidFill>
                <a:latin typeface="Ephesis" pitchFamily="34" charset="0"/>
                <a:ea typeface="Ephesis" pitchFamily="34" charset="-122"/>
                <a:cs typeface="Ephesis" pitchFamily="34" charset="-120"/>
              </a:rPr>
              <a:t>whole job</a:t>
            </a:r>
            <a:endParaRPr lang="en-US" sz="4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28</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THREE SHAPES</a:t>
            </a:r>
            <a:endParaRPr lang="en-US" sz="1100" dirty="0"/>
          </a:p>
        </p:txBody>
      </p:sp>
      <p:sp>
        <p:nvSpPr>
          <p:cNvPr id="4" name="Text 2"/>
          <p:cNvSpPr/>
          <p:nvPr/>
        </p:nvSpPr>
        <p:spPr>
          <a:xfrm>
            <a:off x="777240" y="1051560"/>
            <a:ext cx="8321040" cy="100584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Pick the one that fits where you are now.</a:t>
            </a:r>
            <a:endParaRPr lang="en-US" sz="3300" dirty="0"/>
          </a:p>
        </p:txBody>
      </p:sp>
      <p:sp>
        <p:nvSpPr>
          <p:cNvPr id="5" name="Shape 3"/>
          <p:cNvSpPr/>
          <p:nvPr/>
        </p:nvSpPr>
        <p:spPr>
          <a:xfrm>
            <a:off x="777240" y="2423160"/>
            <a:ext cx="3304032" cy="3017520"/>
          </a:xfrm>
          <a:prstGeom prst="roundRect">
            <a:avLst>
              <a:gd name="adj" fmla="val 4242"/>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6" name="Text 4"/>
          <p:cNvSpPr/>
          <p:nvPr/>
        </p:nvSpPr>
        <p:spPr>
          <a:xfrm>
            <a:off x="1106424" y="2807208"/>
            <a:ext cx="2645664"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Done for you</a:t>
            </a:r>
            <a:endParaRPr lang="en-US" sz="1900" dirty="0"/>
          </a:p>
        </p:txBody>
      </p:sp>
      <p:sp>
        <p:nvSpPr>
          <p:cNvPr id="7" name="Text 5"/>
          <p:cNvSpPr/>
          <p:nvPr/>
        </p:nvSpPr>
        <p:spPr>
          <a:xfrm>
            <a:off x="1106424" y="3749040"/>
            <a:ext cx="2645664" cy="146304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You do the work for them. Highest price, highest effort, easiest to sell because the outcome is obvious.</a:t>
            </a:r>
            <a:endParaRPr lang="en-US" sz="1250" dirty="0"/>
          </a:p>
        </p:txBody>
      </p:sp>
      <p:sp>
        <p:nvSpPr>
          <p:cNvPr id="8" name="Shape 6"/>
          <p:cNvSpPr/>
          <p:nvPr/>
        </p:nvSpPr>
        <p:spPr>
          <a:xfrm>
            <a:off x="4428744" y="2926080"/>
            <a:ext cx="3304032" cy="3017520"/>
          </a:xfrm>
          <a:prstGeom prst="roundRect">
            <a:avLst>
              <a:gd name="adj" fmla="val 4242"/>
            </a:avLst>
          </a:prstGeom>
          <a:solidFill>
            <a:srgbClr val="2E1F27"/>
          </a:solidFill>
          <a:ln w="9525">
            <a:solidFill>
              <a:srgbClr val="2E1F27"/>
            </a:solidFill>
            <a:prstDash val="solid"/>
          </a:ln>
          <a:effectLst>
            <a:outerShdw sx="100000" sy="100000" kx="0" ky="0" algn="bl" rotWithShape="0" blurRad="203200" dist="63500" dir="5400000">
              <a:srgbClr val="2E1F27">
                <a:alpha val="15000"/>
              </a:srgbClr>
            </a:outerShdw>
          </a:effectLst>
        </p:spPr>
      </p:sp>
      <p:sp>
        <p:nvSpPr>
          <p:cNvPr id="9" name="Text 7"/>
          <p:cNvSpPr/>
          <p:nvPr/>
        </p:nvSpPr>
        <p:spPr>
          <a:xfrm>
            <a:off x="4757928" y="3310128"/>
            <a:ext cx="2645664" cy="822960"/>
          </a:xfrm>
          <a:prstGeom prst="rect">
            <a:avLst/>
          </a:prstGeom>
          <a:noFill/>
          <a:ln/>
        </p:spPr>
        <p:txBody>
          <a:bodyPr wrap="square" lIns="0" tIns="0" rIns="0" bIns="0" rtlCol="0" anchor="t"/>
          <a:lstStyle/>
          <a:p>
            <a:pPr indent="0" marL="0">
              <a:lnSpc>
                <a:spcPts val="2300"/>
              </a:lnSpc>
              <a:buNone/>
            </a:pPr>
            <a:r>
              <a:rPr lang="en-US" sz="1900" dirty="0">
                <a:solidFill>
                  <a:srgbClr val="FBF6EE"/>
                </a:solidFill>
                <a:latin typeface="Fraunces" pitchFamily="34" charset="0"/>
                <a:ea typeface="Fraunces" pitchFamily="34" charset="-122"/>
                <a:cs typeface="Fraunces" pitchFamily="34" charset="-120"/>
              </a:rPr>
              <a:t>Done with you</a:t>
            </a:r>
            <a:endParaRPr lang="en-US" sz="1900" dirty="0"/>
          </a:p>
        </p:txBody>
      </p:sp>
      <p:sp>
        <p:nvSpPr>
          <p:cNvPr id="10" name="Text 8"/>
          <p:cNvSpPr/>
          <p:nvPr/>
        </p:nvSpPr>
        <p:spPr>
          <a:xfrm>
            <a:off x="4757928" y="4251960"/>
            <a:ext cx="2645664" cy="1463040"/>
          </a:xfrm>
          <a:prstGeom prst="rect">
            <a:avLst/>
          </a:prstGeom>
          <a:noFill/>
          <a:ln/>
        </p:spPr>
        <p:txBody>
          <a:bodyPr wrap="square" lIns="0" tIns="0" rIns="0" bIns="0" rtlCol="0" anchor="t"/>
          <a:lstStyle/>
          <a:p>
            <a:pPr indent="0" marL="0">
              <a:lnSpc>
                <a:spcPts val="1900"/>
              </a:lnSpc>
              <a:buNone/>
            </a:pPr>
            <a:r>
              <a:rPr lang="en-US" sz="1250" dirty="0">
                <a:solidFill>
                  <a:srgbClr val="D8CBC3"/>
                </a:solidFill>
                <a:latin typeface="Karla" pitchFamily="34" charset="0"/>
                <a:ea typeface="Karla" pitchFamily="34" charset="-122"/>
                <a:cs typeface="Karla" pitchFamily="34" charset="-120"/>
              </a:rPr>
              <a:t>You guide while they do it. Coaching, programs, intensives. The sweet spot for most bloggers.</a:t>
            </a:r>
            <a:endParaRPr lang="en-US" sz="1250" dirty="0"/>
          </a:p>
        </p:txBody>
      </p:sp>
      <p:sp>
        <p:nvSpPr>
          <p:cNvPr id="11" name="Shape 9"/>
          <p:cNvSpPr/>
          <p:nvPr/>
        </p:nvSpPr>
        <p:spPr>
          <a:xfrm>
            <a:off x="8080248" y="2679192"/>
            <a:ext cx="3304032" cy="3017520"/>
          </a:xfrm>
          <a:prstGeom prst="roundRect">
            <a:avLst>
              <a:gd name="adj" fmla="val 4242"/>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2" name="Text 10"/>
          <p:cNvSpPr/>
          <p:nvPr/>
        </p:nvSpPr>
        <p:spPr>
          <a:xfrm>
            <a:off x="8409432" y="3063240"/>
            <a:ext cx="2645664"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Do it yourself</a:t>
            </a:r>
            <a:endParaRPr lang="en-US" sz="1900" dirty="0"/>
          </a:p>
        </p:txBody>
      </p:sp>
      <p:sp>
        <p:nvSpPr>
          <p:cNvPr id="13" name="Text 11"/>
          <p:cNvSpPr/>
          <p:nvPr/>
        </p:nvSpPr>
        <p:spPr>
          <a:xfrm>
            <a:off x="8409432" y="4005072"/>
            <a:ext cx="2645664" cy="146304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They do it alone with your materials. Scales beautifully, sells hardest at the start.</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29</a:t>
            </a:r>
            <a:endParaRPr lang="en-US" sz="950" dirty="0"/>
          </a:p>
        </p:txBody>
      </p:sp>
      <p:sp>
        <p:nvSpPr>
          <p:cNvPr id="3" name="Shape 1"/>
          <p:cNvSpPr/>
          <p:nvPr/>
        </p:nvSpPr>
        <p:spPr>
          <a:xfrm>
            <a:off x="0" y="0"/>
            <a:ext cx="12161520" cy="2148840"/>
          </a:xfrm>
          <a:prstGeom prst="rect">
            <a:avLst/>
          </a:prstGeom>
          <a:solidFill>
            <a:srgbClr val="F4EBDE"/>
          </a:solidFill>
          <a:ln/>
        </p:spPr>
      </p:sp>
      <p:sp>
        <p:nvSpPr>
          <p:cNvPr id="4" name="Text 2"/>
          <p:cNvSpPr/>
          <p:nvPr/>
        </p:nvSpPr>
        <p:spPr>
          <a:xfrm>
            <a:off x="777240" y="640080"/>
            <a:ext cx="1060704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FINDING YOURS</a:t>
            </a:r>
            <a:endParaRPr lang="en-US" sz="1100" dirty="0"/>
          </a:p>
        </p:txBody>
      </p:sp>
      <p:sp>
        <p:nvSpPr>
          <p:cNvPr id="5" name="Text 3"/>
          <p:cNvSpPr/>
          <p:nvPr/>
        </p:nvSpPr>
        <p:spPr>
          <a:xfrm>
            <a:off x="777240" y="1024128"/>
            <a:ext cx="7863840" cy="914400"/>
          </a:xfrm>
          <a:prstGeom prst="rect">
            <a:avLst/>
          </a:prstGeom>
          <a:noFill/>
          <a:ln/>
        </p:spPr>
        <p:txBody>
          <a:bodyPr wrap="square" lIns="0" tIns="0" rIns="0" bIns="0" rtlCol="0" anchor="t"/>
          <a:lstStyle/>
          <a:p>
            <a:pPr indent="0" marL="0">
              <a:lnSpc>
                <a:spcPts val="3600"/>
              </a:lnSpc>
              <a:buNone/>
            </a:pPr>
            <a:r>
              <a:rPr lang="en-US" sz="3200" dirty="0">
                <a:solidFill>
                  <a:srgbClr val="2E1F27"/>
                </a:solidFill>
                <a:latin typeface="Fraunces" pitchFamily="34" charset="0"/>
                <a:ea typeface="Fraunces" pitchFamily="34" charset="-122"/>
                <a:cs typeface="Fraunces" pitchFamily="34" charset="-120"/>
              </a:rPr>
              <a:t>Four questions that surface the offer you already have.</a:t>
            </a:r>
            <a:endParaRPr lang="en-US" sz="3200" dirty="0"/>
          </a:p>
        </p:txBody>
      </p:sp>
      <p:sp>
        <p:nvSpPr>
          <p:cNvPr id="6" name="Shape 4"/>
          <p:cNvSpPr/>
          <p:nvPr/>
        </p:nvSpPr>
        <p:spPr>
          <a:xfrm>
            <a:off x="777240" y="2514600"/>
            <a:ext cx="512064" cy="512064"/>
          </a:xfrm>
          <a:prstGeom prst="ellipse">
            <a:avLst/>
          </a:prstGeom>
          <a:solidFill>
            <a:srgbClr val="A93F63"/>
          </a:solidFill>
          <a:ln/>
        </p:spPr>
      </p:sp>
      <p:sp>
        <p:nvSpPr>
          <p:cNvPr id="7" name="Text 5"/>
          <p:cNvSpPr/>
          <p:nvPr/>
        </p:nvSpPr>
        <p:spPr>
          <a:xfrm>
            <a:off x="777240" y="251460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1</a:t>
            </a:r>
            <a:endParaRPr lang="en-US" sz="1500" dirty="0"/>
          </a:p>
        </p:txBody>
      </p:sp>
      <p:sp>
        <p:nvSpPr>
          <p:cNvPr id="8" name="Text 6"/>
          <p:cNvSpPr/>
          <p:nvPr/>
        </p:nvSpPr>
        <p:spPr>
          <a:xfrm>
            <a:off x="1554480" y="2487168"/>
            <a:ext cx="3108960" cy="411480"/>
          </a:xfrm>
          <a:prstGeom prst="rect">
            <a:avLst/>
          </a:prstGeom>
          <a:noFill/>
          <a:ln/>
        </p:spPr>
        <p:txBody>
          <a:bodyPr wrap="square" lIns="0" tIns="0" rIns="0" bIns="0" rtlCol="0" anchor="t"/>
          <a:lstStyle/>
          <a:p>
            <a:pPr indent="0" marL="0">
              <a:buNone/>
            </a:pPr>
            <a:r>
              <a:rPr lang="en-US" sz="1800" dirty="0">
                <a:solidFill>
                  <a:srgbClr val="2E1F27"/>
                </a:solidFill>
                <a:latin typeface="Fraunces" pitchFamily="34" charset="0"/>
                <a:ea typeface="Fraunces" pitchFamily="34" charset="-122"/>
                <a:cs typeface="Fraunces" pitchFamily="34" charset="-120"/>
              </a:rPr>
              <a:t>What do people ask?</a:t>
            </a:r>
            <a:endParaRPr lang="en-US" sz="1800" dirty="0"/>
          </a:p>
        </p:txBody>
      </p:sp>
      <p:sp>
        <p:nvSpPr>
          <p:cNvPr id="9" name="Text 7"/>
          <p:cNvSpPr/>
          <p:nvPr/>
        </p:nvSpPr>
        <p:spPr>
          <a:xfrm>
            <a:off x="4754880" y="2532888"/>
            <a:ext cx="6492240" cy="77724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The question that lands in your inbox over and over is a paid offer wearing a costume.</a:t>
            </a:r>
            <a:endParaRPr lang="en-US" sz="1250" dirty="0"/>
          </a:p>
        </p:txBody>
      </p:sp>
      <p:sp>
        <p:nvSpPr>
          <p:cNvPr id="10" name="Shape 8"/>
          <p:cNvSpPr/>
          <p:nvPr/>
        </p:nvSpPr>
        <p:spPr>
          <a:xfrm>
            <a:off x="777240" y="3502152"/>
            <a:ext cx="512064" cy="512064"/>
          </a:xfrm>
          <a:prstGeom prst="ellipse">
            <a:avLst/>
          </a:prstGeom>
          <a:solidFill>
            <a:srgbClr val="2E1F27"/>
          </a:solidFill>
          <a:ln/>
        </p:spPr>
      </p:sp>
      <p:sp>
        <p:nvSpPr>
          <p:cNvPr id="11" name="Text 9"/>
          <p:cNvSpPr/>
          <p:nvPr/>
        </p:nvSpPr>
        <p:spPr>
          <a:xfrm>
            <a:off x="777240" y="350215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2</a:t>
            </a:r>
            <a:endParaRPr lang="en-US" sz="1500" dirty="0"/>
          </a:p>
        </p:txBody>
      </p:sp>
      <p:sp>
        <p:nvSpPr>
          <p:cNvPr id="12" name="Text 10"/>
          <p:cNvSpPr/>
          <p:nvPr/>
        </p:nvSpPr>
        <p:spPr>
          <a:xfrm>
            <a:off x="1554480" y="3474720"/>
            <a:ext cx="3108960" cy="411480"/>
          </a:xfrm>
          <a:prstGeom prst="rect">
            <a:avLst/>
          </a:prstGeom>
          <a:noFill/>
          <a:ln/>
        </p:spPr>
        <p:txBody>
          <a:bodyPr wrap="square" lIns="0" tIns="0" rIns="0" bIns="0" rtlCol="0" anchor="t"/>
          <a:lstStyle/>
          <a:p>
            <a:pPr indent="0" marL="0">
              <a:buNone/>
            </a:pPr>
            <a:r>
              <a:rPr lang="en-US" sz="1800" dirty="0">
                <a:solidFill>
                  <a:srgbClr val="2E1F27"/>
                </a:solidFill>
                <a:latin typeface="Fraunces" pitchFamily="34" charset="0"/>
                <a:ea typeface="Fraunces" pitchFamily="34" charset="-122"/>
                <a:cs typeface="Fraunces" pitchFamily="34" charset="-120"/>
              </a:rPr>
              <a:t>What did you solve?</a:t>
            </a:r>
            <a:endParaRPr lang="en-US" sz="1800" dirty="0"/>
          </a:p>
        </p:txBody>
      </p:sp>
      <p:sp>
        <p:nvSpPr>
          <p:cNvPr id="13" name="Text 11"/>
          <p:cNvSpPr/>
          <p:nvPr/>
        </p:nvSpPr>
        <p:spPr>
          <a:xfrm>
            <a:off x="4754880" y="3520440"/>
            <a:ext cx="6492240" cy="77724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The problem you fixed for yourself is the one you can sell fixing for someone else.</a:t>
            </a:r>
            <a:endParaRPr lang="en-US" sz="1250" dirty="0"/>
          </a:p>
        </p:txBody>
      </p:sp>
      <p:sp>
        <p:nvSpPr>
          <p:cNvPr id="14" name="Shape 12"/>
          <p:cNvSpPr/>
          <p:nvPr/>
        </p:nvSpPr>
        <p:spPr>
          <a:xfrm>
            <a:off x="777240" y="4489704"/>
            <a:ext cx="512064" cy="512064"/>
          </a:xfrm>
          <a:prstGeom prst="ellipse">
            <a:avLst/>
          </a:prstGeom>
          <a:solidFill>
            <a:srgbClr val="A93F63"/>
          </a:solidFill>
          <a:ln/>
        </p:spPr>
      </p:sp>
      <p:sp>
        <p:nvSpPr>
          <p:cNvPr id="15" name="Text 13"/>
          <p:cNvSpPr/>
          <p:nvPr/>
        </p:nvSpPr>
        <p:spPr>
          <a:xfrm>
            <a:off x="777240" y="448970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3</a:t>
            </a:r>
            <a:endParaRPr lang="en-US" sz="1500" dirty="0"/>
          </a:p>
        </p:txBody>
      </p:sp>
      <p:sp>
        <p:nvSpPr>
          <p:cNvPr id="16" name="Text 14"/>
          <p:cNvSpPr/>
          <p:nvPr/>
        </p:nvSpPr>
        <p:spPr>
          <a:xfrm>
            <a:off x="1554480" y="4462272"/>
            <a:ext cx="3108960" cy="411480"/>
          </a:xfrm>
          <a:prstGeom prst="rect">
            <a:avLst/>
          </a:prstGeom>
          <a:noFill/>
          <a:ln/>
        </p:spPr>
        <p:txBody>
          <a:bodyPr wrap="square" lIns="0" tIns="0" rIns="0" bIns="0" rtlCol="0" anchor="t"/>
          <a:lstStyle/>
          <a:p>
            <a:pPr indent="0" marL="0">
              <a:buNone/>
            </a:pPr>
            <a:r>
              <a:rPr lang="en-US" sz="1800" dirty="0">
                <a:solidFill>
                  <a:srgbClr val="2E1F27"/>
                </a:solidFill>
                <a:latin typeface="Fraunces" pitchFamily="34" charset="0"/>
                <a:ea typeface="Fraunces" pitchFamily="34" charset="-122"/>
                <a:cs typeface="Fraunces" pitchFamily="34" charset="-120"/>
              </a:rPr>
              <a:t>Who was that for?</a:t>
            </a:r>
            <a:endParaRPr lang="en-US" sz="1800" dirty="0"/>
          </a:p>
        </p:txBody>
      </p:sp>
      <p:sp>
        <p:nvSpPr>
          <p:cNvPr id="17" name="Text 15"/>
          <p:cNvSpPr/>
          <p:nvPr/>
        </p:nvSpPr>
        <p:spPr>
          <a:xfrm>
            <a:off x="4754880" y="4507992"/>
            <a:ext cx="6492240" cy="77724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Name the specific woman. Her situation, her budget, what she has already tried.</a:t>
            </a:r>
            <a:endParaRPr lang="en-US" sz="1250" dirty="0"/>
          </a:p>
        </p:txBody>
      </p:sp>
      <p:sp>
        <p:nvSpPr>
          <p:cNvPr id="18" name="Shape 16"/>
          <p:cNvSpPr/>
          <p:nvPr/>
        </p:nvSpPr>
        <p:spPr>
          <a:xfrm>
            <a:off x="777240" y="5477256"/>
            <a:ext cx="512064" cy="512064"/>
          </a:xfrm>
          <a:prstGeom prst="ellipse">
            <a:avLst/>
          </a:prstGeom>
          <a:solidFill>
            <a:srgbClr val="2E1F27"/>
          </a:solidFill>
          <a:ln/>
        </p:spPr>
      </p:sp>
      <p:sp>
        <p:nvSpPr>
          <p:cNvPr id="19" name="Text 17"/>
          <p:cNvSpPr/>
          <p:nvPr/>
        </p:nvSpPr>
        <p:spPr>
          <a:xfrm>
            <a:off x="777240" y="547725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4</a:t>
            </a:r>
            <a:endParaRPr lang="en-US" sz="1500" dirty="0"/>
          </a:p>
        </p:txBody>
      </p:sp>
      <p:sp>
        <p:nvSpPr>
          <p:cNvPr id="20" name="Text 18"/>
          <p:cNvSpPr/>
          <p:nvPr/>
        </p:nvSpPr>
        <p:spPr>
          <a:xfrm>
            <a:off x="1554480" y="5449824"/>
            <a:ext cx="3108960" cy="411480"/>
          </a:xfrm>
          <a:prstGeom prst="rect">
            <a:avLst/>
          </a:prstGeom>
          <a:noFill/>
          <a:ln/>
        </p:spPr>
        <p:txBody>
          <a:bodyPr wrap="square" lIns="0" tIns="0" rIns="0" bIns="0" rtlCol="0" anchor="t"/>
          <a:lstStyle/>
          <a:p>
            <a:pPr indent="0" marL="0">
              <a:buNone/>
            </a:pPr>
            <a:r>
              <a:rPr lang="en-US" sz="1800" dirty="0">
                <a:solidFill>
                  <a:srgbClr val="2E1F27"/>
                </a:solidFill>
                <a:latin typeface="Fraunces" pitchFamily="34" charset="0"/>
                <a:ea typeface="Fraunces" pitchFamily="34" charset="-122"/>
                <a:cs typeface="Fraunces" pitchFamily="34" charset="-120"/>
              </a:rPr>
              <a:t>What is the outcome?</a:t>
            </a:r>
            <a:endParaRPr lang="en-US" sz="1800" dirty="0"/>
          </a:p>
        </p:txBody>
      </p:sp>
      <p:sp>
        <p:nvSpPr>
          <p:cNvPr id="21" name="Text 19"/>
          <p:cNvSpPr/>
          <p:nvPr/>
        </p:nvSpPr>
        <p:spPr>
          <a:xfrm>
            <a:off x="4754880" y="5495544"/>
            <a:ext cx="6492240" cy="77724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Not what you do. What is different for her when you are done.</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DCE2"/>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30</a:t>
            </a:r>
            <a:endParaRPr lang="en-US" sz="950" dirty="0"/>
          </a:p>
        </p:txBody>
      </p:sp>
      <p:sp>
        <p:nvSpPr>
          <p:cNvPr id="3" name="Text 1"/>
          <p:cNvSpPr/>
          <p:nvPr/>
        </p:nvSpPr>
        <p:spPr>
          <a:xfrm>
            <a:off x="1828800" y="1508760"/>
            <a:ext cx="8503920" cy="640080"/>
          </a:xfrm>
          <a:prstGeom prst="rect">
            <a:avLst/>
          </a:prstGeom>
          <a:noFill/>
          <a:ln/>
        </p:spPr>
        <p:txBody>
          <a:bodyPr wrap="square" lIns="0" tIns="0" rIns="0" bIns="0" rtlCol="0" anchor="t"/>
          <a:lstStyle/>
          <a:p>
            <a:pPr algn="ctr" indent="0" marL="0">
              <a:buNone/>
            </a:pPr>
            <a:r>
              <a:rPr lang="en-US" sz="3000" dirty="0">
                <a:solidFill>
                  <a:srgbClr val="BC8A47"/>
                </a:solidFill>
                <a:latin typeface="Ephesis" pitchFamily="34" charset="0"/>
                <a:ea typeface="Ephesis" pitchFamily="34" charset="-122"/>
                <a:cs typeface="Ephesis" pitchFamily="34" charset="-120"/>
              </a:rPr>
              <a:t>here is the good news</a:t>
            </a:r>
            <a:endParaRPr lang="en-US" sz="3000" dirty="0"/>
          </a:p>
        </p:txBody>
      </p:sp>
      <p:sp>
        <p:nvSpPr>
          <p:cNvPr id="4" name="Text 2"/>
          <p:cNvSpPr/>
          <p:nvPr/>
        </p:nvSpPr>
        <p:spPr>
          <a:xfrm>
            <a:off x="1645920" y="2286000"/>
            <a:ext cx="8869680" cy="2194560"/>
          </a:xfrm>
          <a:prstGeom prst="rect">
            <a:avLst/>
          </a:prstGeom>
          <a:noFill/>
          <a:ln/>
        </p:spPr>
        <p:txBody>
          <a:bodyPr wrap="square" lIns="0" tIns="0" rIns="0" bIns="0" rtlCol="0" anchor="ctr"/>
          <a:lstStyle/>
          <a:p>
            <a:pPr algn="ctr" indent="0" marL="0">
              <a:lnSpc>
                <a:spcPts val="4600"/>
              </a:lnSpc>
              <a:buNone/>
            </a:pPr>
            <a:r>
              <a:rPr lang="en-US" sz="4000" dirty="0">
                <a:solidFill>
                  <a:srgbClr val="2E1F27"/>
                </a:solidFill>
                <a:latin typeface="Fraunces" pitchFamily="34" charset="0"/>
                <a:ea typeface="Fraunces" pitchFamily="34" charset="-122"/>
                <a:cs typeface="Fraunces" pitchFamily="34" charset="-120"/>
              </a:rPr>
              <a:t>You already have an offer.
</a:t>
            </a:r>
            <a:pPr algn="ctr" indent="0" marL="0">
              <a:lnSpc>
                <a:spcPts val="4600"/>
              </a:lnSpc>
              <a:buNone/>
            </a:pPr>
            <a:r>
              <a:rPr lang="en-US" sz="4000" i="1" dirty="0">
                <a:solidFill>
                  <a:srgbClr val="A93F63"/>
                </a:solidFill>
                <a:latin typeface="Fraunces" pitchFamily="34" charset="0"/>
                <a:ea typeface="Fraunces" pitchFamily="34" charset="-122"/>
                <a:cs typeface="Fraunces" pitchFamily="34" charset="-120"/>
              </a:rPr>
              <a:t>You just haven't named it.</a:t>
            </a:r>
            <a:endParaRPr lang="en-US" sz="4000" dirty="0"/>
          </a:p>
        </p:txBody>
      </p:sp>
      <p:sp>
        <p:nvSpPr>
          <p:cNvPr id="5" name="Text 3"/>
          <p:cNvSpPr/>
          <p:nvPr/>
        </p:nvSpPr>
        <p:spPr>
          <a:xfrm>
            <a:off x="2743200" y="4709160"/>
            <a:ext cx="6675120" cy="548640"/>
          </a:xfrm>
          <a:prstGeom prst="rect">
            <a:avLst/>
          </a:prstGeom>
          <a:noFill/>
          <a:ln/>
        </p:spPr>
        <p:txBody>
          <a:bodyPr wrap="square" lIns="0" tIns="0" rIns="0" bIns="0" rtlCol="0" anchor="t"/>
          <a:lstStyle/>
          <a:p>
            <a:pPr algn="ctr" indent="0" marL="0">
              <a:buNone/>
            </a:pPr>
            <a:r>
              <a:rPr lang="en-US" sz="1350" dirty="0">
                <a:solidFill>
                  <a:srgbClr val="7C2B48"/>
                </a:solidFill>
                <a:latin typeface="Karla" pitchFamily="34" charset="0"/>
                <a:ea typeface="Karla" pitchFamily="34" charset="-122"/>
                <a:cs typeface="Karla" pitchFamily="34" charset="-120"/>
              </a:rPr>
              <a:t>Almost nobody needs a new idea. They need to name the one they already have.</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31</a:t>
            </a:r>
            <a:endParaRPr lang="en-US" sz="950" dirty="0"/>
          </a:p>
        </p:txBody>
      </p:sp>
      <p:sp>
        <p:nvSpPr>
          <p:cNvPr id="3" name="Shape 1"/>
          <p:cNvSpPr/>
          <p:nvPr/>
        </p:nvSpPr>
        <p:spPr>
          <a:xfrm>
            <a:off x="-2103120" y="3566160"/>
            <a:ext cx="4937760" cy="4937760"/>
          </a:xfrm>
          <a:prstGeom prst="ellipse">
            <a:avLst/>
          </a:prstGeom>
          <a:solidFill>
            <a:srgbClr val="F4EBDE">
              <a:alpha val="70000"/>
            </a:srgbClr>
          </a:solidFill>
          <a:ln/>
        </p:spPr>
      </p:sp>
      <p:sp>
        <p:nvSpPr>
          <p:cNvPr id="4" name="Text 2"/>
          <p:cNvSpPr/>
          <p:nvPr/>
        </p:nvSpPr>
        <p:spPr>
          <a:xfrm>
            <a:off x="777240" y="1143000"/>
            <a:ext cx="51206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WHERE TO LOOK</a:t>
            </a:r>
            <a:endParaRPr lang="en-US" sz="1100" dirty="0"/>
          </a:p>
        </p:txBody>
      </p:sp>
      <p:sp>
        <p:nvSpPr>
          <p:cNvPr id="5" name="Text 3"/>
          <p:cNvSpPr/>
          <p:nvPr/>
        </p:nvSpPr>
        <p:spPr>
          <a:xfrm>
            <a:off x="777240" y="1554480"/>
            <a:ext cx="4846320" cy="1828800"/>
          </a:xfrm>
          <a:prstGeom prst="rect">
            <a:avLst/>
          </a:prstGeom>
          <a:noFill/>
          <a:ln/>
        </p:spPr>
        <p:txBody>
          <a:bodyPr wrap="square" lIns="0" tIns="0" rIns="0" bIns="0" rtlCol="0" anchor="t"/>
          <a:lstStyle/>
          <a:p>
            <a:pPr indent="0" marL="0">
              <a:lnSpc>
                <a:spcPts val="3600"/>
              </a:lnSpc>
              <a:buNone/>
            </a:pPr>
            <a:r>
              <a:rPr lang="en-US" sz="3200" dirty="0">
                <a:solidFill>
                  <a:srgbClr val="2E1F27"/>
                </a:solidFill>
                <a:latin typeface="Fraunces" pitchFamily="34" charset="0"/>
                <a:ea typeface="Fraunces" pitchFamily="34" charset="-122"/>
                <a:cs typeface="Fraunces" pitchFamily="34" charset="-120"/>
              </a:rPr>
              <a:t>Your offer is usually hiding in plain sight.</a:t>
            </a:r>
            <a:endParaRPr lang="en-US" sz="3200" dirty="0"/>
          </a:p>
        </p:txBody>
      </p:sp>
      <p:sp>
        <p:nvSpPr>
          <p:cNvPr id="6" name="Shape 4"/>
          <p:cNvSpPr/>
          <p:nvPr/>
        </p:nvSpPr>
        <p:spPr>
          <a:xfrm>
            <a:off x="5777179" y="2651760"/>
            <a:ext cx="137160" cy="137160"/>
          </a:xfrm>
          <a:prstGeom prst="ellipse">
            <a:avLst/>
          </a:prstGeom>
          <a:solidFill>
            <a:srgbClr val="BC8A47"/>
          </a:solidFill>
          <a:ln/>
        </p:spPr>
      </p:sp>
      <p:sp>
        <p:nvSpPr>
          <p:cNvPr id="7" name="Text 5"/>
          <p:cNvSpPr/>
          <p:nvPr/>
        </p:nvSpPr>
        <p:spPr>
          <a:xfrm>
            <a:off x="6188659" y="245973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The DM you keep answering with a long, generous reply</a:t>
            </a:r>
            <a:endParaRPr lang="en-US" sz="1400" dirty="0"/>
          </a:p>
        </p:txBody>
      </p:sp>
      <p:sp>
        <p:nvSpPr>
          <p:cNvPr id="8" name="Shape 6"/>
          <p:cNvSpPr/>
          <p:nvPr/>
        </p:nvSpPr>
        <p:spPr>
          <a:xfrm>
            <a:off x="5777179" y="3429000"/>
            <a:ext cx="137160" cy="137160"/>
          </a:xfrm>
          <a:prstGeom prst="ellipse">
            <a:avLst/>
          </a:prstGeom>
          <a:solidFill>
            <a:srgbClr val="BC8A47"/>
          </a:solidFill>
          <a:ln/>
        </p:spPr>
      </p:sp>
      <p:sp>
        <p:nvSpPr>
          <p:cNvPr id="9" name="Text 7"/>
          <p:cNvSpPr/>
          <p:nvPr/>
        </p:nvSpPr>
        <p:spPr>
          <a:xfrm>
            <a:off x="6188659" y="323697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The thing friends ask you to help with for free</a:t>
            </a:r>
            <a:endParaRPr lang="en-US" sz="1400" dirty="0"/>
          </a:p>
        </p:txBody>
      </p:sp>
      <p:sp>
        <p:nvSpPr>
          <p:cNvPr id="10" name="Shape 8"/>
          <p:cNvSpPr/>
          <p:nvPr/>
        </p:nvSpPr>
        <p:spPr>
          <a:xfrm>
            <a:off x="5777179" y="4206240"/>
            <a:ext cx="137160" cy="137160"/>
          </a:xfrm>
          <a:prstGeom prst="ellipse">
            <a:avLst/>
          </a:prstGeom>
          <a:solidFill>
            <a:srgbClr val="BC8A47"/>
          </a:solidFill>
          <a:ln/>
        </p:spPr>
      </p:sp>
      <p:sp>
        <p:nvSpPr>
          <p:cNvPr id="11" name="Text 9"/>
          <p:cNvSpPr/>
          <p:nvPr/>
        </p:nvSpPr>
        <p:spPr>
          <a:xfrm>
            <a:off x="6188659" y="401421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The part of your journey that took longest to figure out</a:t>
            </a:r>
            <a:endParaRPr lang="en-US" sz="1400" dirty="0"/>
          </a:p>
        </p:txBody>
      </p:sp>
      <p:sp>
        <p:nvSpPr>
          <p:cNvPr id="12" name="Shape 10"/>
          <p:cNvSpPr/>
          <p:nvPr/>
        </p:nvSpPr>
        <p:spPr>
          <a:xfrm>
            <a:off x="5777179" y="4983480"/>
            <a:ext cx="137160" cy="137160"/>
          </a:xfrm>
          <a:prstGeom prst="ellipse">
            <a:avLst/>
          </a:prstGeom>
          <a:solidFill>
            <a:srgbClr val="BC8A47"/>
          </a:solidFill>
          <a:ln/>
        </p:spPr>
      </p:sp>
      <p:sp>
        <p:nvSpPr>
          <p:cNvPr id="13" name="Text 11"/>
          <p:cNvSpPr/>
          <p:nvPr/>
        </p:nvSpPr>
        <p:spPr>
          <a:xfrm>
            <a:off x="6188659" y="479145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The compliment you keep brushing off</a:t>
            </a:r>
            <a:endParaRPr lang="en-US" sz="1400" dirty="0"/>
          </a:p>
        </p:txBody>
      </p:sp>
      <p:sp>
        <p:nvSpPr>
          <p:cNvPr id="14" name="Shape 12"/>
          <p:cNvSpPr/>
          <p:nvPr/>
        </p:nvSpPr>
        <p:spPr>
          <a:xfrm>
            <a:off x="5777179" y="5760720"/>
            <a:ext cx="137160" cy="137160"/>
          </a:xfrm>
          <a:prstGeom prst="ellipse">
            <a:avLst/>
          </a:prstGeom>
          <a:solidFill>
            <a:srgbClr val="BC8A47"/>
          </a:solidFill>
          <a:ln/>
        </p:spPr>
      </p:sp>
      <p:sp>
        <p:nvSpPr>
          <p:cNvPr id="15" name="Text 13"/>
          <p:cNvSpPr/>
          <p:nvPr/>
        </p:nvSpPr>
        <p:spPr>
          <a:xfrm>
            <a:off x="6188659" y="556869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The task you enjoy that others describe as awful</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32</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NAME IT PROPERLY</a:t>
            </a:r>
            <a:endParaRPr lang="en-US" sz="1100" dirty="0"/>
          </a:p>
        </p:txBody>
      </p:sp>
      <p:sp>
        <p:nvSpPr>
          <p:cNvPr id="4" name="Text 2"/>
          <p:cNvSpPr/>
          <p:nvPr/>
        </p:nvSpPr>
        <p:spPr>
          <a:xfrm>
            <a:off x="777240" y="1051560"/>
            <a:ext cx="83210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Vague offers are the reason people do not buy.</a:t>
            </a:r>
            <a:endParaRPr lang="en-US" sz="3300" dirty="0"/>
          </a:p>
        </p:txBody>
      </p:sp>
      <p:sp>
        <p:nvSpPr>
          <p:cNvPr id="5" name="Shape 3"/>
          <p:cNvSpPr/>
          <p:nvPr/>
        </p:nvSpPr>
        <p:spPr>
          <a:xfrm>
            <a:off x="777240" y="2468880"/>
            <a:ext cx="4572000" cy="2743200"/>
          </a:xfrm>
          <a:prstGeom prst="roundRect">
            <a:avLst>
              <a:gd name="adj" fmla="val 4667"/>
            </a:avLst>
          </a:prstGeom>
          <a:solidFill>
            <a:srgbClr val="FFFFFF"/>
          </a:solidFill>
          <a:ln w="9525">
            <a:solidFill>
              <a:srgbClr val="DCD2C7"/>
            </a:solidFill>
            <a:prstDash val="solid"/>
          </a:ln>
        </p:spPr>
      </p:sp>
      <p:sp>
        <p:nvSpPr>
          <p:cNvPr id="6" name="Text 4"/>
          <p:cNvSpPr/>
          <p:nvPr/>
        </p:nvSpPr>
        <p:spPr>
          <a:xfrm>
            <a:off x="1143000" y="2788920"/>
            <a:ext cx="3840480" cy="274320"/>
          </a:xfrm>
          <a:prstGeom prst="rect">
            <a:avLst/>
          </a:prstGeom>
          <a:noFill/>
          <a:ln/>
        </p:spPr>
        <p:txBody>
          <a:bodyPr wrap="square" lIns="0" tIns="0" rIns="0" bIns="0" rtlCol="0" anchor="t"/>
          <a:lstStyle/>
          <a:p>
            <a:pPr indent="0" marL="0">
              <a:buNone/>
            </a:pPr>
            <a:r>
              <a:rPr lang="en-US" sz="1050" b="1" spc="300" kern="0" dirty="0">
                <a:solidFill>
                  <a:srgbClr val="6E5C63"/>
                </a:solidFill>
                <a:latin typeface="Karla" pitchFamily="34" charset="0"/>
                <a:ea typeface="Karla" pitchFamily="34" charset="-122"/>
                <a:cs typeface="Karla" pitchFamily="34" charset="-120"/>
              </a:rPr>
              <a:t>TOO VAGUE TO BUY</a:t>
            </a:r>
            <a:endParaRPr lang="en-US" sz="1050" dirty="0"/>
          </a:p>
        </p:txBody>
      </p:sp>
      <p:sp>
        <p:nvSpPr>
          <p:cNvPr id="7" name="Text 5"/>
          <p:cNvSpPr/>
          <p:nvPr/>
        </p:nvSpPr>
        <p:spPr>
          <a:xfrm>
            <a:off x="1143000" y="3246120"/>
            <a:ext cx="3840480" cy="173736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I do blog coaching</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I help women with websites</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Packages available, DM me</a:t>
            </a:r>
            <a:endParaRPr lang="en-US" sz="1250" dirty="0"/>
          </a:p>
        </p:txBody>
      </p:sp>
      <p:sp>
        <p:nvSpPr>
          <p:cNvPr id="8" name="Text 6"/>
          <p:cNvSpPr/>
          <p:nvPr/>
        </p:nvSpPr>
        <p:spPr>
          <a:xfrm>
            <a:off x="5486400" y="3474720"/>
            <a:ext cx="1188720" cy="822960"/>
          </a:xfrm>
          <a:prstGeom prst="rect">
            <a:avLst/>
          </a:prstGeom>
          <a:noFill/>
          <a:ln/>
        </p:spPr>
        <p:txBody>
          <a:bodyPr wrap="square" lIns="0" tIns="0" rIns="0" bIns="0" rtlCol="0" anchor="t"/>
          <a:lstStyle/>
          <a:p>
            <a:pPr algn="ctr" indent="0" marL="0">
              <a:buNone/>
            </a:pPr>
            <a:r>
              <a:rPr lang="en-US" sz="4400" dirty="0">
                <a:solidFill>
                  <a:srgbClr val="A93F63"/>
                </a:solidFill>
                <a:latin typeface="Fraunces" pitchFamily="34" charset="0"/>
                <a:ea typeface="Fraunces" pitchFamily="34" charset="-122"/>
                <a:cs typeface="Fraunces" pitchFamily="34" charset="-120"/>
              </a:rPr>
              <a:t>→</a:t>
            </a:r>
            <a:endParaRPr lang="en-US" sz="4400" dirty="0"/>
          </a:p>
        </p:txBody>
      </p:sp>
      <p:sp>
        <p:nvSpPr>
          <p:cNvPr id="9" name="Shape 7"/>
          <p:cNvSpPr/>
          <p:nvPr/>
        </p:nvSpPr>
        <p:spPr>
          <a:xfrm>
            <a:off x="6812280" y="2468880"/>
            <a:ext cx="4572000" cy="2743200"/>
          </a:xfrm>
          <a:prstGeom prst="roundRect">
            <a:avLst>
              <a:gd name="adj" fmla="val 4667"/>
            </a:avLst>
          </a:prstGeom>
          <a:solidFill>
            <a:srgbClr val="2E1F27"/>
          </a:solidFill>
          <a:ln w="9525">
            <a:solidFill>
              <a:srgbClr val="2E1F27"/>
            </a:solidFill>
            <a:prstDash val="solid"/>
          </a:ln>
          <a:effectLst>
            <a:outerShdw sx="100000" sy="100000" kx="0" ky="0" algn="bl" rotWithShape="0" blurRad="203200" dist="63500" dir="5400000">
              <a:srgbClr val="2E1F27">
                <a:alpha val="15000"/>
              </a:srgbClr>
            </a:outerShdw>
          </a:effectLst>
        </p:spPr>
      </p:sp>
      <p:sp>
        <p:nvSpPr>
          <p:cNvPr id="10" name="Text 8"/>
          <p:cNvSpPr/>
          <p:nvPr/>
        </p:nvSpPr>
        <p:spPr>
          <a:xfrm>
            <a:off x="7178040" y="2788920"/>
            <a:ext cx="3840480" cy="274320"/>
          </a:xfrm>
          <a:prstGeom prst="rect">
            <a:avLst/>
          </a:prstGeom>
          <a:noFill/>
          <a:ln/>
        </p:spPr>
        <p:txBody>
          <a:bodyPr wrap="square" lIns="0" tIns="0" rIns="0" bIns="0" rtlCol="0" anchor="t"/>
          <a:lstStyle/>
          <a:p>
            <a:pPr indent="0" marL="0">
              <a:buNone/>
            </a:pPr>
            <a:r>
              <a:rPr lang="en-US" sz="1050" b="1" spc="300" kern="0" dirty="0">
                <a:solidFill>
                  <a:srgbClr val="BC8A47"/>
                </a:solidFill>
                <a:latin typeface="Karla" pitchFamily="34" charset="0"/>
                <a:ea typeface="Karla" pitchFamily="34" charset="-122"/>
                <a:cs typeface="Karla" pitchFamily="34" charset="-120"/>
              </a:rPr>
              <a:t>SPECIFIC ENOUGH TO BUY</a:t>
            </a:r>
            <a:endParaRPr lang="en-US" sz="1050" dirty="0"/>
          </a:p>
        </p:txBody>
      </p:sp>
      <p:sp>
        <p:nvSpPr>
          <p:cNvPr id="11" name="Text 9"/>
          <p:cNvSpPr/>
          <p:nvPr/>
        </p:nvSpPr>
        <p:spPr>
          <a:xfrm>
            <a:off x="7178040" y="3246120"/>
            <a:ext cx="3840480" cy="173736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Your blog launched in 21 days</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A custom site built around your offer</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Three tiers, prices on the page</a:t>
            </a:r>
            <a:endParaRPr lang="en-US" sz="1250" dirty="0"/>
          </a:p>
        </p:txBody>
      </p:sp>
      <p:sp>
        <p:nvSpPr>
          <p:cNvPr id="12" name="Text 10"/>
          <p:cNvSpPr/>
          <p:nvPr/>
        </p:nvSpPr>
        <p:spPr>
          <a:xfrm>
            <a:off x="1828800" y="5440680"/>
            <a:ext cx="8503920" cy="548640"/>
          </a:xfrm>
          <a:prstGeom prst="rect">
            <a:avLst/>
          </a:prstGeom>
          <a:noFill/>
          <a:ln/>
        </p:spPr>
        <p:txBody>
          <a:bodyPr wrap="square" lIns="0" tIns="0" rIns="0" bIns="0" rtlCol="0" anchor="t"/>
          <a:lstStyle/>
          <a:p>
            <a:pPr algn="ctr" indent="0" marL="0">
              <a:buNone/>
            </a:pPr>
            <a:r>
              <a:rPr lang="en-US" sz="2600" dirty="0">
                <a:solidFill>
                  <a:srgbClr val="A93F63"/>
                </a:solidFill>
                <a:latin typeface="Ephesis" pitchFamily="34" charset="0"/>
                <a:ea typeface="Ephesis" pitchFamily="34" charset="-122"/>
                <a:cs typeface="Ephesis" pitchFamily="34" charset="-120"/>
              </a:rPr>
              <a:t>specific is magnetic</a:t>
            </a:r>
            <a:endParaRPr lang="en-US" sz="2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33</a:t>
            </a:r>
            <a:endParaRPr lang="en-US" sz="950" dirty="0"/>
          </a:p>
        </p:txBody>
      </p:sp>
      <p:sp>
        <p:nvSpPr>
          <p:cNvPr id="3" name="Shape 1"/>
          <p:cNvSpPr/>
          <p:nvPr/>
        </p:nvSpPr>
        <p:spPr>
          <a:xfrm>
            <a:off x="6445606" y="0"/>
            <a:ext cx="5715914" cy="6858000"/>
          </a:xfrm>
          <a:prstGeom prst="rect">
            <a:avLst/>
          </a:prstGeom>
          <a:solidFill>
            <a:srgbClr val="F4EBDE"/>
          </a:solidFill>
          <a:ln/>
        </p:spPr>
      </p:sp>
      <p:sp>
        <p:nvSpPr>
          <p:cNvPr id="4" name="Shape 2"/>
          <p:cNvSpPr/>
          <p:nvPr/>
        </p:nvSpPr>
        <p:spPr>
          <a:xfrm>
            <a:off x="6994246" y="1143000"/>
            <a:ext cx="4481474" cy="4572000"/>
          </a:xfrm>
          <a:prstGeom prst="roundRect">
            <a:avLst>
              <a:gd name="adj" fmla="val 2040"/>
            </a:avLst>
          </a:prstGeom>
          <a:solidFill>
            <a:srgbClr val="FFFFFF"/>
          </a:solidFill>
          <a:ln w="15875">
            <a:solidFill>
              <a:srgbClr val="CFC2B4"/>
            </a:solidFill>
            <a:prstDash val="dash"/>
          </a:ln>
        </p:spPr>
      </p:sp>
      <p:sp>
        <p:nvSpPr>
          <p:cNvPr id="5" name="Shape 3"/>
          <p:cNvSpPr/>
          <p:nvPr/>
        </p:nvSpPr>
        <p:spPr>
          <a:xfrm>
            <a:off x="8850935" y="2715768"/>
            <a:ext cx="768096" cy="768096"/>
          </a:xfrm>
          <a:prstGeom prst="ellipse">
            <a:avLst/>
          </a:prstGeom>
          <a:solidFill>
            <a:srgbClr val="F4EBDE"/>
          </a:solidFill>
          <a:ln/>
        </p:spPr>
      </p:sp>
      <p:sp>
        <p:nvSpPr>
          <p:cNvPr id="6" name="Text 4"/>
          <p:cNvSpPr/>
          <p:nvPr/>
        </p:nvSpPr>
        <p:spPr>
          <a:xfrm>
            <a:off x="8850935" y="2679192"/>
            <a:ext cx="768096" cy="768096"/>
          </a:xfrm>
          <a:prstGeom prst="rect">
            <a:avLst/>
          </a:prstGeom>
          <a:noFill/>
          <a:ln/>
        </p:spPr>
        <p:txBody>
          <a:bodyPr wrap="square" lIns="0" tIns="0" rIns="0" bIns="0" rtlCol="0" anchor="ctr"/>
          <a:lstStyle/>
          <a:p>
            <a:pPr algn="ctr" indent="0" marL="0">
              <a:buNone/>
            </a:pPr>
            <a:r>
              <a:rPr lang="en-US" sz="3200" dirty="0">
                <a:solidFill>
                  <a:srgbClr val="B6A899"/>
                </a:solidFill>
                <a:latin typeface="Fraunces" pitchFamily="34" charset="0"/>
                <a:ea typeface="Fraunces" pitchFamily="34" charset="-122"/>
                <a:cs typeface="Fraunces" pitchFamily="34" charset="-120"/>
              </a:rPr>
              <a:t>+</a:t>
            </a:r>
            <a:endParaRPr lang="en-US" sz="3200" dirty="0"/>
          </a:p>
        </p:txBody>
      </p:sp>
      <p:sp>
        <p:nvSpPr>
          <p:cNvPr id="7" name="Text 5"/>
          <p:cNvSpPr/>
          <p:nvPr/>
        </p:nvSpPr>
        <p:spPr>
          <a:xfrm>
            <a:off x="6994246" y="3630168"/>
            <a:ext cx="4481474" cy="457200"/>
          </a:xfrm>
          <a:prstGeom prst="rect">
            <a:avLst/>
          </a:prstGeom>
          <a:noFill/>
          <a:ln/>
        </p:spPr>
        <p:txBody>
          <a:bodyPr wrap="square" lIns="0" tIns="0" rIns="0" bIns="0" rtlCol="0" anchor="t"/>
          <a:lstStyle/>
          <a:p>
            <a:pPr algn="ctr" indent="0" marL="0">
              <a:buNone/>
            </a:pPr>
            <a:r>
              <a:rPr lang="en-US" sz="1050" b="1" spc="250" kern="0" dirty="0">
                <a:solidFill>
                  <a:srgbClr val="B6A899"/>
                </a:solidFill>
                <a:latin typeface="Karla" pitchFamily="34" charset="0"/>
                <a:ea typeface="Karla" pitchFamily="34" charset="-122"/>
                <a:cs typeface="Karla" pitchFamily="34" charset="-120"/>
              </a:rPr>
              <a:t>DROP YOUR SCREENSHOT HERE</a:t>
            </a:r>
            <a:endParaRPr lang="en-US" sz="1050" dirty="0"/>
          </a:p>
        </p:txBody>
      </p:sp>
      <p:sp>
        <p:nvSpPr>
          <p:cNvPr id="8" name="Text 6"/>
          <p:cNvSpPr/>
          <p:nvPr/>
        </p:nvSpPr>
        <p:spPr>
          <a:xfrm>
            <a:off x="777240" y="1600200"/>
            <a:ext cx="502920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AN OFFER ON A PAGE</a:t>
            </a:r>
            <a:endParaRPr lang="en-US" sz="1100" dirty="0"/>
          </a:p>
        </p:txBody>
      </p:sp>
      <p:sp>
        <p:nvSpPr>
          <p:cNvPr id="9" name="Text 7"/>
          <p:cNvSpPr/>
          <p:nvPr/>
        </p:nvSpPr>
        <p:spPr>
          <a:xfrm>
            <a:off x="777240" y="2011680"/>
            <a:ext cx="5120640" cy="1463040"/>
          </a:xfrm>
          <a:prstGeom prst="rect">
            <a:avLst/>
          </a:prstGeom>
          <a:noFill/>
          <a:ln/>
        </p:spPr>
        <p:txBody>
          <a:bodyPr wrap="square" lIns="0" tIns="0" rIns="0" bIns="0" rtlCol="0" anchor="t"/>
          <a:lstStyle/>
          <a:p>
            <a:pPr indent="0" marL="0">
              <a:lnSpc>
                <a:spcPts val="3400"/>
              </a:lnSpc>
              <a:buNone/>
            </a:pPr>
            <a:r>
              <a:rPr lang="en-US" sz="3000" dirty="0">
                <a:solidFill>
                  <a:srgbClr val="2E1F27"/>
                </a:solidFill>
                <a:latin typeface="Fraunces" pitchFamily="34" charset="0"/>
                <a:ea typeface="Fraunces" pitchFamily="34" charset="-122"/>
                <a:cs typeface="Fraunces" pitchFamily="34" charset="-120"/>
              </a:rPr>
              <a:t>What it looks like when the offer leads.</a:t>
            </a:r>
            <a:endParaRPr lang="en-US" sz="3000" dirty="0"/>
          </a:p>
        </p:txBody>
      </p:sp>
      <p:sp>
        <p:nvSpPr>
          <p:cNvPr id="10" name="Text 8"/>
          <p:cNvSpPr/>
          <p:nvPr/>
        </p:nvSpPr>
        <p:spPr>
          <a:xfrm>
            <a:off x="777240" y="3566160"/>
            <a:ext cx="5029200" cy="640080"/>
          </a:xfrm>
          <a:prstGeom prst="rect">
            <a:avLst/>
          </a:prstGeom>
          <a:noFill/>
          <a:ln/>
        </p:spPr>
        <p:txBody>
          <a:bodyPr wrap="square" lIns="0" tIns="0" rIns="0" bIns="0" rtlCol="0" anchor="t"/>
          <a:lstStyle/>
          <a:p>
            <a:pPr indent="0" marL="0">
              <a:buNone/>
            </a:pPr>
            <a:r>
              <a:rPr lang="en-US" sz="2700" dirty="0">
                <a:solidFill>
                  <a:srgbClr val="BC8A47"/>
                </a:solidFill>
                <a:latin typeface="Ephesis" pitchFamily="34" charset="0"/>
                <a:ea typeface="Ephesis" pitchFamily="34" charset="-122"/>
                <a:cs typeface="Ephesis" pitchFamily="34" charset="-120"/>
              </a:rPr>
              <a:t>the offer is the headline</a:t>
            </a:r>
            <a:endParaRPr lang="en-US" sz="2700" dirty="0"/>
          </a:p>
        </p:txBody>
      </p:sp>
      <p:sp>
        <p:nvSpPr>
          <p:cNvPr id="11" name="Text 9"/>
          <p:cNvSpPr/>
          <p:nvPr/>
        </p:nvSpPr>
        <p:spPr>
          <a:xfrm>
            <a:off x="777240" y="4315968"/>
            <a:ext cx="5029200" cy="1828800"/>
          </a:xfrm>
          <a:prstGeom prst="rect">
            <a:avLst/>
          </a:prstGeom>
          <a:noFill/>
          <a:ln/>
        </p:spPr>
        <p:txBody>
          <a:bodyPr wrap="square" lIns="0" tIns="0" rIns="0" bIns="0" rtlCol="0" anchor="t"/>
          <a:lstStyle/>
          <a:p>
            <a:pPr indent="0" marL="0">
              <a:lnSpc>
                <a:spcPts val="2000"/>
              </a:lnSpc>
              <a:buNone/>
            </a:pPr>
            <a:r>
              <a:rPr lang="en-US" sz="1300" dirty="0">
                <a:solidFill>
                  <a:srgbClr val="6E5C63"/>
                </a:solidFill>
                <a:latin typeface="Karla" pitchFamily="34" charset="0"/>
                <a:ea typeface="Karla" pitchFamily="34" charset="-122"/>
                <a:cs typeface="Karla" pitchFamily="34" charset="-120"/>
              </a:rPr>
              <a:t>Not the brand name, not a greeting, not a mission statement. She sees the outcome first and everything below is proof it is real. Every page that sells well does this.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34</a:t>
            </a:r>
            <a:endParaRPr lang="en-US" sz="950" dirty="0"/>
          </a:p>
        </p:txBody>
      </p:sp>
      <p:sp>
        <p:nvSpPr>
          <p:cNvPr id="3" name="Text 1"/>
          <p:cNvSpPr/>
          <p:nvPr/>
        </p:nvSpPr>
        <p:spPr>
          <a:xfrm>
            <a:off x="1828800" y="1143000"/>
            <a:ext cx="8503920" cy="274320"/>
          </a:xfrm>
          <a:prstGeom prst="rect">
            <a:avLst/>
          </a:prstGeom>
          <a:noFill/>
          <a:ln/>
        </p:spPr>
        <p:txBody>
          <a:bodyPr wrap="square" lIns="0" tIns="0" rIns="0" bIns="0" rtlCol="0" anchor="t"/>
          <a:lstStyle/>
          <a:p>
            <a:pPr algn="ctr" indent="0" marL="0">
              <a:buNone/>
            </a:pPr>
            <a:r>
              <a:rPr lang="en-US" sz="1100" b="1" spc="400" kern="0" dirty="0">
                <a:solidFill>
                  <a:srgbClr val="A93F63"/>
                </a:solidFill>
                <a:latin typeface="Karla" pitchFamily="34" charset="0"/>
                <a:ea typeface="Karla" pitchFamily="34" charset="-122"/>
                <a:cs typeface="Karla" pitchFamily="34" charset="-120"/>
              </a:rPr>
              <a:t>THE OFFER EQUATION</a:t>
            </a:r>
            <a:endParaRPr lang="en-US" sz="1100" dirty="0"/>
          </a:p>
        </p:txBody>
      </p:sp>
      <p:sp>
        <p:nvSpPr>
          <p:cNvPr id="4" name="Text 2"/>
          <p:cNvSpPr/>
          <p:nvPr/>
        </p:nvSpPr>
        <p:spPr>
          <a:xfrm>
            <a:off x="1463040" y="1554480"/>
            <a:ext cx="9235440" cy="1371600"/>
          </a:xfrm>
          <a:prstGeom prst="rect">
            <a:avLst/>
          </a:prstGeom>
          <a:noFill/>
          <a:ln/>
        </p:spPr>
        <p:txBody>
          <a:bodyPr wrap="square" lIns="0" tIns="0" rIns="0" bIns="0" rtlCol="0" anchor="t"/>
          <a:lstStyle/>
          <a:p>
            <a:pPr algn="ctr" indent="0" marL="0">
              <a:lnSpc>
                <a:spcPts val="4000"/>
              </a:lnSpc>
              <a:buNone/>
            </a:pPr>
            <a:r>
              <a:rPr lang="en-US" sz="3600" dirty="0">
                <a:solidFill>
                  <a:srgbClr val="2E1F27"/>
                </a:solidFill>
                <a:latin typeface="Fraunces" pitchFamily="34" charset="0"/>
                <a:ea typeface="Fraunces" pitchFamily="34" charset="-122"/>
                <a:cs typeface="Fraunces" pitchFamily="34" charset="-120"/>
              </a:rPr>
              <a:t>Three parts. Miss one and it stops working.</a:t>
            </a:r>
            <a:endParaRPr lang="en-US" sz="3600" dirty="0"/>
          </a:p>
        </p:txBody>
      </p:sp>
      <p:sp>
        <p:nvSpPr>
          <p:cNvPr id="5" name="Shape 3"/>
          <p:cNvSpPr/>
          <p:nvPr/>
        </p:nvSpPr>
        <p:spPr>
          <a:xfrm>
            <a:off x="2282952" y="3154680"/>
            <a:ext cx="768096" cy="768096"/>
          </a:xfrm>
          <a:prstGeom prst="ellipse">
            <a:avLst/>
          </a:prstGeom>
          <a:solidFill>
            <a:srgbClr val="A93F63"/>
          </a:solidFill>
          <a:ln/>
        </p:spPr>
      </p:sp>
      <p:sp>
        <p:nvSpPr>
          <p:cNvPr id="6" name="Text 4"/>
          <p:cNvSpPr/>
          <p:nvPr/>
        </p:nvSpPr>
        <p:spPr>
          <a:xfrm>
            <a:off x="2282952" y="3154680"/>
            <a:ext cx="768096" cy="768096"/>
          </a:xfrm>
          <a:prstGeom prst="rect">
            <a:avLst/>
          </a:prstGeom>
          <a:noFill/>
          <a:ln/>
        </p:spPr>
        <p:txBody>
          <a:bodyPr wrap="square" lIns="0" tIns="0" rIns="0" bIns="0" rtlCol="0" anchor="ctr"/>
          <a:lstStyle/>
          <a:p>
            <a:pPr algn="ctr" indent="0" marL="0">
              <a:buNone/>
            </a:pPr>
            <a:r>
              <a:rPr lang="en-US" sz="2400" dirty="0">
                <a:solidFill>
                  <a:srgbClr val="FFFFFF"/>
                </a:solidFill>
                <a:latin typeface="Fraunces" pitchFamily="34" charset="0"/>
                <a:ea typeface="Fraunces" pitchFamily="34" charset="-122"/>
                <a:cs typeface="Fraunces" pitchFamily="34" charset="-120"/>
              </a:rPr>
              <a:t>1</a:t>
            </a:r>
            <a:endParaRPr lang="en-US" sz="2400" dirty="0"/>
          </a:p>
        </p:txBody>
      </p:sp>
      <p:sp>
        <p:nvSpPr>
          <p:cNvPr id="7" name="Text 5"/>
          <p:cNvSpPr/>
          <p:nvPr/>
        </p:nvSpPr>
        <p:spPr>
          <a:xfrm>
            <a:off x="1261872" y="4206240"/>
            <a:ext cx="2810256" cy="1645920"/>
          </a:xfrm>
          <a:prstGeom prst="rect">
            <a:avLst/>
          </a:prstGeom>
          <a:noFill/>
          <a:ln/>
        </p:spPr>
        <p:txBody>
          <a:bodyPr wrap="square" lIns="0" tIns="0" rIns="0" bIns="0" rtlCol="0" anchor="t"/>
          <a:lstStyle/>
          <a:p>
            <a:pPr algn="ctr" indent="0" marL="0">
              <a:lnSpc>
                <a:spcPts val="2000"/>
              </a:lnSpc>
              <a:buNone/>
            </a:pPr>
            <a:r>
              <a:rPr lang="en-US" sz="1300" dirty="0">
                <a:solidFill>
                  <a:srgbClr val="2E1F27"/>
                </a:solidFill>
                <a:latin typeface="Karla" pitchFamily="34" charset="0"/>
                <a:ea typeface="Karla" pitchFamily="34" charset="-122"/>
                <a:cs typeface="Karla" pitchFamily="34" charset="-120"/>
              </a:rPr>
              <a:t>A specific person. Not "women who blog." A woman at a stage with a problem.</a:t>
            </a:r>
            <a:endParaRPr lang="en-US" sz="1300" dirty="0"/>
          </a:p>
        </p:txBody>
      </p:sp>
      <p:sp>
        <p:nvSpPr>
          <p:cNvPr id="8" name="Shape 6"/>
          <p:cNvSpPr/>
          <p:nvPr/>
        </p:nvSpPr>
        <p:spPr>
          <a:xfrm>
            <a:off x="5696712" y="3154680"/>
            <a:ext cx="768096" cy="768096"/>
          </a:xfrm>
          <a:prstGeom prst="ellipse">
            <a:avLst/>
          </a:prstGeom>
          <a:solidFill>
            <a:srgbClr val="A93F63"/>
          </a:solidFill>
          <a:ln/>
        </p:spPr>
      </p:sp>
      <p:sp>
        <p:nvSpPr>
          <p:cNvPr id="9" name="Text 7"/>
          <p:cNvSpPr/>
          <p:nvPr/>
        </p:nvSpPr>
        <p:spPr>
          <a:xfrm>
            <a:off x="5696712" y="3154680"/>
            <a:ext cx="768096" cy="768096"/>
          </a:xfrm>
          <a:prstGeom prst="rect">
            <a:avLst/>
          </a:prstGeom>
          <a:noFill/>
          <a:ln/>
        </p:spPr>
        <p:txBody>
          <a:bodyPr wrap="square" lIns="0" tIns="0" rIns="0" bIns="0" rtlCol="0" anchor="ctr"/>
          <a:lstStyle/>
          <a:p>
            <a:pPr algn="ctr" indent="0" marL="0">
              <a:buNone/>
            </a:pPr>
            <a:r>
              <a:rPr lang="en-US" sz="2400" dirty="0">
                <a:solidFill>
                  <a:srgbClr val="FFFFFF"/>
                </a:solidFill>
                <a:latin typeface="Fraunces" pitchFamily="34" charset="0"/>
                <a:ea typeface="Fraunces" pitchFamily="34" charset="-122"/>
                <a:cs typeface="Fraunces" pitchFamily="34" charset="-120"/>
              </a:rPr>
              <a:t>2</a:t>
            </a:r>
            <a:endParaRPr lang="en-US" sz="2400" dirty="0"/>
          </a:p>
        </p:txBody>
      </p:sp>
      <p:sp>
        <p:nvSpPr>
          <p:cNvPr id="10" name="Text 8"/>
          <p:cNvSpPr/>
          <p:nvPr/>
        </p:nvSpPr>
        <p:spPr>
          <a:xfrm>
            <a:off x="4675632" y="4206240"/>
            <a:ext cx="2810256" cy="1645920"/>
          </a:xfrm>
          <a:prstGeom prst="rect">
            <a:avLst/>
          </a:prstGeom>
          <a:noFill/>
          <a:ln/>
        </p:spPr>
        <p:txBody>
          <a:bodyPr wrap="square" lIns="0" tIns="0" rIns="0" bIns="0" rtlCol="0" anchor="t"/>
          <a:lstStyle/>
          <a:p>
            <a:pPr algn="ctr" indent="0" marL="0">
              <a:lnSpc>
                <a:spcPts val="2000"/>
              </a:lnSpc>
              <a:buNone/>
            </a:pPr>
            <a:r>
              <a:rPr lang="en-US" sz="1300" dirty="0">
                <a:solidFill>
                  <a:srgbClr val="2E1F27"/>
                </a:solidFill>
                <a:latin typeface="Karla" pitchFamily="34" charset="0"/>
                <a:ea typeface="Karla" pitchFamily="34" charset="-122"/>
                <a:cs typeface="Karla" pitchFamily="34" charset="-120"/>
              </a:rPr>
              <a:t>A specific outcome she can picture and measure.</a:t>
            </a:r>
            <a:endParaRPr lang="en-US" sz="1300" dirty="0"/>
          </a:p>
        </p:txBody>
      </p:sp>
      <p:sp>
        <p:nvSpPr>
          <p:cNvPr id="11" name="Shape 9"/>
          <p:cNvSpPr/>
          <p:nvPr/>
        </p:nvSpPr>
        <p:spPr>
          <a:xfrm>
            <a:off x="9110472" y="3154680"/>
            <a:ext cx="768096" cy="768096"/>
          </a:xfrm>
          <a:prstGeom prst="ellipse">
            <a:avLst/>
          </a:prstGeom>
          <a:solidFill>
            <a:srgbClr val="A93F63"/>
          </a:solidFill>
          <a:ln/>
        </p:spPr>
      </p:sp>
      <p:sp>
        <p:nvSpPr>
          <p:cNvPr id="12" name="Text 10"/>
          <p:cNvSpPr/>
          <p:nvPr/>
        </p:nvSpPr>
        <p:spPr>
          <a:xfrm>
            <a:off x="9110472" y="3154680"/>
            <a:ext cx="768096" cy="768096"/>
          </a:xfrm>
          <a:prstGeom prst="rect">
            <a:avLst/>
          </a:prstGeom>
          <a:noFill/>
          <a:ln/>
        </p:spPr>
        <p:txBody>
          <a:bodyPr wrap="square" lIns="0" tIns="0" rIns="0" bIns="0" rtlCol="0" anchor="ctr"/>
          <a:lstStyle/>
          <a:p>
            <a:pPr algn="ctr" indent="0" marL="0">
              <a:buNone/>
            </a:pPr>
            <a:r>
              <a:rPr lang="en-US" sz="2400" dirty="0">
                <a:solidFill>
                  <a:srgbClr val="FFFFFF"/>
                </a:solidFill>
                <a:latin typeface="Fraunces" pitchFamily="34" charset="0"/>
                <a:ea typeface="Fraunces" pitchFamily="34" charset="-122"/>
                <a:cs typeface="Fraunces" pitchFamily="34" charset="-120"/>
              </a:rPr>
              <a:t>3</a:t>
            </a:r>
            <a:endParaRPr lang="en-US" sz="2400" dirty="0"/>
          </a:p>
        </p:txBody>
      </p:sp>
      <p:sp>
        <p:nvSpPr>
          <p:cNvPr id="13" name="Text 11"/>
          <p:cNvSpPr/>
          <p:nvPr/>
        </p:nvSpPr>
        <p:spPr>
          <a:xfrm>
            <a:off x="8089392" y="4206240"/>
            <a:ext cx="2810256" cy="1645920"/>
          </a:xfrm>
          <a:prstGeom prst="rect">
            <a:avLst/>
          </a:prstGeom>
          <a:noFill/>
          <a:ln/>
        </p:spPr>
        <p:txBody>
          <a:bodyPr wrap="square" lIns="0" tIns="0" rIns="0" bIns="0" rtlCol="0" anchor="t"/>
          <a:lstStyle/>
          <a:p>
            <a:pPr algn="ctr" indent="0" marL="0">
              <a:lnSpc>
                <a:spcPts val="2000"/>
              </a:lnSpc>
              <a:buNone/>
            </a:pPr>
            <a:r>
              <a:rPr lang="en-US" sz="1300" dirty="0">
                <a:solidFill>
                  <a:srgbClr val="2E1F27"/>
                </a:solidFill>
                <a:latin typeface="Karla" pitchFamily="34" charset="0"/>
                <a:ea typeface="Karla" pitchFamily="34" charset="-122"/>
                <a:cs typeface="Karla" pitchFamily="34" charset="-120"/>
              </a:rPr>
              <a:t>A specific timeframe. Vagueness about time reads as vagueness about results.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35</a:t>
            </a:r>
            <a:endParaRPr lang="en-US" sz="950" dirty="0"/>
          </a:p>
        </p:txBody>
      </p:sp>
      <p:sp>
        <p:nvSpPr>
          <p:cNvPr id="3" name="Shape 1"/>
          <p:cNvSpPr/>
          <p:nvPr/>
        </p:nvSpPr>
        <p:spPr>
          <a:xfrm>
            <a:off x="0" y="0"/>
            <a:ext cx="12161520" cy="2331720"/>
          </a:xfrm>
          <a:prstGeom prst="rect">
            <a:avLst/>
          </a:prstGeom>
          <a:solidFill>
            <a:srgbClr val="A93F63"/>
          </a:solidFill>
          <a:ln/>
        </p:spPr>
      </p:sp>
      <p:sp>
        <p:nvSpPr>
          <p:cNvPr id="4" name="Text 2"/>
          <p:cNvSpPr/>
          <p:nvPr/>
        </p:nvSpPr>
        <p:spPr>
          <a:xfrm>
            <a:off x="777240" y="713232"/>
            <a:ext cx="10607040" cy="274320"/>
          </a:xfrm>
          <a:prstGeom prst="rect">
            <a:avLst/>
          </a:prstGeom>
          <a:noFill/>
          <a:ln/>
        </p:spPr>
        <p:txBody>
          <a:bodyPr wrap="square" lIns="0" tIns="0" rIns="0" bIns="0" rtlCol="0" anchor="t"/>
          <a:lstStyle/>
          <a:p>
            <a:pPr indent="0" marL="0">
              <a:buNone/>
            </a:pPr>
            <a:r>
              <a:rPr lang="en-US" sz="1100" b="1" spc="350" kern="0" dirty="0">
                <a:solidFill>
                  <a:srgbClr val="F6DCE5"/>
                </a:solidFill>
                <a:latin typeface="Karla" pitchFamily="34" charset="0"/>
                <a:ea typeface="Karla" pitchFamily="34" charset="-122"/>
                <a:cs typeface="Karla" pitchFamily="34" charset="-120"/>
              </a:rPr>
              <a:t>YOUR TURN</a:t>
            </a:r>
            <a:endParaRPr lang="en-US" sz="1100" dirty="0"/>
          </a:p>
        </p:txBody>
      </p:sp>
      <p:sp>
        <p:nvSpPr>
          <p:cNvPr id="5" name="Text 3"/>
          <p:cNvSpPr/>
          <p:nvPr/>
        </p:nvSpPr>
        <p:spPr>
          <a:xfrm>
            <a:off x="777240" y="1115568"/>
            <a:ext cx="7406640" cy="100584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Write the sentence.</a:t>
            </a:r>
            <a:endParaRPr lang="en-US" sz="3300" dirty="0"/>
          </a:p>
        </p:txBody>
      </p:sp>
      <p:sp>
        <p:nvSpPr>
          <p:cNvPr id="6" name="Shape 4"/>
          <p:cNvSpPr/>
          <p:nvPr/>
        </p:nvSpPr>
        <p:spPr>
          <a:xfrm>
            <a:off x="777240" y="2743200"/>
            <a:ext cx="10607040" cy="3291840"/>
          </a:xfrm>
          <a:prstGeom prst="roundRect">
            <a:avLst>
              <a:gd name="adj" fmla="val 388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7" name="Text 5"/>
          <p:cNvSpPr/>
          <p:nvPr/>
        </p:nvSpPr>
        <p:spPr>
          <a:xfrm>
            <a:off x="1234440" y="3063240"/>
            <a:ext cx="9692640" cy="777240"/>
          </a:xfrm>
          <a:prstGeom prst="rect">
            <a:avLst/>
          </a:prstGeom>
          <a:noFill/>
          <a:ln/>
        </p:spPr>
        <p:txBody>
          <a:bodyPr wrap="square" lIns="0" tIns="0" rIns="0" bIns="0" rtlCol="0" anchor="t"/>
          <a:lstStyle/>
          <a:p>
            <a:pPr indent="0" marL="0">
              <a:lnSpc>
                <a:spcPts val="2300"/>
              </a:lnSpc>
              <a:buNone/>
            </a:pPr>
            <a:r>
              <a:rPr lang="en-US" sz="1900" i="1" dirty="0">
                <a:solidFill>
                  <a:srgbClr val="A93F63"/>
                </a:solidFill>
                <a:latin typeface="Fraunces" pitchFamily="34" charset="0"/>
                <a:ea typeface="Fraunces" pitchFamily="34" charset="-122"/>
                <a:cs typeface="Fraunces" pitchFamily="34" charset="-120"/>
              </a:rPr>
              <a:t>I help [who] get [outcome] in [timeframe]. Fill it in badly first, then fix it.</a:t>
            </a:r>
            <a:endParaRPr lang="en-US" sz="1900" dirty="0"/>
          </a:p>
        </p:txBody>
      </p:sp>
      <p:sp>
        <p:nvSpPr>
          <p:cNvPr id="8" name="Shape 6"/>
          <p:cNvSpPr/>
          <p:nvPr/>
        </p:nvSpPr>
        <p:spPr>
          <a:xfrm>
            <a:off x="1234440" y="3977640"/>
            <a:ext cx="9692640" cy="0"/>
          </a:xfrm>
          <a:prstGeom prst="line">
            <a:avLst/>
          </a:prstGeom>
          <a:noFill/>
          <a:ln w="12700">
            <a:solidFill>
              <a:srgbClr val="DCD2C7"/>
            </a:solidFill>
            <a:prstDash val="dash"/>
          </a:ln>
        </p:spPr>
      </p:sp>
      <p:sp>
        <p:nvSpPr>
          <p:cNvPr id="9" name="Shape 7"/>
          <p:cNvSpPr/>
          <p:nvPr/>
        </p:nvSpPr>
        <p:spPr>
          <a:xfrm>
            <a:off x="1234440" y="4480560"/>
            <a:ext cx="9692640" cy="0"/>
          </a:xfrm>
          <a:prstGeom prst="line">
            <a:avLst/>
          </a:prstGeom>
          <a:noFill/>
          <a:ln w="12700">
            <a:solidFill>
              <a:srgbClr val="DCD2C7"/>
            </a:solidFill>
            <a:prstDash val="dash"/>
          </a:ln>
        </p:spPr>
      </p:sp>
      <p:sp>
        <p:nvSpPr>
          <p:cNvPr id="10" name="Shape 8"/>
          <p:cNvSpPr/>
          <p:nvPr/>
        </p:nvSpPr>
        <p:spPr>
          <a:xfrm>
            <a:off x="1234440" y="4983480"/>
            <a:ext cx="9692640" cy="0"/>
          </a:xfrm>
          <a:prstGeom prst="line">
            <a:avLst/>
          </a:prstGeom>
          <a:noFill/>
          <a:ln w="12700">
            <a:solidFill>
              <a:srgbClr val="DCD2C7"/>
            </a:solidFill>
            <a:prstDash val="dash"/>
          </a:ln>
        </p:spPr>
      </p:sp>
      <p:sp>
        <p:nvSpPr>
          <p:cNvPr id="11" name="Shape 9"/>
          <p:cNvSpPr/>
          <p:nvPr/>
        </p:nvSpPr>
        <p:spPr>
          <a:xfrm>
            <a:off x="1234440" y="5486400"/>
            <a:ext cx="9692640" cy="0"/>
          </a:xfrm>
          <a:prstGeom prst="line">
            <a:avLst/>
          </a:prstGeom>
          <a:noFill/>
          <a:ln w="12700">
            <a:solidFill>
              <a:srgbClr val="DCD2C7"/>
            </a:solidFill>
            <a:prstDash val="dash"/>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36</a:t>
            </a:r>
            <a:endParaRPr lang="en-US" sz="950" dirty="0"/>
          </a:p>
        </p:txBody>
      </p:sp>
      <p:sp>
        <p:nvSpPr>
          <p:cNvPr id="3" name="Text 1"/>
          <p:cNvSpPr/>
          <p:nvPr/>
        </p:nvSpPr>
        <p:spPr>
          <a:xfrm>
            <a:off x="-457200" y="1188720"/>
            <a:ext cx="13075920" cy="3657600"/>
          </a:xfrm>
          <a:prstGeom prst="rect">
            <a:avLst/>
          </a:prstGeom>
          <a:noFill/>
          <a:ln/>
        </p:spPr>
        <p:txBody>
          <a:bodyPr wrap="square" lIns="0" tIns="0" rIns="0" bIns="0" rtlCol="0" anchor="ctr"/>
          <a:lstStyle/>
          <a:p>
            <a:pPr algn="ctr" indent="0" marL="0">
              <a:buNone/>
            </a:pPr>
            <a:r>
              <a:rPr lang="en-US" sz="19000" i="1" dirty="0">
                <a:solidFill>
                  <a:srgbClr val="EADFD1"/>
                </a:solidFill>
                <a:latin typeface="Fraunces" pitchFamily="34" charset="0"/>
                <a:ea typeface="Fraunces" pitchFamily="34" charset="-122"/>
                <a:cs typeface="Fraunces" pitchFamily="34" charset="-120"/>
              </a:rPr>
              <a:t>price</a:t>
            </a:r>
            <a:endParaRPr lang="en-US" sz="19000" dirty="0"/>
          </a:p>
        </p:txBody>
      </p:sp>
      <p:sp>
        <p:nvSpPr>
          <p:cNvPr id="4" name="Text 2"/>
          <p:cNvSpPr/>
          <p:nvPr/>
        </p:nvSpPr>
        <p:spPr>
          <a:xfrm>
            <a:off x="777240" y="1371600"/>
            <a:ext cx="594360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NOW PRICE IT</a:t>
            </a:r>
            <a:endParaRPr lang="en-US" sz="1100" dirty="0"/>
          </a:p>
        </p:txBody>
      </p:sp>
      <p:sp>
        <p:nvSpPr>
          <p:cNvPr id="5" name="Text 3"/>
          <p:cNvSpPr/>
          <p:nvPr/>
        </p:nvSpPr>
        <p:spPr>
          <a:xfrm>
            <a:off x="777240" y="1783080"/>
            <a:ext cx="6035040" cy="155448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Price is a decision, not a discovery.</a:t>
            </a:r>
            <a:endParaRPr lang="en-US" sz="3300" dirty="0"/>
          </a:p>
        </p:txBody>
      </p:sp>
      <p:sp>
        <p:nvSpPr>
          <p:cNvPr id="6" name="Text 4"/>
          <p:cNvSpPr/>
          <p:nvPr/>
        </p:nvSpPr>
        <p:spPr>
          <a:xfrm>
            <a:off x="777240" y="3520440"/>
            <a:ext cx="5852160" cy="2468880"/>
          </a:xfrm>
          <a:prstGeom prst="rect">
            <a:avLst/>
          </a:prstGeom>
          <a:noFill/>
          <a:ln/>
        </p:spPr>
        <p:txBody>
          <a:bodyPr wrap="square" lIns="0" tIns="0" rIns="0" bIns="0" rtlCol="0" anchor="ctr"/>
          <a:lstStyle/>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There is no correct number hiding somewhere. There is a number you choose and then defend with the quality of the outcome.</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Price for the result, never for the hours. Nobody buys twelve hours of your time.</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And price where you can do your best work. Too cheap and you resent it, rush it, deliver worse.</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37</a:t>
            </a:r>
            <a:endParaRPr lang="en-US" sz="950" dirty="0"/>
          </a:p>
        </p:txBody>
      </p:sp>
      <p:sp>
        <p:nvSpPr>
          <p:cNvPr id="3" name="Shape 1"/>
          <p:cNvSpPr/>
          <p:nvPr/>
        </p:nvSpPr>
        <p:spPr>
          <a:xfrm>
            <a:off x="0" y="0"/>
            <a:ext cx="12161520" cy="2926080"/>
          </a:xfrm>
          <a:prstGeom prst="rect">
            <a:avLst/>
          </a:prstGeom>
          <a:solidFill>
            <a:srgbClr val="2E1F27"/>
          </a:solidFill>
          <a:ln/>
        </p:spPr>
      </p:sp>
      <p:sp>
        <p:nvSpPr>
          <p:cNvPr id="4" name="Text 2"/>
          <p:cNvSpPr/>
          <p:nvPr/>
        </p:nvSpPr>
        <p:spPr>
          <a:xfrm>
            <a:off x="777240" y="685800"/>
            <a:ext cx="1060704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A SIMPLE LADDER</a:t>
            </a:r>
            <a:endParaRPr lang="en-US" sz="1100" dirty="0"/>
          </a:p>
        </p:txBody>
      </p:sp>
      <p:sp>
        <p:nvSpPr>
          <p:cNvPr id="5" name="Text 3"/>
          <p:cNvSpPr/>
          <p:nvPr/>
        </p:nvSpPr>
        <p:spPr>
          <a:xfrm>
            <a:off x="777240" y="1097280"/>
            <a:ext cx="7863840" cy="1463040"/>
          </a:xfrm>
          <a:prstGeom prst="rect">
            <a:avLst/>
          </a:prstGeom>
          <a:noFill/>
          <a:ln/>
        </p:spPr>
        <p:txBody>
          <a:bodyPr wrap="square" lIns="0" tIns="0" rIns="0" bIns="0" rtlCol="0" anchor="t"/>
          <a:lstStyle/>
          <a:p>
            <a:pPr indent="0" marL="0">
              <a:lnSpc>
                <a:spcPts val="3800"/>
              </a:lnSpc>
              <a:buNone/>
            </a:pPr>
            <a:r>
              <a:rPr lang="en-US" sz="3400" dirty="0">
                <a:solidFill>
                  <a:srgbClr val="FBF6EE"/>
                </a:solidFill>
                <a:latin typeface="Fraunces" pitchFamily="34" charset="0"/>
                <a:ea typeface="Fraunces" pitchFamily="34" charset="-122"/>
                <a:cs typeface="Fraunces" pitchFamily="34" charset="-120"/>
              </a:rPr>
              <a:t>Three tiers cover almost everyone.</a:t>
            </a:r>
            <a:endParaRPr lang="en-US" sz="3400" dirty="0"/>
          </a:p>
        </p:txBody>
      </p:sp>
      <p:sp>
        <p:nvSpPr>
          <p:cNvPr id="6" name="Shape 4"/>
          <p:cNvSpPr/>
          <p:nvPr/>
        </p:nvSpPr>
        <p:spPr>
          <a:xfrm>
            <a:off x="777240" y="2331720"/>
            <a:ext cx="3322320" cy="3566160"/>
          </a:xfrm>
          <a:prstGeom prst="roundRect">
            <a:avLst>
              <a:gd name="adj" fmla="val 3853"/>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7" name="Text 5"/>
          <p:cNvSpPr/>
          <p:nvPr/>
        </p:nvSpPr>
        <p:spPr>
          <a:xfrm>
            <a:off x="1124712" y="2697480"/>
            <a:ext cx="2627376"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The quick one</a:t>
            </a:r>
            <a:endParaRPr lang="en-US" sz="1900" dirty="0"/>
          </a:p>
        </p:txBody>
      </p:sp>
      <p:sp>
        <p:nvSpPr>
          <p:cNvPr id="8" name="Text 6"/>
          <p:cNvSpPr/>
          <p:nvPr/>
        </p:nvSpPr>
        <p:spPr>
          <a:xfrm>
            <a:off x="1124712" y="3611880"/>
            <a:ext cx="2627376" cy="201168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A single session or small deliverable. Low commitment, easy first yes, proves you are worth more.</a:t>
            </a:r>
            <a:endParaRPr lang="en-US" sz="1250" dirty="0"/>
          </a:p>
        </p:txBody>
      </p:sp>
      <p:sp>
        <p:nvSpPr>
          <p:cNvPr id="9" name="Shape 7"/>
          <p:cNvSpPr/>
          <p:nvPr/>
        </p:nvSpPr>
        <p:spPr>
          <a:xfrm>
            <a:off x="4419600" y="2331720"/>
            <a:ext cx="3322320" cy="3566160"/>
          </a:xfrm>
          <a:prstGeom prst="roundRect">
            <a:avLst>
              <a:gd name="adj" fmla="val 3853"/>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0" name="Text 8"/>
          <p:cNvSpPr/>
          <p:nvPr/>
        </p:nvSpPr>
        <p:spPr>
          <a:xfrm>
            <a:off x="4767072" y="2697480"/>
            <a:ext cx="2627376"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The main one</a:t>
            </a:r>
            <a:endParaRPr lang="en-US" sz="1900" dirty="0"/>
          </a:p>
        </p:txBody>
      </p:sp>
      <p:sp>
        <p:nvSpPr>
          <p:cNvPr id="11" name="Text 9"/>
          <p:cNvSpPr/>
          <p:nvPr/>
        </p:nvSpPr>
        <p:spPr>
          <a:xfrm>
            <a:off x="4767072" y="3611880"/>
            <a:ext cx="2627376" cy="201168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Your flagship. The one you actually want to sell and the one the whole site points at.</a:t>
            </a:r>
            <a:endParaRPr lang="en-US" sz="1250" dirty="0"/>
          </a:p>
        </p:txBody>
      </p:sp>
      <p:sp>
        <p:nvSpPr>
          <p:cNvPr id="12" name="Shape 10"/>
          <p:cNvSpPr/>
          <p:nvPr/>
        </p:nvSpPr>
        <p:spPr>
          <a:xfrm>
            <a:off x="8061960" y="2331720"/>
            <a:ext cx="3322320" cy="3566160"/>
          </a:xfrm>
          <a:prstGeom prst="roundRect">
            <a:avLst>
              <a:gd name="adj" fmla="val 3853"/>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3" name="Text 11"/>
          <p:cNvSpPr/>
          <p:nvPr/>
        </p:nvSpPr>
        <p:spPr>
          <a:xfrm>
            <a:off x="8409432" y="2697480"/>
            <a:ext cx="2627376"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The deep one</a:t>
            </a:r>
            <a:endParaRPr lang="en-US" sz="1900" dirty="0"/>
          </a:p>
        </p:txBody>
      </p:sp>
      <p:sp>
        <p:nvSpPr>
          <p:cNvPr id="14" name="Text 12"/>
          <p:cNvSpPr/>
          <p:nvPr/>
        </p:nvSpPr>
        <p:spPr>
          <a:xfrm>
            <a:off x="8409432" y="3611880"/>
            <a:ext cx="2627376" cy="201168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More access, more done for them, more money. Some people always choose the biggest option.</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38</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WHEN IT NEEDS TO GO UP</a:t>
            </a:r>
            <a:endParaRPr lang="en-US" sz="1100" dirty="0"/>
          </a:p>
        </p:txBody>
      </p:sp>
      <p:sp>
        <p:nvSpPr>
          <p:cNvPr id="4" name="Text 2"/>
          <p:cNvSpPr/>
          <p:nvPr/>
        </p:nvSpPr>
        <p:spPr>
          <a:xfrm>
            <a:off x="777240" y="1051560"/>
            <a:ext cx="78638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Two clean ways to raise your price.</a:t>
            </a:r>
            <a:endParaRPr lang="en-US" sz="3300" dirty="0"/>
          </a:p>
        </p:txBody>
      </p:sp>
      <p:sp>
        <p:nvSpPr>
          <p:cNvPr id="5" name="Shape 3"/>
          <p:cNvSpPr/>
          <p:nvPr/>
        </p:nvSpPr>
        <p:spPr>
          <a:xfrm>
            <a:off x="777240" y="2240280"/>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6" name="Shape 4"/>
          <p:cNvSpPr/>
          <p:nvPr/>
        </p:nvSpPr>
        <p:spPr>
          <a:xfrm>
            <a:off x="1088136" y="2569464"/>
            <a:ext cx="457200" cy="457200"/>
          </a:xfrm>
          <a:prstGeom prst="ellipse">
            <a:avLst/>
          </a:prstGeom>
          <a:solidFill>
            <a:srgbClr val="A93F63"/>
          </a:solidFill>
          <a:ln/>
        </p:spPr>
      </p:sp>
      <p:sp>
        <p:nvSpPr>
          <p:cNvPr id="7" name="Text 5"/>
          <p:cNvSpPr/>
          <p:nvPr/>
        </p:nvSpPr>
        <p:spPr>
          <a:xfrm>
            <a:off x="1088136" y="256946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1</a:t>
            </a:r>
            <a:endParaRPr lang="en-US" sz="1200" dirty="0"/>
          </a:p>
        </p:txBody>
      </p:sp>
      <p:sp>
        <p:nvSpPr>
          <p:cNvPr id="8" name="Text 6"/>
          <p:cNvSpPr/>
          <p:nvPr/>
        </p:nvSpPr>
        <p:spPr>
          <a:xfrm>
            <a:off x="1691640" y="2569464"/>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Raise it on the next one</a:t>
            </a:r>
            <a:endParaRPr lang="en-US" sz="1750" dirty="0"/>
          </a:p>
        </p:txBody>
      </p:sp>
      <p:sp>
        <p:nvSpPr>
          <p:cNvPr id="9" name="Text 7"/>
          <p:cNvSpPr/>
          <p:nvPr/>
        </p:nvSpPr>
        <p:spPr>
          <a:xfrm>
            <a:off x="1691640" y="3044952"/>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Keep current clients at their price, quote the new number to the next person.</a:t>
            </a:r>
            <a:endParaRPr lang="en-US" sz="1200" dirty="0"/>
          </a:p>
        </p:txBody>
      </p:sp>
      <p:sp>
        <p:nvSpPr>
          <p:cNvPr id="10" name="Shape 8"/>
          <p:cNvSpPr/>
          <p:nvPr/>
        </p:nvSpPr>
        <p:spPr>
          <a:xfrm>
            <a:off x="6245352" y="2240280"/>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1" name="Shape 9"/>
          <p:cNvSpPr/>
          <p:nvPr/>
        </p:nvSpPr>
        <p:spPr>
          <a:xfrm>
            <a:off x="6556248" y="2569464"/>
            <a:ext cx="457200" cy="457200"/>
          </a:xfrm>
          <a:prstGeom prst="ellipse">
            <a:avLst/>
          </a:prstGeom>
          <a:solidFill>
            <a:srgbClr val="A93F63"/>
          </a:solidFill>
          <a:ln/>
        </p:spPr>
      </p:sp>
      <p:sp>
        <p:nvSpPr>
          <p:cNvPr id="12" name="Text 10"/>
          <p:cNvSpPr/>
          <p:nvPr/>
        </p:nvSpPr>
        <p:spPr>
          <a:xfrm>
            <a:off x="6556248" y="256946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2</a:t>
            </a:r>
            <a:endParaRPr lang="en-US" sz="1200" dirty="0"/>
          </a:p>
        </p:txBody>
      </p:sp>
      <p:sp>
        <p:nvSpPr>
          <p:cNvPr id="13" name="Text 11"/>
          <p:cNvSpPr/>
          <p:nvPr/>
        </p:nvSpPr>
        <p:spPr>
          <a:xfrm>
            <a:off x="7159752" y="2569464"/>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Add before you add a number</a:t>
            </a:r>
            <a:endParaRPr lang="en-US" sz="1750" dirty="0"/>
          </a:p>
        </p:txBody>
      </p:sp>
      <p:sp>
        <p:nvSpPr>
          <p:cNvPr id="14" name="Text 12"/>
          <p:cNvSpPr/>
          <p:nvPr/>
        </p:nvSpPr>
        <p:spPr>
          <a:xfrm>
            <a:off x="7159752" y="3044952"/>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Put something valuable in first, then price the new version.</a:t>
            </a:r>
            <a:endParaRPr lang="en-US" sz="1200" dirty="0"/>
          </a:p>
        </p:txBody>
      </p:sp>
      <p:sp>
        <p:nvSpPr>
          <p:cNvPr id="15" name="Shape 13"/>
          <p:cNvSpPr/>
          <p:nvPr/>
        </p:nvSpPr>
        <p:spPr>
          <a:xfrm>
            <a:off x="777240" y="4352544"/>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6" name="Shape 14"/>
          <p:cNvSpPr/>
          <p:nvPr/>
        </p:nvSpPr>
        <p:spPr>
          <a:xfrm>
            <a:off x="1088136" y="4681728"/>
            <a:ext cx="457200" cy="457200"/>
          </a:xfrm>
          <a:prstGeom prst="ellipse">
            <a:avLst/>
          </a:prstGeom>
          <a:solidFill>
            <a:srgbClr val="A93F63"/>
          </a:solidFill>
          <a:ln/>
        </p:spPr>
      </p:sp>
      <p:sp>
        <p:nvSpPr>
          <p:cNvPr id="17" name="Text 15"/>
          <p:cNvSpPr/>
          <p:nvPr/>
        </p:nvSpPr>
        <p:spPr>
          <a:xfrm>
            <a:off x="1088136" y="46817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3</a:t>
            </a:r>
            <a:endParaRPr lang="en-US" sz="1200" dirty="0"/>
          </a:p>
        </p:txBody>
      </p:sp>
      <p:sp>
        <p:nvSpPr>
          <p:cNvPr id="18" name="Text 16"/>
          <p:cNvSpPr/>
          <p:nvPr/>
        </p:nvSpPr>
        <p:spPr>
          <a:xfrm>
            <a:off x="1691640" y="4681728"/>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Never discount first</a:t>
            </a:r>
            <a:endParaRPr lang="en-US" sz="1750" dirty="0"/>
          </a:p>
        </p:txBody>
      </p:sp>
      <p:sp>
        <p:nvSpPr>
          <p:cNvPr id="19" name="Text 17"/>
          <p:cNvSpPr/>
          <p:nvPr/>
        </p:nvSpPr>
        <p:spPr>
          <a:xfrm>
            <a:off x="1691640" y="5157216"/>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Not until someone has actually objected to the price.</a:t>
            </a:r>
            <a:endParaRPr lang="en-US" sz="1200" dirty="0"/>
          </a:p>
        </p:txBody>
      </p:sp>
      <p:sp>
        <p:nvSpPr>
          <p:cNvPr id="20" name="Shape 18"/>
          <p:cNvSpPr/>
          <p:nvPr/>
        </p:nvSpPr>
        <p:spPr>
          <a:xfrm>
            <a:off x="6245352" y="4352544"/>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21" name="Shape 19"/>
          <p:cNvSpPr/>
          <p:nvPr/>
        </p:nvSpPr>
        <p:spPr>
          <a:xfrm>
            <a:off x="6556248" y="4681728"/>
            <a:ext cx="457200" cy="457200"/>
          </a:xfrm>
          <a:prstGeom prst="ellipse">
            <a:avLst/>
          </a:prstGeom>
          <a:solidFill>
            <a:srgbClr val="A93F63"/>
          </a:solidFill>
          <a:ln/>
        </p:spPr>
      </p:sp>
      <p:sp>
        <p:nvSpPr>
          <p:cNvPr id="22" name="Text 20"/>
          <p:cNvSpPr/>
          <p:nvPr/>
        </p:nvSpPr>
        <p:spPr>
          <a:xfrm>
            <a:off x="6556248" y="46817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4</a:t>
            </a:r>
            <a:endParaRPr lang="en-US" sz="1200" dirty="0"/>
          </a:p>
        </p:txBody>
      </p:sp>
      <p:sp>
        <p:nvSpPr>
          <p:cNvPr id="23" name="Text 21"/>
          <p:cNvSpPr/>
          <p:nvPr/>
        </p:nvSpPr>
        <p:spPr>
          <a:xfrm>
            <a:off x="7159752" y="4681728"/>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Never hide it</a:t>
            </a:r>
            <a:endParaRPr lang="en-US" sz="1750" dirty="0"/>
          </a:p>
        </p:txBody>
      </p:sp>
      <p:sp>
        <p:nvSpPr>
          <p:cNvPr id="24" name="Text 22"/>
          <p:cNvSpPr/>
          <p:nvPr/>
        </p:nvSpPr>
        <p:spPr>
          <a:xfrm>
            <a:off x="7159752" y="5157216"/>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A price people have to ask for is a price most people skip.</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39</a:t>
            </a:r>
            <a:endParaRPr lang="en-US" sz="950" dirty="0"/>
          </a:p>
        </p:txBody>
      </p:sp>
      <p:sp>
        <p:nvSpPr>
          <p:cNvPr id="3" name="Shape 1"/>
          <p:cNvSpPr/>
          <p:nvPr/>
        </p:nvSpPr>
        <p:spPr>
          <a:xfrm>
            <a:off x="-1737360" y="3749040"/>
            <a:ext cx="4572000" cy="4572000"/>
          </a:xfrm>
          <a:prstGeom prst="ellipse">
            <a:avLst/>
          </a:prstGeom>
          <a:solidFill>
            <a:srgbClr val="F0DCE2">
              <a:alpha val="65000"/>
            </a:srgbClr>
          </a:solidFill>
          <a:ln/>
        </p:spPr>
      </p:sp>
      <p:sp>
        <p:nvSpPr>
          <p:cNvPr id="4" name="Shape 2"/>
          <p:cNvSpPr/>
          <p:nvPr/>
        </p:nvSpPr>
        <p:spPr>
          <a:xfrm>
            <a:off x="10789920" y="-1371600"/>
            <a:ext cx="3291840" cy="3291840"/>
          </a:xfrm>
          <a:prstGeom prst="ellipse">
            <a:avLst/>
          </a:prstGeom>
          <a:solidFill>
            <a:srgbClr val="F4EBDE">
              <a:alpha val="80000"/>
            </a:srgbClr>
          </a:solidFill>
          <a:ln/>
        </p:spPr>
      </p:sp>
      <p:sp>
        <p:nvSpPr>
          <p:cNvPr id="5" name="Text 3"/>
          <p:cNvSpPr/>
          <p:nvPr/>
        </p:nvSpPr>
        <p:spPr>
          <a:xfrm>
            <a:off x="1234440" y="2057400"/>
            <a:ext cx="42062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PRICING MISTAKES</a:t>
            </a:r>
            <a:endParaRPr lang="en-US" sz="1100" dirty="0"/>
          </a:p>
        </p:txBody>
      </p:sp>
      <p:sp>
        <p:nvSpPr>
          <p:cNvPr id="6" name="Text 4"/>
          <p:cNvSpPr/>
          <p:nvPr/>
        </p:nvSpPr>
        <p:spPr>
          <a:xfrm>
            <a:off x="1234440" y="2468880"/>
            <a:ext cx="4389120" cy="2011680"/>
          </a:xfrm>
          <a:prstGeom prst="rect">
            <a:avLst/>
          </a:prstGeom>
          <a:noFill/>
          <a:ln/>
        </p:spPr>
        <p:txBody>
          <a:bodyPr wrap="square" lIns="0" tIns="0" rIns="0" bIns="0" rtlCol="0" anchor="t"/>
          <a:lstStyle/>
          <a:p>
            <a:pPr indent="0" marL="0">
              <a:lnSpc>
                <a:spcPts val="3600"/>
              </a:lnSpc>
              <a:buNone/>
            </a:pPr>
            <a:r>
              <a:rPr lang="en-US" sz="3200" dirty="0">
                <a:solidFill>
                  <a:srgbClr val="2E1F27"/>
                </a:solidFill>
                <a:latin typeface="Fraunces" pitchFamily="34" charset="0"/>
                <a:ea typeface="Fraunces" pitchFamily="34" charset="-122"/>
                <a:cs typeface="Fraunces" pitchFamily="34" charset="-120"/>
              </a:rPr>
              <a:t>Every one of these I made personally.</a:t>
            </a:r>
            <a:endParaRPr lang="en-US" sz="3200" dirty="0"/>
          </a:p>
        </p:txBody>
      </p:sp>
      <p:sp>
        <p:nvSpPr>
          <p:cNvPr id="7" name="Shape 5"/>
          <p:cNvSpPr/>
          <p:nvPr/>
        </p:nvSpPr>
        <p:spPr>
          <a:xfrm>
            <a:off x="6309360" y="1517904"/>
            <a:ext cx="347472" cy="347472"/>
          </a:xfrm>
          <a:prstGeom prst="roundRect">
            <a:avLst>
              <a:gd name="adj" fmla="val 18421"/>
            </a:avLst>
          </a:prstGeom>
          <a:solidFill>
            <a:srgbClr val="FFFFFF"/>
          </a:solidFill>
          <a:ln w="15875">
            <a:solidFill>
              <a:srgbClr val="A93F63"/>
            </a:solidFill>
            <a:prstDash val="solid"/>
          </a:ln>
        </p:spPr>
      </p:sp>
      <p:sp>
        <p:nvSpPr>
          <p:cNvPr id="8" name="Text 6"/>
          <p:cNvSpPr/>
          <p:nvPr/>
        </p:nvSpPr>
        <p:spPr>
          <a:xfrm>
            <a:off x="6903720" y="1453896"/>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Pricing off what others charge, without knowing their results</a:t>
            </a:r>
            <a:endParaRPr lang="en-US" sz="1350" dirty="0"/>
          </a:p>
        </p:txBody>
      </p:sp>
      <p:sp>
        <p:nvSpPr>
          <p:cNvPr id="9" name="Shape 7"/>
          <p:cNvSpPr/>
          <p:nvPr/>
        </p:nvSpPr>
        <p:spPr>
          <a:xfrm>
            <a:off x="6309360" y="2359152"/>
            <a:ext cx="347472" cy="347472"/>
          </a:xfrm>
          <a:prstGeom prst="roundRect">
            <a:avLst>
              <a:gd name="adj" fmla="val 18421"/>
            </a:avLst>
          </a:prstGeom>
          <a:solidFill>
            <a:srgbClr val="FFFFFF"/>
          </a:solidFill>
          <a:ln w="15875">
            <a:solidFill>
              <a:srgbClr val="A93F63"/>
            </a:solidFill>
            <a:prstDash val="solid"/>
          </a:ln>
        </p:spPr>
      </p:sp>
      <p:sp>
        <p:nvSpPr>
          <p:cNvPr id="10" name="Text 8"/>
          <p:cNvSpPr/>
          <p:nvPr/>
        </p:nvSpPr>
        <p:spPr>
          <a:xfrm>
            <a:off x="6903720" y="2295144"/>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Discounting before anyone objected</a:t>
            </a:r>
            <a:endParaRPr lang="en-US" sz="1350" dirty="0"/>
          </a:p>
        </p:txBody>
      </p:sp>
      <p:sp>
        <p:nvSpPr>
          <p:cNvPr id="11" name="Shape 9"/>
          <p:cNvSpPr/>
          <p:nvPr/>
        </p:nvSpPr>
        <p:spPr>
          <a:xfrm>
            <a:off x="6309360" y="3200400"/>
            <a:ext cx="347472" cy="347472"/>
          </a:xfrm>
          <a:prstGeom prst="roundRect">
            <a:avLst>
              <a:gd name="adj" fmla="val 18421"/>
            </a:avLst>
          </a:prstGeom>
          <a:solidFill>
            <a:srgbClr val="FFFFFF"/>
          </a:solidFill>
          <a:ln w="15875">
            <a:solidFill>
              <a:srgbClr val="A93F63"/>
            </a:solidFill>
            <a:prstDash val="solid"/>
          </a:ln>
        </p:spPr>
      </p:sp>
      <p:sp>
        <p:nvSpPr>
          <p:cNvPr id="12" name="Text 10"/>
          <p:cNvSpPr/>
          <p:nvPr/>
        </p:nvSpPr>
        <p:spPr>
          <a:xfrm>
            <a:off x="6903720" y="3136392"/>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Hiding the price so people have to ask</a:t>
            </a:r>
            <a:endParaRPr lang="en-US" sz="1350" dirty="0"/>
          </a:p>
        </p:txBody>
      </p:sp>
      <p:sp>
        <p:nvSpPr>
          <p:cNvPr id="13" name="Shape 11"/>
          <p:cNvSpPr/>
          <p:nvPr/>
        </p:nvSpPr>
        <p:spPr>
          <a:xfrm>
            <a:off x="6309360" y="4041648"/>
            <a:ext cx="347472" cy="347472"/>
          </a:xfrm>
          <a:prstGeom prst="roundRect">
            <a:avLst>
              <a:gd name="adj" fmla="val 18421"/>
            </a:avLst>
          </a:prstGeom>
          <a:solidFill>
            <a:srgbClr val="FFFFFF"/>
          </a:solidFill>
          <a:ln w="15875">
            <a:solidFill>
              <a:srgbClr val="A93F63"/>
            </a:solidFill>
            <a:prstDash val="solid"/>
          </a:ln>
        </p:spPr>
      </p:sp>
      <p:sp>
        <p:nvSpPr>
          <p:cNvPr id="14" name="Text 12"/>
          <p:cNvSpPr/>
          <p:nvPr/>
        </p:nvSpPr>
        <p:spPr>
          <a:xfrm>
            <a:off x="6903720" y="3977640"/>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Charging by the hour for something whose value has nothing to do with hours</a:t>
            </a:r>
            <a:endParaRPr lang="en-US" sz="1350" dirty="0"/>
          </a:p>
        </p:txBody>
      </p:sp>
      <p:sp>
        <p:nvSpPr>
          <p:cNvPr id="15" name="Shape 13"/>
          <p:cNvSpPr/>
          <p:nvPr/>
        </p:nvSpPr>
        <p:spPr>
          <a:xfrm>
            <a:off x="6309360" y="4882896"/>
            <a:ext cx="347472" cy="347472"/>
          </a:xfrm>
          <a:prstGeom prst="roundRect">
            <a:avLst>
              <a:gd name="adj" fmla="val 18421"/>
            </a:avLst>
          </a:prstGeom>
          <a:solidFill>
            <a:srgbClr val="FFFFFF"/>
          </a:solidFill>
          <a:ln w="15875">
            <a:solidFill>
              <a:srgbClr val="A93F63"/>
            </a:solidFill>
            <a:prstDash val="solid"/>
          </a:ln>
        </p:spPr>
      </p:sp>
      <p:sp>
        <p:nvSpPr>
          <p:cNvPr id="16" name="Text 14"/>
          <p:cNvSpPr/>
          <p:nvPr/>
        </p:nvSpPr>
        <p:spPr>
          <a:xfrm>
            <a:off x="6903720" y="4818888"/>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Raising it only after I was already burnt out</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40</a:t>
            </a:r>
            <a:endParaRPr lang="en-US" sz="950" dirty="0"/>
          </a:p>
        </p:txBody>
      </p:sp>
      <p:sp>
        <p:nvSpPr>
          <p:cNvPr id="3" name="Text 1"/>
          <p:cNvSpPr/>
          <p:nvPr/>
        </p:nvSpPr>
        <p:spPr>
          <a:xfrm>
            <a:off x="1828800" y="1234440"/>
            <a:ext cx="8503920" cy="274320"/>
          </a:xfrm>
          <a:prstGeom prst="rect">
            <a:avLst/>
          </a:prstGeom>
          <a:noFill/>
          <a:ln/>
        </p:spPr>
        <p:txBody>
          <a:bodyPr wrap="square" lIns="0" tIns="0" rIns="0" bIns="0" rtlCol="0" anchor="t"/>
          <a:lstStyle/>
          <a:p>
            <a:pPr algn="ctr" indent="0" marL="0">
              <a:buNone/>
            </a:pPr>
            <a:r>
              <a:rPr lang="en-US" sz="1100" b="1" spc="400" kern="0" dirty="0">
                <a:solidFill>
                  <a:srgbClr val="A93F63"/>
                </a:solidFill>
                <a:latin typeface="Karla" pitchFamily="34" charset="0"/>
                <a:ea typeface="Karla" pitchFamily="34" charset="-122"/>
                <a:cs typeface="Karla" pitchFamily="34" charset="-120"/>
              </a:rPr>
              <a:t>THE SHAPE OF IT</a:t>
            </a:r>
            <a:endParaRPr lang="en-US" sz="1100" dirty="0"/>
          </a:p>
        </p:txBody>
      </p:sp>
      <p:sp>
        <p:nvSpPr>
          <p:cNvPr id="4" name="Text 2"/>
          <p:cNvSpPr/>
          <p:nvPr/>
        </p:nvSpPr>
        <p:spPr>
          <a:xfrm>
            <a:off x="1828800" y="1645920"/>
            <a:ext cx="8503920" cy="914400"/>
          </a:xfrm>
          <a:prstGeom prst="rect">
            <a:avLst/>
          </a:prstGeom>
          <a:noFill/>
          <a:ln/>
        </p:spPr>
        <p:txBody>
          <a:bodyPr wrap="square" lIns="0" tIns="0" rIns="0" bIns="0" rtlCol="0" anchor="t"/>
          <a:lstStyle/>
          <a:p>
            <a:pPr algn="ctr" indent="0" marL="0">
              <a:lnSpc>
                <a:spcPts val="3600"/>
              </a:lnSpc>
              <a:buNone/>
            </a:pPr>
            <a:r>
              <a:rPr lang="en-US" sz="3200" dirty="0">
                <a:solidFill>
                  <a:srgbClr val="2E1F27"/>
                </a:solidFill>
                <a:latin typeface="Fraunces" pitchFamily="34" charset="0"/>
                <a:ea typeface="Fraunces" pitchFamily="34" charset="-122"/>
                <a:cs typeface="Fraunces" pitchFamily="34" charset="-120"/>
              </a:rPr>
              <a:t>A real business is smaller than you think.</a:t>
            </a:r>
            <a:endParaRPr lang="en-US" sz="3200" dirty="0"/>
          </a:p>
        </p:txBody>
      </p:sp>
      <p:sp>
        <p:nvSpPr>
          <p:cNvPr id="5" name="Text 3"/>
          <p:cNvSpPr/>
          <p:nvPr/>
        </p:nvSpPr>
        <p:spPr>
          <a:xfrm>
            <a:off x="1371600" y="3063240"/>
            <a:ext cx="2834640" cy="1280160"/>
          </a:xfrm>
          <a:prstGeom prst="rect">
            <a:avLst/>
          </a:prstGeom>
          <a:noFill/>
          <a:ln/>
        </p:spPr>
        <p:txBody>
          <a:bodyPr wrap="square" lIns="0" tIns="0" rIns="0" bIns="0" rtlCol="0" anchor="t"/>
          <a:lstStyle/>
          <a:p>
            <a:pPr algn="ctr" indent="0" marL="0">
              <a:buNone/>
            </a:pPr>
            <a:r>
              <a:rPr lang="en-US" sz="6200" i="1" dirty="0">
                <a:solidFill>
                  <a:srgbClr val="A93F63"/>
                </a:solidFill>
                <a:latin typeface="Fraunces" pitchFamily="34" charset="0"/>
                <a:ea typeface="Fraunces" pitchFamily="34" charset="-122"/>
                <a:cs typeface="Fraunces" pitchFamily="34" charset="-120"/>
              </a:rPr>
              <a:t>3</a:t>
            </a:r>
            <a:endParaRPr lang="en-US" sz="6200" dirty="0"/>
          </a:p>
        </p:txBody>
      </p:sp>
      <p:sp>
        <p:nvSpPr>
          <p:cNvPr id="6" name="Text 4"/>
          <p:cNvSpPr/>
          <p:nvPr/>
        </p:nvSpPr>
        <p:spPr>
          <a:xfrm>
            <a:off x="1463040" y="4389120"/>
            <a:ext cx="2651760" cy="822960"/>
          </a:xfrm>
          <a:prstGeom prst="rect">
            <a:avLst/>
          </a:prstGeom>
          <a:noFill/>
          <a:ln/>
        </p:spPr>
        <p:txBody>
          <a:bodyPr wrap="square" lIns="0" tIns="0" rIns="0" bIns="0" rtlCol="0" anchor="t"/>
          <a:lstStyle/>
          <a:p>
            <a:pPr algn="ctr" indent="0" marL="0">
              <a:lnSpc>
                <a:spcPts val="1600"/>
              </a:lnSpc>
              <a:buNone/>
            </a:pPr>
            <a:r>
              <a:rPr lang="en-US" sz="1100" b="1" spc="250" kern="0" dirty="0">
                <a:solidFill>
                  <a:srgbClr val="7C2B48"/>
                </a:solidFill>
                <a:latin typeface="Karla" pitchFamily="34" charset="0"/>
                <a:ea typeface="Karla" pitchFamily="34" charset="-122"/>
                <a:cs typeface="Karla" pitchFamily="34" charset="-120"/>
              </a:rPr>
              <a:t>CLIENTS AT A TIME</a:t>
            </a:r>
            <a:endParaRPr lang="en-US" sz="1100" dirty="0"/>
          </a:p>
        </p:txBody>
      </p:sp>
      <p:sp>
        <p:nvSpPr>
          <p:cNvPr id="7" name="Text 5"/>
          <p:cNvSpPr/>
          <p:nvPr/>
        </p:nvSpPr>
        <p:spPr>
          <a:xfrm>
            <a:off x="4663440" y="3063240"/>
            <a:ext cx="2834640" cy="1280160"/>
          </a:xfrm>
          <a:prstGeom prst="rect">
            <a:avLst/>
          </a:prstGeom>
          <a:noFill/>
          <a:ln/>
        </p:spPr>
        <p:txBody>
          <a:bodyPr wrap="square" lIns="0" tIns="0" rIns="0" bIns="0" rtlCol="0" anchor="t"/>
          <a:lstStyle/>
          <a:p>
            <a:pPr algn="ctr" indent="0" marL="0">
              <a:buNone/>
            </a:pPr>
            <a:r>
              <a:rPr lang="en-US" sz="6200" i="1" dirty="0">
                <a:solidFill>
                  <a:srgbClr val="A93F63"/>
                </a:solidFill>
                <a:latin typeface="Fraunces" pitchFamily="34" charset="0"/>
                <a:ea typeface="Fraunces" pitchFamily="34" charset="-122"/>
                <a:cs typeface="Fraunces" pitchFamily="34" charset="-120"/>
              </a:rPr>
              <a:t>1</a:t>
            </a:r>
            <a:endParaRPr lang="en-US" sz="6200" dirty="0"/>
          </a:p>
        </p:txBody>
      </p:sp>
      <p:sp>
        <p:nvSpPr>
          <p:cNvPr id="8" name="Text 6"/>
          <p:cNvSpPr/>
          <p:nvPr/>
        </p:nvSpPr>
        <p:spPr>
          <a:xfrm>
            <a:off x="4754880" y="4389120"/>
            <a:ext cx="2651760" cy="822960"/>
          </a:xfrm>
          <a:prstGeom prst="rect">
            <a:avLst/>
          </a:prstGeom>
          <a:noFill/>
          <a:ln/>
        </p:spPr>
        <p:txBody>
          <a:bodyPr wrap="square" lIns="0" tIns="0" rIns="0" bIns="0" rtlCol="0" anchor="t"/>
          <a:lstStyle/>
          <a:p>
            <a:pPr algn="ctr" indent="0" marL="0">
              <a:lnSpc>
                <a:spcPts val="1600"/>
              </a:lnSpc>
              <a:buNone/>
            </a:pPr>
            <a:r>
              <a:rPr lang="en-US" sz="1100" b="1" spc="250" kern="0" dirty="0">
                <a:solidFill>
                  <a:srgbClr val="7C2B48"/>
                </a:solidFill>
                <a:latin typeface="Karla" pitchFamily="34" charset="0"/>
                <a:ea typeface="Karla" pitchFamily="34" charset="-122"/>
                <a:cs typeface="Karla" pitchFamily="34" charset="-120"/>
              </a:rPr>
              <a:t>OFFER THAT WORKS</a:t>
            </a:r>
            <a:endParaRPr lang="en-US" sz="1100" dirty="0"/>
          </a:p>
        </p:txBody>
      </p:sp>
      <p:sp>
        <p:nvSpPr>
          <p:cNvPr id="9" name="Text 7"/>
          <p:cNvSpPr/>
          <p:nvPr/>
        </p:nvSpPr>
        <p:spPr>
          <a:xfrm>
            <a:off x="7955280" y="3063240"/>
            <a:ext cx="2834640" cy="1280160"/>
          </a:xfrm>
          <a:prstGeom prst="rect">
            <a:avLst/>
          </a:prstGeom>
          <a:noFill/>
          <a:ln/>
        </p:spPr>
        <p:txBody>
          <a:bodyPr wrap="square" lIns="0" tIns="0" rIns="0" bIns="0" rtlCol="0" anchor="t"/>
          <a:lstStyle/>
          <a:p>
            <a:pPr algn="ctr" indent="0" marL="0">
              <a:buNone/>
            </a:pPr>
            <a:r>
              <a:rPr lang="en-US" sz="6200" i="1" dirty="0">
                <a:solidFill>
                  <a:srgbClr val="A93F63"/>
                </a:solidFill>
                <a:latin typeface="Fraunces" pitchFamily="34" charset="0"/>
                <a:ea typeface="Fraunces" pitchFamily="34" charset="-122"/>
                <a:cs typeface="Fraunces" pitchFamily="34" charset="-120"/>
              </a:rPr>
              <a:t>21</a:t>
            </a:r>
            <a:endParaRPr lang="en-US" sz="6200" dirty="0"/>
          </a:p>
        </p:txBody>
      </p:sp>
      <p:sp>
        <p:nvSpPr>
          <p:cNvPr id="10" name="Text 8"/>
          <p:cNvSpPr/>
          <p:nvPr/>
        </p:nvSpPr>
        <p:spPr>
          <a:xfrm>
            <a:off x="8046720" y="4389120"/>
            <a:ext cx="2651760" cy="822960"/>
          </a:xfrm>
          <a:prstGeom prst="rect">
            <a:avLst/>
          </a:prstGeom>
          <a:noFill/>
          <a:ln/>
        </p:spPr>
        <p:txBody>
          <a:bodyPr wrap="square" lIns="0" tIns="0" rIns="0" bIns="0" rtlCol="0" anchor="t"/>
          <a:lstStyle/>
          <a:p>
            <a:pPr algn="ctr" indent="0" marL="0">
              <a:lnSpc>
                <a:spcPts val="1600"/>
              </a:lnSpc>
              <a:buNone/>
            </a:pPr>
            <a:r>
              <a:rPr lang="en-US" sz="1100" b="1" spc="250" kern="0" dirty="0">
                <a:solidFill>
                  <a:srgbClr val="7C2B48"/>
                </a:solidFill>
                <a:latin typeface="Karla" pitchFamily="34" charset="0"/>
                <a:ea typeface="Karla" pitchFamily="34" charset="-122"/>
                <a:cs typeface="Karla" pitchFamily="34" charset="-120"/>
              </a:rPr>
              <a:t>DAYS TO LAUNCH IT</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41</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OFFER VALIDATION</a:t>
            </a:r>
            <a:endParaRPr lang="en-US" sz="1100" dirty="0"/>
          </a:p>
        </p:txBody>
      </p:sp>
      <p:sp>
        <p:nvSpPr>
          <p:cNvPr id="4" name="Text 2"/>
          <p:cNvSpPr/>
          <p:nvPr/>
        </p:nvSpPr>
        <p:spPr>
          <a:xfrm>
            <a:off x="777240" y="1051560"/>
            <a:ext cx="7863840" cy="91440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Before you build anything around it.</a:t>
            </a:r>
            <a:endParaRPr lang="en-US" sz="3300" dirty="0"/>
          </a:p>
        </p:txBody>
      </p:sp>
      <p:sp>
        <p:nvSpPr>
          <p:cNvPr id="5" name="Shape 3"/>
          <p:cNvSpPr/>
          <p:nvPr/>
        </p:nvSpPr>
        <p:spPr>
          <a:xfrm>
            <a:off x="777240" y="2514600"/>
            <a:ext cx="347472" cy="347472"/>
          </a:xfrm>
          <a:prstGeom prst="roundRect">
            <a:avLst>
              <a:gd name="adj" fmla="val 21053"/>
            </a:avLst>
          </a:prstGeom>
          <a:solidFill>
            <a:srgbClr val="2E1F27"/>
          </a:solidFill>
          <a:ln w="15875">
            <a:solidFill>
              <a:srgbClr val="A93F63"/>
            </a:solidFill>
            <a:prstDash val="solid"/>
          </a:ln>
        </p:spPr>
      </p:sp>
      <p:sp>
        <p:nvSpPr>
          <p:cNvPr id="6" name="Text 4"/>
          <p:cNvSpPr/>
          <p:nvPr/>
        </p:nvSpPr>
        <p:spPr>
          <a:xfrm>
            <a:off x="13441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can say it in one sentence without hedging</a:t>
            </a:r>
            <a:endParaRPr lang="en-US" sz="1300" dirty="0"/>
          </a:p>
        </p:txBody>
      </p:sp>
      <p:sp>
        <p:nvSpPr>
          <p:cNvPr id="7" name="Shape 5"/>
          <p:cNvSpPr/>
          <p:nvPr/>
        </p:nvSpPr>
        <p:spPr>
          <a:xfrm>
            <a:off x="777240" y="3538728"/>
            <a:ext cx="347472" cy="347472"/>
          </a:xfrm>
          <a:prstGeom prst="roundRect">
            <a:avLst>
              <a:gd name="adj" fmla="val 21053"/>
            </a:avLst>
          </a:prstGeom>
          <a:solidFill>
            <a:srgbClr val="2E1F27"/>
          </a:solidFill>
          <a:ln w="15875">
            <a:solidFill>
              <a:srgbClr val="A93F63"/>
            </a:solidFill>
            <a:prstDash val="solid"/>
          </a:ln>
        </p:spPr>
      </p:sp>
      <p:sp>
        <p:nvSpPr>
          <p:cNvPr id="8" name="Text 6"/>
          <p:cNvSpPr/>
          <p:nvPr/>
        </p:nvSpPr>
        <p:spPr>
          <a:xfrm>
            <a:off x="13441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know who it is for and who it is not for</a:t>
            </a:r>
            <a:endParaRPr lang="en-US" sz="1300" dirty="0"/>
          </a:p>
        </p:txBody>
      </p:sp>
      <p:sp>
        <p:nvSpPr>
          <p:cNvPr id="9" name="Shape 7"/>
          <p:cNvSpPr/>
          <p:nvPr/>
        </p:nvSpPr>
        <p:spPr>
          <a:xfrm>
            <a:off x="777240" y="4562856"/>
            <a:ext cx="347472" cy="347472"/>
          </a:xfrm>
          <a:prstGeom prst="roundRect">
            <a:avLst>
              <a:gd name="adj" fmla="val 21053"/>
            </a:avLst>
          </a:prstGeom>
          <a:solidFill>
            <a:srgbClr val="2E1F27"/>
          </a:solidFill>
          <a:ln w="15875">
            <a:solidFill>
              <a:srgbClr val="A93F63"/>
            </a:solidFill>
            <a:prstDash val="solid"/>
          </a:ln>
        </p:spPr>
      </p:sp>
      <p:sp>
        <p:nvSpPr>
          <p:cNvPr id="10" name="Text 8"/>
          <p:cNvSpPr/>
          <p:nvPr/>
        </p:nvSpPr>
        <p:spPr>
          <a:xfrm>
            <a:off x="13441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 outcome is something she can picture</a:t>
            </a:r>
            <a:endParaRPr lang="en-US" sz="1300" dirty="0"/>
          </a:p>
        </p:txBody>
      </p:sp>
      <p:sp>
        <p:nvSpPr>
          <p:cNvPr id="11" name="Shape 9"/>
          <p:cNvSpPr/>
          <p:nvPr/>
        </p:nvSpPr>
        <p:spPr>
          <a:xfrm>
            <a:off x="6263640" y="2514600"/>
            <a:ext cx="347472" cy="347472"/>
          </a:xfrm>
          <a:prstGeom prst="roundRect">
            <a:avLst>
              <a:gd name="adj" fmla="val 21053"/>
            </a:avLst>
          </a:prstGeom>
          <a:solidFill>
            <a:srgbClr val="2E1F27"/>
          </a:solidFill>
          <a:ln w="15875">
            <a:solidFill>
              <a:srgbClr val="A93F63"/>
            </a:solidFill>
            <a:prstDash val="solid"/>
          </a:ln>
        </p:spPr>
      </p:sp>
      <p:sp>
        <p:nvSpPr>
          <p:cNvPr id="12" name="Text 10"/>
          <p:cNvSpPr/>
          <p:nvPr/>
        </p:nvSpPr>
        <p:spPr>
          <a:xfrm>
            <a:off x="68305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 price is written down</a:t>
            </a:r>
            <a:endParaRPr lang="en-US" sz="1300" dirty="0"/>
          </a:p>
        </p:txBody>
      </p:sp>
      <p:sp>
        <p:nvSpPr>
          <p:cNvPr id="13" name="Shape 11"/>
          <p:cNvSpPr/>
          <p:nvPr/>
        </p:nvSpPr>
        <p:spPr>
          <a:xfrm>
            <a:off x="6263640" y="3538728"/>
            <a:ext cx="347472" cy="347472"/>
          </a:xfrm>
          <a:prstGeom prst="roundRect">
            <a:avLst>
              <a:gd name="adj" fmla="val 21053"/>
            </a:avLst>
          </a:prstGeom>
          <a:solidFill>
            <a:srgbClr val="2E1F27"/>
          </a:solidFill>
          <a:ln w="15875">
            <a:solidFill>
              <a:srgbClr val="A93F63"/>
            </a:solidFill>
            <a:prstDash val="solid"/>
          </a:ln>
        </p:spPr>
      </p:sp>
      <p:sp>
        <p:nvSpPr>
          <p:cNvPr id="14" name="Text 12"/>
          <p:cNvSpPr/>
          <p:nvPr/>
        </p:nvSpPr>
        <p:spPr>
          <a:xfrm>
            <a:off x="68305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can say the price out loud without flinching</a:t>
            </a:r>
            <a:endParaRPr lang="en-US" sz="1300" dirty="0"/>
          </a:p>
        </p:txBody>
      </p:sp>
      <p:sp>
        <p:nvSpPr>
          <p:cNvPr id="15" name="Shape 13"/>
          <p:cNvSpPr/>
          <p:nvPr/>
        </p:nvSpPr>
        <p:spPr>
          <a:xfrm>
            <a:off x="6263640" y="4562856"/>
            <a:ext cx="347472" cy="347472"/>
          </a:xfrm>
          <a:prstGeom prst="roundRect">
            <a:avLst>
              <a:gd name="adj" fmla="val 21053"/>
            </a:avLst>
          </a:prstGeom>
          <a:solidFill>
            <a:srgbClr val="2E1F27"/>
          </a:solidFill>
          <a:ln w="15875">
            <a:solidFill>
              <a:srgbClr val="A93F63"/>
            </a:solidFill>
            <a:prstDash val="solid"/>
          </a:ln>
        </p:spPr>
      </p:sp>
      <p:sp>
        <p:nvSpPr>
          <p:cNvPr id="16" name="Text 14"/>
          <p:cNvSpPr/>
          <p:nvPr/>
        </p:nvSpPr>
        <p:spPr>
          <a:xfrm>
            <a:off x="68305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At least one real person has said yes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0DCE2"/>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42</a:t>
            </a:r>
            <a:endParaRPr lang="en-US" sz="950" dirty="0"/>
          </a:p>
        </p:txBody>
      </p:sp>
      <p:sp>
        <p:nvSpPr>
          <p:cNvPr id="3" name="Shape 1"/>
          <p:cNvSpPr/>
          <p:nvPr/>
        </p:nvSpPr>
        <p:spPr>
          <a:xfrm>
            <a:off x="-2194560" y="-2194560"/>
            <a:ext cx="5852160" cy="5852160"/>
          </a:xfrm>
          <a:prstGeom prst="ellipse">
            <a:avLst/>
          </a:prstGeom>
          <a:solidFill>
            <a:srgbClr val="FBF6EE">
              <a:alpha val="55000"/>
            </a:srgbClr>
          </a:solidFill>
          <a:ln/>
        </p:spPr>
      </p:sp>
      <p:sp>
        <p:nvSpPr>
          <p:cNvPr id="4" name="Shape 2"/>
          <p:cNvSpPr/>
          <p:nvPr/>
        </p:nvSpPr>
        <p:spPr>
          <a:xfrm>
            <a:off x="10149840" y="4663440"/>
            <a:ext cx="4206240" cy="4206240"/>
          </a:xfrm>
          <a:prstGeom prst="ellipse">
            <a:avLst/>
          </a:prstGeom>
          <a:solidFill>
            <a:srgbClr val="FBF6EE">
              <a:alpha val="38000"/>
            </a:srgbClr>
          </a:solidFill>
          <a:ln/>
        </p:spPr>
      </p:sp>
      <p:sp>
        <p:nvSpPr>
          <p:cNvPr id="5" name="Text 3"/>
          <p:cNvSpPr/>
          <p:nvPr/>
        </p:nvSpPr>
        <p:spPr>
          <a:xfrm>
            <a:off x="868680" y="1051560"/>
            <a:ext cx="2011680" cy="2011680"/>
          </a:xfrm>
          <a:prstGeom prst="rect">
            <a:avLst/>
          </a:prstGeom>
          <a:noFill/>
          <a:ln/>
        </p:spPr>
        <p:txBody>
          <a:bodyPr wrap="square" lIns="0" tIns="0" rIns="0" bIns="0" rtlCol="0" anchor="t"/>
          <a:lstStyle/>
          <a:p>
            <a:pPr indent="0" marL="0">
              <a:buNone/>
            </a:pPr>
            <a:r>
              <a:rPr lang="en-US" sz="13200" i="1" dirty="0">
                <a:solidFill>
                  <a:srgbClr val="A93F63"/>
                </a:solidFill>
                <a:latin typeface="Fraunces" pitchFamily="34" charset="0"/>
                <a:ea typeface="Fraunces" pitchFamily="34" charset="-122"/>
                <a:cs typeface="Fraunces" pitchFamily="34" charset="-120"/>
              </a:rPr>
              <a:t>“</a:t>
            </a:r>
            <a:endParaRPr lang="en-US" sz="13200" dirty="0"/>
          </a:p>
        </p:txBody>
      </p:sp>
      <p:sp>
        <p:nvSpPr>
          <p:cNvPr id="6" name="Text 4"/>
          <p:cNvSpPr/>
          <p:nvPr/>
        </p:nvSpPr>
        <p:spPr>
          <a:xfrm>
            <a:off x="2514600" y="1965960"/>
            <a:ext cx="8229600" cy="2651760"/>
          </a:xfrm>
          <a:prstGeom prst="rect">
            <a:avLst/>
          </a:prstGeom>
          <a:noFill/>
          <a:ln/>
        </p:spPr>
        <p:txBody>
          <a:bodyPr wrap="square" lIns="0" tIns="0" rIns="0" bIns="0" rtlCol="0" anchor="ctr"/>
          <a:lstStyle/>
          <a:p>
            <a:pPr indent="0" marL="0">
              <a:lnSpc>
                <a:spcPts val="3700"/>
              </a:lnSpc>
              <a:buNone/>
            </a:pPr>
            <a:r>
              <a:rPr lang="en-US" sz="2900" i="1" dirty="0">
                <a:solidFill>
                  <a:srgbClr val="2E1F27"/>
                </a:solidFill>
                <a:latin typeface="Fraunces" pitchFamily="34" charset="0"/>
                <a:ea typeface="Fraunces" pitchFamily="34" charset="-122"/>
                <a:cs typeface="Fraunces" pitchFamily="34" charset="-120"/>
              </a:rPr>
              <a:t>Nobody buys twelve hours of your time. They buy the thing that exists afterward.</a:t>
            </a:r>
            <a:endParaRPr lang="en-US" sz="2900" dirty="0"/>
          </a:p>
        </p:txBody>
      </p:sp>
      <p:sp>
        <p:nvSpPr>
          <p:cNvPr id="7" name="Text 5"/>
          <p:cNvSpPr/>
          <p:nvPr/>
        </p:nvSpPr>
        <p:spPr>
          <a:xfrm>
            <a:off x="2514600" y="4846320"/>
            <a:ext cx="8229600" cy="365760"/>
          </a:xfrm>
          <a:prstGeom prst="rect">
            <a:avLst/>
          </a:prstGeom>
          <a:noFill/>
          <a:ln/>
        </p:spPr>
        <p:txBody>
          <a:bodyPr wrap="square" lIns="0" tIns="0" rIns="0" bIns="0" rtlCol="0" anchor="t"/>
          <a:lstStyle/>
          <a:p>
            <a:pPr indent="0" marL="0">
              <a:buNone/>
            </a:pPr>
            <a:r>
              <a:rPr lang="en-US" sz="1100" b="1" spc="400" kern="0" dirty="0">
                <a:solidFill>
                  <a:srgbClr val="7C2B48"/>
                </a:solidFill>
                <a:latin typeface="Karla" pitchFamily="34" charset="0"/>
                <a:ea typeface="Karla" pitchFamily="34" charset="-122"/>
                <a:cs typeface="Karla" pitchFamily="34" charset="-120"/>
              </a:rPr>
              <a:t>THE PRICING RULE</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43</a:t>
            </a:r>
            <a:endParaRPr lang="en-US" sz="950" dirty="0"/>
          </a:p>
        </p:txBody>
      </p:sp>
      <p:sp>
        <p:nvSpPr>
          <p:cNvPr id="3" name="Shape 1"/>
          <p:cNvSpPr/>
          <p:nvPr/>
        </p:nvSpPr>
        <p:spPr>
          <a:xfrm>
            <a:off x="0" y="0"/>
            <a:ext cx="12161520" cy="2331720"/>
          </a:xfrm>
          <a:prstGeom prst="rect">
            <a:avLst/>
          </a:prstGeom>
          <a:solidFill>
            <a:srgbClr val="A93F63"/>
          </a:solidFill>
          <a:ln/>
        </p:spPr>
      </p:sp>
      <p:sp>
        <p:nvSpPr>
          <p:cNvPr id="4" name="Text 2"/>
          <p:cNvSpPr/>
          <p:nvPr/>
        </p:nvSpPr>
        <p:spPr>
          <a:xfrm>
            <a:off x="777240" y="713232"/>
            <a:ext cx="10607040" cy="274320"/>
          </a:xfrm>
          <a:prstGeom prst="rect">
            <a:avLst/>
          </a:prstGeom>
          <a:noFill/>
          <a:ln/>
        </p:spPr>
        <p:txBody>
          <a:bodyPr wrap="square" lIns="0" tIns="0" rIns="0" bIns="0" rtlCol="0" anchor="t"/>
          <a:lstStyle/>
          <a:p>
            <a:pPr indent="0" marL="0">
              <a:buNone/>
            </a:pPr>
            <a:r>
              <a:rPr lang="en-US" sz="1100" b="1" spc="350" kern="0" dirty="0">
                <a:solidFill>
                  <a:srgbClr val="F6DCE5"/>
                </a:solidFill>
                <a:latin typeface="Karla" pitchFamily="34" charset="0"/>
                <a:ea typeface="Karla" pitchFamily="34" charset="-122"/>
                <a:cs typeface="Karla" pitchFamily="34" charset="-120"/>
              </a:rPr>
              <a:t>YOUR TURN</a:t>
            </a:r>
            <a:endParaRPr lang="en-US" sz="1100" dirty="0"/>
          </a:p>
        </p:txBody>
      </p:sp>
      <p:sp>
        <p:nvSpPr>
          <p:cNvPr id="5" name="Text 3"/>
          <p:cNvSpPr/>
          <p:nvPr/>
        </p:nvSpPr>
        <p:spPr>
          <a:xfrm>
            <a:off x="777240" y="1115568"/>
            <a:ext cx="7406640" cy="100584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Put a number on it.</a:t>
            </a:r>
            <a:endParaRPr lang="en-US" sz="3300" dirty="0"/>
          </a:p>
        </p:txBody>
      </p:sp>
      <p:sp>
        <p:nvSpPr>
          <p:cNvPr id="6" name="Shape 4"/>
          <p:cNvSpPr/>
          <p:nvPr/>
        </p:nvSpPr>
        <p:spPr>
          <a:xfrm>
            <a:off x="777240" y="2743200"/>
            <a:ext cx="10607040" cy="3291840"/>
          </a:xfrm>
          <a:prstGeom prst="roundRect">
            <a:avLst>
              <a:gd name="adj" fmla="val 388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7" name="Text 5"/>
          <p:cNvSpPr/>
          <p:nvPr/>
        </p:nvSpPr>
        <p:spPr>
          <a:xfrm>
            <a:off x="1234440" y="3063240"/>
            <a:ext cx="9692640" cy="777240"/>
          </a:xfrm>
          <a:prstGeom prst="rect">
            <a:avLst/>
          </a:prstGeom>
          <a:noFill/>
          <a:ln/>
        </p:spPr>
        <p:txBody>
          <a:bodyPr wrap="square" lIns="0" tIns="0" rIns="0" bIns="0" rtlCol="0" anchor="t"/>
          <a:lstStyle/>
          <a:p>
            <a:pPr indent="0" marL="0">
              <a:lnSpc>
                <a:spcPts val="2300"/>
              </a:lnSpc>
              <a:buNone/>
            </a:pPr>
            <a:r>
              <a:rPr lang="en-US" sz="1900" i="1" dirty="0">
                <a:solidFill>
                  <a:srgbClr val="A93F63"/>
                </a:solidFill>
                <a:latin typeface="Fraunces" pitchFamily="34" charset="0"/>
                <a:ea typeface="Fraunces" pitchFamily="34" charset="-122"/>
                <a:cs typeface="Fraunces" pitchFamily="34" charset="-120"/>
              </a:rPr>
              <a:t>What does your main offer cost, and what makes it worth that? Write the price first, then the defense.</a:t>
            </a:r>
            <a:endParaRPr lang="en-US" sz="1900" dirty="0"/>
          </a:p>
        </p:txBody>
      </p:sp>
      <p:sp>
        <p:nvSpPr>
          <p:cNvPr id="8" name="Shape 6"/>
          <p:cNvSpPr/>
          <p:nvPr/>
        </p:nvSpPr>
        <p:spPr>
          <a:xfrm>
            <a:off x="1234440" y="3977640"/>
            <a:ext cx="9692640" cy="0"/>
          </a:xfrm>
          <a:prstGeom prst="line">
            <a:avLst/>
          </a:prstGeom>
          <a:noFill/>
          <a:ln w="12700">
            <a:solidFill>
              <a:srgbClr val="DCD2C7"/>
            </a:solidFill>
            <a:prstDash val="dash"/>
          </a:ln>
        </p:spPr>
      </p:sp>
      <p:sp>
        <p:nvSpPr>
          <p:cNvPr id="9" name="Shape 7"/>
          <p:cNvSpPr/>
          <p:nvPr/>
        </p:nvSpPr>
        <p:spPr>
          <a:xfrm>
            <a:off x="1234440" y="4480560"/>
            <a:ext cx="9692640" cy="0"/>
          </a:xfrm>
          <a:prstGeom prst="line">
            <a:avLst/>
          </a:prstGeom>
          <a:noFill/>
          <a:ln w="12700">
            <a:solidFill>
              <a:srgbClr val="DCD2C7"/>
            </a:solidFill>
            <a:prstDash val="dash"/>
          </a:ln>
        </p:spPr>
      </p:sp>
      <p:sp>
        <p:nvSpPr>
          <p:cNvPr id="10" name="Shape 8"/>
          <p:cNvSpPr/>
          <p:nvPr/>
        </p:nvSpPr>
        <p:spPr>
          <a:xfrm>
            <a:off x="1234440" y="4983480"/>
            <a:ext cx="9692640" cy="0"/>
          </a:xfrm>
          <a:prstGeom prst="line">
            <a:avLst/>
          </a:prstGeom>
          <a:noFill/>
          <a:ln w="12700">
            <a:solidFill>
              <a:srgbClr val="DCD2C7"/>
            </a:solidFill>
            <a:prstDash val="dash"/>
          </a:ln>
        </p:spPr>
      </p:sp>
      <p:sp>
        <p:nvSpPr>
          <p:cNvPr id="11" name="Shape 9"/>
          <p:cNvSpPr/>
          <p:nvPr/>
        </p:nvSpPr>
        <p:spPr>
          <a:xfrm>
            <a:off x="1234440" y="5486400"/>
            <a:ext cx="9692640" cy="0"/>
          </a:xfrm>
          <a:prstGeom prst="line">
            <a:avLst/>
          </a:prstGeom>
          <a:noFill/>
          <a:ln w="12700">
            <a:solidFill>
              <a:srgbClr val="DCD2C7"/>
            </a:solidFill>
            <a:prstDash val="dash"/>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7C2B48"/>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44</a:t>
            </a:r>
            <a:endParaRPr lang="en-US" sz="950" dirty="0"/>
          </a:p>
        </p:txBody>
      </p:sp>
      <p:sp>
        <p:nvSpPr>
          <p:cNvPr id="3" name="Text 1"/>
          <p:cNvSpPr/>
          <p:nvPr/>
        </p:nvSpPr>
        <p:spPr>
          <a:xfrm>
            <a:off x="777240" y="685800"/>
            <a:ext cx="10607040" cy="274320"/>
          </a:xfrm>
          <a:prstGeom prst="rect">
            <a:avLst/>
          </a:prstGeom>
          <a:noFill/>
          <a:ln/>
        </p:spPr>
        <p:txBody>
          <a:bodyPr wrap="square" lIns="0" tIns="0" rIns="0" bIns="0" rtlCol="0" anchor="t"/>
          <a:lstStyle/>
          <a:p>
            <a:pPr indent="0" marL="0">
              <a:buNone/>
            </a:pPr>
            <a:r>
              <a:rPr lang="en-US" sz="1100" b="1" spc="300" kern="0" dirty="0">
                <a:solidFill>
                  <a:srgbClr val="F0DCE2"/>
                </a:solidFill>
                <a:latin typeface="Karla" pitchFamily="34" charset="0"/>
                <a:ea typeface="Karla" pitchFamily="34" charset="-122"/>
                <a:cs typeface="Karla" pitchFamily="34" charset="-120"/>
              </a:rPr>
              <a:t>MODULE TWO</a:t>
            </a:r>
            <a:endParaRPr lang="en-US" sz="1100" dirty="0"/>
          </a:p>
        </p:txBody>
      </p:sp>
      <p:sp>
        <p:nvSpPr>
          <p:cNvPr id="4" name="Text 2"/>
          <p:cNvSpPr/>
          <p:nvPr/>
        </p:nvSpPr>
        <p:spPr>
          <a:xfrm>
            <a:off x="777240" y="1097280"/>
            <a:ext cx="7863840" cy="914400"/>
          </a:xfrm>
          <a:prstGeom prst="rect">
            <a:avLst/>
          </a:prstGeom>
          <a:noFill/>
          <a:ln/>
        </p:spPr>
        <p:txBody>
          <a:bodyPr wrap="square" lIns="0" tIns="0" rIns="0" bIns="0" rtlCol="0" anchor="t"/>
          <a:lstStyle/>
          <a:p>
            <a:pPr indent="0" marL="0">
              <a:lnSpc>
                <a:spcPts val="3800"/>
              </a:lnSpc>
              <a:buNone/>
            </a:pPr>
            <a:r>
              <a:rPr lang="en-US" sz="3400" dirty="0">
                <a:solidFill>
                  <a:srgbClr val="FBF6EE"/>
                </a:solidFill>
                <a:latin typeface="Fraunces" pitchFamily="34" charset="0"/>
                <a:ea typeface="Fraunces" pitchFamily="34" charset="-122"/>
                <a:cs typeface="Fraunces" pitchFamily="34" charset="-120"/>
              </a:rPr>
              <a:t>What to take with you.</a:t>
            </a:r>
            <a:endParaRPr lang="en-US" sz="3400" dirty="0"/>
          </a:p>
        </p:txBody>
      </p:sp>
      <p:sp>
        <p:nvSpPr>
          <p:cNvPr id="5" name="Text 3"/>
          <p:cNvSpPr/>
          <p:nvPr/>
        </p:nvSpPr>
        <p:spPr>
          <a:xfrm>
            <a:off x="777240" y="24048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01</a:t>
            </a:r>
            <a:endParaRPr lang="en-US" sz="3400" dirty="0"/>
          </a:p>
        </p:txBody>
      </p:sp>
      <p:sp>
        <p:nvSpPr>
          <p:cNvPr id="6" name="Text 4"/>
          <p:cNvSpPr/>
          <p:nvPr/>
        </p:nvSpPr>
        <p:spPr>
          <a:xfrm>
            <a:off x="1920240" y="24963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An offer is a specific outcome, person, and price.</a:t>
            </a:r>
            <a:endParaRPr lang="en-US" sz="1450" dirty="0"/>
          </a:p>
        </p:txBody>
      </p:sp>
      <p:sp>
        <p:nvSpPr>
          <p:cNvPr id="7" name="Text 5"/>
          <p:cNvSpPr/>
          <p:nvPr/>
        </p:nvSpPr>
        <p:spPr>
          <a:xfrm>
            <a:off x="777240" y="33192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02</a:t>
            </a:r>
            <a:endParaRPr lang="en-US" sz="3400" dirty="0"/>
          </a:p>
        </p:txBody>
      </p:sp>
      <p:sp>
        <p:nvSpPr>
          <p:cNvPr id="8" name="Text 6"/>
          <p:cNvSpPr/>
          <p:nvPr/>
        </p:nvSpPr>
        <p:spPr>
          <a:xfrm>
            <a:off x="1920240" y="34107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You almost certainly already have one. Name it.</a:t>
            </a:r>
            <a:endParaRPr lang="en-US" sz="1450" dirty="0"/>
          </a:p>
        </p:txBody>
      </p:sp>
      <p:sp>
        <p:nvSpPr>
          <p:cNvPr id="9" name="Text 7"/>
          <p:cNvSpPr/>
          <p:nvPr/>
        </p:nvSpPr>
        <p:spPr>
          <a:xfrm>
            <a:off x="777240" y="42336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03</a:t>
            </a:r>
            <a:endParaRPr lang="en-US" sz="3400" dirty="0"/>
          </a:p>
        </p:txBody>
      </p:sp>
      <p:sp>
        <p:nvSpPr>
          <p:cNvPr id="10" name="Text 8"/>
          <p:cNvSpPr/>
          <p:nvPr/>
        </p:nvSpPr>
        <p:spPr>
          <a:xfrm>
            <a:off x="1920240" y="43251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Price for the result, never for the hours.</a:t>
            </a:r>
            <a:endParaRPr lang="en-US" sz="1450" dirty="0"/>
          </a:p>
        </p:txBody>
      </p:sp>
      <p:sp>
        <p:nvSpPr>
          <p:cNvPr id="11" name="Text 9"/>
          <p:cNvSpPr/>
          <p:nvPr/>
        </p:nvSpPr>
        <p:spPr>
          <a:xfrm>
            <a:off x="777240" y="51480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04</a:t>
            </a:r>
            <a:endParaRPr lang="en-US" sz="3400" dirty="0"/>
          </a:p>
        </p:txBody>
      </p:sp>
      <p:sp>
        <p:nvSpPr>
          <p:cNvPr id="12" name="Text 10"/>
          <p:cNvSpPr/>
          <p:nvPr/>
        </p:nvSpPr>
        <p:spPr>
          <a:xfrm>
            <a:off x="1920240" y="52395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One sentence someone can say yes to beats a list of services.</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45</a:t>
            </a:r>
            <a:endParaRPr lang="en-US" sz="950" dirty="0"/>
          </a:p>
        </p:txBody>
      </p:sp>
      <p:sp>
        <p:nvSpPr>
          <p:cNvPr id="3" name="Text 1"/>
          <p:cNvSpPr/>
          <p:nvPr/>
        </p:nvSpPr>
        <p:spPr>
          <a:xfrm>
            <a:off x="-640080" y="182880"/>
            <a:ext cx="5486400" cy="4937760"/>
          </a:xfrm>
          <a:prstGeom prst="rect">
            <a:avLst/>
          </a:prstGeom>
          <a:noFill/>
          <a:ln/>
        </p:spPr>
        <p:txBody>
          <a:bodyPr wrap="square" lIns="0" tIns="0" rIns="0" bIns="0" rtlCol="0" anchor="ctr"/>
          <a:lstStyle/>
          <a:p>
            <a:pPr indent="0" marL="0">
              <a:buNone/>
            </a:pPr>
            <a:r>
              <a:rPr lang="en-US" sz="25000" i="1" dirty="0">
                <a:solidFill>
                  <a:srgbClr val="7C2B48"/>
                </a:solidFill>
                <a:latin typeface="Fraunces" pitchFamily="34" charset="0"/>
                <a:ea typeface="Fraunces" pitchFamily="34" charset="-122"/>
                <a:cs typeface="Fraunces" pitchFamily="34" charset="-120"/>
              </a:rPr>
              <a:t>03</a:t>
            </a:r>
            <a:endParaRPr lang="en-US" sz="25000" dirty="0"/>
          </a:p>
        </p:txBody>
      </p:sp>
      <p:sp>
        <p:nvSpPr>
          <p:cNvPr id="4" name="Shape 2"/>
          <p:cNvSpPr/>
          <p:nvPr/>
        </p:nvSpPr>
        <p:spPr>
          <a:xfrm>
            <a:off x="9235440" y="-1005840"/>
            <a:ext cx="4023360" cy="4023360"/>
          </a:xfrm>
          <a:prstGeom prst="ellipse">
            <a:avLst/>
          </a:prstGeom>
          <a:solidFill>
            <a:srgbClr val="A93F63">
              <a:alpha val="30000"/>
            </a:srgbClr>
          </a:solidFill>
          <a:ln/>
        </p:spPr>
      </p:sp>
      <p:sp>
        <p:nvSpPr>
          <p:cNvPr id="5" name="Text 3"/>
          <p:cNvSpPr/>
          <p:nvPr/>
        </p:nvSpPr>
        <p:spPr>
          <a:xfrm>
            <a:off x="3931920" y="1920240"/>
            <a:ext cx="7315200" cy="1737360"/>
          </a:xfrm>
          <a:prstGeom prst="rect">
            <a:avLst/>
          </a:prstGeom>
          <a:noFill/>
          <a:ln/>
        </p:spPr>
        <p:txBody>
          <a:bodyPr wrap="square" lIns="0" tIns="0" rIns="0" bIns="0" rtlCol="0" anchor="t"/>
          <a:lstStyle/>
          <a:p>
            <a:pPr indent="0" marL="0">
              <a:lnSpc>
                <a:spcPts val="4600"/>
              </a:lnSpc>
              <a:buNone/>
            </a:pPr>
            <a:r>
              <a:rPr lang="en-US" sz="4200" dirty="0">
                <a:solidFill>
                  <a:srgbClr val="FBF6EE"/>
                </a:solidFill>
                <a:latin typeface="Fraunces" pitchFamily="34" charset="0"/>
                <a:ea typeface="Fraunces" pitchFamily="34" charset="-122"/>
                <a:cs typeface="Fraunces" pitchFamily="34" charset="-120"/>
              </a:rPr>
              <a:t>Copy that sells</a:t>
            </a:r>
            <a:endParaRPr lang="en-US" sz="4200" dirty="0"/>
          </a:p>
        </p:txBody>
      </p:sp>
      <p:sp>
        <p:nvSpPr>
          <p:cNvPr id="6" name="Text 4"/>
          <p:cNvSpPr/>
          <p:nvPr/>
        </p:nvSpPr>
        <p:spPr>
          <a:xfrm>
            <a:off x="3977640" y="3703320"/>
            <a:ext cx="7223760" cy="548640"/>
          </a:xfrm>
          <a:prstGeom prst="rect">
            <a:avLst/>
          </a:prstGeom>
          <a:noFill/>
          <a:ln/>
        </p:spPr>
        <p:txBody>
          <a:bodyPr wrap="square" lIns="0" tIns="0" rIns="0" bIns="0" rtlCol="0" anchor="t"/>
          <a:lstStyle/>
          <a:p>
            <a:pPr indent="0" marL="0">
              <a:buNone/>
            </a:pPr>
            <a:r>
              <a:rPr lang="en-US" sz="2600" dirty="0">
                <a:solidFill>
                  <a:srgbClr val="BC8A47"/>
                </a:solidFill>
                <a:latin typeface="Ephesis" pitchFamily="34" charset="0"/>
                <a:ea typeface="Ephesis" pitchFamily="34" charset="-122"/>
                <a:cs typeface="Ephesis" pitchFamily="34" charset="-120"/>
              </a:rPr>
              <a:t>the words doing the actual work</a:t>
            </a:r>
            <a:endParaRPr lang="en-US" sz="2600" dirty="0"/>
          </a:p>
        </p:txBody>
      </p:sp>
      <p:sp>
        <p:nvSpPr>
          <p:cNvPr id="7" name="Shape 5"/>
          <p:cNvSpPr/>
          <p:nvPr/>
        </p:nvSpPr>
        <p:spPr>
          <a:xfrm>
            <a:off x="4023360" y="4526280"/>
            <a:ext cx="146304" cy="146304"/>
          </a:xfrm>
          <a:prstGeom prst="ellipse">
            <a:avLst/>
          </a:prstGeom>
          <a:solidFill>
            <a:srgbClr val="A93F63"/>
          </a:solidFill>
          <a:ln/>
        </p:spPr>
      </p:sp>
      <p:sp>
        <p:nvSpPr>
          <p:cNvPr id="8" name="Text 6"/>
          <p:cNvSpPr/>
          <p:nvPr/>
        </p:nvSpPr>
        <p:spPr>
          <a:xfrm>
            <a:off x="4389120" y="441655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The structure every selling page uses</a:t>
            </a:r>
            <a:endParaRPr lang="en-US" sz="1300" dirty="0"/>
          </a:p>
        </p:txBody>
      </p:sp>
      <p:sp>
        <p:nvSpPr>
          <p:cNvPr id="9" name="Shape 7"/>
          <p:cNvSpPr/>
          <p:nvPr/>
        </p:nvSpPr>
        <p:spPr>
          <a:xfrm>
            <a:off x="4023360" y="5029200"/>
            <a:ext cx="146304" cy="146304"/>
          </a:xfrm>
          <a:prstGeom prst="ellipse">
            <a:avLst/>
          </a:prstGeom>
          <a:solidFill>
            <a:srgbClr val="A93F63"/>
          </a:solidFill>
          <a:ln/>
        </p:spPr>
      </p:sp>
      <p:sp>
        <p:nvSpPr>
          <p:cNvPr id="10" name="Text 8"/>
          <p:cNvSpPr/>
          <p:nvPr/>
        </p:nvSpPr>
        <p:spPr>
          <a:xfrm>
            <a:off x="4389120" y="491947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Headlines, proof, and the button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A93F63"/>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46</a:t>
            </a:r>
            <a:endParaRPr lang="en-US" sz="950" dirty="0"/>
          </a:p>
        </p:txBody>
      </p:sp>
      <p:sp>
        <p:nvSpPr>
          <p:cNvPr id="3" name="Shape 1"/>
          <p:cNvSpPr/>
          <p:nvPr/>
        </p:nvSpPr>
        <p:spPr>
          <a:xfrm>
            <a:off x="-2377440" y="-2377440"/>
            <a:ext cx="5669280" cy="5669280"/>
          </a:xfrm>
          <a:prstGeom prst="ellipse">
            <a:avLst/>
          </a:prstGeom>
          <a:solidFill>
            <a:srgbClr val="FBF6EE">
              <a:alpha val="10000"/>
            </a:srgbClr>
          </a:solidFill>
          <a:ln/>
        </p:spPr>
      </p:sp>
      <p:sp>
        <p:nvSpPr>
          <p:cNvPr id="4" name="Shape 2"/>
          <p:cNvSpPr/>
          <p:nvPr/>
        </p:nvSpPr>
        <p:spPr>
          <a:xfrm>
            <a:off x="9601200" y="4480560"/>
            <a:ext cx="5120640" cy="5120640"/>
          </a:xfrm>
          <a:prstGeom prst="ellipse">
            <a:avLst/>
          </a:prstGeom>
          <a:solidFill>
            <a:srgbClr val="7C2B48">
              <a:alpha val="45000"/>
            </a:srgbClr>
          </a:solidFill>
          <a:ln/>
        </p:spPr>
      </p:sp>
      <p:sp>
        <p:nvSpPr>
          <p:cNvPr id="5" name="Text 3"/>
          <p:cNvSpPr/>
          <p:nvPr/>
        </p:nvSpPr>
        <p:spPr>
          <a:xfrm>
            <a:off x="1463040" y="1783080"/>
            <a:ext cx="9235440" cy="2743200"/>
          </a:xfrm>
          <a:prstGeom prst="rect">
            <a:avLst/>
          </a:prstGeom>
          <a:noFill/>
          <a:ln/>
        </p:spPr>
        <p:txBody>
          <a:bodyPr wrap="square" lIns="0" tIns="0" rIns="0" bIns="0" rtlCol="0" anchor="ctr"/>
          <a:lstStyle/>
          <a:p>
            <a:pPr algn="ctr" indent="0" marL="0">
              <a:lnSpc>
                <a:spcPts val="5200"/>
              </a:lnSpc>
              <a:buNone/>
            </a:pPr>
            <a:r>
              <a:rPr lang="en-US" sz="4600" dirty="0">
                <a:solidFill>
                  <a:srgbClr val="FBF6EE"/>
                </a:solidFill>
                <a:latin typeface="Fraunces" pitchFamily="34" charset="0"/>
                <a:ea typeface="Fraunces" pitchFamily="34" charset="-122"/>
                <a:cs typeface="Fraunces" pitchFamily="34" charset="-120"/>
              </a:rPr>
              <a:t>Design gets noticed.
</a:t>
            </a:r>
            <a:pPr algn="ctr" indent="0" marL="0">
              <a:lnSpc>
                <a:spcPts val="5200"/>
              </a:lnSpc>
              <a:buNone/>
            </a:pPr>
            <a:r>
              <a:rPr lang="en-US" sz="4600" i="1" dirty="0">
                <a:solidFill>
                  <a:srgbClr val="2E1F27"/>
                </a:solidFill>
                <a:latin typeface="Fraunces" pitchFamily="34" charset="0"/>
                <a:ea typeface="Fraunces" pitchFamily="34" charset="-122"/>
                <a:cs typeface="Fraunces" pitchFamily="34" charset="-120"/>
              </a:rPr>
              <a:t>Copy gets paid.</a:t>
            </a:r>
            <a:endParaRPr lang="en-US" sz="4600" dirty="0"/>
          </a:p>
        </p:txBody>
      </p:sp>
      <p:sp>
        <p:nvSpPr>
          <p:cNvPr id="6" name="Text 4"/>
          <p:cNvSpPr/>
          <p:nvPr/>
        </p:nvSpPr>
        <p:spPr>
          <a:xfrm>
            <a:off x="2377440" y="4754880"/>
            <a:ext cx="7406640" cy="548640"/>
          </a:xfrm>
          <a:prstGeom prst="rect">
            <a:avLst/>
          </a:prstGeom>
          <a:noFill/>
          <a:ln/>
        </p:spPr>
        <p:txBody>
          <a:bodyPr wrap="square" lIns="0" tIns="0" rIns="0" bIns="0" rtlCol="0" anchor="t"/>
          <a:lstStyle/>
          <a:p>
            <a:pPr algn="ctr" indent="0" marL="0">
              <a:buNone/>
            </a:pPr>
            <a:r>
              <a:rPr lang="en-US" sz="1350" dirty="0">
                <a:solidFill>
                  <a:srgbClr val="F9E7EC"/>
                </a:solidFill>
                <a:latin typeface="Karla" pitchFamily="34" charset="0"/>
                <a:ea typeface="Karla" pitchFamily="34" charset="-122"/>
                <a:cs typeface="Karla" pitchFamily="34" charset="-120"/>
              </a:rPr>
              <a:t>If you have to choose which to fix first, it is never the design.</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47</a:t>
            </a:r>
            <a:endParaRPr lang="en-US" sz="950" dirty="0"/>
          </a:p>
        </p:txBody>
      </p:sp>
      <p:sp>
        <p:nvSpPr>
          <p:cNvPr id="3" name="Text 1"/>
          <p:cNvSpPr/>
          <p:nvPr/>
        </p:nvSpPr>
        <p:spPr>
          <a:xfrm>
            <a:off x="777240" y="640080"/>
            <a:ext cx="106070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COPY IS NOT CONTENT</a:t>
            </a:r>
            <a:endParaRPr lang="en-US" sz="1100" dirty="0"/>
          </a:p>
        </p:txBody>
      </p:sp>
      <p:sp>
        <p:nvSpPr>
          <p:cNvPr id="4" name="Text 2"/>
          <p:cNvSpPr/>
          <p:nvPr/>
        </p:nvSpPr>
        <p:spPr>
          <a:xfrm>
            <a:off x="777240" y="1024128"/>
            <a:ext cx="8321040" cy="914400"/>
          </a:xfrm>
          <a:prstGeom prst="rect">
            <a:avLst/>
          </a:prstGeom>
          <a:noFill/>
          <a:ln/>
        </p:spPr>
        <p:txBody>
          <a:bodyPr wrap="square" lIns="0" tIns="0" rIns="0" bIns="0" rtlCol="0" anchor="t"/>
          <a:lstStyle/>
          <a:p>
            <a:pPr indent="0" marL="0">
              <a:lnSpc>
                <a:spcPts val="3600"/>
              </a:lnSpc>
              <a:buNone/>
            </a:pPr>
            <a:r>
              <a:rPr lang="en-US" sz="3200" dirty="0">
                <a:solidFill>
                  <a:srgbClr val="2E1F27"/>
                </a:solidFill>
                <a:latin typeface="Fraunces" pitchFamily="34" charset="0"/>
                <a:ea typeface="Fraunces" pitchFamily="34" charset="-122"/>
                <a:cs typeface="Fraunces" pitchFamily="34" charset="-120"/>
              </a:rPr>
              <a:t>Two different jobs, two different rules.</a:t>
            </a:r>
            <a:endParaRPr lang="en-US" sz="3200" dirty="0"/>
          </a:p>
        </p:txBody>
      </p:sp>
      <p:sp>
        <p:nvSpPr>
          <p:cNvPr id="5" name="Shape 3"/>
          <p:cNvSpPr/>
          <p:nvPr/>
        </p:nvSpPr>
        <p:spPr>
          <a:xfrm>
            <a:off x="777240" y="2148840"/>
            <a:ext cx="10607040" cy="1691640"/>
          </a:xfrm>
          <a:prstGeom prst="roundRect">
            <a:avLst>
              <a:gd name="adj" fmla="val 7568"/>
            </a:avLst>
          </a:prstGeom>
          <a:solidFill>
            <a:srgbClr val="FBF6EE"/>
          </a:solidFill>
          <a:ln w="9525">
            <a:solidFill>
              <a:srgbClr val="D8CCC0"/>
            </a:solidFill>
            <a:prstDash val="solid"/>
          </a:ln>
        </p:spPr>
      </p:sp>
      <p:sp>
        <p:nvSpPr>
          <p:cNvPr id="6" name="Text 4"/>
          <p:cNvSpPr/>
          <p:nvPr/>
        </p:nvSpPr>
        <p:spPr>
          <a:xfrm>
            <a:off x="1143000" y="2423160"/>
            <a:ext cx="2926080" cy="274320"/>
          </a:xfrm>
          <a:prstGeom prst="rect">
            <a:avLst/>
          </a:prstGeom>
          <a:noFill/>
          <a:ln/>
        </p:spPr>
        <p:txBody>
          <a:bodyPr wrap="square" lIns="0" tIns="0" rIns="0" bIns="0" rtlCol="0" anchor="t"/>
          <a:lstStyle/>
          <a:p>
            <a:pPr indent="0" marL="0">
              <a:buNone/>
            </a:pPr>
            <a:r>
              <a:rPr lang="en-US" sz="1100" b="1" spc="300" kern="0" dirty="0">
                <a:solidFill>
                  <a:srgbClr val="6E5C63"/>
                </a:solidFill>
                <a:latin typeface="Karla" pitchFamily="34" charset="0"/>
                <a:ea typeface="Karla" pitchFamily="34" charset="-122"/>
                <a:cs typeface="Karla" pitchFamily="34" charset="-120"/>
              </a:rPr>
              <a:t>CONTENT</a:t>
            </a:r>
            <a:endParaRPr lang="en-US" sz="1100" dirty="0"/>
          </a:p>
        </p:txBody>
      </p:sp>
      <p:sp>
        <p:nvSpPr>
          <p:cNvPr id="7" name="Text 5"/>
          <p:cNvSpPr/>
          <p:nvPr/>
        </p:nvSpPr>
        <p:spPr>
          <a:xfrm>
            <a:off x="1143000" y="2880360"/>
            <a:ext cx="9875520" cy="731520"/>
          </a:xfrm>
          <a:prstGeom prst="rect">
            <a:avLst/>
          </a:prstGeom>
          <a:noFill/>
          <a:ln/>
        </p:spPr>
        <p:txBody>
          <a:bodyPr wrap="square" lIns="0" tIns="0" rIns="0" bIns="0" rtlCol="0" anchor="t"/>
          <a:lstStyle/>
          <a:p>
            <a:pPr indent="0" marL="0">
              <a:lnSpc>
                <a:spcPts val="2000"/>
              </a:lnSpc>
              <a:buNone/>
            </a:pPr>
            <a:r>
              <a:rPr lang="en-US" sz="1350" dirty="0">
                <a:solidFill>
                  <a:srgbClr val="6E5C63"/>
                </a:solidFill>
                <a:latin typeface="Karla" pitchFamily="34" charset="0"/>
                <a:ea typeface="Karla" pitchFamily="34" charset="-122"/>
                <a:cs typeface="Karla" pitchFamily="34" charset="-120"/>
              </a:rPr>
              <a:t>Generous   ·   Teaches and entertains   ·   Builds the relationship   ·   Your blog posts</a:t>
            </a:r>
            <a:endParaRPr lang="en-US" sz="1350" dirty="0"/>
          </a:p>
        </p:txBody>
      </p:sp>
      <p:sp>
        <p:nvSpPr>
          <p:cNvPr id="8" name="Shape 6"/>
          <p:cNvSpPr/>
          <p:nvPr/>
        </p:nvSpPr>
        <p:spPr>
          <a:xfrm>
            <a:off x="777240" y="4069080"/>
            <a:ext cx="10607040" cy="1783080"/>
          </a:xfrm>
          <a:prstGeom prst="roundRect">
            <a:avLst>
              <a:gd name="adj" fmla="val 7179"/>
            </a:avLst>
          </a:prstGeom>
          <a:solidFill>
            <a:srgbClr val="2E1F27"/>
          </a:solidFill>
          <a:ln w="9525">
            <a:solidFill>
              <a:srgbClr val="2E1F27"/>
            </a:solidFill>
            <a:prstDash val="solid"/>
          </a:ln>
          <a:effectLst>
            <a:outerShdw sx="100000" sy="100000" kx="0" ky="0" algn="bl" rotWithShape="0" blurRad="203200" dist="63500" dir="5400000">
              <a:srgbClr val="2E1F27">
                <a:alpha val="15000"/>
              </a:srgbClr>
            </a:outerShdw>
          </a:effectLst>
        </p:spPr>
      </p:sp>
      <p:sp>
        <p:nvSpPr>
          <p:cNvPr id="9" name="Text 7"/>
          <p:cNvSpPr/>
          <p:nvPr/>
        </p:nvSpPr>
        <p:spPr>
          <a:xfrm>
            <a:off x="1143000" y="4370832"/>
            <a:ext cx="292608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COPY</a:t>
            </a:r>
            <a:endParaRPr lang="en-US" sz="1100" dirty="0"/>
          </a:p>
        </p:txBody>
      </p:sp>
      <p:sp>
        <p:nvSpPr>
          <p:cNvPr id="10" name="Text 8"/>
          <p:cNvSpPr/>
          <p:nvPr/>
        </p:nvSpPr>
        <p:spPr>
          <a:xfrm>
            <a:off x="1143000" y="4828032"/>
            <a:ext cx="9875520" cy="777240"/>
          </a:xfrm>
          <a:prstGeom prst="rect">
            <a:avLst/>
          </a:prstGeom>
          <a:noFill/>
          <a:ln/>
        </p:spPr>
        <p:txBody>
          <a:bodyPr wrap="square" lIns="0" tIns="0" rIns="0" bIns="0" rtlCol="0" anchor="t"/>
          <a:lstStyle/>
          <a:p>
            <a:pPr indent="0" marL="0">
              <a:lnSpc>
                <a:spcPts val="2000"/>
              </a:lnSpc>
              <a:buNone/>
            </a:pPr>
            <a:r>
              <a:rPr lang="en-US" sz="1350" dirty="0">
                <a:solidFill>
                  <a:srgbClr val="FBF6EE"/>
                </a:solidFill>
                <a:latin typeface="Karla" pitchFamily="34" charset="0"/>
                <a:ea typeface="Karla" pitchFamily="34" charset="-122"/>
                <a:cs typeface="Karla" pitchFamily="34" charset="-120"/>
              </a:rPr>
              <a:t>Directive   ·   Moves toward a decision   ·   Collects on the trust   ·   Your homepage and offer page</a:t>
            </a:r>
            <a:endParaRPr lang="en-US" sz="13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48</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THE STRUCTURE</a:t>
            </a:r>
            <a:endParaRPr lang="en-US" sz="1100" dirty="0"/>
          </a:p>
        </p:txBody>
      </p:sp>
      <p:sp>
        <p:nvSpPr>
          <p:cNvPr id="4" name="Text 2"/>
          <p:cNvSpPr/>
          <p:nvPr/>
        </p:nvSpPr>
        <p:spPr>
          <a:xfrm>
            <a:off x="777240" y="1051560"/>
            <a:ext cx="83210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Every page that sells uses this order.</a:t>
            </a:r>
            <a:endParaRPr lang="en-US" sz="3300" dirty="0"/>
          </a:p>
        </p:txBody>
      </p:sp>
      <p:sp>
        <p:nvSpPr>
          <p:cNvPr id="5" name="Shape 3"/>
          <p:cNvSpPr/>
          <p:nvPr/>
        </p:nvSpPr>
        <p:spPr>
          <a:xfrm>
            <a:off x="2103120" y="3429000"/>
            <a:ext cx="7955280" cy="0"/>
          </a:xfrm>
          <a:prstGeom prst="line">
            <a:avLst/>
          </a:prstGeom>
          <a:noFill/>
          <a:ln w="25400">
            <a:solidFill>
              <a:srgbClr val="E0D5C9"/>
            </a:solidFill>
            <a:prstDash val="solid"/>
          </a:ln>
        </p:spPr>
      </p:sp>
      <p:sp>
        <p:nvSpPr>
          <p:cNvPr id="6" name="Shape 4"/>
          <p:cNvSpPr/>
          <p:nvPr/>
        </p:nvSpPr>
        <p:spPr>
          <a:xfrm>
            <a:off x="1901952" y="3227832"/>
            <a:ext cx="402336" cy="402336"/>
          </a:xfrm>
          <a:prstGeom prst="ellipse">
            <a:avLst/>
          </a:prstGeom>
          <a:solidFill>
            <a:srgbClr val="2E1F27"/>
          </a:solidFill>
          <a:ln/>
        </p:spPr>
      </p:sp>
      <p:sp>
        <p:nvSpPr>
          <p:cNvPr id="7" name="Text 5"/>
          <p:cNvSpPr/>
          <p:nvPr/>
        </p:nvSpPr>
        <p:spPr>
          <a:xfrm>
            <a:off x="77724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first</a:t>
            </a:r>
            <a:endParaRPr lang="en-US" sz="2300" dirty="0"/>
          </a:p>
        </p:txBody>
      </p:sp>
      <p:sp>
        <p:nvSpPr>
          <p:cNvPr id="8" name="Text 6"/>
          <p:cNvSpPr/>
          <p:nvPr/>
        </p:nvSpPr>
        <p:spPr>
          <a:xfrm>
            <a:off x="77724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The hook</a:t>
            </a:r>
            <a:endParaRPr lang="en-US" sz="1700" dirty="0"/>
          </a:p>
        </p:txBody>
      </p:sp>
      <p:sp>
        <p:nvSpPr>
          <p:cNvPr id="9" name="Text 7"/>
          <p:cNvSpPr/>
          <p:nvPr/>
        </p:nvSpPr>
        <p:spPr>
          <a:xfrm>
            <a:off x="100584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Name her problem in her own words, in the first line she reads.</a:t>
            </a:r>
            <a:endParaRPr lang="en-US" sz="1150" dirty="0"/>
          </a:p>
        </p:txBody>
      </p:sp>
      <p:sp>
        <p:nvSpPr>
          <p:cNvPr id="10" name="Shape 8"/>
          <p:cNvSpPr/>
          <p:nvPr/>
        </p:nvSpPr>
        <p:spPr>
          <a:xfrm>
            <a:off x="4553712" y="3227832"/>
            <a:ext cx="402336" cy="402336"/>
          </a:xfrm>
          <a:prstGeom prst="ellipse">
            <a:avLst/>
          </a:prstGeom>
          <a:solidFill>
            <a:srgbClr val="2E1F27"/>
          </a:solidFill>
          <a:ln/>
        </p:spPr>
      </p:sp>
      <p:sp>
        <p:nvSpPr>
          <p:cNvPr id="11" name="Text 9"/>
          <p:cNvSpPr/>
          <p:nvPr/>
        </p:nvSpPr>
        <p:spPr>
          <a:xfrm>
            <a:off x="342900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then</a:t>
            </a:r>
            <a:endParaRPr lang="en-US" sz="2300" dirty="0"/>
          </a:p>
        </p:txBody>
      </p:sp>
      <p:sp>
        <p:nvSpPr>
          <p:cNvPr id="12" name="Text 10"/>
          <p:cNvSpPr/>
          <p:nvPr/>
        </p:nvSpPr>
        <p:spPr>
          <a:xfrm>
            <a:off x="342900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The proof</a:t>
            </a:r>
            <a:endParaRPr lang="en-US" sz="1700" dirty="0"/>
          </a:p>
        </p:txBody>
      </p:sp>
      <p:sp>
        <p:nvSpPr>
          <p:cNvPr id="13" name="Text 11"/>
          <p:cNvSpPr/>
          <p:nvPr/>
        </p:nvSpPr>
        <p:spPr>
          <a:xfrm>
            <a:off x="365760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Show that you can do it. Results, quotes, the work itself.</a:t>
            </a:r>
            <a:endParaRPr lang="en-US" sz="1150" dirty="0"/>
          </a:p>
        </p:txBody>
      </p:sp>
      <p:sp>
        <p:nvSpPr>
          <p:cNvPr id="14" name="Shape 12"/>
          <p:cNvSpPr/>
          <p:nvPr/>
        </p:nvSpPr>
        <p:spPr>
          <a:xfrm>
            <a:off x="7205472" y="3227832"/>
            <a:ext cx="402336" cy="402336"/>
          </a:xfrm>
          <a:prstGeom prst="ellipse">
            <a:avLst/>
          </a:prstGeom>
          <a:solidFill>
            <a:srgbClr val="2E1F27"/>
          </a:solidFill>
          <a:ln/>
        </p:spPr>
      </p:sp>
      <p:sp>
        <p:nvSpPr>
          <p:cNvPr id="15" name="Text 13"/>
          <p:cNvSpPr/>
          <p:nvPr/>
        </p:nvSpPr>
        <p:spPr>
          <a:xfrm>
            <a:off x="608076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then</a:t>
            </a:r>
            <a:endParaRPr lang="en-US" sz="2300" dirty="0"/>
          </a:p>
        </p:txBody>
      </p:sp>
      <p:sp>
        <p:nvSpPr>
          <p:cNvPr id="16" name="Text 14"/>
          <p:cNvSpPr/>
          <p:nvPr/>
        </p:nvSpPr>
        <p:spPr>
          <a:xfrm>
            <a:off x="608076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The offer</a:t>
            </a:r>
            <a:endParaRPr lang="en-US" sz="1700" dirty="0"/>
          </a:p>
        </p:txBody>
      </p:sp>
      <p:sp>
        <p:nvSpPr>
          <p:cNvPr id="17" name="Text 15"/>
          <p:cNvSpPr/>
          <p:nvPr/>
        </p:nvSpPr>
        <p:spPr>
          <a:xfrm>
            <a:off x="630936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What you do, what it costs, what happens when.</a:t>
            </a:r>
            <a:endParaRPr lang="en-US" sz="1150" dirty="0"/>
          </a:p>
        </p:txBody>
      </p:sp>
      <p:sp>
        <p:nvSpPr>
          <p:cNvPr id="18" name="Shape 16"/>
          <p:cNvSpPr/>
          <p:nvPr/>
        </p:nvSpPr>
        <p:spPr>
          <a:xfrm>
            <a:off x="9857232" y="3227832"/>
            <a:ext cx="402336" cy="402336"/>
          </a:xfrm>
          <a:prstGeom prst="ellipse">
            <a:avLst/>
          </a:prstGeom>
          <a:solidFill>
            <a:srgbClr val="A93F63"/>
          </a:solidFill>
          <a:ln/>
        </p:spPr>
      </p:sp>
      <p:sp>
        <p:nvSpPr>
          <p:cNvPr id="19" name="Text 17"/>
          <p:cNvSpPr/>
          <p:nvPr/>
        </p:nvSpPr>
        <p:spPr>
          <a:xfrm>
            <a:off x="873252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finally</a:t>
            </a:r>
            <a:endParaRPr lang="en-US" sz="2300" dirty="0"/>
          </a:p>
        </p:txBody>
      </p:sp>
      <p:sp>
        <p:nvSpPr>
          <p:cNvPr id="20" name="Text 18"/>
          <p:cNvSpPr/>
          <p:nvPr/>
        </p:nvSpPr>
        <p:spPr>
          <a:xfrm>
            <a:off x="873252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The step</a:t>
            </a:r>
            <a:endParaRPr lang="en-US" sz="1700" dirty="0"/>
          </a:p>
        </p:txBody>
      </p:sp>
      <p:sp>
        <p:nvSpPr>
          <p:cNvPr id="21" name="Text 19"/>
          <p:cNvSpPr/>
          <p:nvPr/>
        </p:nvSpPr>
        <p:spPr>
          <a:xfrm>
            <a:off x="896112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One clear action. Not four options, one.</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49</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THE THREE THAT MATTER</a:t>
            </a:r>
            <a:endParaRPr lang="en-US" sz="1100" dirty="0"/>
          </a:p>
        </p:txBody>
      </p:sp>
      <p:sp>
        <p:nvSpPr>
          <p:cNvPr id="4" name="Text 2"/>
          <p:cNvSpPr/>
          <p:nvPr/>
        </p:nvSpPr>
        <p:spPr>
          <a:xfrm>
            <a:off x="777240" y="1051560"/>
            <a:ext cx="8321040" cy="100584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If you only fix three things, fix these.</a:t>
            </a:r>
            <a:endParaRPr lang="en-US" sz="3300" dirty="0"/>
          </a:p>
        </p:txBody>
      </p:sp>
      <p:sp>
        <p:nvSpPr>
          <p:cNvPr id="5" name="Shape 3"/>
          <p:cNvSpPr/>
          <p:nvPr/>
        </p:nvSpPr>
        <p:spPr>
          <a:xfrm>
            <a:off x="777240" y="2423160"/>
            <a:ext cx="3304032" cy="3017520"/>
          </a:xfrm>
          <a:prstGeom prst="roundRect">
            <a:avLst>
              <a:gd name="adj" fmla="val 4242"/>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6" name="Text 4"/>
          <p:cNvSpPr/>
          <p:nvPr/>
        </p:nvSpPr>
        <p:spPr>
          <a:xfrm>
            <a:off x="1106424" y="2807208"/>
            <a:ext cx="2645664"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The headline</a:t>
            </a:r>
            <a:endParaRPr lang="en-US" sz="1900" dirty="0"/>
          </a:p>
        </p:txBody>
      </p:sp>
      <p:sp>
        <p:nvSpPr>
          <p:cNvPr id="7" name="Text 5"/>
          <p:cNvSpPr/>
          <p:nvPr/>
        </p:nvSpPr>
        <p:spPr>
          <a:xfrm>
            <a:off x="1106424" y="3749040"/>
            <a:ext cx="2645664" cy="146304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Eighty percent of visitors read this and nothing else. It has to say the outcome, not your brand name.</a:t>
            </a:r>
            <a:endParaRPr lang="en-US" sz="1250" dirty="0"/>
          </a:p>
        </p:txBody>
      </p:sp>
      <p:sp>
        <p:nvSpPr>
          <p:cNvPr id="8" name="Shape 6"/>
          <p:cNvSpPr/>
          <p:nvPr/>
        </p:nvSpPr>
        <p:spPr>
          <a:xfrm>
            <a:off x="4428744" y="2926080"/>
            <a:ext cx="3304032" cy="3017520"/>
          </a:xfrm>
          <a:prstGeom prst="roundRect">
            <a:avLst>
              <a:gd name="adj" fmla="val 4242"/>
            </a:avLst>
          </a:prstGeom>
          <a:solidFill>
            <a:srgbClr val="2E1F27"/>
          </a:solidFill>
          <a:ln w="9525">
            <a:solidFill>
              <a:srgbClr val="2E1F27"/>
            </a:solidFill>
            <a:prstDash val="solid"/>
          </a:ln>
          <a:effectLst>
            <a:outerShdw sx="100000" sy="100000" kx="0" ky="0" algn="bl" rotWithShape="0" blurRad="203200" dist="63500" dir="5400000">
              <a:srgbClr val="2E1F27">
                <a:alpha val="15000"/>
              </a:srgbClr>
            </a:outerShdw>
          </a:effectLst>
        </p:spPr>
      </p:sp>
      <p:sp>
        <p:nvSpPr>
          <p:cNvPr id="9" name="Text 7"/>
          <p:cNvSpPr/>
          <p:nvPr/>
        </p:nvSpPr>
        <p:spPr>
          <a:xfrm>
            <a:off x="4757928" y="3310128"/>
            <a:ext cx="2645664" cy="822960"/>
          </a:xfrm>
          <a:prstGeom prst="rect">
            <a:avLst/>
          </a:prstGeom>
          <a:noFill/>
          <a:ln/>
        </p:spPr>
        <p:txBody>
          <a:bodyPr wrap="square" lIns="0" tIns="0" rIns="0" bIns="0" rtlCol="0" anchor="t"/>
          <a:lstStyle/>
          <a:p>
            <a:pPr indent="0" marL="0">
              <a:lnSpc>
                <a:spcPts val="2300"/>
              </a:lnSpc>
              <a:buNone/>
            </a:pPr>
            <a:r>
              <a:rPr lang="en-US" sz="1900" dirty="0">
                <a:solidFill>
                  <a:srgbClr val="FBF6EE"/>
                </a:solidFill>
                <a:latin typeface="Fraunces" pitchFamily="34" charset="0"/>
                <a:ea typeface="Fraunces" pitchFamily="34" charset="-122"/>
                <a:cs typeface="Fraunces" pitchFamily="34" charset="-120"/>
              </a:rPr>
              <a:t>The proof</a:t>
            </a:r>
            <a:endParaRPr lang="en-US" sz="1900" dirty="0"/>
          </a:p>
        </p:txBody>
      </p:sp>
      <p:sp>
        <p:nvSpPr>
          <p:cNvPr id="10" name="Text 8"/>
          <p:cNvSpPr/>
          <p:nvPr/>
        </p:nvSpPr>
        <p:spPr>
          <a:xfrm>
            <a:off x="4757928" y="4251960"/>
            <a:ext cx="2645664" cy="1463040"/>
          </a:xfrm>
          <a:prstGeom prst="rect">
            <a:avLst/>
          </a:prstGeom>
          <a:noFill/>
          <a:ln/>
        </p:spPr>
        <p:txBody>
          <a:bodyPr wrap="square" lIns="0" tIns="0" rIns="0" bIns="0" rtlCol="0" anchor="t"/>
          <a:lstStyle/>
          <a:p>
            <a:pPr indent="0" marL="0">
              <a:lnSpc>
                <a:spcPts val="1900"/>
              </a:lnSpc>
              <a:buNone/>
            </a:pPr>
            <a:r>
              <a:rPr lang="en-US" sz="1250" dirty="0">
                <a:solidFill>
                  <a:srgbClr val="D8CBC3"/>
                </a:solidFill>
                <a:latin typeface="Karla" pitchFamily="34" charset="0"/>
                <a:ea typeface="Karla" pitchFamily="34" charset="-122"/>
                <a:cs typeface="Karla" pitchFamily="34" charset="-120"/>
              </a:rPr>
              <a:t>People believe other people. Screenshots, quotes, numbers, before and after.</a:t>
            </a:r>
            <a:endParaRPr lang="en-US" sz="1250" dirty="0"/>
          </a:p>
        </p:txBody>
      </p:sp>
      <p:sp>
        <p:nvSpPr>
          <p:cNvPr id="11" name="Shape 9"/>
          <p:cNvSpPr/>
          <p:nvPr/>
        </p:nvSpPr>
        <p:spPr>
          <a:xfrm>
            <a:off x="8080248" y="2679192"/>
            <a:ext cx="3304032" cy="3017520"/>
          </a:xfrm>
          <a:prstGeom prst="roundRect">
            <a:avLst>
              <a:gd name="adj" fmla="val 4242"/>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2" name="Text 10"/>
          <p:cNvSpPr/>
          <p:nvPr/>
        </p:nvSpPr>
        <p:spPr>
          <a:xfrm>
            <a:off x="8409432" y="3063240"/>
            <a:ext cx="2645664"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The button</a:t>
            </a:r>
            <a:endParaRPr lang="en-US" sz="1900" dirty="0"/>
          </a:p>
        </p:txBody>
      </p:sp>
      <p:sp>
        <p:nvSpPr>
          <p:cNvPr id="13" name="Text 11"/>
          <p:cNvSpPr/>
          <p:nvPr/>
        </p:nvSpPr>
        <p:spPr>
          <a:xfrm>
            <a:off x="8409432" y="4005072"/>
            <a:ext cx="2645664" cy="146304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Say what happens when they click. "Book your call" beats "Submit" every time.</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50</a:t>
            </a:r>
            <a:endParaRPr lang="en-US" sz="950" dirty="0"/>
          </a:p>
        </p:txBody>
      </p:sp>
      <p:sp>
        <p:nvSpPr>
          <p:cNvPr id="3" name="Shape 1"/>
          <p:cNvSpPr/>
          <p:nvPr/>
        </p:nvSpPr>
        <p:spPr>
          <a:xfrm>
            <a:off x="0" y="0"/>
            <a:ext cx="5029200" cy="6858000"/>
          </a:xfrm>
          <a:prstGeom prst="rect">
            <a:avLst/>
          </a:prstGeom>
          <a:solidFill>
            <a:srgbClr val="2E1F27"/>
          </a:solidFill>
          <a:ln/>
        </p:spPr>
      </p:sp>
      <p:sp>
        <p:nvSpPr>
          <p:cNvPr id="4" name="Text 2"/>
          <p:cNvSpPr/>
          <p:nvPr/>
        </p:nvSpPr>
        <p:spPr>
          <a:xfrm>
            <a:off x="777240" y="1371600"/>
            <a:ext cx="384048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WRITE IT LAST</a:t>
            </a:r>
            <a:endParaRPr lang="en-US" sz="1100" dirty="0"/>
          </a:p>
        </p:txBody>
      </p:sp>
      <p:sp>
        <p:nvSpPr>
          <p:cNvPr id="5" name="Text 3"/>
          <p:cNvSpPr/>
          <p:nvPr/>
        </p:nvSpPr>
        <p:spPr>
          <a:xfrm>
            <a:off x="777240" y="1828800"/>
            <a:ext cx="3931920" cy="2377440"/>
          </a:xfrm>
          <a:prstGeom prst="rect">
            <a:avLst/>
          </a:prstGeom>
          <a:noFill/>
          <a:ln/>
        </p:spPr>
        <p:txBody>
          <a:bodyPr wrap="square" lIns="0" tIns="0" rIns="0" bIns="0" rtlCol="0" anchor="t"/>
          <a:lstStyle/>
          <a:p>
            <a:pPr indent="0" marL="0">
              <a:lnSpc>
                <a:spcPts val="3600"/>
              </a:lnSpc>
              <a:buNone/>
            </a:pPr>
            <a:r>
              <a:rPr lang="en-US" sz="3200" dirty="0">
                <a:solidFill>
                  <a:srgbClr val="FBF6EE"/>
                </a:solidFill>
                <a:latin typeface="Fraunces" pitchFamily="34" charset="0"/>
                <a:ea typeface="Fraunces" pitchFamily="34" charset="-122"/>
                <a:cs typeface="Fraunces" pitchFamily="34" charset="-120"/>
              </a:rPr>
              <a:t>Even though the headline goes first.</a:t>
            </a:r>
            <a:endParaRPr lang="en-US" sz="3200" dirty="0"/>
          </a:p>
        </p:txBody>
      </p:sp>
      <p:sp>
        <p:nvSpPr>
          <p:cNvPr id="6" name="Shape 4"/>
          <p:cNvSpPr/>
          <p:nvPr/>
        </p:nvSpPr>
        <p:spPr>
          <a:xfrm>
            <a:off x="5760720" y="1463040"/>
            <a:ext cx="512064" cy="512064"/>
          </a:xfrm>
          <a:prstGeom prst="ellipse">
            <a:avLst/>
          </a:prstGeom>
          <a:solidFill>
            <a:srgbClr val="A93F63"/>
          </a:solidFill>
          <a:ln/>
        </p:spPr>
      </p:sp>
      <p:sp>
        <p:nvSpPr>
          <p:cNvPr id="7" name="Text 5"/>
          <p:cNvSpPr/>
          <p:nvPr/>
        </p:nvSpPr>
        <p:spPr>
          <a:xfrm>
            <a:off x="5760720" y="146304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1</a:t>
            </a:r>
            <a:endParaRPr lang="en-US" sz="1500" dirty="0"/>
          </a:p>
        </p:txBody>
      </p:sp>
      <p:sp>
        <p:nvSpPr>
          <p:cNvPr id="8" name="Text 6"/>
          <p:cNvSpPr/>
          <p:nvPr/>
        </p:nvSpPr>
        <p:spPr>
          <a:xfrm>
            <a:off x="6492240" y="1444752"/>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Write the body first</a:t>
            </a:r>
            <a:endParaRPr lang="en-US" sz="1900" dirty="0"/>
          </a:p>
        </p:txBody>
      </p:sp>
      <p:sp>
        <p:nvSpPr>
          <p:cNvPr id="9" name="Text 7"/>
          <p:cNvSpPr/>
          <p:nvPr/>
        </p:nvSpPr>
        <p:spPr>
          <a:xfrm>
            <a:off x="6492240" y="1874520"/>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You cannot write a good headline until you know what the page is arguing.</a:t>
            </a:r>
            <a:endParaRPr lang="en-US" sz="1250" dirty="0"/>
          </a:p>
        </p:txBody>
      </p:sp>
      <p:sp>
        <p:nvSpPr>
          <p:cNvPr id="10" name="Shape 8"/>
          <p:cNvSpPr/>
          <p:nvPr/>
        </p:nvSpPr>
        <p:spPr>
          <a:xfrm>
            <a:off x="5760720" y="2944368"/>
            <a:ext cx="512064" cy="512064"/>
          </a:xfrm>
          <a:prstGeom prst="ellipse">
            <a:avLst/>
          </a:prstGeom>
          <a:solidFill>
            <a:srgbClr val="A93F63"/>
          </a:solidFill>
          <a:ln/>
        </p:spPr>
      </p:sp>
      <p:sp>
        <p:nvSpPr>
          <p:cNvPr id="11" name="Text 9"/>
          <p:cNvSpPr/>
          <p:nvPr/>
        </p:nvSpPr>
        <p:spPr>
          <a:xfrm>
            <a:off x="5760720" y="294436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2</a:t>
            </a:r>
            <a:endParaRPr lang="en-US" sz="1500" dirty="0"/>
          </a:p>
        </p:txBody>
      </p:sp>
      <p:sp>
        <p:nvSpPr>
          <p:cNvPr id="12" name="Text 10"/>
          <p:cNvSpPr/>
          <p:nvPr/>
        </p:nvSpPr>
        <p:spPr>
          <a:xfrm>
            <a:off x="6492240" y="2926080"/>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One job only</a:t>
            </a:r>
            <a:endParaRPr lang="en-US" sz="1900" dirty="0"/>
          </a:p>
        </p:txBody>
      </p:sp>
      <p:sp>
        <p:nvSpPr>
          <p:cNvPr id="13" name="Text 11"/>
          <p:cNvSpPr/>
          <p:nvPr/>
        </p:nvSpPr>
        <p:spPr>
          <a:xfrm>
            <a:off x="6492240" y="3355848"/>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Make the right person feel seen and keep reading. Not clever, not pretty.</a:t>
            </a:r>
            <a:endParaRPr lang="en-US" sz="1250" dirty="0"/>
          </a:p>
        </p:txBody>
      </p:sp>
      <p:sp>
        <p:nvSpPr>
          <p:cNvPr id="14" name="Shape 12"/>
          <p:cNvSpPr/>
          <p:nvPr/>
        </p:nvSpPr>
        <p:spPr>
          <a:xfrm>
            <a:off x="5760720" y="4425696"/>
            <a:ext cx="512064" cy="512064"/>
          </a:xfrm>
          <a:prstGeom prst="ellipse">
            <a:avLst/>
          </a:prstGeom>
          <a:solidFill>
            <a:srgbClr val="A93F63"/>
          </a:solidFill>
          <a:ln/>
        </p:spPr>
      </p:sp>
      <p:sp>
        <p:nvSpPr>
          <p:cNvPr id="15" name="Text 13"/>
          <p:cNvSpPr/>
          <p:nvPr/>
        </p:nvSpPr>
        <p:spPr>
          <a:xfrm>
            <a:off x="5760720" y="442569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3</a:t>
            </a:r>
            <a:endParaRPr lang="en-US" sz="1500" dirty="0"/>
          </a:p>
        </p:txBody>
      </p:sp>
      <p:sp>
        <p:nvSpPr>
          <p:cNvPr id="16" name="Text 14"/>
          <p:cNvSpPr/>
          <p:nvPr/>
        </p:nvSpPr>
        <p:spPr>
          <a:xfrm>
            <a:off x="6492240" y="4407408"/>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The swap test</a:t>
            </a:r>
            <a:endParaRPr lang="en-US" sz="1900" dirty="0"/>
          </a:p>
        </p:txBody>
      </p:sp>
      <p:sp>
        <p:nvSpPr>
          <p:cNvPr id="17" name="Text 15"/>
          <p:cNvSpPr/>
          <p:nvPr/>
        </p:nvSpPr>
        <p:spPr>
          <a:xfrm>
            <a:off x="6492240" y="4837176"/>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If it could sit on somebody else's site with the name changed, it is not finished.</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51</a:t>
            </a:r>
            <a:endParaRPr lang="en-US" sz="950" dirty="0"/>
          </a:p>
        </p:txBody>
      </p:sp>
      <p:sp>
        <p:nvSpPr>
          <p:cNvPr id="3" name="Shape 1"/>
          <p:cNvSpPr/>
          <p:nvPr/>
        </p:nvSpPr>
        <p:spPr>
          <a:xfrm>
            <a:off x="-2103120" y="3566160"/>
            <a:ext cx="4937760" cy="4937760"/>
          </a:xfrm>
          <a:prstGeom prst="ellipse">
            <a:avLst/>
          </a:prstGeom>
          <a:solidFill>
            <a:srgbClr val="F4EBDE">
              <a:alpha val="70000"/>
            </a:srgbClr>
          </a:solidFill>
          <a:ln/>
        </p:spPr>
      </p:sp>
      <p:sp>
        <p:nvSpPr>
          <p:cNvPr id="4" name="Text 2"/>
          <p:cNvSpPr/>
          <p:nvPr/>
        </p:nvSpPr>
        <p:spPr>
          <a:xfrm>
            <a:off x="777240" y="1143000"/>
            <a:ext cx="51206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HEADLINE PATTERNS</a:t>
            </a:r>
            <a:endParaRPr lang="en-US" sz="1100" dirty="0"/>
          </a:p>
        </p:txBody>
      </p:sp>
      <p:sp>
        <p:nvSpPr>
          <p:cNvPr id="5" name="Text 3"/>
          <p:cNvSpPr/>
          <p:nvPr/>
        </p:nvSpPr>
        <p:spPr>
          <a:xfrm>
            <a:off x="777240" y="1554480"/>
            <a:ext cx="4846320" cy="1828800"/>
          </a:xfrm>
          <a:prstGeom prst="rect">
            <a:avLst/>
          </a:prstGeom>
          <a:noFill/>
          <a:ln/>
        </p:spPr>
        <p:txBody>
          <a:bodyPr wrap="square" lIns="0" tIns="0" rIns="0" bIns="0" rtlCol="0" anchor="t"/>
          <a:lstStyle/>
          <a:p>
            <a:pPr indent="0" marL="0">
              <a:lnSpc>
                <a:spcPts val="3600"/>
              </a:lnSpc>
              <a:buNone/>
            </a:pPr>
            <a:r>
              <a:rPr lang="en-US" sz="3200" dirty="0">
                <a:solidFill>
                  <a:srgbClr val="2E1F27"/>
                </a:solidFill>
                <a:latin typeface="Fraunces" pitchFamily="34" charset="0"/>
                <a:ea typeface="Fraunces" pitchFamily="34" charset="-122"/>
                <a:cs typeface="Fraunces" pitchFamily="34" charset="-120"/>
              </a:rPr>
              <a:t>Steal these shapes, fill them with your own words.</a:t>
            </a:r>
            <a:endParaRPr lang="en-US" sz="3200" dirty="0"/>
          </a:p>
        </p:txBody>
      </p:sp>
      <p:sp>
        <p:nvSpPr>
          <p:cNvPr id="6" name="Shape 4"/>
          <p:cNvSpPr/>
          <p:nvPr/>
        </p:nvSpPr>
        <p:spPr>
          <a:xfrm>
            <a:off x="5777179" y="2651760"/>
            <a:ext cx="137160" cy="137160"/>
          </a:xfrm>
          <a:prstGeom prst="ellipse">
            <a:avLst/>
          </a:prstGeom>
          <a:solidFill>
            <a:srgbClr val="BC8A47"/>
          </a:solidFill>
          <a:ln/>
        </p:spPr>
      </p:sp>
      <p:sp>
        <p:nvSpPr>
          <p:cNvPr id="7" name="Text 5"/>
          <p:cNvSpPr/>
          <p:nvPr/>
        </p:nvSpPr>
        <p:spPr>
          <a:xfrm>
            <a:off x="6188659" y="245973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Outcome plus timeframe: "Your blog launched in 21 days"</a:t>
            </a:r>
            <a:endParaRPr lang="en-US" sz="1400" dirty="0"/>
          </a:p>
        </p:txBody>
      </p:sp>
      <p:sp>
        <p:nvSpPr>
          <p:cNvPr id="8" name="Shape 6"/>
          <p:cNvSpPr/>
          <p:nvPr/>
        </p:nvSpPr>
        <p:spPr>
          <a:xfrm>
            <a:off x="5777179" y="3438144"/>
            <a:ext cx="137160" cy="137160"/>
          </a:xfrm>
          <a:prstGeom prst="ellipse">
            <a:avLst/>
          </a:prstGeom>
          <a:solidFill>
            <a:srgbClr val="BC8A47"/>
          </a:solidFill>
          <a:ln/>
        </p:spPr>
      </p:sp>
      <p:sp>
        <p:nvSpPr>
          <p:cNvPr id="9" name="Text 7"/>
          <p:cNvSpPr/>
          <p:nvPr/>
        </p:nvSpPr>
        <p:spPr>
          <a:xfrm>
            <a:off x="6188659" y="3246120"/>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Objection answered: "You do not need more traffic"</a:t>
            </a:r>
            <a:endParaRPr lang="en-US" sz="1400" dirty="0"/>
          </a:p>
        </p:txBody>
      </p:sp>
      <p:sp>
        <p:nvSpPr>
          <p:cNvPr id="10" name="Shape 8"/>
          <p:cNvSpPr/>
          <p:nvPr/>
        </p:nvSpPr>
        <p:spPr>
          <a:xfrm>
            <a:off x="5777179" y="4224528"/>
            <a:ext cx="137160" cy="137160"/>
          </a:xfrm>
          <a:prstGeom prst="ellipse">
            <a:avLst/>
          </a:prstGeom>
          <a:solidFill>
            <a:srgbClr val="BC8A47"/>
          </a:solidFill>
          <a:ln/>
        </p:spPr>
      </p:sp>
      <p:sp>
        <p:nvSpPr>
          <p:cNvPr id="11" name="Text 9"/>
          <p:cNvSpPr/>
          <p:nvPr/>
        </p:nvSpPr>
        <p:spPr>
          <a:xfrm>
            <a:off x="6188659" y="4032504"/>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Before and after: "From a blog that made nothing to a business"</a:t>
            </a:r>
            <a:endParaRPr lang="en-US" sz="1400" dirty="0"/>
          </a:p>
        </p:txBody>
      </p:sp>
      <p:sp>
        <p:nvSpPr>
          <p:cNvPr id="12" name="Shape 10"/>
          <p:cNvSpPr/>
          <p:nvPr/>
        </p:nvSpPr>
        <p:spPr>
          <a:xfrm>
            <a:off x="5777179" y="5010912"/>
            <a:ext cx="137160" cy="137160"/>
          </a:xfrm>
          <a:prstGeom prst="ellipse">
            <a:avLst/>
          </a:prstGeom>
          <a:solidFill>
            <a:srgbClr val="BC8A47"/>
          </a:solidFill>
          <a:ln/>
        </p:spPr>
      </p:sp>
      <p:sp>
        <p:nvSpPr>
          <p:cNvPr id="13" name="Text 11"/>
          <p:cNvSpPr/>
          <p:nvPr/>
        </p:nvSpPr>
        <p:spPr>
          <a:xfrm>
            <a:off x="6188659" y="4818888"/>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The named person: "For the woman who has bought three courses"</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52</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WEAK VERSUS STRONG</a:t>
            </a:r>
            <a:endParaRPr lang="en-US" sz="1100" dirty="0"/>
          </a:p>
        </p:txBody>
      </p:sp>
      <p:sp>
        <p:nvSpPr>
          <p:cNvPr id="4" name="Text 2"/>
          <p:cNvSpPr/>
          <p:nvPr/>
        </p:nvSpPr>
        <p:spPr>
          <a:xfrm>
            <a:off x="777240" y="1051560"/>
            <a:ext cx="83210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Same offer, two very different results.</a:t>
            </a:r>
            <a:endParaRPr lang="en-US" sz="3300" dirty="0"/>
          </a:p>
        </p:txBody>
      </p:sp>
      <p:sp>
        <p:nvSpPr>
          <p:cNvPr id="5" name="Shape 3"/>
          <p:cNvSpPr/>
          <p:nvPr/>
        </p:nvSpPr>
        <p:spPr>
          <a:xfrm>
            <a:off x="777240" y="2468880"/>
            <a:ext cx="4572000" cy="2743200"/>
          </a:xfrm>
          <a:prstGeom prst="roundRect">
            <a:avLst>
              <a:gd name="adj" fmla="val 4667"/>
            </a:avLst>
          </a:prstGeom>
          <a:solidFill>
            <a:srgbClr val="FFFFFF"/>
          </a:solidFill>
          <a:ln w="9525">
            <a:solidFill>
              <a:srgbClr val="DCD2C7"/>
            </a:solidFill>
            <a:prstDash val="solid"/>
          </a:ln>
        </p:spPr>
      </p:sp>
      <p:sp>
        <p:nvSpPr>
          <p:cNvPr id="6" name="Text 4"/>
          <p:cNvSpPr/>
          <p:nvPr/>
        </p:nvSpPr>
        <p:spPr>
          <a:xfrm>
            <a:off x="1143000" y="2788920"/>
            <a:ext cx="3840480" cy="274320"/>
          </a:xfrm>
          <a:prstGeom prst="rect">
            <a:avLst/>
          </a:prstGeom>
          <a:noFill/>
          <a:ln/>
        </p:spPr>
        <p:txBody>
          <a:bodyPr wrap="square" lIns="0" tIns="0" rIns="0" bIns="0" rtlCol="0" anchor="t"/>
          <a:lstStyle/>
          <a:p>
            <a:pPr indent="0" marL="0">
              <a:buNone/>
            </a:pPr>
            <a:r>
              <a:rPr lang="en-US" sz="1050" b="1" spc="300" kern="0" dirty="0">
                <a:solidFill>
                  <a:srgbClr val="6E5C63"/>
                </a:solidFill>
                <a:latin typeface="Karla" pitchFamily="34" charset="0"/>
                <a:ea typeface="Karla" pitchFamily="34" charset="-122"/>
                <a:cs typeface="Karla" pitchFamily="34" charset="-120"/>
              </a:rPr>
              <a:t>WEAK</a:t>
            </a:r>
            <a:endParaRPr lang="en-US" sz="1050" dirty="0"/>
          </a:p>
        </p:txBody>
      </p:sp>
      <p:sp>
        <p:nvSpPr>
          <p:cNvPr id="7" name="Text 5"/>
          <p:cNvSpPr/>
          <p:nvPr/>
        </p:nvSpPr>
        <p:spPr>
          <a:xfrm>
            <a:off x="1143000" y="3246120"/>
            <a:ext cx="3840480" cy="173736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Welcome to my blog</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Helping women thrive online</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Services</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Let's work together</a:t>
            </a:r>
            <a:endParaRPr lang="en-US" sz="1250" dirty="0"/>
          </a:p>
        </p:txBody>
      </p:sp>
      <p:sp>
        <p:nvSpPr>
          <p:cNvPr id="8" name="Text 6"/>
          <p:cNvSpPr/>
          <p:nvPr/>
        </p:nvSpPr>
        <p:spPr>
          <a:xfrm>
            <a:off x="5486400" y="3474720"/>
            <a:ext cx="1188720" cy="822960"/>
          </a:xfrm>
          <a:prstGeom prst="rect">
            <a:avLst/>
          </a:prstGeom>
          <a:noFill/>
          <a:ln/>
        </p:spPr>
        <p:txBody>
          <a:bodyPr wrap="square" lIns="0" tIns="0" rIns="0" bIns="0" rtlCol="0" anchor="t"/>
          <a:lstStyle/>
          <a:p>
            <a:pPr algn="ctr" indent="0" marL="0">
              <a:buNone/>
            </a:pPr>
            <a:r>
              <a:rPr lang="en-US" sz="4400" dirty="0">
                <a:solidFill>
                  <a:srgbClr val="A93F63"/>
                </a:solidFill>
                <a:latin typeface="Fraunces" pitchFamily="34" charset="0"/>
                <a:ea typeface="Fraunces" pitchFamily="34" charset="-122"/>
                <a:cs typeface="Fraunces" pitchFamily="34" charset="-120"/>
              </a:rPr>
              <a:t>→</a:t>
            </a:r>
            <a:endParaRPr lang="en-US" sz="4400" dirty="0"/>
          </a:p>
        </p:txBody>
      </p:sp>
      <p:sp>
        <p:nvSpPr>
          <p:cNvPr id="9" name="Shape 7"/>
          <p:cNvSpPr/>
          <p:nvPr/>
        </p:nvSpPr>
        <p:spPr>
          <a:xfrm>
            <a:off x="6812280" y="2468880"/>
            <a:ext cx="4572000" cy="2743200"/>
          </a:xfrm>
          <a:prstGeom prst="roundRect">
            <a:avLst>
              <a:gd name="adj" fmla="val 4667"/>
            </a:avLst>
          </a:prstGeom>
          <a:solidFill>
            <a:srgbClr val="2E1F27"/>
          </a:solidFill>
          <a:ln w="9525">
            <a:solidFill>
              <a:srgbClr val="2E1F27"/>
            </a:solidFill>
            <a:prstDash val="solid"/>
          </a:ln>
          <a:effectLst>
            <a:outerShdw sx="100000" sy="100000" kx="0" ky="0" algn="bl" rotWithShape="0" blurRad="203200" dist="63500" dir="5400000">
              <a:srgbClr val="2E1F27">
                <a:alpha val="15000"/>
              </a:srgbClr>
            </a:outerShdw>
          </a:effectLst>
        </p:spPr>
      </p:sp>
      <p:sp>
        <p:nvSpPr>
          <p:cNvPr id="10" name="Text 8"/>
          <p:cNvSpPr/>
          <p:nvPr/>
        </p:nvSpPr>
        <p:spPr>
          <a:xfrm>
            <a:off x="7178040" y="2788920"/>
            <a:ext cx="3840480" cy="274320"/>
          </a:xfrm>
          <a:prstGeom prst="rect">
            <a:avLst/>
          </a:prstGeom>
          <a:noFill/>
          <a:ln/>
        </p:spPr>
        <p:txBody>
          <a:bodyPr wrap="square" lIns="0" tIns="0" rIns="0" bIns="0" rtlCol="0" anchor="t"/>
          <a:lstStyle/>
          <a:p>
            <a:pPr indent="0" marL="0">
              <a:buNone/>
            </a:pPr>
            <a:r>
              <a:rPr lang="en-US" sz="1050" b="1" spc="300" kern="0" dirty="0">
                <a:solidFill>
                  <a:srgbClr val="BC8A47"/>
                </a:solidFill>
                <a:latin typeface="Karla" pitchFamily="34" charset="0"/>
                <a:ea typeface="Karla" pitchFamily="34" charset="-122"/>
                <a:cs typeface="Karla" pitchFamily="34" charset="-120"/>
              </a:rPr>
              <a:t>STRONG</a:t>
            </a:r>
            <a:endParaRPr lang="en-US" sz="1050" dirty="0"/>
          </a:p>
        </p:txBody>
      </p:sp>
      <p:sp>
        <p:nvSpPr>
          <p:cNvPr id="11" name="Text 9"/>
          <p:cNvSpPr/>
          <p:nvPr/>
        </p:nvSpPr>
        <p:spPr>
          <a:xfrm>
            <a:off x="7178040" y="3246120"/>
            <a:ext cx="3840480" cy="173736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Your blog, built to sell, in 21 days</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You do not need more traffic</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Three ways to work with me</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Book the call, leave with a plan</a:t>
            </a:r>
            <a:endParaRPr lang="en-US" sz="1250" dirty="0"/>
          </a:p>
        </p:txBody>
      </p:sp>
      <p:sp>
        <p:nvSpPr>
          <p:cNvPr id="12" name="Text 10"/>
          <p:cNvSpPr/>
          <p:nvPr/>
        </p:nvSpPr>
        <p:spPr>
          <a:xfrm>
            <a:off x="1828800" y="5440680"/>
            <a:ext cx="8503920" cy="548640"/>
          </a:xfrm>
          <a:prstGeom prst="rect">
            <a:avLst/>
          </a:prstGeom>
          <a:noFill/>
          <a:ln/>
        </p:spPr>
        <p:txBody>
          <a:bodyPr wrap="square" lIns="0" tIns="0" rIns="0" bIns="0" rtlCol="0" anchor="t"/>
          <a:lstStyle/>
          <a:p>
            <a:pPr algn="ctr" indent="0" marL="0">
              <a:buNone/>
            </a:pPr>
            <a:r>
              <a:rPr lang="en-US" sz="2600" dirty="0">
                <a:solidFill>
                  <a:srgbClr val="A93F63"/>
                </a:solidFill>
                <a:latin typeface="Ephesis" pitchFamily="34" charset="0"/>
                <a:ea typeface="Ephesis" pitchFamily="34" charset="-122"/>
                <a:cs typeface="Ephesis" pitchFamily="34" charset="-120"/>
              </a:rPr>
              <a:t>say the outcome, always</a:t>
            </a:r>
            <a:endParaRPr lang="en-US" sz="2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53</a:t>
            </a:r>
            <a:endParaRPr lang="en-US" sz="950" dirty="0"/>
          </a:p>
        </p:txBody>
      </p:sp>
      <p:sp>
        <p:nvSpPr>
          <p:cNvPr id="3" name="Shape 1"/>
          <p:cNvSpPr/>
          <p:nvPr/>
        </p:nvSpPr>
        <p:spPr>
          <a:xfrm>
            <a:off x="6445606" y="0"/>
            <a:ext cx="5715914" cy="6858000"/>
          </a:xfrm>
          <a:prstGeom prst="rect">
            <a:avLst/>
          </a:prstGeom>
          <a:solidFill>
            <a:srgbClr val="F4EBDE"/>
          </a:solidFill>
          <a:ln/>
        </p:spPr>
      </p:sp>
      <p:sp>
        <p:nvSpPr>
          <p:cNvPr id="4" name="Shape 2"/>
          <p:cNvSpPr/>
          <p:nvPr/>
        </p:nvSpPr>
        <p:spPr>
          <a:xfrm>
            <a:off x="6994246" y="1143000"/>
            <a:ext cx="4481474" cy="4572000"/>
          </a:xfrm>
          <a:prstGeom prst="roundRect">
            <a:avLst>
              <a:gd name="adj" fmla="val 2040"/>
            </a:avLst>
          </a:prstGeom>
          <a:solidFill>
            <a:srgbClr val="FFFFFF"/>
          </a:solidFill>
          <a:ln w="15875">
            <a:solidFill>
              <a:srgbClr val="CFC2B4"/>
            </a:solidFill>
            <a:prstDash val="dash"/>
          </a:ln>
        </p:spPr>
      </p:sp>
      <p:sp>
        <p:nvSpPr>
          <p:cNvPr id="5" name="Shape 3"/>
          <p:cNvSpPr/>
          <p:nvPr/>
        </p:nvSpPr>
        <p:spPr>
          <a:xfrm>
            <a:off x="8850935" y="2715768"/>
            <a:ext cx="768096" cy="768096"/>
          </a:xfrm>
          <a:prstGeom prst="ellipse">
            <a:avLst/>
          </a:prstGeom>
          <a:solidFill>
            <a:srgbClr val="F4EBDE"/>
          </a:solidFill>
          <a:ln/>
        </p:spPr>
      </p:sp>
      <p:sp>
        <p:nvSpPr>
          <p:cNvPr id="6" name="Text 4"/>
          <p:cNvSpPr/>
          <p:nvPr/>
        </p:nvSpPr>
        <p:spPr>
          <a:xfrm>
            <a:off x="8850935" y="2679192"/>
            <a:ext cx="768096" cy="768096"/>
          </a:xfrm>
          <a:prstGeom prst="rect">
            <a:avLst/>
          </a:prstGeom>
          <a:noFill/>
          <a:ln/>
        </p:spPr>
        <p:txBody>
          <a:bodyPr wrap="square" lIns="0" tIns="0" rIns="0" bIns="0" rtlCol="0" anchor="ctr"/>
          <a:lstStyle/>
          <a:p>
            <a:pPr algn="ctr" indent="0" marL="0">
              <a:buNone/>
            </a:pPr>
            <a:r>
              <a:rPr lang="en-US" sz="3200" dirty="0">
                <a:solidFill>
                  <a:srgbClr val="B6A899"/>
                </a:solidFill>
                <a:latin typeface="Fraunces" pitchFamily="34" charset="0"/>
                <a:ea typeface="Fraunces" pitchFamily="34" charset="-122"/>
                <a:cs typeface="Fraunces" pitchFamily="34" charset="-120"/>
              </a:rPr>
              <a:t>+</a:t>
            </a:r>
            <a:endParaRPr lang="en-US" sz="3200" dirty="0"/>
          </a:p>
        </p:txBody>
      </p:sp>
      <p:sp>
        <p:nvSpPr>
          <p:cNvPr id="7" name="Text 5"/>
          <p:cNvSpPr/>
          <p:nvPr/>
        </p:nvSpPr>
        <p:spPr>
          <a:xfrm>
            <a:off x="6994246" y="3630168"/>
            <a:ext cx="4481474" cy="457200"/>
          </a:xfrm>
          <a:prstGeom prst="rect">
            <a:avLst/>
          </a:prstGeom>
          <a:noFill/>
          <a:ln/>
        </p:spPr>
        <p:txBody>
          <a:bodyPr wrap="square" lIns="0" tIns="0" rIns="0" bIns="0" rtlCol="0" anchor="t"/>
          <a:lstStyle/>
          <a:p>
            <a:pPr algn="ctr" indent="0" marL="0">
              <a:buNone/>
            </a:pPr>
            <a:r>
              <a:rPr lang="en-US" sz="1050" b="1" spc="250" kern="0" dirty="0">
                <a:solidFill>
                  <a:srgbClr val="B6A899"/>
                </a:solidFill>
                <a:latin typeface="Karla" pitchFamily="34" charset="0"/>
                <a:ea typeface="Karla" pitchFamily="34" charset="-122"/>
                <a:cs typeface="Karla" pitchFamily="34" charset="-120"/>
              </a:rPr>
              <a:t>DROP YOUR SCREENSHOT HERE</a:t>
            </a:r>
            <a:endParaRPr lang="en-US" sz="1050" dirty="0"/>
          </a:p>
        </p:txBody>
      </p:sp>
      <p:sp>
        <p:nvSpPr>
          <p:cNvPr id="8" name="Text 6"/>
          <p:cNvSpPr/>
          <p:nvPr/>
        </p:nvSpPr>
        <p:spPr>
          <a:xfrm>
            <a:off x="777240" y="1600200"/>
            <a:ext cx="502920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READ IT OUT LOUD</a:t>
            </a:r>
            <a:endParaRPr lang="en-US" sz="1100" dirty="0"/>
          </a:p>
        </p:txBody>
      </p:sp>
      <p:sp>
        <p:nvSpPr>
          <p:cNvPr id="9" name="Text 7"/>
          <p:cNvSpPr/>
          <p:nvPr/>
        </p:nvSpPr>
        <p:spPr>
          <a:xfrm>
            <a:off x="777240" y="2011680"/>
            <a:ext cx="5120640" cy="1463040"/>
          </a:xfrm>
          <a:prstGeom prst="rect">
            <a:avLst/>
          </a:prstGeom>
          <a:noFill/>
          <a:ln/>
        </p:spPr>
        <p:txBody>
          <a:bodyPr wrap="square" lIns="0" tIns="0" rIns="0" bIns="0" rtlCol="0" anchor="t"/>
          <a:lstStyle/>
          <a:p>
            <a:pPr indent="0" marL="0">
              <a:lnSpc>
                <a:spcPts val="3400"/>
              </a:lnSpc>
              <a:buNone/>
            </a:pPr>
            <a:r>
              <a:rPr lang="en-US" sz="3000" dirty="0">
                <a:solidFill>
                  <a:srgbClr val="2E1F27"/>
                </a:solidFill>
                <a:latin typeface="Fraunces" pitchFamily="34" charset="0"/>
                <a:ea typeface="Fraunces" pitchFamily="34" charset="-122"/>
                <a:cs typeface="Fraunces" pitchFamily="34" charset="-120"/>
              </a:rPr>
              <a:t>The fastest copy test there is.</a:t>
            </a:r>
            <a:endParaRPr lang="en-US" sz="3000" dirty="0"/>
          </a:p>
        </p:txBody>
      </p:sp>
      <p:sp>
        <p:nvSpPr>
          <p:cNvPr id="10" name="Text 8"/>
          <p:cNvSpPr/>
          <p:nvPr/>
        </p:nvSpPr>
        <p:spPr>
          <a:xfrm>
            <a:off x="777240" y="3566160"/>
            <a:ext cx="5029200" cy="640080"/>
          </a:xfrm>
          <a:prstGeom prst="rect">
            <a:avLst/>
          </a:prstGeom>
          <a:noFill/>
          <a:ln/>
        </p:spPr>
        <p:txBody>
          <a:bodyPr wrap="square" lIns="0" tIns="0" rIns="0" bIns="0" rtlCol="0" anchor="t"/>
          <a:lstStyle/>
          <a:p>
            <a:pPr indent="0" marL="0">
              <a:buNone/>
            </a:pPr>
            <a:r>
              <a:rPr lang="en-US" sz="2700" dirty="0">
                <a:solidFill>
                  <a:srgbClr val="BC8A47"/>
                </a:solidFill>
                <a:latin typeface="Ephesis" pitchFamily="34" charset="0"/>
                <a:ea typeface="Ephesis" pitchFamily="34" charset="-122"/>
                <a:cs typeface="Ephesis" pitchFamily="34" charset="-120"/>
              </a:rPr>
              <a:t>if you would not say it, do not write it</a:t>
            </a:r>
            <a:endParaRPr lang="en-US" sz="2700" dirty="0"/>
          </a:p>
        </p:txBody>
      </p:sp>
      <p:sp>
        <p:nvSpPr>
          <p:cNvPr id="11" name="Text 9"/>
          <p:cNvSpPr/>
          <p:nvPr/>
        </p:nvSpPr>
        <p:spPr>
          <a:xfrm>
            <a:off x="777240" y="4315968"/>
            <a:ext cx="5029200" cy="1828800"/>
          </a:xfrm>
          <a:prstGeom prst="rect">
            <a:avLst/>
          </a:prstGeom>
          <a:noFill/>
          <a:ln/>
        </p:spPr>
        <p:txBody>
          <a:bodyPr wrap="square" lIns="0" tIns="0" rIns="0" bIns="0" rtlCol="0" anchor="t"/>
          <a:lstStyle/>
          <a:p>
            <a:pPr indent="0" marL="0">
              <a:lnSpc>
                <a:spcPts val="2000"/>
              </a:lnSpc>
              <a:buNone/>
            </a:pPr>
            <a:r>
              <a:rPr lang="en-US" sz="1300" dirty="0">
                <a:solidFill>
                  <a:srgbClr val="6E5C63"/>
                </a:solidFill>
                <a:latin typeface="Karla" pitchFamily="34" charset="0"/>
                <a:ea typeface="Karla" pitchFamily="34" charset="-122"/>
                <a:cs typeface="Karla" pitchFamily="34" charset="-120"/>
              </a:rPr>
              <a:t>Read your homepage aloud. Anywhere you stumble, cringe, or sound like a brochure is a line to rewrite. Good copy sounds like a person who knows what she is talking about.</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54</a:t>
            </a:r>
            <a:endParaRPr lang="en-US" sz="950" dirty="0"/>
          </a:p>
        </p:txBody>
      </p:sp>
      <p:sp>
        <p:nvSpPr>
          <p:cNvPr id="3" name="Text 1"/>
          <p:cNvSpPr/>
          <p:nvPr/>
        </p:nvSpPr>
        <p:spPr>
          <a:xfrm>
            <a:off x="-457200" y="1188720"/>
            <a:ext cx="13075920" cy="3657600"/>
          </a:xfrm>
          <a:prstGeom prst="rect">
            <a:avLst/>
          </a:prstGeom>
          <a:noFill/>
          <a:ln/>
        </p:spPr>
        <p:txBody>
          <a:bodyPr wrap="square" lIns="0" tIns="0" rIns="0" bIns="0" rtlCol="0" anchor="ctr"/>
          <a:lstStyle/>
          <a:p>
            <a:pPr algn="ctr" indent="0" marL="0">
              <a:buNone/>
            </a:pPr>
            <a:r>
              <a:rPr lang="en-US" sz="19000" i="1" dirty="0">
                <a:solidFill>
                  <a:srgbClr val="EADFD1"/>
                </a:solidFill>
                <a:latin typeface="Fraunces" pitchFamily="34" charset="0"/>
                <a:ea typeface="Fraunces" pitchFamily="34" charset="-122"/>
                <a:cs typeface="Fraunces" pitchFamily="34" charset="-120"/>
              </a:rPr>
              <a:t>one woman</a:t>
            </a:r>
            <a:endParaRPr lang="en-US" sz="19000" dirty="0"/>
          </a:p>
        </p:txBody>
      </p:sp>
      <p:sp>
        <p:nvSpPr>
          <p:cNvPr id="4" name="Text 2"/>
          <p:cNvSpPr/>
          <p:nvPr/>
        </p:nvSpPr>
        <p:spPr>
          <a:xfrm>
            <a:off x="777240" y="1371600"/>
            <a:ext cx="594360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WRITE TO ONE PERSON</a:t>
            </a:r>
            <a:endParaRPr lang="en-US" sz="1100" dirty="0"/>
          </a:p>
        </p:txBody>
      </p:sp>
      <p:sp>
        <p:nvSpPr>
          <p:cNvPr id="5" name="Text 3"/>
          <p:cNvSpPr/>
          <p:nvPr/>
        </p:nvSpPr>
        <p:spPr>
          <a:xfrm>
            <a:off x="777240" y="1783080"/>
            <a:ext cx="6035040" cy="155448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Not to an audience.</a:t>
            </a:r>
            <a:endParaRPr lang="en-US" sz="3300" dirty="0"/>
          </a:p>
        </p:txBody>
      </p:sp>
      <p:sp>
        <p:nvSpPr>
          <p:cNvPr id="6" name="Text 4"/>
          <p:cNvSpPr/>
          <p:nvPr/>
        </p:nvSpPr>
        <p:spPr>
          <a:xfrm>
            <a:off x="777240" y="3520440"/>
            <a:ext cx="5852160" cy="2468880"/>
          </a:xfrm>
          <a:prstGeom prst="rect">
            <a:avLst/>
          </a:prstGeom>
          <a:noFill/>
          <a:ln/>
        </p:spPr>
        <p:txBody>
          <a:bodyPr wrap="square" lIns="0" tIns="0" rIns="0" bIns="0" rtlCol="0" anchor="ctr"/>
          <a:lstStyle/>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Picture one specific person. Give her a name if it helps. Write the page as if she is the only one who will read it.</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Use the words she uses. If she says "I feel like I am shouting into the void," write that.</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Everyone else who fits will recognise themselves. Writing for everybody lands on nobody.</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55</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COPY RULES</a:t>
            </a:r>
            <a:endParaRPr lang="en-US" sz="1100" dirty="0"/>
          </a:p>
        </p:txBody>
      </p:sp>
      <p:sp>
        <p:nvSpPr>
          <p:cNvPr id="4" name="Text 2"/>
          <p:cNvSpPr/>
          <p:nvPr/>
        </p:nvSpPr>
        <p:spPr>
          <a:xfrm>
            <a:off x="777240" y="1051560"/>
            <a:ext cx="78638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The habits that separate selling from describing.</a:t>
            </a:r>
            <a:endParaRPr lang="en-US" sz="3300" dirty="0"/>
          </a:p>
        </p:txBody>
      </p:sp>
      <p:sp>
        <p:nvSpPr>
          <p:cNvPr id="5" name="Shape 3"/>
          <p:cNvSpPr/>
          <p:nvPr/>
        </p:nvSpPr>
        <p:spPr>
          <a:xfrm>
            <a:off x="777240" y="2240280"/>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6" name="Shape 4"/>
          <p:cNvSpPr/>
          <p:nvPr/>
        </p:nvSpPr>
        <p:spPr>
          <a:xfrm>
            <a:off x="1088136" y="2569464"/>
            <a:ext cx="457200" cy="457200"/>
          </a:xfrm>
          <a:prstGeom prst="ellipse">
            <a:avLst/>
          </a:prstGeom>
          <a:solidFill>
            <a:srgbClr val="A93F63"/>
          </a:solidFill>
          <a:ln/>
        </p:spPr>
      </p:sp>
      <p:sp>
        <p:nvSpPr>
          <p:cNvPr id="7" name="Text 5"/>
          <p:cNvSpPr/>
          <p:nvPr/>
        </p:nvSpPr>
        <p:spPr>
          <a:xfrm>
            <a:off x="1088136" y="256946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1</a:t>
            </a:r>
            <a:endParaRPr lang="en-US" sz="1200" dirty="0"/>
          </a:p>
        </p:txBody>
      </p:sp>
      <p:sp>
        <p:nvSpPr>
          <p:cNvPr id="8" name="Text 6"/>
          <p:cNvSpPr/>
          <p:nvPr/>
        </p:nvSpPr>
        <p:spPr>
          <a:xfrm>
            <a:off x="1691640" y="2569464"/>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Lead with the outcome</a:t>
            </a:r>
            <a:endParaRPr lang="en-US" sz="1750" dirty="0"/>
          </a:p>
        </p:txBody>
      </p:sp>
      <p:sp>
        <p:nvSpPr>
          <p:cNvPr id="9" name="Text 7"/>
          <p:cNvSpPr/>
          <p:nvPr/>
        </p:nvSpPr>
        <p:spPr>
          <a:xfrm>
            <a:off x="1691640" y="3044952"/>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Not with your credentials or your story.</a:t>
            </a:r>
            <a:endParaRPr lang="en-US" sz="1200" dirty="0"/>
          </a:p>
        </p:txBody>
      </p:sp>
      <p:sp>
        <p:nvSpPr>
          <p:cNvPr id="10" name="Shape 8"/>
          <p:cNvSpPr/>
          <p:nvPr/>
        </p:nvSpPr>
        <p:spPr>
          <a:xfrm>
            <a:off x="6245352" y="2240280"/>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1" name="Shape 9"/>
          <p:cNvSpPr/>
          <p:nvPr/>
        </p:nvSpPr>
        <p:spPr>
          <a:xfrm>
            <a:off x="6556248" y="2569464"/>
            <a:ext cx="457200" cy="457200"/>
          </a:xfrm>
          <a:prstGeom prst="ellipse">
            <a:avLst/>
          </a:prstGeom>
          <a:solidFill>
            <a:srgbClr val="A93F63"/>
          </a:solidFill>
          <a:ln/>
        </p:spPr>
      </p:sp>
      <p:sp>
        <p:nvSpPr>
          <p:cNvPr id="12" name="Text 10"/>
          <p:cNvSpPr/>
          <p:nvPr/>
        </p:nvSpPr>
        <p:spPr>
          <a:xfrm>
            <a:off x="6556248" y="256946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2</a:t>
            </a:r>
            <a:endParaRPr lang="en-US" sz="1200" dirty="0"/>
          </a:p>
        </p:txBody>
      </p:sp>
      <p:sp>
        <p:nvSpPr>
          <p:cNvPr id="13" name="Text 11"/>
          <p:cNvSpPr/>
          <p:nvPr/>
        </p:nvSpPr>
        <p:spPr>
          <a:xfrm>
            <a:off x="7159752" y="2569464"/>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Use her exact words</a:t>
            </a:r>
            <a:endParaRPr lang="en-US" sz="1750" dirty="0"/>
          </a:p>
        </p:txBody>
      </p:sp>
      <p:sp>
        <p:nvSpPr>
          <p:cNvPr id="14" name="Text 12"/>
          <p:cNvSpPr/>
          <p:nvPr/>
        </p:nvSpPr>
        <p:spPr>
          <a:xfrm>
            <a:off x="7159752" y="3044952"/>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Not industry language she would never say.</a:t>
            </a:r>
            <a:endParaRPr lang="en-US" sz="1200" dirty="0"/>
          </a:p>
        </p:txBody>
      </p:sp>
      <p:sp>
        <p:nvSpPr>
          <p:cNvPr id="15" name="Shape 13"/>
          <p:cNvSpPr/>
          <p:nvPr/>
        </p:nvSpPr>
        <p:spPr>
          <a:xfrm>
            <a:off x="777240" y="4352544"/>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6" name="Shape 14"/>
          <p:cNvSpPr/>
          <p:nvPr/>
        </p:nvSpPr>
        <p:spPr>
          <a:xfrm>
            <a:off x="1088136" y="4681728"/>
            <a:ext cx="457200" cy="457200"/>
          </a:xfrm>
          <a:prstGeom prst="ellipse">
            <a:avLst/>
          </a:prstGeom>
          <a:solidFill>
            <a:srgbClr val="A93F63"/>
          </a:solidFill>
          <a:ln/>
        </p:spPr>
      </p:sp>
      <p:sp>
        <p:nvSpPr>
          <p:cNvPr id="17" name="Text 15"/>
          <p:cNvSpPr/>
          <p:nvPr/>
        </p:nvSpPr>
        <p:spPr>
          <a:xfrm>
            <a:off x="1088136" y="46817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3</a:t>
            </a:r>
            <a:endParaRPr lang="en-US" sz="1200" dirty="0"/>
          </a:p>
        </p:txBody>
      </p:sp>
      <p:sp>
        <p:nvSpPr>
          <p:cNvPr id="18" name="Text 16"/>
          <p:cNvSpPr/>
          <p:nvPr/>
        </p:nvSpPr>
        <p:spPr>
          <a:xfrm>
            <a:off x="1691640" y="4681728"/>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Name the objection</a:t>
            </a:r>
            <a:endParaRPr lang="en-US" sz="1750" dirty="0"/>
          </a:p>
        </p:txBody>
      </p:sp>
      <p:sp>
        <p:nvSpPr>
          <p:cNvPr id="19" name="Text 17"/>
          <p:cNvSpPr/>
          <p:nvPr/>
        </p:nvSpPr>
        <p:spPr>
          <a:xfrm>
            <a:off x="1691640" y="5157216"/>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Before she thinks it, and answer it honestly.</a:t>
            </a:r>
            <a:endParaRPr lang="en-US" sz="1200" dirty="0"/>
          </a:p>
        </p:txBody>
      </p:sp>
      <p:sp>
        <p:nvSpPr>
          <p:cNvPr id="20" name="Shape 18"/>
          <p:cNvSpPr/>
          <p:nvPr/>
        </p:nvSpPr>
        <p:spPr>
          <a:xfrm>
            <a:off x="6245352" y="4352544"/>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21" name="Shape 19"/>
          <p:cNvSpPr/>
          <p:nvPr/>
        </p:nvSpPr>
        <p:spPr>
          <a:xfrm>
            <a:off x="6556248" y="4681728"/>
            <a:ext cx="457200" cy="457200"/>
          </a:xfrm>
          <a:prstGeom prst="ellipse">
            <a:avLst/>
          </a:prstGeom>
          <a:solidFill>
            <a:srgbClr val="A93F63"/>
          </a:solidFill>
          <a:ln/>
        </p:spPr>
      </p:sp>
      <p:sp>
        <p:nvSpPr>
          <p:cNvPr id="22" name="Text 20"/>
          <p:cNvSpPr/>
          <p:nvPr/>
        </p:nvSpPr>
        <p:spPr>
          <a:xfrm>
            <a:off x="6556248" y="46817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4</a:t>
            </a:r>
            <a:endParaRPr lang="en-US" sz="1200" dirty="0"/>
          </a:p>
        </p:txBody>
      </p:sp>
      <p:sp>
        <p:nvSpPr>
          <p:cNvPr id="23" name="Text 21"/>
          <p:cNvSpPr/>
          <p:nvPr/>
        </p:nvSpPr>
        <p:spPr>
          <a:xfrm>
            <a:off x="7159752" y="4681728"/>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One idea per paragraph</a:t>
            </a:r>
            <a:endParaRPr lang="en-US" sz="1750" dirty="0"/>
          </a:p>
        </p:txBody>
      </p:sp>
      <p:sp>
        <p:nvSpPr>
          <p:cNvPr id="24" name="Text 22"/>
          <p:cNvSpPr/>
          <p:nvPr/>
        </p:nvSpPr>
        <p:spPr>
          <a:xfrm>
            <a:off x="7159752" y="5157216"/>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Three ideas in one block is where readers quit.</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56</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COPY AUDIT</a:t>
            </a:r>
            <a:endParaRPr lang="en-US" sz="1100" dirty="0"/>
          </a:p>
        </p:txBody>
      </p:sp>
      <p:sp>
        <p:nvSpPr>
          <p:cNvPr id="4" name="Text 2"/>
          <p:cNvSpPr/>
          <p:nvPr/>
        </p:nvSpPr>
        <p:spPr>
          <a:xfrm>
            <a:off x="777240" y="1051560"/>
            <a:ext cx="7863840" cy="91440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Run every important page through this.</a:t>
            </a:r>
            <a:endParaRPr lang="en-US" sz="3300" dirty="0"/>
          </a:p>
        </p:txBody>
      </p:sp>
      <p:sp>
        <p:nvSpPr>
          <p:cNvPr id="5" name="Shape 3"/>
          <p:cNvSpPr/>
          <p:nvPr/>
        </p:nvSpPr>
        <p:spPr>
          <a:xfrm>
            <a:off x="777240" y="2514600"/>
            <a:ext cx="347472" cy="347472"/>
          </a:xfrm>
          <a:prstGeom prst="roundRect">
            <a:avLst>
              <a:gd name="adj" fmla="val 21053"/>
            </a:avLst>
          </a:prstGeom>
          <a:solidFill>
            <a:srgbClr val="2E1F27"/>
          </a:solidFill>
          <a:ln w="15875">
            <a:solidFill>
              <a:srgbClr val="A93F63"/>
            </a:solidFill>
            <a:prstDash val="solid"/>
          </a:ln>
        </p:spPr>
      </p:sp>
      <p:sp>
        <p:nvSpPr>
          <p:cNvPr id="6" name="Text 4"/>
          <p:cNvSpPr/>
          <p:nvPr/>
        </p:nvSpPr>
        <p:spPr>
          <a:xfrm>
            <a:off x="13441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 headline names an outcome, not my brand</a:t>
            </a:r>
            <a:endParaRPr lang="en-US" sz="1300" dirty="0"/>
          </a:p>
        </p:txBody>
      </p:sp>
      <p:sp>
        <p:nvSpPr>
          <p:cNvPr id="7" name="Shape 5"/>
          <p:cNvSpPr/>
          <p:nvPr/>
        </p:nvSpPr>
        <p:spPr>
          <a:xfrm>
            <a:off x="777240" y="3538728"/>
            <a:ext cx="347472" cy="347472"/>
          </a:xfrm>
          <a:prstGeom prst="roundRect">
            <a:avLst>
              <a:gd name="adj" fmla="val 21053"/>
            </a:avLst>
          </a:prstGeom>
          <a:solidFill>
            <a:srgbClr val="2E1F27"/>
          </a:solidFill>
          <a:ln w="15875">
            <a:solidFill>
              <a:srgbClr val="A93F63"/>
            </a:solidFill>
            <a:prstDash val="solid"/>
          </a:ln>
        </p:spPr>
      </p:sp>
      <p:sp>
        <p:nvSpPr>
          <p:cNvPr id="8" name="Text 6"/>
          <p:cNvSpPr/>
          <p:nvPr/>
        </p:nvSpPr>
        <p:spPr>
          <a:xfrm>
            <a:off x="13441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 first paragraph is about her, not me</a:t>
            </a:r>
            <a:endParaRPr lang="en-US" sz="1300" dirty="0"/>
          </a:p>
        </p:txBody>
      </p:sp>
      <p:sp>
        <p:nvSpPr>
          <p:cNvPr id="9" name="Shape 7"/>
          <p:cNvSpPr/>
          <p:nvPr/>
        </p:nvSpPr>
        <p:spPr>
          <a:xfrm>
            <a:off x="777240" y="4562856"/>
            <a:ext cx="347472" cy="347472"/>
          </a:xfrm>
          <a:prstGeom prst="roundRect">
            <a:avLst>
              <a:gd name="adj" fmla="val 21053"/>
            </a:avLst>
          </a:prstGeom>
          <a:solidFill>
            <a:srgbClr val="2E1F27"/>
          </a:solidFill>
          <a:ln w="15875">
            <a:solidFill>
              <a:srgbClr val="A93F63"/>
            </a:solidFill>
            <a:prstDash val="solid"/>
          </a:ln>
        </p:spPr>
      </p:sp>
      <p:sp>
        <p:nvSpPr>
          <p:cNvPr id="10" name="Text 8"/>
          <p:cNvSpPr/>
          <p:nvPr/>
        </p:nvSpPr>
        <p:spPr>
          <a:xfrm>
            <a:off x="13441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There is proof above the fold</a:t>
            </a:r>
            <a:endParaRPr lang="en-US" sz="1300" dirty="0"/>
          </a:p>
        </p:txBody>
      </p:sp>
      <p:sp>
        <p:nvSpPr>
          <p:cNvPr id="11" name="Shape 9"/>
          <p:cNvSpPr/>
          <p:nvPr/>
        </p:nvSpPr>
        <p:spPr>
          <a:xfrm>
            <a:off x="6263640" y="2514600"/>
            <a:ext cx="347472" cy="347472"/>
          </a:xfrm>
          <a:prstGeom prst="roundRect">
            <a:avLst>
              <a:gd name="adj" fmla="val 21053"/>
            </a:avLst>
          </a:prstGeom>
          <a:solidFill>
            <a:srgbClr val="2E1F27"/>
          </a:solidFill>
          <a:ln w="15875">
            <a:solidFill>
              <a:srgbClr val="A93F63"/>
            </a:solidFill>
            <a:prstDash val="solid"/>
          </a:ln>
        </p:spPr>
      </p:sp>
      <p:sp>
        <p:nvSpPr>
          <p:cNvPr id="12" name="Text 10"/>
          <p:cNvSpPr/>
          <p:nvPr/>
        </p:nvSpPr>
        <p:spPr>
          <a:xfrm>
            <a:off x="68305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 price is on the page</a:t>
            </a:r>
            <a:endParaRPr lang="en-US" sz="1300" dirty="0"/>
          </a:p>
        </p:txBody>
      </p:sp>
      <p:sp>
        <p:nvSpPr>
          <p:cNvPr id="13" name="Shape 11"/>
          <p:cNvSpPr/>
          <p:nvPr/>
        </p:nvSpPr>
        <p:spPr>
          <a:xfrm>
            <a:off x="6263640" y="3538728"/>
            <a:ext cx="347472" cy="347472"/>
          </a:xfrm>
          <a:prstGeom prst="roundRect">
            <a:avLst>
              <a:gd name="adj" fmla="val 21053"/>
            </a:avLst>
          </a:prstGeom>
          <a:solidFill>
            <a:srgbClr val="2E1F27"/>
          </a:solidFill>
          <a:ln w="15875">
            <a:solidFill>
              <a:srgbClr val="A93F63"/>
            </a:solidFill>
            <a:prstDash val="solid"/>
          </a:ln>
        </p:spPr>
      </p:sp>
      <p:sp>
        <p:nvSpPr>
          <p:cNvPr id="14" name="Text 12"/>
          <p:cNvSpPr/>
          <p:nvPr/>
        </p:nvSpPr>
        <p:spPr>
          <a:xfrm>
            <a:off x="68305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There is exactly one thing to do next</a:t>
            </a:r>
            <a:endParaRPr lang="en-US" sz="1300" dirty="0"/>
          </a:p>
        </p:txBody>
      </p:sp>
      <p:sp>
        <p:nvSpPr>
          <p:cNvPr id="15" name="Shape 13"/>
          <p:cNvSpPr/>
          <p:nvPr/>
        </p:nvSpPr>
        <p:spPr>
          <a:xfrm>
            <a:off x="6263640" y="4562856"/>
            <a:ext cx="347472" cy="347472"/>
          </a:xfrm>
          <a:prstGeom prst="roundRect">
            <a:avLst>
              <a:gd name="adj" fmla="val 21053"/>
            </a:avLst>
          </a:prstGeom>
          <a:solidFill>
            <a:srgbClr val="2E1F27"/>
          </a:solidFill>
          <a:ln w="15875">
            <a:solidFill>
              <a:srgbClr val="A93F63"/>
            </a:solidFill>
            <a:prstDash val="solid"/>
          </a:ln>
        </p:spPr>
      </p:sp>
      <p:sp>
        <p:nvSpPr>
          <p:cNvPr id="16" name="Text 14"/>
          <p:cNvSpPr/>
          <p:nvPr/>
        </p:nvSpPr>
        <p:spPr>
          <a:xfrm>
            <a:off x="68305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have read the whole page out loud</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0DCE2"/>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57</a:t>
            </a:r>
            <a:endParaRPr lang="en-US" sz="950" dirty="0"/>
          </a:p>
        </p:txBody>
      </p:sp>
      <p:sp>
        <p:nvSpPr>
          <p:cNvPr id="3" name="Shape 1"/>
          <p:cNvSpPr/>
          <p:nvPr/>
        </p:nvSpPr>
        <p:spPr>
          <a:xfrm>
            <a:off x="0" y="0"/>
            <a:ext cx="4480560" cy="6858000"/>
          </a:xfrm>
          <a:prstGeom prst="rect">
            <a:avLst/>
          </a:prstGeom>
          <a:solidFill>
            <a:srgbClr val="A93F63"/>
          </a:solidFill>
          <a:ln/>
        </p:spPr>
      </p:sp>
      <p:sp>
        <p:nvSpPr>
          <p:cNvPr id="4" name="Text 2"/>
          <p:cNvSpPr/>
          <p:nvPr/>
        </p:nvSpPr>
        <p:spPr>
          <a:xfrm>
            <a:off x="365760" y="1920240"/>
            <a:ext cx="3749040" cy="1737360"/>
          </a:xfrm>
          <a:prstGeom prst="rect">
            <a:avLst/>
          </a:prstGeom>
          <a:noFill/>
          <a:ln/>
        </p:spPr>
        <p:txBody>
          <a:bodyPr wrap="square" lIns="0" tIns="0" rIns="0" bIns="0" rtlCol="0" anchor="t"/>
          <a:lstStyle/>
          <a:p>
            <a:pPr algn="ctr" indent="0" marL="0">
              <a:buNone/>
            </a:pPr>
            <a:r>
              <a:rPr lang="en-US" sz="9600" i="1" dirty="0">
                <a:solidFill>
                  <a:srgbClr val="FBF6EE"/>
                </a:solidFill>
                <a:latin typeface="Fraunces" pitchFamily="34" charset="0"/>
                <a:ea typeface="Fraunces" pitchFamily="34" charset="-122"/>
                <a:cs typeface="Fraunces" pitchFamily="34" charset="-120"/>
              </a:rPr>
              <a:t>80%</a:t>
            </a:r>
            <a:endParaRPr lang="en-US" sz="9600" dirty="0"/>
          </a:p>
        </p:txBody>
      </p:sp>
      <p:sp>
        <p:nvSpPr>
          <p:cNvPr id="5" name="Text 3"/>
          <p:cNvSpPr/>
          <p:nvPr/>
        </p:nvSpPr>
        <p:spPr>
          <a:xfrm>
            <a:off x="548640" y="3703320"/>
            <a:ext cx="3383280" cy="731520"/>
          </a:xfrm>
          <a:prstGeom prst="rect">
            <a:avLst/>
          </a:prstGeom>
          <a:noFill/>
          <a:ln/>
        </p:spPr>
        <p:txBody>
          <a:bodyPr wrap="square" lIns="0" tIns="0" rIns="0" bIns="0" rtlCol="0" anchor="t"/>
          <a:lstStyle/>
          <a:p>
            <a:pPr algn="ctr" indent="0" marL="0">
              <a:lnSpc>
                <a:spcPts val="1700"/>
              </a:lnSpc>
              <a:buNone/>
            </a:pPr>
            <a:r>
              <a:rPr lang="en-US" sz="1150" b="1" spc="300" kern="0" dirty="0">
                <a:solidFill>
                  <a:srgbClr val="F6DCE5"/>
                </a:solidFill>
                <a:latin typeface="Karla" pitchFamily="34" charset="0"/>
                <a:ea typeface="Karla" pitchFamily="34" charset="-122"/>
                <a:cs typeface="Karla" pitchFamily="34" charset="-120"/>
              </a:rPr>
              <a:t>OF VISITORS READ THE HEADLINE AND NOTHING ELSE</a:t>
            </a:r>
            <a:endParaRPr lang="en-US" sz="1150" dirty="0"/>
          </a:p>
        </p:txBody>
      </p:sp>
      <p:sp>
        <p:nvSpPr>
          <p:cNvPr id="6" name="Text 4"/>
          <p:cNvSpPr/>
          <p:nvPr/>
        </p:nvSpPr>
        <p:spPr>
          <a:xfrm>
            <a:off x="5120640" y="1463040"/>
            <a:ext cx="62636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WHICH IS WHY</a:t>
            </a:r>
            <a:endParaRPr lang="en-US" sz="1100" dirty="0"/>
          </a:p>
        </p:txBody>
      </p:sp>
      <p:sp>
        <p:nvSpPr>
          <p:cNvPr id="7" name="Text 5"/>
          <p:cNvSpPr/>
          <p:nvPr/>
        </p:nvSpPr>
        <p:spPr>
          <a:xfrm>
            <a:off x="5120640" y="1874520"/>
            <a:ext cx="6263640" cy="1371600"/>
          </a:xfrm>
          <a:prstGeom prst="rect">
            <a:avLst/>
          </a:prstGeom>
          <a:noFill/>
          <a:ln/>
        </p:spPr>
        <p:txBody>
          <a:bodyPr wrap="square" lIns="0" tIns="0" rIns="0" bIns="0" rtlCol="0" anchor="t"/>
          <a:lstStyle/>
          <a:p>
            <a:pPr indent="0" marL="0">
              <a:lnSpc>
                <a:spcPts val="3300"/>
              </a:lnSpc>
              <a:buNone/>
            </a:pPr>
            <a:r>
              <a:rPr lang="en-US" sz="2900" dirty="0">
                <a:solidFill>
                  <a:srgbClr val="2E1F27"/>
                </a:solidFill>
                <a:latin typeface="Fraunces" pitchFamily="34" charset="0"/>
                <a:ea typeface="Fraunces" pitchFamily="34" charset="-122"/>
                <a:cs typeface="Fraunces" pitchFamily="34" charset="-120"/>
              </a:rPr>
              <a:t>You write it last, and rewrite it more than anything else.</a:t>
            </a:r>
            <a:endParaRPr lang="en-US" sz="2900" dirty="0"/>
          </a:p>
        </p:txBody>
      </p:sp>
      <p:sp>
        <p:nvSpPr>
          <p:cNvPr id="8" name="Text 6"/>
          <p:cNvSpPr/>
          <p:nvPr/>
        </p:nvSpPr>
        <p:spPr>
          <a:xfrm>
            <a:off x="5120640" y="3383280"/>
            <a:ext cx="6263640" cy="2377440"/>
          </a:xfrm>
          <a:prstGeom prst="rect">
            <a:avLst/>
          </a:prstGeom>
          <a:noFill/>
          <a:ln/>
        </p:spPr>
        <p:txBody>
          <a:bodyPr wrap="square" lIns="0" tIns="0" rIns="0" bIns="0" rtlCol="0" anchor="ctr"/>
          <a:lstStyle/>
          <a:p>
            <a:pPr indent="0" marL="0">
              <a:lnSpc>
                <a:spcPts val="2100"/>
              </a:lnSpc>
              <a:spcAft>
                <a:spcPts val="1100"/>
              </a:spcAft>
              <a:buNone/>
            </a:pPr>
            <a:r>
              <a:rPr lang="en-US" sz="1350" dirty="0">
                <a:solidFill>
                  <a:srgbClr val="2E1F27"/>
                </a:solidFill>
                <a:latin typeface="Karla" pitchFamily="34" charset="0"/>
                <a:ea typeface="Karla" pitchFamily="34" charset="-122"/>
                <a:cs typeface="Karla" pitchFamily="34" charset="-120"/>
              </a:rPr>
              <a:t>The headline is not the first thing you write. It is the thing you write when you finally know what the page is arguing.</a:t>
            </a:r>
            <a:endParaRPr lang="en-US" sz="1350" dirty="0"/>
          </a:p>
          <a:p>
            <a:pPr indent="0" marL="0">
              <a:lnSpc>
                <a:spcPts val="2100"/>
              </a:lnSpc>
              <a:spcAft>
                <a:spcPts val="1100"/>
              </a:spcAft>
              <a:buNone/>
            </a:pPr>
            <a:r>
              <a:rPr lang="en-US" sz="1350" dirty="0">
                <a:solidFill>
                  <a:srgbClr val="2E1F27"/>
                </a:solidFill>
                <a:latin typeface="Karla" pitchFamily="34" charset="0"/>
                <a:ea typeface="Karla" pitchFamily="34" charset="-122"/>
                <a:cs typeface="Karla" pitchFamily="34" charset="-120"/>
              </a:rPr>
              <a:t>Give it more attempts than feels reasonable. Ten bad ones to find one good one is a normal ratio.</a:t>
            </a:r>
            <a:endParaRPr lang="en-US" sz="13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0DCE2"/>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58</a:t>
            </a:r>
            <a:endParaRPr lang="en-US" sz="950" dirty="0"/>
          </a:p>
        </p:txBody>
      </p:sp>
      <p:sp>
        <p:nvSpPr>
          <p:cNvPr id="3" name="Shape 1"/>
          <p:cNvSpPr/>
          <p:nvPr/>
        </p:nvSpPr>
        <p:spPr>
          <a:xfrm>
            <a:off x="-2194560" y="-2194560"/>
            <a:ext cx="5852160" cy="5852160"/>
          </a:xfrm>
          <a:prstGeom prst="ellipse">
            <a:avLst/>
          </a:prstGeom>
          <a:solidFill>
            <a:srgbClr val="FBF6EE">
              <a:alpha val="55000"/>
            </a:srgbClr>
          </a:solidFill>
          <a:ln/>
        </p:spPr>
      </p:sp>
      <p:sp>
        <p:nvSpPr>
          <p:cNvPr id="4" name="Shape 2"/>
          <p:cNvSpPr/>
          <p:nvPr/>
        </p:nvSpPr>
        <p:spPr>
          <a:xfrm>
            <a:off x="10149840" y="4663440"/>
            <a:ext cx="4206240" cy="4206240"/>
          </a:xfrm>
          <a:prstGeom prst="ellipse">
            <a:avLst/>
          </a:prstGeom>
          <a:solidFill>
            <a:srgbClr val="FBF6EE">
              <a:alpha val="38000"/>
            </a:srgbClr>
          </a:solidFill>
          <a:ln/>
        </p:spPr>
      </p:sp>
      <p:sp>
        <p:nvSpPr>
          <p:cNvPr id="5" name="Text 3"/>
          <p:cNvSpPr/>
          <p:nvPr/>
        </p:nvSpPr>
        <p:spPr>
          <a:xfrm>
            <a:off x="868680" y="1051560"/>
            <a:ext cx="2011680" cy="2011680"/>
          </a:xfrm>
          <a:prstGeom prst="rect">
            <a:avLst/>
          </a:prstGeom>
          <a:noFill/>
          <a:ln/>
        </p:spPr>
        <p:txBody>
          <a:bodyPr wrap="square" lIns="0" tIns="0" rIns="0" bIns="0" rtlCol="0" anchor="t"/>
          <a:lstStyle/>
          <a:p>
            <a:pPr indent="0" marL="0">
              <a:buNone/>
            </a:pPr>
            <a:r>
              <a:rPr lang="en-US" sz="13200" i="1" dirty="0">
                <a:solidFill>
                  <a:srgbClr val="A93F63"/>
                </a:solidFill>
                <a:latin typeface="Fraunces" pitchFamily="34" charset="0"/>
                <a:ea typeface="Fraunces" pitchFamily="34" charset="-122"/>
                <a:cs typeface="Fraunces" pitchFamily="34" charset="-120"/>
              </a:rPr>
              <a:t>“</a:t>
            </a:r>
            <a:endParaRPr lang="en-US" sz="13200" dirty="0"/>
          </a:p>
        </p:txBody>
      </p:sp>
      <p:sp>
        <p:nvSpPr>
          <p:cNvPr id="6" name="Text 4"/>
          <p:cNvSpPr/>
          <p:nvPr/>
        </p:nvSpPr>
        <p:spPr>
          <a:xfrm>
            <a:off x="2514600" y="1965960"/>
            <a:ext cx="8229600" cy="2651760"/>
          </a:xfrm>
          <a:prstGeom prst="rect">
            <a:avLst/>
          </a:prstGeom>
          <a:noFill/>
          <a:ln/>
        </p:spPr>
        <p:txBody>
          <a:bodyPr wrap="square" lIns="0" tIns="0" rIns="0" bIns="0" rtlCol="0" anchor="ctr"/>
          <a:lstStyle/>
          <a:p>
            <a:pPr indent="0" marL="0">
              <a:lnSpc>
                <a:spcPts val="3700"/>
              </a:lnSpc>
              <a:buNone/>
            </a:pPr>
            <a:r>
              <a:rPr lang="en-US" sz="2900" i="1" dirty="0">
                <a:solidFill>
                  <a:srgbClr val="2E1F27"/>
                </a:solidFill>
                <a:latin typeface="Fraunces" pitchFamily="34" charset="0"/>
                <a:ea typeface="Fraunces" pitchFamily="34" charset="-122"/>
                <a:cs typeface="Fraunces" pitchFamily="34" charset="-120"/>
              </a:rPr>
              <a:t>If it could sit on somebody else's website with the name swapped out, it is not finished yet.</a:t>
            </a:r>
            <a:endParaRPr lang="en-US" sz="2900" dirty="0"/>
          </a:p>
        </p:txBody>
      </p:sp>
      <p:sp>
        <p:nvSpPr>
          <p:cNvPr id="7" name="Text 5"/>
          <p:cNvSpPr/>
          <p:nvPr/>
        </p:nvSpPr>
        <p:spPr>
          <a:xfrm>
            <a:off x="2514600" y="4846320"/>
            <a:ext cx="8229600" cy="365760"/>
          </a:xfrm>
          <a:prstGeom prst="rect">
            <a:avLst/>
          </a:prstGeom>
          <a:noFill/>
          <a:ln/>
        </p:spPr>
        <p:txBody>
          <a:bodyPr wrap="square" lIns="0" tIns="0" rIns="0" bIns="0" rtlCol="0" anchor="t"/>
          <a:lstStyle/>
          <a:p>
            <a:pPr indent="0" marL="0">
              <a:buNone/>
            </a:pPr>
            <a:r>
              <a:rPr lang="en-US" sz="1100" b="1" spc="400" kern="0" dirty="0">
                <a:solidFill>
                  <a:srgbClr val="7C2B48"/>
                </a:solidFill>
                <a:latin typeface="Karla" pitchFamily="34" charset="0"/>
                <a:ea typeface="Karla" pitchFamily="34" charset="-122"/>
                <a:cs typeface="Karla" pitchFamily="34" charset="-120"/>
              </a:rPr>
              <a:t>THE COPY TEST</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59</a:t>
            </a:r>
            <a:endParaRPr lang="en-US" sz="950" dirty="0"/>
          </a:p>
        </p:txBody>
      </p:sp>
      <p:sp>
        <p:nvSpPr>
          <p:cNvPr id="3" name="Shape 1"/>
          <p:cNvSpPr/>
          <p:nvPr/>
        </p:nvSpPr>
        <p:spPr>
          <a:xfrm>
            <a:off x="0" y="0"/>
            <a:ext cx="12161520" cy="2331720"/>
          </a:xfrm>
          <a:prstGeom prst="rect">
            <a:avLst/>
          </a:prstGeom>
          <a:solidFill>
            <a:srgbClr val="A93F63"/>
          </a:solidFill>
          <a:ln/>
        </p:spPr>
      </p:sp>
      <p:sp>
        <p:nvSpPr>
          <p:cNvPr id="4" name="Text 2"/>
          <p:cNvSpPr/>
          <p:nvPr/>
        </p:nvSpPr>
        <p:spPr>
          <a:xfrm>
            <a:off x="777240" y="713232"/>
            <a:ext cx="10607040" cy="274320"/>
          </a:xfrm>
          <a:prstGeom prst="rect">
            <a:avLst/>
          </a:prstGeom>
          <a:noFill/>
          <a:ln/>
        </p:spPr>
        <p:txBody>
          <a:bodyPr wrap="square" lIns="0" tIns="0" rIns="0" bIns="0" rtlCol="0" anchor="t"/>
          <a:lstStyle/>
          <a:p>
            <a:pPr indent="0" marL="0">
              <a:buNone/>
            </a:pPr>
            <a:r>
              <a:rPr lang="en-US" sz="1100" b="1" spc="350" kern="0" dirty="0">
                <a:solidFill>
                  <a:srgbClr val="F6DCE5"/>
                </a:solidFill>
                <a:latin typeface="Karla" pitchFamily="34" charset="0"/>
                <a:ea typeface="Karla" pitchFamily="34" charset="-122"/>
                <a:cs typeface="Karla" pitchFamily="34" charset="-120"/>
              </a:rPr>
              <a:t>YOUR TURN</a:t>
            </a:r>
            <a:endParaRPr lang="en-US" sz="1100" dirty="0"/>
          </a:p>
        </p:txBody>
      </p:sp>
      <p:sp>
        <p:nvSpPr>
          <p:cNvPr id="5" name="Text 3"/>
          <p:cNvSpPr/>
          <p:nvPr/>
        </p:nvSpPr>
        <p:spPr>
          <a:xfrm>
            <a:off x="777240" y="1115568"/>
            <a:ext cx="7406640" cy="100584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Write three headlines.</a:t>
            </a:r>
            <a:endParaRPr lang="en-US" sz="3300" dirty="0"/>
          </a:p>
        </p:txBody>
      </p:sp>
      <p:sp>
        <p:nvSpPr>
          <p:cNvPr id="6" name="Shape 4"/>
          <p:cNvSpPr/>
          <p:nvPr/>
        </p:nvSpPr>
        <p:spPr>
          <a:xfrm>
            <a:off x="777240" y="2743200"/>
            <a:ext cx="10607040" cy="3291840"/>
          </a:xfrm>
          <a:prstGeom prst="roundRect">
            <a:avLst>
              <a:gd name="adj" fmla="val 388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7" name="Text 5"/>
          <p:cNvSpPr/>
          <p:nvPr/>
        </p:nvSpPr>
        <p:spPr>
          <a:xfrm>
            <a:off x="1234440" y="3063240"/>
            <a:ext cx="9692640" cy="777240"/>
          </a:xfrm>
          <a:prstGeom prst="rect">
            <a:avLst/>
          </a:prstGeom>
          <a:noFill/>
          <a:ln/>
        </p:spPr>
        <p:txBody>
          <a:bodyPr wrap="square" lIns="0" tIns="0" rIns="0" bIns="0" rtlCol="0" anchor="t"/>
          <a:lstStyle/>
          <a:p>
            <a:pPr indent="0" marL="0">
              <a:lnSpc>
                <a:spcPts val="2300"/>
              </a:lnSpc>
              <a:buNone/>
            </a:pPr>
            <a:r>
              <a:rPr lang="en-US" sz="1900" i="1" dirty="0">
                <a:solidFill>
                  <a:srgbClr val="A93F63"/>
                </a:solidFill>
                <a:latin typeface="Fraunces" pitchFamily="34" charset="0"/>
                <a:ea typeface="Fraunces" pitchFamily="34" charset="-122"/>
                <a:cs typeface="Fraunces" pitchFamily="34" charset="-120"/>
              </a:rPr>
              <a:t>Use three different patterns from this module. Bad ones count. Look for the one that makes you slightly nervous.</a:t>
            </a:r>
            <a:endParaRPr lang="en-US" sz="1900" dirty="0"/>
          </a:p>
        </p:txBody>
      </p:sp>
      <p:sp>
        <p:nvSpPr>
          <p:cNvPr id="8" name="Shape 6"/>
          <p:cNvSpPr/>
          <p:nvPr/>
        </p:nvSpPr>
        <p:spPr>
          <a:xfrm>
            <a:off x="1234440" y="3977640"/>
            <a:ext cx="9692640" cy="0"/>
          </a:xfrm>
          <a:prstGeom prst="line">
            <a:avLst/>
          </a:prstGeom>
          <a:noFill/>
          <a:ln w="12700">
            <a:solidFill>
              <a:srgbClr val="DCD2C7"/>
            </a:solidFill>
            <a:prstDash val="dash"/>
          </a:ln>
        </p:spPr>
      </p:sp>
      <p:sp>
        <p:nvSpPr>
          <p:cNvPr id="9" name="Shape 7"/>
          <p:cNvSpPr/>
          <p:nvPr/>
        </p:nvSpPr>
        <p:spPr>
          <a:xfrm>
            <a:off x="1234440" y="4480560"/>
            <a:ext cx="9692640" cy="0"/>
          </a:xfrm>
          <a:prstGeom prst="line">
            <a:avLst/>
          </a:prstGeom>
          <a:noFill/>
          <a:ln w="12700">
            <a:solidFill>
              <a:srgbClr val="DCD2C7"/>
            </a:solidFill>
            <a:prstDash val="dash"/>
          </a:ln>
        </p:spPr>
      </p:sp>
      <p:sp>
        <p:nvSpPr>
          <p:cNvPr id="10" name="Shape 8"/>
          <p:cNvSpPr/>
          <p:nvPr/>
        </p:nvSpPr>
        <p:spPr>
          <a:xfrm>
            <a:off x="1234440" y="4983480"/>
            <a:ext cx="9692640" cy="0"/>
          </a:xfrm>
          <a:prstGeom prst="line">
            <a:avLst/>
          </a:prstGeom>
          <a:noFill/>
          <a:ln w="12700">
            <a:solidFill>
              <a:srgbClr val="DCD2C7"/>
            </a:solidFill>
            <a:prstDash val="dash"/>
          </a:ln>
        </p:spPr>
      </p:sp>
      <p:sp>
        <p:nvSpPr>
          <p:cNvPr id="11" name="Shape 9"/>
          <p:cNvSpPr/>
          <p:nvPr/>
        </p:nvSpPr>
        <p:spPr>
          <a:xfrm>
            <a:off x="1234440" y="5486400"/>
            <a:ext cx="9692640" cy="0"/>
          </a:xfrm>
          <a:prstGeom prst="line">
            <a:avLst/>
          </a:prstGeom>
          <a:noFill/>
          <a:ln w="12700">
            <a:solidFill>
              <a:srgbClr val="DCD2C7"/>
            </a:solidFill>
            <a:prstDash val="dash"/>
          </a:ln>
        </p:spPr>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60</a:t>
            </a:r>
            <a:endParaRPr lang="en-US" sz="950" dirty="0"/>
          </a:p>
        </p:txBody>
      </p:sp>
      <p:sp>
        <p:nvSpPr>
          <p:cNvPr id="3" name="Shape 1"/>
          <p:cNvSpPr/>
          <p:nvPr/>
        </p:nvSpPr>
        <p:spPr>
          <a:xfrm>
            <a:off x="7680960" y="0"/>
            <a:ext cx="4480560" cy="6858000"/>
          </a:xfrm>
          <a:prstGeom prst="rect">
            <a:avLst/>
          </a:prstGeom>
          <a:solidFill>
            <a:srgbClr val="F4EBDE"/>
          </a:solidFill>
          <a:ln/>
        </p:spPr>
      </p:sp>
      <p:sp>
        <p:nvSpPr>
          <p:cNvPr id="4" name="Text 2"/>
          <p:cNvSpPr/>
          <p:nvPr/>
        </p:nvSpPr>
        <p:spPr>
          <a:xfrm>
            <a:off x="777240" y="1371600"/>
            <a:ext cx="621792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THE BUTTON</a:t>
            </a:r>
            <a:endParaRPr lang="en-US" sz="1100" dirty="0"/>
          </a:p>
        </p:txBody>
      </p:sp>
      <p:sp>
        <p:nvSpPr>
          <p:cNvPr id="5" name="Text 3"/>
          <p:cNvSpPr/>
          <p:nvPr/>
        </p:nvSpPr>
        <p:spPr>
          <a:xfrm>
            <a:off x="777240" y="1783080"/>
            <a:ext cx="6400800" cy="1371600"/>
          </a:xfrm>
          <a:prstGeom prst="rect">
            <a:avLst/>
          </a:prstGeom>
          <a:noFill/>
          <a:ln/>
        </p:spPr>
        <p:txBody>
          <a:bodyPr wrap="square" lIns="0" tIns="0" rIns="0" bIns="0" rtlCol="0" anchor="t"/>
          <a:lstStyle/>
          <a:p>
            <a:pPr indent="0" marL="0">
              <a:lnSpc>
                <a:spcPts val="3500"/>
              </a:lnSpc>
              <a:buNone/>
            </a:pPr>
            <a:r>
              <a:rPr lang="en-US" sz="3100" dirty="0">
                <a:solidFill>
                  <a:srgbClr val="2E1F27"/>
                </a:solidFill>
                <a:latin typeface="Fraunces" pitchFamily="34" charset="0"/>
                <a:ea typeface="Fraunces" pitchFamily="34" charset="-122"/>
                <a:cs typeface="Fraunces" pitchFamily="34" charset="-120"/>
              </a:rPr>
              <a:t>The smallest copy on the page, and the most skipped.</a:t>
            </a:r>
            <a:endParaRPr lang="en-US" sz="3100" dirty="0"/>
          </a:p>
        </p:txBody>
      </p:sp>
      <p:sp>
        <p:nvSpPr>
          <p:cNvPr id="6" name="Text 4"/>
          <p:cNvSpPr/>
          <p:nvPr/>
        </p:nvSpPr>
        <p:spPr>
          <a:xfrm>
            <a:off x="777240" y="3200400"/>
            <a:ext cx="6309360" cy="2651760"/>
          </a:xfrm>
          <a:prstGeom prst="rect">
            <a:avLst/>
          </a:prstGeom>
          <a:noFill/>
          <a:ln/>
        </p:spPr>
        <p:txBody>
          <a:bodyPr wrap="square" lIns="0" tIns="0" rIns="0" bIns="0" rtlCol="0" anchor="ctr"/>
          <a:lstStyle/>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A button should describe what happens next, in her voice. "Book my free call" beats "Contact us."</a:t>
            </a:r>
            <a:endParaRPr lang="en-US" sz="1450" dirty="0"/>
          </a:p>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One primary button per section. If everything is a call to action, nothing is.</a:t>
            </a:r>
            <a:endParaRPr lang="en-US" sz="1450" dirty="0"/>
          </a:p>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And repeat it. A long page needs the same button three or four times, because people decide at different moments.</a:t>
            </a:r>
            <a:endParaRPr lang="en-US" sz="1450" dirty="0"/>
          </a:p>
        </p:txBody>
      </p:sp>
      <p:sp>
        <p:nvSpPr>
          <p:cNvPr id="7" name="Shape 5"/>
          <p:cNvSpPr/>
          <p:nvPr/>
        </p:nvSpPr>
        <p:spPr>
          <a:xfrm>
            <a:off x="9765792" y="1965960"/>
            <a:ext cx="310896" cy="310896"/>
          </a:xfrm>
          <a:prstGeom prst="ellipse">
            <a:avLst/>
          </a:prstGeom>
          <a:solidFill>
            <a:srgbClr val="BC8A47"/>
          </a:solidFill>
          <a:ln/>
        </p:spPr>
      </p:sp>
      <p:sp>
        <p:nvSpPr>
          <p:cNvPr id="8" name="Text 6"/>
          <p:cNvSpPr/>
          <p:nvPr/>
        </p:nvSpPr>
        <p:spPr>
          <a:xfrm>
            <a:off x="7909560" y="2651760"/>
            <a:ext cx="4023360" cy="2194560"/>
          </a:xfrm>
          <a:prstGeom prst="rect">
            <a:avLst/>
          </a:prstGeom>
          <a:noFill/>
          <a:ln/>
        </p:spPr>
        <p:txBody>
          <a:bodyPr wrap="square" lIns="0" tIns="0" rIns="0" bIns="0" rtlCol="0" anchor="ctr"/>
          <a:lstStyle/>
          <a:p>
            <a:pPr algn="ctr" indent="0" marL="0">
              <a:buNone/>
            </a:pPr>
            <a:r>
              <a:rPr lang="en-US" sz="4600" dirty="0">
                <a:solidFill>
                  <a:srgbClr val="A93F63"/>
                </a:solidFill>
                <a:latin typeface="Ephesis" pitchFamily="34" charset="0"/>
                <a:ea typeface="Ephesis" pitchFamily="34" charset="-122"/>
                <a:cs typeface="Ephesis" pitchFamily="34" charset="-120"/>
              </a:rPr>
              <a:t>say what</a:t>
            </a:r>
            <a:endParaRPr lang="en-US" sz="4600" dirty="0"/>
          </a:p>
          <a:p>
            <a:pPr algn="ctr" indent="0" marL="0">
              <a:buNone/>
            </a:pPr>
            <a:r>
              <a:rPr lang="en-US" sz="4600" dirty="0">
                <a:solidFill>
                  <a:srgbClr val="A93F63"/>
                </a:solidFill>
                <a:latin typeface="Ephesis" pitchFamily="34" charset="0"/>
                <a:ea typeface="Ephesis" pitchFamily="34" charset="-122"/>
                <a:cs typeface="Ephesis" pitchFamily="34" charset="-120"/>
              </a:rPr>
              <a:t>happens</a:t>
            </a:r>
            <a:endParaRPr lang="en-US" sz="4600" dirty="0"/>
          </a:p>
          <a:p>
            <a:pPr algn="ctr" indent="0" marL="0">
              <a:buNone/>
            </a:pPr>
            <a:r>
              <a:rPr lang="en-US" sz="4600" dirty="0">
                <a:solidFill>
                  <a:srgbClr val="A93F63"/>
                </a:solidFill>
                <a:latin typeface="Ephesis" pitchFamily="34" charset="0"/>
                <a:ea typeface="Ephesis" pitchFamily="34" charset="-122"/>
                <a:cs typeface="Ephesis" pitchFamily="34" charset="-120"/>
              </a:rPr>
              <a:t>next</a:t>
            </a:r>
            <a:endParaRPr lang="en-US" sz="4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7C2B48"/>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61</a:t>
            </a:r>
            <a:endParaRPr lang="en-US" sz="950" dirty="0"/>
          </a:p>
        </p:txBody>
      </p:sp>
      <p:sp>
        <p:nvSpPr>
          <p:cNvPr id="3" name="Text 1"/>
          <p:cNvSpPr/>
          <p:nvPr/>
        </p:nvSpPr>
        <p:spPr>
          <a:xfrm>
            <a:off x="777240" y="685800"/>
            <a:ext cx="10607040" cy="274320"/>
          </a:xfrm>
          <a:prstGeom prst="rect">
            <a:avLst/>
          </a:prstGeom>
          <a:noFill/>
          <a:ln/>
        </p:spPr>
        <p:txBody>
          <a:bodyPr wrap="square" lIns="0" tIns="0" rIns="0" bIns="0" rtlCol="0" anchor="t"/>
          <a:lstStyle/>
          <a:p>
            <a:pPr indent="0" marL="0">
              <a:buNone/>
            </a:pPr>
            <a:r>
              <a:rPr lang="en-US" sz="1100" b="1" spc="300" kern="0" dirty="0">
                <a:solidFill>
                  <a:srgbClr val="F0DCE2"/>
                </a:solidFill>
                <a:latin typeface="Karla" pitchFamily="34" charset="0"/>
                <a:ea typeface="Karla" pitchFamily="34" charset="-122"/>
                <a:cs typeface="Karla" pitchFamily="34" charset="-120"/>
              </a:rPr>
              <a:t>MODULE THREE</a:t>
            </a:r>
            <a:endParaRPr lang="en-US" sz="1100" dirty="0"/>
          </a:p>
        </p:txBody>
      </p:sp>
      <p:sp>
        <p:nvSpPr>
          <p:cNvPr id="4" name="Text 2"/>
          <p:cNvSpPr/>
          <p:nvPr/>
        </p:nvSpPr>
        <p:spPr>
          <a:xfrm>
            <a:off x="777240" y="1097280"/>
            <a:ext cx="7863840" cy="914400"/>
          </a:xfrm>
          <a:prstGeom prst="rect">
            <a:avLst/>
          </a:prstGeom>
          <a:noFill/>
          <a:ln/>
        </p:spPr>
        <p:txBody>
          <a:bodyPr wrap="square" lIns="0" tIns="0" rIns="0" bIns="0" rtlCol="0" anchor="t"/>
          <a:lstStyle/>
          <a:p>
            <a:pPr indent="0" marL="0">
              <a:lnSpc>
                <a:spcPts val="3800"/>
              </a:lnSpc>
              <a:buNone/>
            </a:pPr>
            <a:r>
              <a:rPr lang="en-US" sz="3400" dirty="0">
                <a:solidFill>
                  <a:srgbClr val="FBF6EE"/>
                </a:solidFill>
                <a:latin typeface="Fraunces" pitchFamily="34" charset="0"/>
                <a:ea typeface="Fraunces" pitchFamily="34" charset="-122"/>
                <a:cs typeface="Fraunces" pitchFamily="34" charset="-120"/>
              </a:rPr>
              <a:t>What to take with you.</a:t>
            </a:r>
            <a:endParaRPr lang="en-US" sz="3400" dirty="0"/>
          </a:p>
        </p:txBody>
      </p:sp>
      <p:sp>
        <p:nvSpPr>
          <p:cNvPr id="5" name="Text 3"/>
          <p:cNvSpPr/>
          <p:nvPr/>
        </p:nvSpPr>
        <p:spPr>
          <a:xfrm>
            <a:off x="777240" y="24048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01</a:t>
            </a:r>
            <a:endParaRPr lang="en-US" sz="3400" dirty="0"/>
          </a:p>
        </p:txBody>
      </p:sp>
      <p:sp>
        <p:nvSpPr>
          <p:cNvPr id="6" name="Text 4"/>
          <p:cNvSpPr/>
          <p:nvPr/>
        </p:nvSpPr>
        <p:spPr>
          <a:xfrm>
            <a:off x="1920240" y="24963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Content earns trust. Copy collects on it.</a:t>
            </a:r>
            <a:endParaRPr lang="en-US" sz="1450" dirty="0"/>
          </a:p>
        </p:txBody>
      </p:sp>
      <p:sp>
        <p:nvSpPr>
          <p:cNvPr id="7" name="Text 5"/>
          <p:cNvSpPr/>
          <p:nvPr/>
        </p:nvSpPr>
        <p:spPr>
          <a:xfrm>
            <a:off x="777240" y="33192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02</a:t>
            </a:r>
            <a:endParaRPr lang="en-US" sz="3400" dirty="0"/>
          </a:p>
        </p:txBody>
      </p:sp>
      <p:sp>
        <p:nvSpPr>
          <p:cNvPr id="8" name="Text 6"/>
          <p:cNvSpPr/>
          <p:nvPr/>
        </p:nvSpPr>
        <p:spPr>
          <a:xfrm>
            <a:off x="1920240" y="34107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Hook, proof, offer, step. That order, every page.</a:t>
            </a:r>
            <a:endParaRPr lang="en-US" sz="1450" dirty="0"/>
          </a:p>
        </p:txBody>
      </p:sp>
      <p:sp>
        <p:nvSpPr>
          <p:cNvPr id="9" name="Text 7"/>
          <p:cNvSpPr/>
          <p:nvPr/>
        </p:nvSpPr>
        <p:spPr>
          <a:xfrm>
            <a:off x="777240" y="42336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03</a:t>
            </a:r>
            <a:endParaRPr lang="en-US" sz="3400" dirty="0"/>
          </a:p>
        </p:txBody>
      </p:sp>
      <p:sp>
        <p:nvSpPr>
          <p:cNvPr id="10" name="Text 8"/>
          <p:cNvSpPr/>
          <p:nvPr/>
        </p:nvSpPr>
        <p:spPr>
          <a:xfrm>
            <a:off x="1920240" y="43251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Write to one woman in her own words.</a:t>
            </a:r>
            <a:endParaRPr lang="en-US" sz="1450" dirty="0"/>
          </a:p>
        </p:txBody>
      </p:sp>
      <p:sp>
        <p:nvSpPr>
          <p:cNvPr id="11" name="Text 9"/>
          <p:cNvSpPr/>
          <p:nvPr/>
        </p:nvSpPr>
        <p:spPr>
          <a:xfrm>
            <a:off x="777240" y="51480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04</a:t>
            </a:r>
            <a:endParaRPr lang="en-US" sz="3400" dirty="0"/>
          </a:p>
        </p:txBody>
      </p:sp>
      <p:sp>
        <p:nvSpPr>
          <p:cNvPr id="12" name="Text 10"/>
          <p:cNvSpPr/>
          <p:nvPr/>
        </p:nvSpPr>
        <p:spPr>
          <a:xfrm>
            <a:off x="1920240" y="52395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Say what the button does, then say it again lower down.</a:t>
            </a:r>
            <a:endParaRPr lang="en-US" sz="14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62</a:t>
            </a:r>
            <a:endParaRPr lang="en-US" sz="950" dirty="0"/>
          </a:p>
        </p:txBody>
      </p:sp>
      <p:sp>
        <p:nvSpPr>
          <p:cNvPr id="3" name="Shape 1"/>
          <p:cNvSpPr/>
          <p:nvPr/>
        </p:nvSpPr>
        <p:spPr>
          <a:xfrm>
            <a:off x="3703320" y="1005840"/>
            <a:ext cx="4754880" cy="4754880"/>
          </a:xfrm>
          <a:prstGeom prst="ellipse">
            <a:avLst/>
          </a:prstGeom>
          <a:solidFill>
            <a:srgbClr val="F0DCE2">
              <a:alpha val="65000"/>
            </a:srgbClr>
          </a:solidFill>
          <a:ln/>
        </p:spPr>
      </p:sp>
      <p:sp>
        <p:nvSpPr>
          <p:cNvPr id="4" name="Text 2"/>
          <p:cNvSpPr/>
          <p:nvPr/>
        </p:nvSpPr>
        <p:spPr>
          <a:xfrm>
            <a:off x="1371600" y="2651760"/>
            <a:ext cx="9418320" cy="1188720"/>
          </a:xfrm>
          <a:prstGeom prst="rect">
            <a:avLst/>
          </a:prstGeom>
          <a:noFill/>
          <a:ln/>
        </p:spPr>
        <p:txBody>
          <a:bodyPr wrap="square" lIns="0" tIns="0" rIns="0" bIns="0" rtlCol="0" anchor="t"/>
          <a:lstStyle/>
          <a:p>
            <a:pPr algn="ctr" indent="0" marL="0">
              <a:buNone/>
            </a:pPr>
            <a:r>
              <a:rPr lang="en-US" sz="5200" dirty="0">
                <a:solidFill>
                  <a:srgbClr val="A93F63"/>
                </a:solidFill>
                <a:latin typeface="Ephesis" pitchFamily="34" charset="0"/>
                <a:ea typeface="Ephesis" pitchFamily="34" charset="-122"/>
                <a:cs typeface="Ephesis" pitchFamily="34" charset="-120"/>
              </a:rPr>
              <a:t>halfway, and the hard part is done</a:t>
            </a:r>
            <a:endParaRPr lang="en-US" sz="5200" dirty="0"/>
          </a:p>
        </p:txBody>
      </p:sp>
      <p:sp>
        <p:nvSpPr>
          <p:cNvPr id="5" name="Text 3"/>
          <p:cNvSpPr/>
          <p:nvPr/>
        </p:nvSpPr>
        <p:spPr>
          <a:xfrm>
            <a:off x="2286000" y="3977640"/>
            <a:ext cx="7589520" cy="457200"/>
          </a:xfrm>
          <a:prstGeom prst="rect">
            <a:avLst/>
          </a:prstGeom>
          <a:noFill/>
          <a:ln/>
        </p:spPr>
        <p:txBody>
          <a:bodyPr wrap="square" lIns="0" tIns="0" rIns="0" bIns="0" rtlCol="0" anchor="t"/>
          <a:lstStyle/>
          <a:p>
            <a:pPr algn="ctr" indent="0" marL="0">
              <a:buNone/>
            </a:pPr>
            <a:r>
              <a:rPr lang="en-US" sz="1200" spc="300" kern="0" dirty="0">
                <a:solidFill>
                  <a:srgbClr val="6E5C63"/>
                </a:solidFill>
                <a:latin typeface="Karla" pitchFamily="34" charset="0"/>
                <a:ea typeface="Karla" pitchFamily="34" charset="-122"/>
                <a:cs typeface="Karla" pitchFamily="34" charset="-120"/>
              </a:rPr>
              <a:t>MODULE FOUR: DESIGN</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63</a:t>
            </a:r>
            <a:endParaRPr lang="en-US" sz="950" dirty="0"/>
          </a:p>
        </p:txBody>
      </p:sp>
      <p:sp>
        <p:nvSpPr>
          <p:cNvPr id="3" name="Text 1"/>
          <p:cNvSpPr/>
          <p:nvPr/>
        </p:nvSpPr>
        <p:spPr>
          <a:xfrm>
            <a:off x="-640080" y="182880"/>
            <a:ext cx="5486400" cy="4937760"/>
          </a:xfrm>
          <a:prstGeom prst="rect">
            <a:avLst/>
          </a:prstGeom>
          <a:noFill/>
          <a:ln/>
        </p:spPr>
        <p:txBody>
          <a:bodyPr wrap="square" lIns="0" tIns="0" rIns="0" bIns="0" rtlCol="0" anchor="ctr"/>
          <a:lstStyle/>
          <a:p>
            <a:pPr indent="0" marL="0">
              <a:buNone/>
            </a:pPr>
            <a:r>
              <a:rPr lang="en-US" sz="25000" i="1" dirty="0">
                <a:solidFill>
                  <a:srgbClr val="7C2B48"/>
                </a:solidFill>
                <a:latin typeface="Fraunces" pitchFamily="34" charset="0"/>
                <a:ea typeface="Fraunces" pitchFamily="34" charset="-122"/>
                <a:cs typeface="Fraunces" pitchFamily="34" charset="-120"/>
              </a:rPr>
              <a:t>04</a:t>
            </a:r>
            <a:endParaRPr lang="en-US" sz="25000" dirty="0"/>
          </a:p>
        </p:txBody>
      </p:sp>
      <p:sp>
        <p:nvSpPr>
          <p:cNvPr id="4" name="Shape 2"/>
          <p:cNvSpPr/>
          <p:nvPr/>
        </p:nvSpPr>
        <p:spPr>
          <a:xfrm>
            <a:off x="9235440" y="-1005840"/>
            <a:ext cx="4023360" cy="4023360"/>
          </a:xfrm>
          <a:prstGeom prst="ellipse">
            <a:avLst/>
          </a:prstGeom>
          <a:solidFill>
            <a:srgbClr val="A93F63">
              <a:alpha val="30000"/>
            </a:srgbClr>
          </a:solidFill>
          <a:ln/>
        </p:spPr>
      </p:sp>
      <p:sp>
        <p:nvSpPr>
          <p:cNvPr id="5" name="Text 3"/>
          <p:cNvSpPr/>
          <p:nvPr/>
        </p:nvSpPr>
        <p:spPr>
          <a:xfrm>
            <a:off x="3931920" y="1920240"/>
            <a:ext cx="7315200" cy="1737360"/>
          </a:xfrm>
          <a:prstGeom prst="rect">
            <a:avLst/>
          </a:prstGeom>
          <a:noFill/>
          <a:ln/>
        </p:spPr>
        <p:txBody>
          <a:bodyPr wrap="square" lIns="0" tIns="0" rIns="0" bIns="0" rtlCol="0" anchor="t"/>
          <a:lstStyle/>
          <a:p>
            <a:pPr indent="0" marL="0">
              <a:lnSpc>
                <a:spcPts val="4600"/>
              </a:lnSpc>
              <a:buNone/>
            </a:pPr>
            <a:r>
              <a:rPr lang="en-US" sz="4200" dirty="0">
                <a:solidFill>
                  <a:srgbClr val="FBF6EE"/>
                </a:solidFill>
                <a:latin typeface="Fraunces" pitchFamily="34" charset="0"/>
                <a:ea typeface="Fraunces" pitchFamily="34" charset="-122"/>
                <a:cs typeface="Fraunces" pitchFamily="34" charset="-120"/>
              </a:rPr>
              <a:t>Design built</a:t>
            </a:r>
            <a:endParaRPr lang="en-US" sz="4200" dirty="0"/>
          </a:p>
          <a:p>
            <a:pPr indent="0" marL="0">
              <a:lnSpc>
                <a:spcPts val="4600"/>
              </a:lnSpc>
              <a:buNone/>
            </a:pPr>
            <a:r>
              <a:rPr lang="en-US" sz="4200" dirty="0">
                <a:solidFill>
                  <a:srgbClr val="FBF6EE"/>
                </a:solidFill>
                <a:latin typeface="Fraunces" pitchFamily="34" charset="0"/>
                <a:ea typeface="Fraunces" pitchFamily="34" charset="-122"/>
                <a:cs typeface="Fraunces" pitchFamily="34" charset="-120"/>
              </a:rPr>
              <a:t>around the offer</a:t>
            </a:r>
            <a:endParaRPr lang="en-US" sz="4200" dirty="0"/>
          </a:p>
        </p:txBody>
      </p:sp>
      <p:sp>
        <p:nvSpPr>
          <p:cNvPr id="6" name="Text 4"/>
          <p:cNvSpPr/>
          <p:nvPr/>
        </p:nvSpPr>
        <p:spPr>
          <a:xfrm>
            <a:off x="3977640" y="3703320"/>
            <a:ext cx="7223760" cy="548640"/>
          </a:xfrm>
          <a:prstGeom prst="rect">
            <a:avLst/>
          </a:prstGeom>
          <a:noFill/>
          <a:ln/>
        </p:spPr>
        <p:txBody>
          <a:bodyPr wrap="square" lIns="0" tIns="0" rIns="0" bIns="0" rtlCol="0" anchor="t"/>
          <a:lstStyle/>
          <a:p>
            <a:pPr indent="0" marL="0">
              <a:buNone/>
            </a:pPr>
            <a:r>
              <a:rPr lang="en-US" sz="2600" dirty="0">
                <a:solidFill>
                  <a:srgbClr val="BC8A47"/>
                </a:solidFill>
                <a:latin typeface="Ephesis" pitchFamily="34" charset="0"/>
                <a:ea typeface="Ephesis" pitchFamily="34" charset="-122"/>
                <a:cs typeface="Ephesis" pitchFamily="34" charset="-120"/>
              </a:rPr>
              <a:t>now, and only now, we make it pretty</a:t>
            </a:r>
            <a:endParaRPr lang="en-US" sz="2600" dirty="0"/>
          </a:p>
        </p:txBody>
      </p:sp>
      <p:sp>
        <p:nvSpPr>
          <p:cNvPr id="7" name="Shape 5"/>
          <p:cNvSpPr/>
          <p:nvPr/>
        </p:nvSpPr>
        <p:spPr>
          <a:xfrm>
            <a:off x="4023360" y="4526280"/>
            <a:ext cx="146304" cy="146304"/>
          </a:xfrm>
          <a:prstGeom prst="ellipse">
            <a:avLst/>
          </a:prstGeom>
          <a:solidFill>
            <a:srgbClr val="A93F63"/>
          </a:solidFill>
          <a:ln/>
        </p:spPr>
      </p:sp>
      <p:sp>
        <p:nvSpPr>
          <p:cNvPr id="8" name="Text 6"/>
          <p:cNvSpPr/>
          <p:nvPr/>
        </p:nvSpPr>
        <p:spPr>
          <a:xfrm>
            <a:off x="4389120" y="441655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Building the page in the order a buyer reads</a:t>
            </a:r>
            <a:endParaRPr lang="en-US" sz="1300" dirty="0"/>
          </a:p>
        </p:txBody>
      </p:sp>
      <p:sp>
        <p:nvSpPr>
          <p:cNvPr id="9" name="Shape 7"/>
          <p:cNvSpPr/>
          <p:nvPr/>
        </p:nvSpPr>
        <p:spPr>
          <a:xfrm>
            <a:off x="4023360" y="5029200"/>
            <a:ext cx="146304" cy="146304"/>
          </a:xfrm>
          <a:prstGeom prst="ellipse">
            <a:avLst/>
          </a:prstGeom>
          <a:solidFill>
            <a:srgbClr val="A93F63"/>
          </a:solidFill>
          <a:ln/>
        </p:spPr>
      </p:sp>
      <p:sp>
        <p:nvSpPr>
          <p:cNvPr id="10" name="Text 8"/>
          <p:cNvSpPr/>
          <p:nvPr/>
        </p:nvSpPr>
        <p:spPr>
          <a:xfrm>
            <a:off x="4389120" y="491947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The brand basics that do the heavy lifting</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64</a:t>
            </a:r>
            <a:endParaRPr lang="en-US" sz="950" dirty="0"/>
          </a:p>
        </p:txBody>
      </p:sp>
      <p:sp>
        <p:nvSpPr>
          <p:cNvPr id="3" name="Shape 1"/>
          <p:cNvSpPr/>
          <p:nvPr/>
        </p:nvSpPr>
        <p:spPr>
          <a:xfrm>
            <a:off x="8503920" y="914400"/>
            <a:ext cx="4937760" cy="4937760"/>
          </a:xfrm>
          <a:prstGeom prst="ellipse">
            <a:avLst/>
          </a:prstGeom>
          <a:solidFill>
            <a:srgbClr val="7C2B48">
              <a:alpha val="55000"/>
            </a:srgbClr>
          </a:solidFill>
          <a:ln/>
        </p:spPr>
      </p:sp>
      <p:sp>
        <p:nvSpPr>
          <p:cNvPr id="4" name="Text 2"/>
          <p:cNvSpPr/>
          <p:nvPr/>
        </p:nvSpPr>
        <p:spPr>
          <a:xfrm>
            <a:off x="777240" y="1920240"/>
            <a:ext cx="6766560" cy="2743200"/>
          </a:xfrm>
          <a:prstGeom prst="rect">
            <a:avLst/>
          </a:prstGeom>
          <a:noFill/>
          <a:ln/>
        </p:spPr>
        <p:txBody>
          <a:bodyPr wrap="square" lIns="0" tIns="0" rIns="0" bIns="0" rtlCol="0" anchor="ctr"/>
          <a:lstStyle/>
          <a:p>
            <a:pPr indent="0" marL="0">
              <a:lnSpc>
                <a:spcPts val="4800"/>
              </a:lnSpc>
              <a:buNone/>
            </a:pPr>
            <a:r>
              <a:rPr lang="en-US" sz="4200" dirty="0">
                <a:solidFill>
                  <a:srgbClr val="FBF6EE"/>
                </a:solidFill>
                <a:latin typeface="Fraunces" pitchFamily="34" charset="0"/>
                <a:ea typeface="Fraunces" pitchFamily="34" charset="-122"/>
                <a:cs typeface="Fraunces" pitchFamily="34" charset="-120"/>
              </a:rPr>
              <a:t>Your website is a
</a:t>
            </a:r>
            <a:pPr indent="0" marL="0">
              <a:lnSpc>
                <a:spcPts val="4800"/>
              </a:lnSpc>
              <a:buNone/>
            </a:pPr>
            <a:r>
              <a:rPr lang="en-US" sz="4200" i="1" dirty="0">
                <a:solidFill>
                  <a:srgbClr val="A93F63"/>
                </a:solidFill>
                <a:latin typeface="Fraunces" pitchFamily="34" charset="0"/>
                <a:ea typeface="Fraunces" pitchFamily="34" charset="-122"/>
                <a:cs typeface="Fraunces" pitchFamily="34" charset="-120"/>
              </a:rPr>
              <a:t>salesperson.</a:t>
            </a:r>
            <a:endParaRPr lang="en-US" sz="4200" dirty="0"/>
          </a:p>
        </p:txBody>
      </p:sp>
      <p:sp>
        <p:nvSpPr>
          <p:cNvPr id="5" name="Text 3"/>
          <p:cNvSpPr/>
          <p:nvPr/>
        </p:nvSpPr>
        <p:spPr>
          <a:xfrm>
            <a:off x="777240" y="4800600"/>
            <a:ext cx="6217920" cy="640080"/>
          </a:xfrm>
          <a:prstGeom prst="rect">
            <a:avLst/>
          </a:prstGeom>
          <a:noFill/>
          <a:ln/>
        </p:spPr>
        <p:txBody>
          <a:bodyPr wrap="square" lIns="0" tIns="0" rIns="0" bIns="0" rtlCol="0" anchor="t"/>
          <a:lstStyle/>
          <a:p>
            <a:pPr indent="0" marL="0">
              <a:lnSpc>
                <a:spcPts val="2000"/>
              </a:lnSpc>
              <a:buNone/>
            </a:pPr>
            <a:r>
              <a:rPr lang="en-US" sz="1350" dirty="0">
                <a:solidFill>
                  <a:srgbClr val="D8CBC3"/>
                </a:solidFill>
                <a:latin typeface="Karla" pitchFamily="34" charset="0"/>
                <a:ea typeface="Karla" pitchFamily="34" charset="-122"/>
                <a:cs typeface="Karla" pitchFamily="34" charset="-120"/>
              </a:rPr>
              <a:t>Design is how you dress her. It is not what she says.</a:t>
            </a:r>
            <a:endParaRPr lang="en-US" sz="13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65</a:t>
            </a:r>
            <a:endParaRPr lang="en-US" sz="950" dirty="0"/>
          </a:p>
        </p:txBody>
      </p:sp>
      <p:sp>
        <p:nvSpPr>
          <p:cNvPr id="3" name="Text 1"/>
          <p:cNvSpPr/>
          <p:nvPr/>
        </p:nvSpPr>
        <p:spPr>
          <a:xfrm>
            <a:off x="-457200" y="1188720"/>
            <a:ext cx="13075920" cy="3657600"/>
          </a:xfrm>
          <a:prstGeom prst="rect">
            <a:avLst/>
          </a:prstGeom>
          <a:noFill/>
          <a:ln/>
        </p:spPr>
        <p:txBody>
          <a:bodyPr wrap="square" lIns="0" tIns="0" rIns="0" bIns="0" rtlCol="0" anchor="ctr"/>
          <a:lstStyle/>
          <a:p>
            <a:pPr algn="ctr" indent="0" marL="0">
              <a:buNone/>
            </a:pPr>
            <a:r>
              <a:rPr lang="en-US" sz="19000" i="1" dirty="0">
                <a:solidFill>
                  <a:srgbClr val="EADFD1"/>
                </a:solidFill>
                <a:latin typeface="Fraunces" pitchFamily="34" charset="0"/>
                <a:ea typeface="Fraunces" pitchFamily="34" charset="-122"/>
                <a:cs typeface="Fraunces" pitchFamily="34" charset="-120"/>
              </a:rPr>
              <a:t>serve</a:t>
            </a:r>
            <a:endParaRPr lang="en-US" sz="19000" dirty="0"/>
          </a:p>
        </p:txBody>
      </p:sp>
      <p:sp>
        <p:nvSpPr>
          <p:cNvPr id="4" name="Text 2"/>
          <p:cNvSpPr/>
          <p:nvPr/>
        </p:nvSpPr>
        <p:spPr>
          <a:xfrm>
            <a:off x="777240" y="1371600"/>
            <a:ext cx="594360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DESIGN SERVES THE OFFER</a:t>
            </a:r>
            <a:endParaRPr lang="en-US" sz="1100" dirty="0"/>
          </a:p>
        </p:txBody>
      </p:sp>
      <p:sp>
        <p:nvSpPr>
          <p:cNvPr id="5" name="Text 3"/>
          <p:cNvSpPr/>
          <p:nvPr/>
        </p:nvSpPr>
        <p:spPr>
          <a:xfrm>
            <a:off x="777240" y="1783080"/>
            <a:ext cx="6035040" cy="155448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Not the other way around.</a:t>
            </a:r>
            <a:endParaRPr lang="en-US" sz="3300" dirty="0"/>
          </a:p>
        </p:txBody>
      </p:sp>
      <p:sp>
        <p:nvSpPr>
          <p:cNvPr id="6" name="Text 4"/>
          <p:cNvSpPr/>
          <p:nvPr/>
        </p:nvSpPr>
        <p:spPr>
          <a:xfrm>
            <a:off x="777240" y="3520440"/>
            <a:ext cx="5852160" cy="2468880"/>
          </a:xfrm>
          <a:prstGeom prst="rect">
            <a:avLst/>
          </a:prstGeom>
          <a:noFill/>
          <a:ln/>
        </p:spPr>
        <p:txBody>
          <a:bodyPr wrap="square" lIns="0" tIns="0" rIns="0" bIns="0" rtlCol="0" anchor="ctr"/>
          <a:lstStyle/>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By now you know what you sell, who it is for, and what the page must say. Only now does design have something to serve.</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This is why templates disappoint people. A template is a set of decisions made by someone who never met your offer.</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Every section earns its place by moving her one step closer to yes.</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66</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BUILD IN READING ORDER</a:t>
            </a:r>
            <a:endParaRPr lang="en-US" sz="1100" dirty="0"/>
          </a:p>
        </p:txBody>
      </p:sp>
      <p:sp>
        <p:nvSpPr>
          <p:cNvPr id="4" name="Text 2"/>
          <p:cNvSpPr/>
          <p:nvPr/>
        </p:nvSpPr>
        <p:spPr>
          <a:xfrm>
            <a:off x="777240" y="1051560"/>
            <a:ext cx="83210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The order a buyer actually goes through.</a:t>
            </a:r>
            <a:endParaRPr lang="en-US" sz="3300" dirty="0"/>
          </a:p>
        </p:txBody>
      </p:sp>
      <p:sp>
        <p:nvSpPr>
          <p:cNvPr id="5" name="Shape 3"/>
          <p:cNvSpPr/>
          <p:nvPr/>
        </p:nvSpPr>
        <p:spPr>
          <a:xfrm>
            <a:off x="2103120" y="3429000"/>
            <a:ext cx="7955280" cy="0"/>
          </a:xfrm>
          <a:prstGeom prst="line">
            <a:avLst/>
          </a:prstGeom>
          <a:noFill/>
          <a:ln w="25400">
            <a:solidFill>
              <a:srgbClr val="E0D5C9"/>
            </a:solidFill>
            <a:prstDash val="solid"/>
          </a:ln>
        </p:spPr>
      </p:sp>
      <p:sp>
        <p:nvSpPr>
          <p:cNvPr id="6" name="Shape 4"/>
          <p:cNvSpPr/>
          <p:nvPr/>
        </p:nvSpPr>
        <p:spPr>
          <a:xfrm>
            <a:off x="1901952" y="3227832"/>
            <a:ext cx="402336" cy="402336"/>
          </a:xfrm>
          <a:prstGeom prst="ellipse">
            <a:avLst/>
          </a:prstGeom>
          <a:solidFill>
            <a:srgbClr val="2E1F27"/>
          </a:solidFill>
          <a:ln/>
        </p:spPr>
      </p:sp>
      <p:sp>
        <p:nvSpPr>
          <p:cNvPr id="7" name="Text 5"/>
          <p:cNvSpPr/>
          <p:nvPr/>
        </p:nvSpPr>
        <p:spPr>
          <a:xfrm>
            <a:off x="77724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first</a:t>
            </a:r>
            <a:endParaRPr lang="en-US" sz="2300" dirty="0"/>
          </a:p>
        </p:txBody>
      </p:sp>
      <p:sp>
        <p:nvSpPr>
          <p:cNvPr id="8" name="Text 6"/>
          <p:cNvSpPr/>
          <p:nvPr/>
        </p:nvSpPr>
        <p:spPr>
          <a:xfrm>
            <a:off x="77724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Who and what</a:t>
            </a:r>
            <a:endParaRPr lang="en-US" sz="1700" dirty="0"/>
          </a:p>
        </p:txBody>
      </p:sp>
      <p:sp>
        <p:nvSpPr>
          <p:cNvPr id="9" name="Text 7"/>
          <p:cNvSpPr/>
          <p:nvPr/>
        </p:nvSpPr>
        <p:spPr>
          <a:xfrm>
            <a:off x="100584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Above the fold: who it is for, what she gets, one button.</a:t>
            </a:r>
            <a:endParaRPr lang="en-US" sz="1150" dirty="0"/>
          </a:p>
        </p:txBody>
      </p:sp>
      <p:sp>
        <p:nvSpPr>
          <p:cNvPr id="10" name="Shape 8"/>
          <p:cNvSpPr/>
          <p:nvPr/>
        </p:nvSpPr>
        <p:spPr>
          <a:xfrm>
            <a:off x="4553712" y="3227832"/>
            <a:ext cx="402336" cy="402336"/>
          </a:xfrm>
          <a:prstGeom prst="ellipse">
            <a:avLst/>
          </a:prstGeom>
          <a:solidFill>
            <a:srgbClr val="2E1F27"/>
          </a:solidFill>
          <a:ln/>
        </p:spPr>
      </p:sp>
      <p:sp>
        <p:nvSpPr>
          <p:cNvPr id="11" name="Text 9"/>
          <p:cNvSpPr/>
          <p:nvPr/>
        </p:nvSpPr>
        <p:spPr>
          <a:xfrm>
            <a:off x="342900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then</a:t>
            </a:r>
            <a:endParaRPr lang="en-US" sz="2300" dirty="0"/>
          </a:p>
        </p:txBody>
      </p:sp>
      <p:sp>
        <p:nvSpPr>
          <p:cNvPr id="12" name="Text 10"/>
          <p:cNvSpPr/>
          <p:nvPr/>
        </p:nvSpPr>
        <p:spPr>
          <a:xfrm>
            <a:off x="342900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Why you</a:t>
            </a:r>
            <a:endParaRPr lang="en-US" sz="1700" dirty="0"/>
          </a:p>
        </p:txBody>
      </p:sp>
      <p:sp>
        <p:nvSpPr>
          <p:cNvPr id="13" name="Text 11"/>
          <p:cNvSpPr/>
          <p:nvPr/>
        </p:nvSpPr>
        <p:spPr>
          <a:xfrm>
            <a:off x="365760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Proof. Results, testimonials, the work itself.</a:t>
            </a:r>
            <a:endParaRPr lang="en-US" sz="1150" dirty="0"/>
          </a:p>
        </p:txBody>
      </p:sp>
      <p:sp>
        <p:nvSpPr>
          <p:cNvPr id="14" name="Shape 12"/>
          <p:cNvSpPr/>
          <p:nvPr/>
        </p:nvSpPr>
        <p:spPr>
          <a:xfrm>
            <a:off x="7205472" y="3227832"/>
            <a:ext cx="402336" cy="402336"/>
          </a:xfrm>
          <a:prstGeom prst="ellipse">
            <a:avLst/>
          </a:prstGeom>
          <a:solidFill>
            <a:srgbClr val="2E1F27"/>
          </a:solidFill>
          <a:ln/>
        </p:spPr>
      </p:sp>
      <p:sp>
        <p:nvSpPr>
          <p:cNvPr id="15" name="Text 13"/>
          <p:cNvSpPr/>
          <p:nvPr/>
        </p:nvSpPr>
        <p:spPr>
          <a:xfrm>
            <a:off x="608076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then</a:t>
            </a:r>
            <a:endParaRPr lang="en-US" sz="2300" dirty="0"/>
          </a:p>
        </p:txBody>
      </p:sp>
      <p:sp>
        <p:nvSpPr>
          <p:cNvPr id="16" name="Text 14"/>
          <p:cNvSpPr/>
          <p:nvPr/>
        </p:nvSpPr>
        <p:spPr>
          <a:xfrm>
            <a:off x="608076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What it is</a:t>
            </a:r>
            <a:endParaRPr lang="en-US" sz="1700" dirty="0"/>
          </a:p>
        </p:txBody>
      </p:sp>
      <p:sp>
        <p:nvSpPr>
          <p:cNvPr id="17" name="Text 15"/>
          <p:cNvSpPr/>
          <p:nvPr/>
        </p:nvSpPr>
        <p:spPr>
          <a:xfrm>
            <a:off x="630936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The offer in detail, including what it costs.</a:t>
            </a:r>
            <a:endParaRPr lang="en-US" sz="1150" dirty="0"/>
          </a:p>
        </p:txBody>
      </p:sp>
      <p:sp>
        <p:nvSpPr>
          <p:cNvPr id="18" name="Shape 16"/>
          <p:cNvSpPr/>
          <p:nvPr/>
        </p:nvSpPr>
        <p:spPr>
          <a:xfrm>
            <a:off x="9857232" y="3227832"/>
            <a:ext cx="402336" cy="402336"/>
          </a:xfrm>
          <a:prstGeom prst="ellipse">
            <a:avLst/>
          </a:prstGeom>
          <a:solidFill>
            <a:srgbClr val="A93F63"/>
          </a:solidFill>
          <a:ln/>
        </p:spPr>
      </p:sp>
      <p:sp>
        <p:nvSpPr>
          <p:cNvPr id="19" name="Text 17"/>
          <p:cNvSpPr/>
          <p:nvPr/>
        </p:nvSpPr>
        <p:spPr>
          <a:xfrm>
            <a:off x="873252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finally</a:t>
            </a:r>
            <a:endParaRPr lang="en-US" sz="2300" dirty="0"/>
          </a:p>
        </p:txBody>
      </p:sp>
      <p:sp>
        <p:nvSpPr>
          <p:cNvPr id="20" name="Text 18"/>
          <p:cNvSpPr/>
          <p:nvPr/>
        </p:nvSpPr>
        <p:spPr>
          <a:xfrm>
            <a:off x="873252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What now</a:t>
            </a:r>
            <a:endParaRPr lang="en-US" sz="1700" dirty="0"/>
          </a:p>
        </p:txBody>
      </p:sp>
      <p:sp>
        <p:nvSpPr>
          <p:cNvPr id="21" name="Text 19"/>
          <p:cNvSpPr/>
          <p:nvPr/>
        </p:nvSpPr>
        <p:spPr>
          <a:xfrm>
            <a:off x="896112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The clear next step, and the answers still stopping her.</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67</a:t>
            </a:r>
            <a:endParaRPr lang="en-US" sz="950" dirty="0"/>
          </a:p>
        </p:txBody>
      </p:sp>
      <p:sp>
        <p:nvSpPr>
          <p:cNvPr id="3" name="Shape 1"/>
          <p:cNvSpPr/>
          <p:nvPr/>
        </p:nvSpPr>
        <p:spPr>
          <a:xfrm>
            <a:off x="0" y="0"/>
            <a:ext cx="12161520" cy="2926080"/>
          </a:xfrm>
          <a:prstGeom prst="rect">
            <a:avLst/>
          </a:prstGeom>
          <a:solidFill>
            <a:srgbClr val="2E1F27"/>
          </a:solidFill>
          <a:ln/>
        </p:spPr>
      </p:sp>
      <p:sp>
        <p:nvSpPr>
          <p:cNvPr id="4" name="Text 2"/>
          <p:cNvSpPr/>
          <p:nvPr/>
        </p:nvSpPr>
        <p:spPr>
          <a:xfrm>
            <a:off x="777240" y="685800"/>
            <a:ext cx="1060704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THE THREE THAT DO THE WORK</a:t>
            </a:r>
            <a:endParaRPr lang="en-US" sz="1100" dirty="0"/>
          </a:p>
        </p:txBody>
      </p:sp>
      <p:sp>
        <p:nvSpPr>
          <p:cNvPr id="5" name="Text 3"/>
          <p:cNvSpPr/>
          <p:nvPr/>
        </p:nvSpPr>
        <p:spPr>
          <a:xfrm>
            <a:off x="777240" y="1097280"/>
            <a:ext cx="7863840" cy="1463040"/>
          </a:xfrm>
          <a:prstGeom prst="rect">
            <a:avLst/>
          </a:prstGeom>
          <a:noFill/>
          <a:ln/>
        </p:spPr>
        <p:txBody>
          <a:bodyPr wrap="square" lIns="0" tIns="0" rIns="0" bIns="0" rtlCol="0" anchor="t"/>
          <a:lstStyle/>
          <a:p>
            <a:pPr indent="0" marL="0">
              <a:lnSpc>
                <a:spcPts val="3800"/>
              </a:lnSpc>
              <a:buNone/>
            </a:pPr>
            <a:r>
              <a:rPr lang="en-US" sz="3400" dirty="0">
                <a:solidFill>
                  <a:srgbClr val="FBF6EE"/>
                </a:solidFill>
                <a:latin typeface="Fraunces" pitchFamily="34" charset="0"/>
                <a:ea typeface="Fraunces" pitchFamily="34" charset="-122"/>
                <a:cs typeface="Fraunces" pitchFamily="34" charset="-120"/>
              </a:rPr>
              <a:t>Get these right and the rest is decoration.</a:t>
            </a:r>
            <a:endParaRPr lang="en-US" sz="3400" dirty="0"/>
          </a:p>
        </p:txBody>
      </p:sp>
      <p:sp>
        <p:nvSpPr>
          <p:cNvPr id="6" name="Shape 4"/>
          <p:cNvSpPr/>
          <p:nvPr/>
        </p:nvSpPr>
        <p:spPr>
          <a:xfrm>
            <a:off x="777240" y="2331720"/>
            <a:ext cx="3322320" cy="3566160"/>
          </a:xfrm>
          <a:prstGeom prst="roundRect">
            <a:avLst>
              <a:gd name="adj" fmla="val 3853"/>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7" name="Text 5"/>
          <p:cNvSpPr/>
          <p:nvPr/>
        </p:nvSpPr>
        <p:spPr>
          <a:xfrm>
            <a:off x="1124712" y="2697480"/>
            <a:ext cx="2627376"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The hero</a:t>
            </a:r>
            <a:endParaRPr lang="en-US" sz="1900" dirty="0"/>
          </a:p>
        </p:txBody>
      </p:sp>
      <p:sp>
        <p:nvSpPr>
          <p:cNvPr id="8" name="Text 6"/>
          <p:cNvSpPr/>
          <p:nvPr/>
        </p:nvSpPr>
        <p:spPr>
          <a:xfrm>
            <a:off x="1124712" y="3611880"/>
            <a:ext cx="2627376" cy="201168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Three seconds to answer who you are for and what you do. Most sites waste it on a greeting.</a:t>
            </a:r>
            <a:endParaRPr lang="en-US" sz="1250" dirty="0"/>
          </a:p>
        </p:txBody>
      </p:sp>
      <p:sp>
        <p:nvSpPr>
          <p:cNvPr id="9" name="Shape 7"/>
          <p:cNvSpPr/>
          <p:nvPr/>
        </p:nvSpPr>
        <p:spPr>
          <a:xfrm>
            <a:off x="4419600" y="2331720"/>
            <a:ext cx="3322320" cy="3566160"/>
          </a:xfrm>
          <a:prstGeom prst="roundRect">
            <a:avLst>
              <a:gd name="adj" fmla="val 3853"/>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0" name="Text 8"/>
          <p:cNvSpPr/>
          <p:nvPr/>
        </p:nvSpPr>
        <p:spPr>
          <a:xfrm>
            <a:off x="4767072" y="2697480"/>
            <a:ext cx="2627376"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The proof band</a:t>
            </a:r>
            <a:endParaRPr lang="en-US" sz="1900" dirty="0"/>
          </a:p>
        </p:txBody>
      </p:sp>
      <p:sp>
        <p:nvSpPr>
          <p:cNvPr id="11" name="Text 9"/>
          <p:cNvSpPr/>
          <p:nvPr/>
        </p:nvSpPr>
        <p:spPr>
          <a:xfrm>
            <a:off x="4767072" y="3611880"/>
            <a:ext cx="2627376" cy="201168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Faces, quotes, and numbers. This is where believing happens.</a:t>
            </a:r>
            <a:endParaRPr lang="en-US" sz="1250" dirty="0"/>
          </a:p>
        </p:txBody>
      </p:sp>
      <p:sp>
        <p:nvSpPr>
          <p:cNvPr id="12" name="Shape 10"/>
          <p:cNvSpPr/>
          <p:nvPr/>
        </p:nvSpPr>
        <p:spPr>
          <a:xfrm>
            <a:off x="8061960" y="2331720"/>
            <a:ext cx="3322320" cy="3566160"/>
          </a:xfrm>
          <a:prstGeom prst="roundRect">
            <a:avLst>
              <a:gd name="adj" fmla="val 3853"/>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3" name="Text 11"/>
          <p:cNvSpPr/>
          <p:nvPr/>
        </p:nvSpPr>
        <p:spPr>
          <a:xfrm>
            <a:off x="8409432" y="2697480"/>
            <a:ext cx="2627376"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The offer block</a:t>
            </a:r>
            <a:endParaRPr lang="en-US" sz="1900" dirty="0"/>
          </a:p>
        </p:txBody>
      </p:sp>
      <p:sp>
        <p:nvSpPr>
          <p:cNvPr id="14" name="Text 12"/>
          <p:cNvSpPr/>
          <p:nvPr/>
        </p:nvSpPr>
        <p:spPr>
          <a:xfrm>
            <a:off x="8409432" y="3611880"/>
            <a:ext cx="2627376" cy="201168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Price, inclusions, and the button. Do not make her hunt for the cost.</a:t>
            </a:r>
            <a:endParaRPr lang="en-US" sz="12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68</a:t>
            </a:r>
            <a:endParaRPr lang="en-US" sz="950" dirty="0"/>
          </a:p>
        </p:txBody>
      </p:sp>
      <p:sp>
        <p:nvSpPr>
          <p:cNvPr id="3" name="Shape 1"/>
          <p:cNvSpPr/>
          <p:nvPr/>
        </p:nvSpPr>
        <p:spPr>
          <a:xfrm>
            <a:off x="-1737360" y="3749040"/>
            <a:ext cx="4572000" cy="4572000"/>
          </a:xfrm>
          <a:prstGeom prst="ellipse">
            <a:avLst/>
          </a:prstGeom>
          <a:solidFill>
            <a:srgbClr val="F0DCE2">
              <a:alpha val="65000"/>
            </a:srgbClr>
          </a:solidFill>
          <a:ln/>
        </p:spPr>
      </p:sp>
      <p:sp>
        <p:nvSpPr>
          <p:cNvPr id="4" name="Shape 2"/>
          <p:cNvSpPr/>
          <p:nvPr/>
        </p:nvSpPr>
        <p:spPr>
          <a:xfrm>
            <a:off x="10789920" y="-1371600"/>
            <a:ext cx="3291840" cy="3291840"/>
          </a:xfrm>
          <a:prstGeom prst="ellipse">
            <a:avLst/>
          </a:prstGeom>
          <a:solidFill>
            <a:srgbClr val="F4EBDE">
              <a:alpha val="80000"/>
            </a:srgbClr>
          </a:solidFill>
          <a:ln/>
        </p:spPr>
      </p:sp>
      <p:sp>
        <p:nvSpPr>
          <p:cNvPr id="5" name="Text 3"/>
          <p:cNvSpPr/>
          <p:nvPr/>
        </p:nvSpPr>
        <p:spPr>
          <a:xfrm>
            <a:off x="1234440" y="2057400"/>
            <a:ext cx="42062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WHAT THE HERO NEEDS</a:t>
            </a:r>
            <a:endParaRPr lang="en-US" sz="1100" dirty="0"/>
          </a:p>
        </p:txBody>
      </p:sp>
      <p:sp>
        <p:nvSpPr>
          <p:cNvPr id="6" name="Text 4"/>
          <p:cNvSpPr/>
          <p:nvPr/>
        </p:nvSpPr>
        <p:spPr>
          <a:xfrm>
            <a:off x="1234440" y="2468880"/>
            <a:ext cx="4389120" cy="2011680"/>
          </a:xfrm>
          <a:prstGeom prst="rect">
            <a:avLst/>
          </a:prstGeom>
          <a:noFill/>
          <a:ln/>
        </p:spPr>
        <p:txBody>
          <a:bodyPr wrap="square" lIns="0" tIns="0" rIns="0" bIns="0" rtlCol="0" anchor="t"/>
          <a:lstStyle/>
          <a:p>
            <a:pPr indent="0" marL="0">
              <a:lnSpc>
                <a:spcPts val="3600"/>
              </a:lnSpc>
              <a:buNone/>
            </a:pPr>
            <a:r>
              <a:rPr lang="en-US" sz="3200" dirty="0">
                <a:solidFill>
                  <a:srgbClr val="2E1F27"/>
                </a:solidFill>
                <a:latin typeface="Fraunces" pitchFamily="34" charset="0"/>
                <a:ea typeface="Fraunces" pitchFamily="34" charset="-122"/>
                <a:cs typeface="Fraunces" pitchFamily="34" charset="-120"/>
              </a:rPr>
              <a:t>Five things, above the fold, every time.</a:t>
            </a:r>
            <a:endParaRPr lang="en-US" sz="3200" dirty="0"/>
          </a:p>
        </p:txBody>
      </p:sp>
      <p:sp>
        <p:nvSpPr>
          <p:cNvPr id="7" name="Shape 5"/>
          <p:cNvSpPr/>
          <p:nvPr/>
        </p:nvSpPr>
        <p:spPr>
          <a:xfrm>
            <a:off x="6309360" y="1517904"/>
            <a:ext cx="347472" cy="347472"/>
          </a:xfrm>
          <a:prstGeom prst="roundRect">
            <a:avLst>
              <a:gd name="adj" fmla="val 18421"/>
            </a:avLst>
          </a:prstGeom>
          <a:solidFill>
            <a:srgbClr val="FFFFFF"/>
          </a:solidFill>
          <a:ln w="15875">
            <a:solidFill>
              <a:srgbClr val="A93F63"/>
            </a:solidFill>
            <a:prstDash val="solid"/>
          </a:ln>
        </p:spPr>
      </p:sp>
      <p:sp>
        <p:nvSpPr>
          <p:cNvPr id="8" name="Text 6"/>
          <p:cNvSpPr/>
          <p:nvPr/>
        </p:nvSpPr>
        <p:spPr>
          <a:xfrm>
            <a:off x="6903720" y="1453896"/>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A headline that names the outcome</a:t>
            </a:r>
            <a:endParaRPr lang="en-US" sz="1350" dirty="0"/>
          </a:p>
        </p:txBody>
      </p:sp>
      <p:sp>
        <p:nvSpPr>
          <p:cNvPr id="9" name="Shape 7"/>
          <p:cNvSpPr/>
          <p:nvPr/>
        </p:nvSpPr>
        <p:spPr>
          <a:xfrm>
            <a:off x="6309360" y="2359152"/>
            <a:ext cx="347472" cy="347472"/>
          </a:xfrm>
          <a:prstGeom prst="roundRect">
            <a:avLst>
              <a:gd name="adj" fmla="val 18421"/>
            </a:avLst>
          </a:prstGeom>
          <a:solidFill>
            <a:srgbClr val="FFFFFF"/>
          </a:solidFill>
          <a:ln w="15875">
            <a:solidFill>
              <a:srgbClr val="A93F63"/>
            </a:solidFill>
            <a:prstDash val="solid"/>
          </a:ln>
        </p:spPr>
      </p:sp>
      <p:sp>
        <p:nvSpPr>
          <p:cNvPr id="10" name="Text 8"/>
          <p:cNvSpPr/>
          <p:nvPr/>
        </p:nvSpPr>
        <p:spPr>
          <a:xfrm>
            <a:off x="6903720" y="2295144"/>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One line of support saying who it is for</a:t>
            </a:r>
            <a:endParaRPr lang="en-US" sz="1350" dirty="0"/>
          </a:p>
        </p:txBody>
      </p:sp>
      <p:sp>
        <p:nvSpPr>
          <p:cNvPr id="11" name="Shape 9"/>
          <p:cNvSpPr/>
          <p:nvPr/>
        </p:nvSpPr>
        <p:spPr>
          <a:xfrm>
            <a:off x="6309360" y="3200400"/>
            <a:ext cx="347472" cy="347472"/>
          </a:xfrm>
          <a:prstGeom prst="roundRect">
            <a:avLst>
              <a:gd name="adj" fmla="val 18421"/>
            </a:avLst>
          </a:prstGeom>
          <a:solidFill>
            <a:srgbClr val="FFFFFF"/>
          </a:solidFill>
          <a:ln w="15875">
            <a:solidFill>
              <a:srgbClr val="A93F63"/>
            </a:solidFill>
            <a:prstDash val="solid"/>
          </a:ln>
        </p:spPr>
      </p:sp>
      <p:sp>
        <p:nvSpPr>
          <p:cNvPr id="12" name="Text 10"/>
          <p:cNvSpPr/>
          <p:nvPr/>
        </p:nvSpPr>
        <p:spPr>
          <a:xfrm>
            <a:off x="6903720" y="3136392"/>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A photo of you or of the work</a:t>
            </a:r>
            <a:endParaRPr lang="en-US" sz="1350" dirty="0"/>
          </a:p>
        </p:txBody>
      </p:sp>
      <p:sp>
        <p:nvSpPr>
          <p:cNvPr id="13" name="Shape 11"/>
          <p:cNvSpPr/>
          <p:nvPr/>
        </p:nvSpPr>
        <p:spPr>
          <a:xfrm>
            <a:off x="6309360" y="4041648"/>
            <a:ext cx="347472" cy="347472"/>
          </a:xfrm>
          <a:prstGeom prst="roundRect">
            <a:avLst>
              <a:gd name="adj" fmla="val 18421"/>
            </a:avLst>
          </a:prstGeom>
          <a:solidFill>
            <a:srgbClr val="FFFFFF"/>
          </a:solidFill>
          <a:ln w="15875">
            <a:solidFill>
              <a:srgbClr val="A93F63"/>
            </a:solidFill>
            <a:prstDash val="solid"/>
          </a:ln>
        </p:spPr>
      </p:sp>
      <p:sp>
        <p:nvSpPr>
          <p:cNvPr id="14" name="Text 12"/>
          <p:cNvSpPr/>
          <p:nvPr/>
        </p:nvSpPr>
        <p:spPr>
          <a:xfrm>
            <a:off x="6903720" y="3977640"/>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One button saying what happens when she clicks</a:t>
            </a:r>
            <a:endParaRPr lang="en-US" sz="1350" dirty="0"/>
          </a:p>
        </p:txBody>
      </p:sp>
      <p:sp>
        <p:nvSpPr>
          <p:cNvPr id="15" name="Shape 13"/>
          <p:cNvSpPr/>
          <p:nvPr/>
        </p:nvSpPr>
        <p:spPr>
          <a:xfrm>
            <a:off x="6309360" y="4882896"/>
            <a:ext cx="347472" cy="347472"/>
          </a:xfrm>
          <a:prstGeom prst="roundRect">
            <a:avLst>
              <a:gd name="adj" fmla="val 18421"/>
            </a:avLst>
          </a:prstGeom>
          <a:solidFill>
            <a:srgbClr val="FFFFFF"/>
          </a:solidFill>
          <a:ln w="15875">
            <a:solidFill>
              <a:srgbClr val="A93F63"/>
            </a:solidFill>
            <a:prstDash val="solid"/>
          </a:ln>
        </p:spPr>
      </p:sp>
      <p:sp>
        <p:nvSpPr>
          <p:cNvPr id="16" name="Text 14"/>
          <p:cNvSpPr/>
          <p:nvPr/>
        </p:nvSpPr>
        <p:spPr>
          <a:xfrm>
            <a:off x="6903720" y="4818888"/>
            <a:ext cx="4480560" cy="548640"/>
          </a:xfrm>
          <a:prstGeom prst="rect">
            <a:avLst/>
          </a:prstGeom>
          <a:noFill/>
          <a:ln/>
        </p:spPr>
        <p:txBody>
          <a:bodyPr wrap="square" lIns="0" tIns="0" rIns="0" bIns="0" rtlCol="0" anchor="t"/>
          <a:lstStyle/>
          <a:p>
            <a:pPr indent="0" marL="0">
              <a:lnSpc>
                <a:spcPts val="1900"/>
              </a:lnSpc>
              <a:buNone/>
            </a:pPr>
            <a:r>
              <a:rPr lang="en-US" sz="1350" dirty="0">
                <a:solidFill>
                  <a:srgbClr val="2E1F27"/>
                </a:solidFill>
                <a:latin typeface="Karla" pitchFamily="34" charset="0"/>
                <a:ea typeface="Karla" pitchFamily="34" charset="-122"/>
                <a:cs typeface="Karla" pitchFamily="34" charset="-120"/>
              </a:rPr>
              <a:t>A quiet piece of proof: a number or a one-line quote</a:t>
            </a:r>
            <a:endParaRPr lang="en-US" sz="13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69</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PRETTY VERSUS CONVERTING</a:t>
            </a:r>
            <a:endParaRPr lang="en-US" sz="1100" dirty="0"/>
          </a:p>
        </p:txBody>
      </p:sp>
      <p:sp>
        <p:nvSpPr>
          <p:cNvPr id="4" name="Text 2"/>
          <p:cNvSpPr/>
          <p:nvPr/>
        </p:nvSpPr>
        <p:spPr>
          <a:xfrm>
            <a:off x="777240" y="1051560"/>
            <a:ext cx="83210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A site can be both. Most are only one.</a:t>
            </a:r>
            <a:endParaRPr lang="en-US" sz="3300" dirty="0"/>
          </a:p>
        </p:txBody>
      </p:sp>
      <p:sp>
        <p:nvSpPr>
          <p:cNvPr id="5" name="Shape 3"/>
          <p:cNvSpPr/>
          <p:nvPr/>
        </p:nvSpPr>
        <p:spPr>
          <a:xfrm>
            <a:off x="777240" y="2468880"/>
            <a:ext cx="4572000" cy="2743200"/>
          </a:xfrm>
          <a:prstGeom prst="roundRect">
            <a:avLst>
              <a:gd name="adj" fmla="val 4667"/>
            </a:avLst>
          </a:prstGeom>
          <a:solidFill>
            <a:srgbClr val="FFFFFF"/>
          </a:solidFill>
          <a:ln w="9525">
            <a:solidFill>
              <a:srgbClr val="DCD2C7"/>
            </a:solidFill>
            <a:prstDash val="solid"/>
          </a:ln>
        </p:spPr>
      </p:sp>
      <p:sp>
        <p:nvSpPr>
          <p:cNvPr id="6" name="Text 4"/>
          <p:cNvSpPr/>
          <p:nvPr/>
        </p:nvSpPr>
        <p:spPr>
          <a:xfrm>
            <a:off x="1143000" y="2788920"/>
            <a:ext cx="3840480" cy="274320"/>
          </a:xfrm>
          <a:prstGeom prst="rect">
            <a:avLst/>
          </a:prstGeom>
          <a:noFill/>
          <a:ln/>
        </p:spPr>
        <p:txBody>
          <a:bodyPr wrap="square" lIns="0" tIns="0" rIns="0" bIns="0" rtlCol="0" anchor="t"/>
          <a:lstStyle/>
          <a:p>
            <a:pPr indent="0" marL="0">
              <a:buNone/>
            </a:pPr>
            <a:r>
              <a:rPr lang="en-US" sz="1050" b="1" spc="300" kern="0" dirty="0">
                <a:solidFill>
                  <a:srgbClr val="6E5C63"/>
                </a:solidFill>
                <a:latin typeface="Karla" pitchFamily="34" charset="0"/>
                <a:ea typeface="Karla" pitchFamily="34" charset="-122"/>
                <a:cs typeface="Karla" pitchFamily="34" charset="-120"/>
              </a:rPr>
              <a:t>PRETTY BUT SILENT</a:t>
            </a:r>
            <a:endParaRPr lang="en-US" sz="1050" dirty="0"/>
          </a:p>
        </p:txBody>
      </p:sp>
      <p:sp>
        <p:nvSpPr>
          <p:cNvPr id="7" name="Text 5"/>
          <p:cNvSpPr/>
          <p:nvPr/>
        </p:nvSpPr>
        <p:spPr>
          <a:xfrm>
            <a:off x="1143000" y="3246120"/>
            <a:ext cx="3840480" cy="173736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A greeting as the headline</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Beautiful photos, no clear offer</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Price hidden</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Five equal buttons</a:t>
            </a:r>
            <a:endParaRPr lang="en-US" sz="1250" dirty="0"/>
          </a:p>
        </p:txBody>
      </p:sp>
      <p:sp>
        <p:nvSpPr>
          <p:cNvPr id="8" name="Text 6"/>
          <p:cNvSpPr/>
          <p:nvPr/>
        </p:nvSpPr>
        <p:spPr>
          <a:xfrm>
            <a:off x="5486400" y="3474720"/>
            <a:ext cx="1188720" cy="822960"/>
          </a:xfrm>
          <a:prstGeom prst="rect">
            <a:avLst/>
          </a:prstGeom>
          <a:noFill/>
          <a:ln/>
        </p:spPr>
        <p:txBody>
          <a:bodyPr wrap="square" lIns="0" tIns="0" rIns="0" bIns="0" rtlCol="0" anchor="t"/>
          <a:lstStyle/>
          <a:p>
            <a:pPr algn="ctr" indent="0" marL="0">
              <a:buNone/>
            </a:pPr>
            <a:r>
              <a:rPr lang="en-US" sz="4400" dirty="0">
                <a:solidFill>
                  <a:srgbClr val="A93F63"/>
                </a:solidFill>
                <a:latin typeface="Fraunces" pitchFamily="34" charset="0"/>
                <a:ea typeface="Fraunces" pitchFamily="34" charset="-122"/>
                <a:cs typeface="Fraunces" pitchFamily="34" charset="-120"/>
              </a:rPr>
              <a:t>→</a:t>
            </a:r>
            <a:endParaRPr lang="en-US" sz="4400" dirty="0"/>
          </a:p>
        </p:txBody>
      </p:sp>
      <p:sp>
        <p:nvSpPr>
          <p:cNvPr id="9" name="Shape 7"/>
          <p:cNvSpPr/>
          <p:nvPr/>
        </p:nvSpPr>
        <p:spPr>
          <a:xfrm>
            <a:off x="6812280" y="2468880"/>
            <a:ext cx="4572000" cy="2743200"/>
          </a:xfrm>
          <a:prstGeom prst="roundRect">
            <a:avLst>
              <a:gd name="adj" fmla="val 4667"/>
            </a:avLst>
          </a:prstGeom>
          <a:solidFill>
            <a:srgbClr val="2E1F27"/>
          </a:solidFill>
          <a:ln w="9525">
            <a:solidFill>
              <a:srgbClr val="2E1F27"/>
            </a:solidFill>
            <a:prstDash val="solid"/>
          </a:ln>
          <a:effectLst>
            <a:outerShdw sx="100000" sy="100000" kx="0" ky="0" algn="bl" rotWithShape="0" blurRad="203200" dist="63500" dir="5400000">
              <a:srgbClr val="2E1F27">
                <a:alpha val="15000"/>
              </a:srgbClr>
            </a:outerShdw>
          </a:effectLst>
        </p:spPr>
      </p:sp>
      <p:sp>
        <p:nvSpPr>
          <p:cNvPr id="10" name="Text 8"/>
          <p:cNvSpPr/>
          <p:nvPr/>
        </p:nvSpPr>
        <p:spPr>
          <a:xfrm>
            <a:off x="7178040" y="2788920"/>
            <a:ext cx="3840480" cy="274320"/>
          </a:xfrm>
          <a:prstGeom prst="rect">
            <a:avLst/>
          </a:prstGeom>
          <a:noFill/>
          <a:ln/>
        </p:spPr>
        <p:txBody>
          <a:bodyPr wrap="square" lIns="0" tIns="0" rIns="0" bIns="0" rtlCol="0" anchor="t"/>
          <a:lstStyle/>
          <a:p>
            <a:pPr indent="0" marL="0">
              <a:buNone/>
            </a:pPr>
            <a:r>
              <a:rPr lang="en-US" sz="1050" b="1" spc="300" kern="0" dirty="0">
                <a:solidFill>
                  <a:srgbClr val="BC8A47"/>
                </a:solidFill>
                <a:latin typeface="Karla" pitchFamily="34" charset="0"/>
                <a:ea typeface="Karla" pitchFamily="34" charset="-122"/>
                <a:cs typeface="Karla" pitchFamily="34" charset="-120"/>
              </a:rPr>
              <a:t>PRETTY AND SELLING</a:t>
            </a:r>
            <a:endParaRPr lang="en-US" sz="1050" dirty="0"/>
          </a:p>
        </p:txBody>
      </p:sp>
      <p:sp>
        <p:nvSpPr>
          <p:cNvPr id="11" name="Text 9"/>
          <p:cNvSpPr/>
          <p:nvPr/>
        </p:nvSpPr>
        <p:spPr>
          <a:xfrm>
            <a:off x="7178040" y="3246120"/>
            <a:ext cx="3840480" cy="173736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The outcome as the headline</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Photos that support the offer</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Price on the page</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One primary button</a:t>
            </a:r>
            <a:endParaRPr lang="en-US" sz="1250" dirty="0"/>
          </a:p>
        </p:txBody>
      </p:sp>
      <p:sp>
        <p:nvSpPr>
          <p:cNvPr id="12" name="Text 10"/>
          <p:cNvSpPr/>
          <p:nvPr/>
        </p:nvSpPr>
        <p:spPr>
          <a:xfrm>
            <a:off x="1828800" y="5440680"/>
            <a:ext cx="8503920" cy="548640"/>
          </a:xfrm>
          <a:prstGeom prst="rect">
            <a:avLst/>
          </a:prstGeom>
          <a:noFill/>
          <a:ln/>
        </p:spPr>
        <p:txBody>
          <a:bodyPr wrap="square" lIns="0" tIns="0" rIns="0" bIns="0" rtlCol="0" anchor="t"/>
          <a:lstStyle/>
          <a:p>
            <a:pPr algn="ctr" indent="0" marL="0">
              <a:buNone/>
            </a:pPr>
            <a:r>
              <a:rPr lang="en-US" sz="2600" dirty="0">
                <a:solidFill>
                  <a:srgbClr val="A93F63"/>
                </a:solidFill>
                <a:latin typeface="Ephesis" pitchFamily="34" charset="0"/>
                <a:ea typeface="Ephesis" pitchFamily="34" charset="-122"/>
                <a:cs typeface="Ephesis" pitchFamily="34" charset="-120"/>
              </a:rPr>
              <a:t>you do not have to choose</a:t>
            </a:r>
            <a:endParaRPr lang="en-US" sz="2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70</a:t>
            </a:r>
            <a:endParaRPr lang="en-US" sz="950" dirty="0"/>
          </a:p>
        </p:txBody>
      </p:sp>
      <p:sp>
        <p:nvSpPr>
          <p:cNvPr id="3" name="Shape 1"/>
          <p:cNvSpPr/>
          <p:nvPr/>
        </p:nvSpPr>
        <p:spPr>
          <a:xfrm>
            <a:off x="6445606" y="0"/>
            <a:ext cx="5715914" cy="6858000"/>
          </a:xfrm>
          <a:prstGeom prst="rect">
            <a:avLst/>
          </a:prstGeom>
          <a:solidFill>
            <a:srgbClr val="F4EBDE"/>
          </a:solidFill>
          <a:ln/>
        </p:spPr>
      </p:sp>
      <p:sp>
        <p:nvSpPr>
          <p:cNvPr id="4" name="Shape 2"/>
          <p:cNvSpPr/>
          <p:nvPr/>
        </p:nvSpPr>
        <p:spPr>
          <a:xfrm>
            <a:off x="6994246" y="1143000"/>
            <a:ext cx="4481474" cy="4572000"/>
          </a:xfrm>
          <a:prstGeom prst="roundRect">
            <a:avLst>
              <a:gd name="adj" fmla="val 2040"/>
            </a:avLst>
          </a:prstGeom>
          <a:solidFill>
            <a:srgbClr val="FFFFFF"/>
          </a:solidFill>
          <a:ln w="15875">
            <a:solidFill>
              <a:srgbClr val="CFC2B4"/>
            </a:solidFill>
            <a:prstDash val="dash"/>
          </a:ln>
        </p:spPr>
      </p:sp>
      <p:sp>
        <p:nvSpPr>
          <p:cNvPr id="5" name="Shape 3"/>
          <p:cNvSpPr/>
          <p:nvPr/>
        </p:nvSpPr>
        <p:spPr>
          <a:xfrm>
            <a:off x="8850935" y="2715768"/>
            <a:ext cx="768096" cy="768096"/>
          </a:xfrm>
          <a:prstGeom prst="ellipse">
            <a:avLst/>
          </a:prstGeom>
          <a:solidFill>
            <a:srgbClr val="F4EBDE"/>
          </a:solidFill>
          <a:ln/>
        </p:spPr>
      </p:sp>
      <p:sp>
        <p:nvSpPr>
          <p:cNvPr id="6" name="Text 4"/>
          <p:cNvSpPr/>
          <p:nvPr/>
        </p:nvSpPr>
        <p:spPr>
          <a:xfrm>
            <a:off x="8850935" y="2679192"/>
            <a:ext cx="768096" cy="768096"/>
          </a:xfrm>
          <a:prstGeom prst="rect">
            <a:avLst/>
          </a:prstGeom>
          <a:noFill/>
          <a:ln/>
        </p:spPr>
        <p:txBody>
          <a:bodyPr wrap="square" lIns="0" tIns="0" rIns="0" bIns="0" rtlCol="0" anchor="ctr"/>
          <a:lstStyle/>
          <a:p>
            <a:pPr algn="ctr" indent="0" marL="0">
              <a:buNone/>
            </a:pPr>
            <a:r>
              <a:rPr lang="en-US" sz="3200" dirty="0">
                <a:solidFill>
                  <a:srgbClr val="B6A899"/>
                </a:solidFill>
                <a:latin typeface="Fraunces" pitchFamily="34" charset="0"/>
                <a:ea typeface="Fraunces" pitchFamily="34" charset="-122"/>
                <a:cs typeface="Fraunces" pitchFamily="34" charset="-120"/>
              </a:rPr>
              <a:t>+</a:t>
            </a:r>
            <a:endParaRPr lang="en-US" sz="3200" dirty="0"/>
          </a:p>
        </p:txBody>
      </p:sp>
      <p:sp>
        <p:nvSpPr>
          <p:cNvPr id="7" name="Text 5"/>
          <p:cNvSpPr/>
          <p:nvPr/>
        </p:nvSpPr>
        <p:spPr>
          <a:xfrm>
            <a:off x="6994246" y="3630168"/>
            <a:ext cx="4481474" cy="457200"/>
          </a:xfrm>
          <a:prstGeom prst="rect">
            <a:avLst/>
          </a:prstGeom>
          <a:noFill/>
          <a:ln/>
        </p:spPr>
        <p:txBody>
          <a:bodyPr wrap="square" lIns="0" tIns="0" rIns="0" bIns="0" rtlCol="0" anchor="t"/>
          <a:lstStyle/>
          <a:p>
            <a:pPr algn="ctr" indent="0" marL="0">
              <a:buNone/>
            </a:pPr>
            <a:r>
              <a:rPr lang="en-US" sz="1050" b="1" spc="250" kern="0" dirty="0">
                <a:solidFill>
                  <a:srgbClr val="B6A899"/>
                </a:solidFill>
                <a:latin typeface="Karla" pitchFamily="34" charset="0"/>
                <a:ea typeface="Karla" pitchFamily="34" charset="-122"/>
                <a:cs typeface="Karla" pitchFamily="34" charset="-120"/>
              </a:rPr>
              <a:t>DROP YOUR SCREENSHOT HERE</a:t>
            </a:r>
            <a:endParaRPr lang="en-US" sz="1050" dirty="0"/>
          </a:p>
        </p:txBody>
      </p:sp>
      <p:sp>
        <p:nvSpPr>
          <p:cNvPr id="8" name="Text 6"/>
          <p:cNvSpPr/>
          <p:nvPr/>
        </p:nvSpPr>
        <p:spPr>
          <a:xfrm>
            <a:off x="777240" y="1600200"/>
            <a:ext cx="502920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ABOVE THE FOLD</a:t>
            </a:r>
            <a:endParaRPr lang="en-US" sz="1100" dirty="0"/>
          </a:p>
        </p:txBody>
      </p:sp>
      <p:sp>
        <p:nvSpPr>
          <p:cNvPr id="9" name="Text 7"/>
          <p:cNvSpPr/>
          <p:nvPr/>
        </p:nvSpPr>
        <p:spPr>
          <a:xfrm>
            <a:off x="777240" y="2011680"/>
            <a:ext cx="5120640" cy="1463040"/>
          </a:xfrm>
          <a:prstGeom prst="rect">
            <a:avLst/>
          </a:prstGeom>
          <a:noFill/>
          <a:ln/>
        </p:spPr>
        <p:txBody>
          <a:bodyPr wrap="square" lIns="0" tIns="0" rIns="0" bIns="0" rtlCol="0" anchor="t"/>
          <a:lstStyle/>
          <a:p>
            <a:pPr indent="0" marL="0">
              <a:lnSpc>
                <a:spcPts val="3400"/>
              </a:lnSpc>
              <a:buNone/>
            </a:pPr>
            <a:r>
              <a:rPr lang="en-US" sz="3000" dirty="0">
                <a:solidFill>
                  <a:srgbClr val="2E1F27"/>
                </a:solidFill>
                <a:latin typeface="Fraunces" pitchFamily="34" charset="0"/>
                <a:ea typeface="Fraunces" pitchFamily="34" charset="-122"/>
                <a:cs typeface="Fraunces" pitchFamily="34" charset="-120"/>
              </a:rPr>
              <a:t>The three second test.</a:t>
            </a:r>
            <a:endParaRPr lang="en-US" sz="3000" dirty="0"/>
          </a:p>
        </p:txBody>
      </p:sp>
      <p:sp>
        <p:nvSpPr>
          <p:cNvPr id="10" name="Text 8"/>
          <p:cNvSpPr/>
          <p:nvPr/>
        </p:nvSpPr>
        <p:spPr>
          <a:xfrm>
            <a:off x="777240" y="3566160"/>
            <a:ext cx="5029200" cy="640080"/>
          </a:xfrm>
          <a:prstGeom prst="rect">
            <a:avLst/>
          </a:prstGeom>
          <a:noFill/>
          <a:ln/>
        </p:spPr>
        <p:txBody>
          <a:bodyPr wrap="square" lIns="0" tIns="0" rIns="0" bIns="0" rtlCol="0" anchor="t"/>
          <a:lstStyle/>
          <a:p>
            <a:pPr indent="0" marL="0">
              <a:buNone/>
            </a:pPr>
            <a:r>
              <a:rPr lang="en-US" sz="2700" dirty="0">
                <a:solidFill>
                  <a:srgbClr val="BC8A47"/>
                </a:solidFill>
                <a:latin typeface="Ephesis" pitchFamily="34" charset="0"/>
                <a:ea typeface="Ephesis" pitchFamily="34" charset="-122"/>
                <a:cs typeface="Ephesis" pitchFamily="34" charset="-120"/>
              </a:rPr>
              <a:t>show it, then hide it</a:t>
            </a:r>
            <a:endParaRPr lang="en-US" sz="2700" dirty="0"/>
          </a:p>
        </p:txBody>
      </p:sp>
      <p:sp>
        <p:nvSpPr>
          <p:cNvPr id="11" name="Text 9"/>
          <p:cNvSpPr/>
          <p:nvPr/>
        </p:nvSpPr>
        <p:spPr>
          <a:xfrm>
            <a:off x="777240" y="4315968"/>
            <a:ext cx="5029200" cy="1828800"/>
          </a:xfrm>
          <a:prstGeom prst="rect">
            <a:avLst/>
          </a:prstGeom>
          <a:noFill/>
          <a:ln/>
        </p:spPr>
        <p:txBody>
          <a:bodyPr wrap="square" lIns="0" tIns="0" rIns="0" bIns="0" rtlCol="0" anchor="t"/>
          <a:lstStyle/>
          <a:p>
            <a:pPr indent="0" marL="0">
              <a:lnSpc>
                <a:spcPts val="2000"/>
              </a:lnSpc>
              <a:buNone/>
            </a:pPr>
            <a:r>
              <a:rPr lang="en-US" sz="1300" dirty="0">
                <a:solidFill>
                  <a:srgbClr val="6E5C63"/>
                </a:solidFill>
                <a:latin typeface="Karla" pitchFamily="34" charset="0"/>
                <a:ea typeface="Karla" pitchFamily="34" charset="-122"/>
                <a:cs typeface="Karla" pitchFamily="34" charset="-120"/>
              </a:rPr>
              <a:t>Ask them: who is this for, and what does she sell? If they cannot answer both, the hero is not doing its job. This test is brutal, free, and worth more than any redesign.</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71</a:t>
            </a:r>
            <a:endParaRPr lang="en-US" sz="950" dirty="0"/>
          </a:p>
        </p:txBody>
      </p:sp>
      <p:sp>
        <p:nvSpPr>
          <p:cNvPr id="3" name="Shape 1"/>
          <p:cNvSpPr/>
          <p:nvPr/>
        </p:nvSpPr>
        <p:spPr>
          <a:xfrm>
            <a:off x="0" y="0"/>
            <a:ext cx="5029200" cy="6858000"/>
          </a:xfrm>
          <a:prstGeom prst="rect">
            <a:avLst/>
          </a:prstGeom>
          <a:solidFill>
            <a:srgbClr val="2E1F27"/>
          </a:solidFill>
          <a:ln/>
        </p:spPr>
      </p:sp>
      <p:sp>
        <p:nvSpPr>
          <p:cNvPr id="4" name="Text 2"/>
          <p:cNvSpPr/>
          <p:nvPr/>
        </p:nvSpPr>
        <p:spPr>
          <a:xfrm>
            <a:off x="777240" y="1371600"/>
            <a:ext cx="384048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VISUAL HIERARCHY</a:t>
            </a:r>
            <a:endParaRPr lang="en-US" sz="1100" dirty="0"/>
          </a:p>
        </p:txBody>
      </p:sp>
      <p:sp>
        <p:nvSpPr>
          <p:cNvPr id="5" name="Text 3"/>
          <p:cNvSpPr/>
          <p:nvPr/>
        </p:nvSpPr>
        <p:spPr>
          <a:xfrm>
            <a:off x="777240" y="1828800"/>
            <a:ext cx="3931920" cy="2377440"/>
          </a:xfrm>
          <a:prstGeom prst="rect">
            <a:avLst/>
          </a:prstGeom>
          <a:noFill/>
          <a:ln/>
        </p:spPr>
        <p:txBody>
          <a:bodyPr wrap="square" lIns="0" tIns="0" rIns="0" bIns="0" rtlCol="0" anchor="t"/>
          <a:lstStyle/>
          <a:p>
            <a:pPr indent="0" marL="0">
              <a:lnSpc>
                <a:spcPts val="3600"/>
              </a:lnSpc>
              <a:buNone/>
            </a:pPr>
            <a:r>
              <a:rPr lang="en-US" sz="3200" dirty="0">
                <a:solidFill>
                  <a:srgbClr val="FBF6EE"/>
                </a:solidFill>
                <a:latin typeface="Fraunces" pitchFamily="34" charset="0"/>
                <a:ea typeface="Fraunces" pitchFamily="34" charset="-122"/>
                <a:cs typeface="Fraunces" pitchFamily="34" charset="-120"/>
              </a:rPr>
              <a:t>Teaching the eye where to go.</a:t>
            </a:r>
            <a:endParaRPr lang="en-US" sz="3200" dirty="0"/>
          </a:p>
        </p:txBody>
      </p:sp>
      <p:sp>
        <p:nvSpPr>
          <p:cNvPr id="6" name="Shape 4"/>
          <p:cNvSpPr/>
          <p:nvPr/>
        </p:nvSpPr>
        <p:spPr>
          <a:xfrm>
            <a:off x="5760720" y="1463040"/>
            <a:ext cx="512064" cy="512064"/>
          </a:xfrm>
          <a:prstGeom prst="ellipse">
            <a:avLst/>
          </a:prstGeom>
          <a:solidFill>
            <a:srgbClr val="A93F63"/>
          </a:solidFill>
          <a:ln/>
        </p:spPr>
      </p:sp>
      <p:sp>
        <p:nvSpPr>
          <p:cNvPr id="7" name="Text 5"/>
          <p:cNvSpPr/>
          <p:nvPr/>
        </p:nvSpPr>
        <p:spPr>
          <a:xfrm>
            <a:off x="5760720" y="146304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1</a:t>
            </a:r>
            <a:endParaRPr lang="en-US" sz="1500" dirty="0"/>
          </a:p>
        </p:txBody>
      </p:sp>
      <p:sp>
        <p:nvSpPr>
          <p:cNvPr id="8" name="Text 6"/>
          <p:cNvSpPr/>
          <p:nvPr/>
        </p:nvSpPr>
        <p:spPr>
          <a:xfrm>
            <a:off x="6492240" y="1444752"/>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Size and weight</a:t>
            </a:r>
            <a:endParaRPr lang="en-US" sz="1900" dirty="0"/>
          </a:p>
        </p:txBody>
      </p:sp>
      <p:sp>
        <p:nvSpPr>
          <p:cNvPr id="9" name="Text 7"/>
          <p:cNvSpPr/>
          <p:nvPr/>
        </p:nvSpPr>
        <p:spPr>
          <a:xfrm>
            <a:off x="6492240" y="1874520"/>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Tell the reader what matters in what order. If everything is emphasised, nothing is.</a:t>
            </a:r>
            <a:endParaRPr lang="en-US" sz="1250" dirty="0"/>
          </a:p>
        </p:txBody>
      </p:sp>
      <p:sp>
        <p:nvSpPr>
          <p:cNvPr id="10" name="Shape 8"/>
          <p:cNvSpPr/>
          <p:nvPr/>
        </p:nvSpPr>
        <p:spPr>
          <a:xfrm>
            <a:off x="5760720" y="2944368"/>
            <a:ext cx="512064" cy="512064"/>
          </a:xfrm>
          <a:prstGeom prst="ellipse">
            <a:avLst/>
          </a:prstGeom>
          <a:solidFill>
            <a:srgbClr val="A93F63"/>
          </a:solidFill>
          <a:ln/>
        </p:spPr>
      </p:sp>
      <p:sp>
        <p:nvSpPr>
          <p:cNvPr id="11" name="Text 9"/>
          <p:cNvSpPr/>
          <p:nvPr/>
        </p:nvSpPr>
        <p:spPr>
          <a:xfrm>
            <a:off x="5760720" y="294436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2</a:t>
            </a:r>
            <a:endParaRPr lang="en-US" sz="1500" dirty="0"/>
          </a:p>
        </p:txBody>
      </p:sp>
      <p:sp>
        <p:nvSpPr>
          <p:cNvPr id="12" name="Text 10"/>
          <p:cNvSpPr/>
          <p:nvPr/>
        </p:nvSpPr>
        <p:spPr>
          <a:xfrm>
            <a:off x="6492240" y="2926080"/>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One of each</a:t>
            </a:r>
            <a:endParaRPr lang="en-US" sz="1900" dirty="0"/>
          </a:p>
        </p:txBody>
      </p:sp>
      <p:sp>
        <p:nvSpPr>
          <p:cNvPr id="13" name="Text 11"/>
          <p:cNvSpPr/>
          <p:nvPr/>
        </p:nvSpPr>
        <p:spPr>
          <a:xfrm>
            <a:off x="6492240" y="3355848"/>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One dominant headline per section, one primary button, one accent colour doing the pointing.</a:t>
            </a:r>
            <a:endParaRPr lang="en-US" sz="1250" dirty="0"/>
          </a:p>
        </p:txBody>
      </p:sp>
      <p:sp>
        <p:nvSpPr>
          <p:cNvPr id="14" name="Shape 12"/>
          <p:cNvSpPr/>
          <p:nvPr/>
        </p:nvSpPr>
        <p:spPr>
          <a:xfrm>
            <a:off x="5760720" y="4425696"/>
            <a:ext cx="512064" cy="512064"/>
          </a:xfrm>
          <a:prstGeom prst="ellipse">
            <a:avLst/>
          </a:prstGeom>
          <a:solidFill>
            <a:srgbClr val="A93F63"/>
          </a:solidFill>
          <a:ln/>
        </p:spPr>
      </p:sp>
      <p:sp>
        <p:nvSpPr>
          <p:cNvPr id="15" name="Text 13"/>
          <p:cNvSpPr/>
          <p:nvPr/>
        </p:nvSpPr>
        <p:spPr>
          <a:xfrm>
            <a:off x="5760720" y="442569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3</a:t>
            </a:r>
            <a:endParaRPr lang="en-US" sz="1500" dirty="0"/>
          </a:p>
        </p:txBody>
      </p:sp>
      <p:sp>
        <p:nvSpPr>
          <p:cNvPr id="16" name="Text 14"/>
          <p:cNvSpPr/>
          <p:nvPr/>
        </p:nvSpPr>
        <p:spPr>
          <a:xfrm>
            <a:off x="6492240" y="4407408"/>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Room to breathe</a:t>
            </a:r>
            <a:endParaRPr lang="en-US" sz="1900" dirty="0"/>
          </a:p>
        </p:txBody>
      </p:sp>
      <p:sp>
        <p:nvSpPr>
          <p:cNvPr id="17" name="Text 15"/>
          <p:cNvSpPr/>
          <p:nvPr/>
        </p:nvSpPr>
        <p:spPr>
          <a:xfrm>
            <a:off x="6492240" y="4837176"/>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Crowded pages feel cheap, because crowding is what you do when you are not sure what to cut.</a:t>
            </a:r>
            <a:endParaRPr lang="en-US" sz="12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72</a:t>
            </a:r>
            <a:endParaRPr lang="en-US" sz="950" dirty="0"/>
          </a:p>
        </p:txBody>
      </p:sp>
      <p:sp>
        <p:nvSpPr>
          <p:cNvPr id="3" name="Text 1"/>
          <p:cNvSpPr/>
          <p:nvPr/>
        </p:nvSpPr>
        <p:spPr>
          <a:xfrm>
            <a:off x="1828800" y="1143000"/>
            <a:ext cx="8503920" cy="274320"/>
          </a:xfrm>
          <a:prstGeom prst="rect">
            <a:avLst/>
          </a:prstGeom>
          <a:noFill/>
          <a:ln/>
        </p:spPr>
        <p:txBody>
          <a:bodyPr wrap="square" lIns="0" tIns="0" rIns="0" bIns="0" rtlCol="0" anchor="t"/>
          <a:lstStyle/>
          <a:p>
            <a:pPr algn="ctr" indent="0" marL="0">
              <a:buNone/>
            </a:pPr>
            <a:r>
              <a:rPr lang="en-US" sz="1100" b="1" spc="400" kern="0" dirty="0">
                <a:solidFill>
                  <a:srgbClr val="A93F63"/>
                </a:solidFill>
                <a:latin typeface="Karla" pitchFamily="34" charset="0"/>
                <a:ea typeface="Karla" pitchFamily="34" charset="-122"/>
                <a:cs typeface="Karla" pitchFamily="34" charset="-120"/>
              </a:rPr>
              <a:t>THE BRAND BASICS</a:t>
            </a:r>
            <a:endParaRPr lang="en-US" sz="1100" dirty="0"/>
          </a:p>
        </p:txBody>
      </p:sp>
      <p:sp>
        <p:nvSpPr>
          <p:cNvPr id="4" name="Text 2"/>
          <p:cNvSpPr/>
          <p:nvPr/>
        </p:nvSpPr>
        <p:spPr>
          <a:xfrm>
            <a:off x="1463040" y="1554480"/>
            <a:ext cx="9235440" cy="1371600"/>
          </a:xfrm>
          <a:prstGeom prst="rect">
            <a:avLst/>
          </a:prstGeom>
          <a:noFill/>
          <a:ln/>
        </p:spPr>
        <p:txBody>
          <a:bodyPr wrap="square" lIns="0" tIns="0" rIns="0" bIns="0" rtlCol="0" anchor="t"/>
          <a:lstStyle/>
          <a:p>
            <a:pPr algn="ctr" indent="0" marL="0">
              <a:lnSpc>
                <a:spcPts val="4000"/>
              </a:lnSpc>
              <a:buNone/>
            </a:pPr>
            <a:r>
              <a:rPr lang="en-US" sz="3600" dirty="0">
                <a:solidFill>
                  <a:srgbClr val="2E1F27"/>
                </a:solidFill>
                <a:latin typeface="Fraunces" pitchFamily="34" charset="0"/>
                <a:ea typeface="Fraunces" pitchFamily="34" charset="-122"/>
                <a:cs typeface="Fraunces" pitchFamily="34" charset="-120"/>
              </a:rPr>
              <a:t>Three decisions carry almost all of the look.</a:t>
            </a:r>
            <a:endParaRPr lang="en-US" sz="3600" dirty="0"/>
          </a:p>
        </p:txBody>
      </p:sp>
      <p:sp>
        <p:nvSpPr>
          <p:cNvPr id="5" name="Shape 3"/>
          <p:cNvSpPr/>
          <p:nvPr/>
        </p:nvSpPr>
        <p:spPr>
          <a:xfrm>
            <a:off x="2282952" y="3154680"/>
            <a:ext cx="768096" cy="768096"/>
          </a:xfrm>
          <a:prstGeom prst="ellipse">
            <a:avLst/>
          </a:prstGeom>
          <a:solidFill>
            <a:srgbClr val="A93F63"/>
          </a:solidFill>
          <a:ln/>
        </p:spPr>
      </p:sp>
      <p:sp>
        <p:nvSpPr>
          <p:cNvPr id="6" name="Text 4"/>
          <p:cNvSpPr/>
          <p:nvPr/>
        </p:nvSpPr>
        <p:spPr>
          <a:xfrm>
            <a:off x="2282952" y="3154680"/>
            <a:ext cx="768096" cy="768096"/>
          </a:xfrm>
          <a:prstGeom prst="rect">
            <a:avLst/>
          </a:prstGeom>
          <a:noFill/>
          <a:ln/>
        </p:spPr>
        <p:txBody>
          <a:bodyPr wrap="square" lIns="0" tIns="0" rIns="0" bIns="0" rtlCol="0" anchor="ctr"/>
          <a:lstStyle/>
          <a:p>
            <a:pPr algn="ctr" indent="0" marL="0">
              <a:buNone/>
            </a:pPr>
            <a:r>
              <a:rPr lang="en-US" sz="2400" dirty="0">
                <a:solidFill>
                  <a:srgbClr val="FFFFFF"/>
                </a:solidFill>
                <a:latin typeface="Fraunces" pitchFamily="34" charset="0"/>
                <a:ea typeface="Fraunces" pitchFamily="34" charset="-122"/>
                <a:cs typeface="Fraunces" pitchFamily="34" charset="-120"/>
              </a:rPr>
              <a:t>1</a:t>
            </a:r>
            <a:endParaRPr lang="en-US" sz="2400" dirty="0"/>
          </a:p>
        </p:txBody>
      </p:sp>
      <p:sp>
        <p:nvSpPr>
          <p:cNvPr id="7" name="Text 5"/>
          <p:cNvSpPr/>
          <p:nvPr/>
        </p:nvSpPr>
        <p:spPr>
          <a:xfrm>
            <a:off x="1261872" y="4206240"/>
            <a:ext cx="2810256" cy="1645920"/>
          </a:xfrm>
          <a:prstGeom prst="rect">
            <a:avLst/>
          </a:prstGeom>
          <a:noFill/>
          <a:ln/>
        </p:spPr>
        <p:txBody>
          <a:bodyPr wrap="square" lIns="0" tIns="0" rIns="0" bIns="0" rtlCol="0" anchor="t"/>
          <a:lstStyle/>
          <a:p>
            <a:pPr algn="ctr" indent="0" marL="0">
              <a:lnSpc>
                <a:spcPts val="2000"/>
              </a:lnSpc>
              <a:buNone/>
            </a:pPr>
            <a:r>
              <a:rPr lang="en-US" sz="1300" dirty="0">
                <a:solidFill>
                  <a:srgbClr val="2E1F27"/>
                </a:solidFill>
                <a:latin typeface="Karla" pitchFamily="34" charset="0"/>
                <a:ea typeface="Karla" pitchFamily="34" charset="-122"/>
                <a:cs typeface="Karla" pitchFamily="34" charset="-120"/>
              </a:rPr>
              <a:t>Colour. One background, one text colour, one action colour used only on things you want clicked.</a:t>
            </a:r>
            <a:endParaRPr lang="en-US" sz="1300" dirty="0"/>
          </a:p>
        </p:txBody>
      </p:sp>
      <p:sp>
        <p:nvSpPr>
          <p:cNvPr id="8" name="Shape 6"/>
          <p:cNvSpPr/>
          <p:nvPr/>
        </p:nvSpPr>
        <p:spPr>
          <a:xfrm>
            <a:off x="5696712" y="3154680"/>
            <a:ext cx="768096" cy="768096"/>
          </a:xfrm>
          <a:prstGeom prst="ellipse">
            <a:avLst/>
          </a:prstGeom>
          <a:solidFill>
            <a:srgbClr val="A93F63"/>
          </a:solidFill>
          <a:ln/>
        </p:spPr>
      </p:sp>
      <p:sp>
        <p:nvSpPr>
          <p:cNvPr id="9" name="Text 7"/>
          <p:cNvSpPr/>
          <p:nvPr/>
        </p:nvSpPr>
        <p:spPr>
          <a:xfrm>
            <a:off x="5696712" y="3154680"/>
            <a:ext cx="768096" cy="768096"/>
          </a:xfrm>
          <a:prstGeom prst="rect">
            <a:avLst/>
          </a:prstGeom>
          <a:noFill/>
          <a:ln/>
        </p:spPr>
        <p:txBody>
          <a:bodyPr wrap="square" lIns="0" tIns="0" rIns="0" bIns="0" rtlCol="0" anchor="ctr"/>
          <a:lstStyle/>
          <a:p>
            <a:pPr algn="ctr" indent="0" marL="0">
              <a:buNone/>
            </a:pPr>
            <a:r>
              <a:rPr lang="en-US" sz="2400" dirty="0">
                <a:solidFill>
                  <a:srgbClr val="FFFFFF"/>
                </a:solidFill>
                <a:latin typeface="Fraunces" pitchFamily="34" charset="0"/>
                <a:ea typeface="Fraunces" pitchFamily="34" charset="-122"/>
                <a:cs typeface="Fraunces" pitchFamily="34" charset="-120"/>
              </a:rPr>
              <a:t>2</a:t>
            </a:r>
            <a:endParaRPr lang="en-US" sz="2400" dirty="0"/>
          </a:p>
        </p:txBody>
      </p:sp>
      <p:sp>
        <p:nvSpPr>
          <p:cNvPr id="10" name="Text 8"/>
          <p:cNvSpPr/>
          <p:nvPr/>
        </p:nvSpPr>
        <p:spPr>
          <a:xfrm>
            <a:off x="4675632" y="4206240"/>
            <a:ext cx="2810256" cy="1645920"/>
          </a:xfrm>
          <a:prstGeom prst="rect">
            <a:avLst/>
          </a:prstGeom>
          <a:noFill/>
          <a:ln/>
        </p:spPr>
        <p:txBody>
          <a:bodyPr wrap="square" lIns="0" tIns="0" rIns="0" bIns="0" rtlCol="0" anchor="t"/>
          <a:lstStyle/>
          <a:p>
            <a:pPr algn="ctr" indent="0" marL="0">
              <a:lnSpc>
                <a:spcPts val="2000"/>
              </a:lnSpc>
              <a:buNone/>
            </a:pPr>
            <a:r>
              <a:rPr lang="en-US" sz="1300" dirty="0">
                <a:solidFill>
                  <a:srgbClr val="2E1F27"/>
                </a:solidFill>
                <a:latin typeface="Karla" pitchFamily="34" charset="0"/>
                <a:ea typeface="Karla" pitchFamily="34" charset="-122"/>
                <a:cs typeface="Karla" pitchFamily="34" charset="-120"/>
              </a:rPr>
              <a:t>Type. One display font for headlines, one workhorse for everything else.</a:t>
            </a:r>
            <a:endParaRPr lang="en-US" sz="1300" dirty="0"/>
          </a:p>
        </p:txBody>
      </p:sp>
      <p:sp>
        <p:nvSpPr>
          <p:cNvPr id="11" name="Shape 9"/>
          <p:cNvSpPr/>
          <p:nvPr/>
        </p:nvSpPr>
        <p:spPr>
          <a:xfrm>
            <a:off x="9110472" y="3154680"/>
            <a:ext cx="768096" cy="768096"/>
          </a:xfrm>
          <a:prstGeom prst="ellipse">
            <a:avLst/>
          </a:prstGeom>
          <a:solidFill>
            <a:srgbClr val="A93F63"/>
          </a:solidFill>
          <a:ln/>
        </p:spPr>
      </p:sp>
      <p:sp>
        <p:nvSpPr>
          <p:cNvPr id="12" name="Text 10"/>
          <p:cNvSpPr/>
          <p:nvPr/>
        </p:nvSpPr>
        <p:spPr>
          <a:xfrm>
            <a:off x="9110472" y="3154680"/>
            <a:ext cx="768096" cy="768096"/>
          </a:xfrm>
          <a:prstGeom prst="rect">
            <a:avLst/>
          </a:prstGeom>
          <a:noFill/>
          <a:ln/>
        </p:spPr>
        <p:txBody>
          <a:bodyPr wrap="square" lIns="0" tIns="0" rIns="0" bIns="0" rtlCol="0" anchor="ctr"/>
          <a:lstStyle/>
          <a:p>
            <a:pPr algn="ctr" indent="0" marL="0">
              <a:buNone/>
            </a:pPr>
            <a:r>
              <a:rPr lang="en-US" sz="2400" dirty="0">
                <a:solidFill>
                  <a:srgbClr val="FFFFFF"/>
                </a:solidFill>
                <a:latin typeface="Fraunces" pitchFamily="34" charset="0"/>
                <a:ea typeface="Fraunces" pitchFamily="34" charset="-122"/>
                <a:cs typeface="Fraunces" pitchFamily="34" charset="-120"/>
              </a:rPr>
              <a:t>3</a:t>
            </a:r>
            <a:endParaRPr lang="en-US" sz="2400" dirty="0"/>
          </a:p>
        </p:txBody>
      </p:sp>
      <p:sp>
        <p:nvSpPr>
          <p:cNvPr id="13" name="Text 11"/>
          <p:cNvSpPr/>
          <p:nvPr/>
        </p:nvSpPr>
        <p:spPr>
          <a:xfrm>
            <a:off x="8089392" y="4206240"/>
            <a:ext cx="2810256" cy="1645920"/>
          </a:xfrm>
          <a:prstGeom prst="rect">
            <a:avLst/>
          </a:prstGeom>
          <a:noFill/>
          <a:ln/>
        </p:spPr>
        <p:txBody>
          <a:bodyPr wrap="square" lIns="0" tIns="0" rIns="0" bIns="0" rtlCol="0" anchor="t"/>
          <a:lstStyle/>
          <a:p>
            <a:pPr algn="ctr" indent="0" marL="0">
              <a:lnSpc>
                <a:spcPts val="2000"/>
              </a:lnSpc>
              <a:buNone/>
            </a:pPr>
            <a:r>
              <a:rPr lang="en-US" sz="1300" dirty="0">
                <a:solidFill>
                  <a:srgbClr val="2E1F27"/>
                </a:solidFill>
                <a:latin typeface="Karla" pitchFamily="34" charset="0"/>
                <a:ea typeface="Karla" pitchFamily="34" charset="-122"/>
                <a:cs typeface="Karla" pitchFamily="34" charset="-120"/>
              </a:rPr>
              <a:t>Photos. Consistent light and tone. Five great on-brand photos beat fifty that do not match.</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73</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TWO WAYS TO GET THE LOOK</a:t>
            </a:r>
            <a:endParaRPr lang="en-US" sz="1100" dirty="0"/>
          </a:p>
        </p:txBody>
      </p:sp>
      <p:sp>
        <p:nvSpPr>
          <p:cNvPr id="4" name="Text 2"/>
          <p:cNvSpPr/>
          <p:nvPr/>
        </p:nvSpPr>
        <p:spPr>
          <a:xfrm>
            <a:off x="777240" y="1051560"/>
            <a:ext cx="78638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Both are legitimate. Pick with your eyes open.</a:t>
            </a:r>
            <a:endParaRPr lang="en-US" sz="3300" dirty="0"/>
          </a:p>
        </p:txBody>
      </p:sp>
      <p:sp>
        <p:nvSpPr>
          <p:cNvPr id="5" name="Shape 3"/>
          <p:cNvSpPr/>
          <p:nvPr/>
        </p:nvSpPr>
        <p:spPr>
          <a:xfrm>
            <a:off x="777240" y="2240280"/>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6" name="Shape 4"/>
          <p:cNvSpPr/>
          <p:nvPr/>
        </p:nvSpPr>
        <p:spPr>
          <a:xfrm>
            <a:off x="1088136" y="2569464"/>
            <a:ext cx="457200" cy="457200"/>
          </a:xfrm>
          <a:prstGeom prst="ellipse">
            <a:avLst/>
          </a:prstGeom>
          <a:solidFill>
            <a:srgbClr val="A93F63"/>
          </a:solidFill>
          <a:ln/>
        </p:spPr>
      </p:sp>
      <p:sp>
        <p:nvSpPr>
          <p:cNvPr id="7" name="Text 5"/>
          <p:cNvSpPr/>
          <p:nvPr/>
        </p:nvSpPr>
        <p:spPr>
          <a:xfrm>
            <a:off x="1088136" y="256946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1</a:t>
            </a:r>
            <a:endParaRPr lang="en-US" sz="1200" dirty="0"/>
          </a:p>
        </p:txBody>
      </p:sp>
      <p:sp>
        <p:nvSpPr>
          <p:cNvPr id="8" name="Text 6"/>
          <p:cNvSpPr/>
          <p:nvPr/>
        </p:nvSpPr>
        <p:spPr>
          <a:xfrm>
            <a:off x="1691640" y="2569464"/>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Start from a template</a:t>
            </a:r>
            <a:endParaRPr lang="en-US" sz="1750" dirty="0"/>
          </a:p>
        </p:txBody>
      </p:sp>
      <p:sp>
        <p:nvSpPr>
          <p:cNvPr id="9" name="Text 7"/>
          <p:cNvSpPr/>
          <p:nvPr/>
        </p:nvSpPr>
        <p:spPr>
          <a:xfrm>
            <a:off x="1691640" y="3044952"/>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Faster and cheaper. You get a working structure on day one.</a:t>
            </a:r>
            <a:endParaRPr lang="en-US" sz="1200" dirty="0"/>
          </a:p>
        </p:txBody>
      </p:sp>
      <p:sp>
        <p:nvSpPr>
          <p:cNvPr id="10" name="Shape 8"/>
          <p:cNvSpPr/>
          <p:nvPr/>
        </p:nvSpPr>
        <p:spPr>
          <a:xfrm>
            <a:off x="6245352" y="2240280"/>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1" name="Shape 9"/>
          <p:cNvSpPr/>
          <p:nvPr/>
        </p:nvSpPr>
        <p:spPr>
          <a:xfrm>
            <a:off x="6556248" y="2569464"/>
            <a:ext cx="457200" cy="457200"/>
          </a:xfrm>
          <a:prstGeom prst="ellipse">
            <a:avLst/>
          </a:prstGeom>
          <a:solidFill>
            <a:srgbClr val="A93F63"/>
          </a:solidFill>
          <a:ln/>
        </p:spPr>
      </p:sp>
      <p:sp>
        <p:nvSpPr>
          <p:cNvPr id="12" name="Text 10"/>
          <p:cNvSpPr/>
          <p:nvPr/>
        </p:nvSpPr>
        <p:spPr>
          <a:xfrm>
            <a:off x="6556248" y="256946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2</a:t>
            </a:r>
            <a:endParaRPr lang="en-US" sz="1200" dirty="0"/>
          </a:p>
        </p:txBody>
      </p:sp>
      <p:sp>
        <p:nvSpPr>
          <p:cNvPr id="13" name="Text 11"/>
          <p:cNvSpPr/>
          <p:nvPr/>
        </p:nvSpPr>
        <p:spPr>
          <a:xfrm>
            <a:off x="7159752" y="2569464"/>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The tradeoff</a:t>
            </a:r>
            <a:endParaRPr lang="en-US" sz="1750" dirty="0"/>
          </a:p>
        </p:txBody>
      </p:sp>
      <p:sp>
        <p:nvSpPr>
          <p:cNvPr id="14" name="Text 12"/>
          <p:cNvSpPr/>
          <p:nvPr/>
        </p:nvSpPr>
        <p:spPr>
          <a:xfrm>
            <a:off x="7159752" y="3044952"/>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You are fitting your offer into decisions someone else already made.</a:t>
            </a:r>
            <a:endParaRPr lang="en-US" sz="1200" dirty="0"/>
          </a:p>
        </p:txBody>
      </p:sp>
      <p:sp>
        <p:nvSpPr>
          <p:cNvPr id="15" name="Shape 13"/>
          <p:cNvSpPr/>
          <p:nvPr/>
        </p:nvSpPr>
        <p:spPr>
          <a:xfrm>
            <a:off x="777240" y="4352544"/>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6" name="Shape 14"/>
          <p:cNvSpPr/>
          <p:nvPr/>
        </p:nvSpPr>
        <p:spPr>
          <a:xfrm>
            <a:off x="1088136" y="4681728"/>
            <a:ext cx="457200" cy="457200"/>
          </a:xfrm>
          <a:prstGeom prst="ellipse">
            <a:avLst/>
          </a:prstGeom>
          <a:solidFill>
            <a:srgbClr val="A93F63"/>
          </a:solidFill>
          <a:ln/>
        </p:spPr>
      </p:sp>
      <p:sp>
        <p:nvSpPr>
          <p:cNvPr id="17" name="Text 15"/>
          <p:cNvSpPr/>
          <p:nvPr/>
        </p:nvSpPr>
        <p:spPr>
          <a:xfrm>
            <a:off x="1088136" y="46817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3</a:t>
            </a:r>
            <a:endParaRPr lang="en-US" sz="1200" dirty="0"/>
          </a:p>
        </p:txBody>
      </p:sp>
      <p:sp>
        <p:nvSpPr>
          <p:cNvPr id="18" name="Text 16"/>
          <p:cNvSpPr/>
          <p:nvPr/>
        </p:nvSpPr>
        <p:spPr>
          <a:xfrm>
            <a:off x="1691640" y="4681728"/>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Build around the offer</a:t>
            </a:r>
            <a:endParaRPr lang="en-US" sz="1750" dirty="0"/>
          </a:p>
        </p:txBody>
      </p:sp>
      <p:sp>
        <p:nvSpPr>
          <p:cNvPr id="19" name="Text 17"/>
          <p:cNvSpPr/>
          <p:nvPr/>
        </p:nvSpPr>
        <p:spPr>
          <a:xfrm>
            <a:off x="1691640" y="5157216"/>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Slower, and it sells. Every section exists because your offer needed it.</a:t>
            </a:r>
            <a:endParaRPr lang="en-US" sz="1200" dirty="0"/>
          </a:p>
        </p:txBody>
      </p:sp>
      <p:sp>
        <p:nvSpPr>
          <p:cNvPr id="20" name="Shape 18"/>
          <p:cNvSpPr/>
          <p:nvPr/>
        </p:nvSpPr>
        <p:spPr>
          <a:xfrm>
            <a:off x="6245352" y="4352544"/>
            <a:ext cx="5138928" cy="1783080"/>
          </a:xfrm>
          <a:prstGeom prst="roundRect">
            <a:avLst>
              <a:gd name="adj" fmla="val 717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21" name="Shape 19"/>
          <p:cNvSpPr/>
          <p:nvPr/>
        </p:nvSpPr>
        <p:spPr>
          <a:xfrm>
            <a:off x="6556248" y="4681728"/>
            <a:ext cx="457200" cy="457200"/>
          </a:xfrm>
          <a:prstGeom prst="ellipse">
            <a:avLst/>
          </a:prstGeom>
          <a:solidFill>
            <a:srgbClr val="A93F63"/>
          </a:solidFill>
          <a:ln/>
        </p:spPr>
      </p:sp>
      <p:sp>
        <p:nvSpPr>
          <p:cNvPr id="22" name="Text 20"/>
          <p:cNvSpPr/>
          <p:nvPr/>
        </p:nvSpPr>
        <p:spPr>
          <a:xfrm>
            <a:off x="6556248" y="46817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Karla" pitchFamily="34" charset="0"/>
                <a:ea typeface="Karla" pitchFamily="34" charset="-122"/>
                <a:cs typeface="Karla" pitchFamily="34" charset="-120"/>
              </a:rPr>
              <a:t>4</a:t>
            </a:r>
            <a:endParaRPr lang="en-US" sz="1200" dirty="0"/>
          </a:p>
        </p:txBody>
      </p:sp>
      <p:sp>
        <p:nvSpPr>
          <p:cNvPr id="23" name="Text 21"/>
          <p:cNvSpPr/>
          <p:nvPr/>
        </p:nvSpPr>
        <p:spPr>
          <a:xfrm>
            <a:off x="7159752" y="4681728"/>
            <a:ext cx="3904488" cy="411480"/>
          </a:xfrm>
          <a:prstGeom prst="rect">
            <a:avLst/>
          </a:prstGeom>
          <a:noFill/>
          <a:ln/>
        </p:spPr>
        <p:txBody>
          <a:bodyPr wrap="square" lIns="0" tIns="0" rIns="0" bIns="0" rtlCol="0" anchor="t"/>
          <a:lstStyle/>
          <a:p>
            <a:pPr indent="0" marL="0">
              <a:buNone/>
            </a:pPr>
            <a:r>
              <a:rPr lang="en-US" sz="1750" dirty="0">
                <a:solidFill>
                  <a:srgbClr val="2E1F27"/>
                </a:solidFill>
                <a:latin typeface="Fraunces" pitchFamily="34" charset="0"/>
                <a:ea typeface="Fraunces" pitchFamily="34" charset="-122"/>
                <a:cs typeface="Fraunces" pitchFamily="34" charset="-120"/>
              </a:rPr>
              <a:t>What custom means</a:t>
            </a:r>
            <a:endParaRPr lang="en-US" sz="1750" dirty="0"/>
          </a:p>
        </p:txBody>
      </p:sp>
      <p:sp>
        <p:nvSpPr>
          <p:cNvPr id="24" name="Text 22"/>
          <p:cNvSpPr/>
          <p:nvPr/>
        </p:nvSpPr>
        <p:spPr>
          <a:xfrm>
            <a:off x="7159752" y="5157216"/>
            <a:ext cx="3904488" cy="868680"/>
          </a:xfrm>
          <a:prstGeom prst="rect">
            <a:avLst/>
          </a:prstGeom>
          <a:noFill/>
          <a:ln/>
        </p:spPr>
        <p:txBody>
          <a:bodyPr wrap="square" lIns="0" tIns="0" rIns="0" bIns="0" rtlCol="0" anchor="t"/>
          <a:lstStyle/>
          <a:p>
            <a:pPr indent="0" marL="0">
              <a:lnSpc>
                <a:spcPts val="1700"/>
              </a:lnSpc>
              <a:buNone/>
            </a:pPr>
            <a:r>
              <a:rPr lang="en-US" sz="1200" dirty="0">
                <a:solidFill>
                  <a:srgbClr val="6E5C63"/>
                </a:solidFill>
                <a:latin typeface="Karla" pitchFamily="34" charset="0"/>
                <a:ea typeface="Karla" pitchFamily="34" charset="-122"/>
                <a:cs typeface="Karla" pitchFamily="34" charset="-120"/>
              </a:rPr>
              <a:t>Not prettier. Shaped to the argument your page is making.</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74</a:t>
            </a:r>
            <a:endParaRPr lang="en-US" sz="950" dirty="0"/>
          </a:p>
        </p:txBody>
      </p:sp>
      <p:sp>
        <p:nvSpPr>
          <p:cNvPr id="3" name="Text 1"/>
          <p:cNvSpPr/>
          <p:nvPr/>
        </p:nvSpPr>
        <p:spPr>
          <a:xfrm>
            <a:off x="777240" y="640080"/>
            <a:ext cx="106070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DESIGN RULES</a:t>
            </a:r>
            <a:endParaRPr lang="en-US" sz="1100" dirty="0"/>
          </a:p>
        </p:txBody>
      </p:sp>
      <p:sp>
        <p:nvSpPr>
          <p:cNvPr id="4" name="Text 2"/>
          <p:cNvSpPr/>
          <p:nvPr/>
        </p:nvSpPr>
        <p:spPr>
          <a:xfrm>
            <a:off x="777240" y="1024128"/>
            <a:ext cx="8321040" cy="914400"/>
          </a:xfrm>
          <a:prstGeom prst="rect">
            <a:avLst/>
          </a:prstGeom>
          <a:noFill/>
          <a:ln/>
        </p:spPr>
        <p:txBody>
          <a:bodyPr wrap="square" lIns="0" tIns="0" rIns="0" bIns="0" rtlCol="0" anchor="t"/>
          <a:lstStyle/>
          <a:p>
            <a:pPr indent="0" marL="0">
              <a:lnSpc>
                <a:spcPts val="3600"/>
              </a:lnSpc>
              <a:buNone/>
            </a:pPr>
            <a:r>
              <a:rPr lang="en-US" sz="3200" dirty="0">
                <a:solidFill>
                  <a:srgbClr val="2E1F27"/>
                </a:solidFill>
                <a:latin typeface="Fraunces" pitchFamily="34" charset="0"/>
                <a:ea typeface="Fraunces" pitchFamily="34" charset="-122"/>
                <a:cs typeface="Fraunces" pitchFamily="34" charset="-120"/>
              </a:rPr>
              <a:t>What separates a designed site from a decorated one.</a:t>
            </a:r>
            <a:endParaRPr lang="en-US" sz="3200" dirty="0"/>
          </a:p>
        </p:txBody>
      </p:sp>
      <p:sp>
        <p:nvSpPr>
          <p:cNvPr id="5" name="Shape 3"/>
          <p:cNvSpPr/>
          <p:nvPr/>
        </p:nvSpPr>
        <p:spPr>
          <a:xfrm>
            <a:off x="777240" y="2148840"/>
            <a:ext cx="10607040" cy="1691640"/>
          </a:xfrm>
          <a:prstGeom prst="roundRect">
            <a:avLst>
              <a:gd name="adj" fmla="val 7568"/>
            </a:avLst>
          </a:prstGeom>
          <a:solidFill>
            <a:srgbClr val="FBF6EE"/>
          </a:solidFill>
          <a:ln w="9525">
            <a:solidFill>
              <a:srgbClr val="D8CCC0"/>
            </a:solidFill>
            <a:prstDash val="solid"/>
          </a:ln>
        </p:spPr>
      </p:sp>
      <p:sp>
        <p:nvSpPr>
          <p:cNvPr id="6" name="Text 4"/>
          <p:cNvSpPr/>
          <p:nvPr/>
        </p:nvSpPr>
        <p:spPr>
          <a:xfrm>
            <a:off x="1143000" y="2423160"/>
            <a:ext cx="2926080" cy="274320"/>
          </a:xfrm>
          <a:prstGeom prst="rect">
            <a:avLst/>
          </a:prstGeom>
          <a:noFill/>
          <a:ln/>
        </p:spPr>
        <p:txBody>
          <a:bodyPr wrap="square" lIns="0" tIns="0" rIns="0" bIns="0" rtlCol="0" anchor="t"/>
          <a:lstStyle/>
          <a:p>
            <a:pPr indent="0" marL="0">
              <a:buNone/>
            </a:pPr>
            <a:r>
              <a:rPr lang="en-US" sz="1100" b="1" spc="300" kern="0" dirty="0">
                <a:solidFill>
                  <a:srgbClr val="6E5C63"/>
                </a:solidFill>
                <a:latin typeface="Karla" pitchFamily="34" charset="0"/>
                <a:ea typeface="Karla" pitchFamily="34" charset="-122"/>
                <a:cs typeface="Karla" pitchFamily="34" charset="-120"/>
              </a:rPr>
              <a:t>DECORATED</a:t>
            </a:r>
            <a:endParaRPr lang="en-US" sz="1100" dirty="0"/>
          </a:p>
        </p:txBody>
      </p:sp>
      <p:sp>
        <p:nvSpPr>
          <p:cNvPr id="7" name="Text 5"/>
          <p:cNvSpPr/>
          <p:nvPr/>
        </p:nvSpPr>
        <p:spPr>
          <a:xfrm>
            <a:off x="1143000" y="2880360"/>
            <a:ext cx="9875520" cy="731520"/>
          </a:xfrm>
          <a:prstGeom prst="rect">
            <a:avLst/>
          </a:prstGeom>
          <a:noFill/>
          <a:ln/>
        </p:spPr>
        <p:txBody>
          <a:bodyPr wrap="square" lIns="0" tIns="0" rIns="0" bIns="0" rtlCol="0" anchor="t"/>
          <a:lstStyle/>
          <a:p>
            <a:pPr indent="0" marL="0">
              <a:lnSpc>
                <a:spcPts val="2000"/>
              </a:lnSpc>
              <a:buNone/>
            </a:pPr>
            <a:r>
              <a:rPr lang="en-US" sz="1350" dirty="0">
                <a:solidFill>
                  <a:srgbClr val="6E5C63"/>
                </a:solidFill>
                <a:latin typeface="Karla" pitchFamily="34" charset="0"/>
                <a:ea typeface="Karla" pitchFamily="34" charset="-122"/>
                <a:cs typeface="Karla" pitchFamily="34" charset="-120"/>
              </a:rPr>
              <a:t>A colour for every section   ·   Five fonts   ·   Every inch filled   ·   Six identical sections</a:t>
            </a:r>
            <a:endParaRPr lang="en-US" sz="1350" dirty="0"/>
          </a:p>
        </p:txBody>
      </p:sp>
      <p:sp>
        <p:nvSpPr>
          <p:cNvPr id="8" name="Shape 6"/>
          <p:cNvSpPr/>
          <p:nvPr/>
        </p:nvSpPr>
        <p:spPr>
          <a:xfrm>
            <a:off x="777240" y="4069080"/>
            <a:ext cx="10607040" cy="1783080"/>
          </a:xfrm>
          <a:prstGeom prst="roundRect">
            <a:avLst>
              <a:gd name="adj" fmla="val 7179"/>
            </a:avLst>
          </a:prstGeom>
          <a:solidFill>
            <a:srgbClr val="2E1F27"/>
          </a:solidFill>
          <a:ln w="9525">
            <a:solidFill>
              <a:srgbClr val="2E1F27"/>
            </a:solidFill>
            <a:prstDash val="solid"/>
          </a:ln>
          <a:effectLst>
            <a:outerShdw sx="100000" sy="100000" kx="0" ky="0" algn="bl" rotWithShape="0" blurRad="203200" dist="63500" dir="5400000">
              <a:srgbClr val="2E1F27">
                <a:alpha val="15000"/>
              </a:srgbClr>
            </a:outerShdw>
          </a:effectLst>
        </p:spPr>
      </p:sp>
      <p:sp>
        <p:nvSpPr>
          <p:cNvPr id="9" name="Text 7"/>
          <p:cNvSpPr/>
          <p:nvPr/>
        </p:nvSpPr>
        <p:spPr>
          <a:xfrm>
            <a:off x="1143000" y="4370832"/>
            <a:ext cx="292608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DESIGNED</a:t>
            </a:r>
            <a:endParaRPr lang="en-US" sz="1100" dirty="0"/>
          </a:p>
        </p:txBody>
      </p:sp>
      <p:sp>
        <p:nvSpPr>
          <p:cNvPr id="10" name="Text 8"/>
          <p:cNvSpPr/>
          <p:nvPr/>
        </p:nvSpPr>
        <p:spPr>
          <a:xfrm>
            <a:off x="1143000" y="4828032"/>
            <a:ext cx="9875520" cy="777240"/>
          </a:xfrm>
          <a:prstGeom prst="rect">
            <a:avLst/>
          </a:prstGeom>
          <a:noFill/>
          <a:ln/>
        </p:spPr>
        <p:txBody>
          <a:bodyPr wrap="square" lIns="0" tIns="0" rIns="0" bIns="0" rtlCol="0" anchor="t"/>
          <a:lstStyle/>
          <a:p>
            <a:pPr indent="0" marL="0">
              <a:lnSpc>
                <a:spcPts val="2000"/>
              </a:lnSpc>
              <a:buNone/>
            </a:pPr>
            <a:r>
              <a:rPr lang="en-US" sz="1350" dirty="0">
                <a:solidFill>
                  <a:srgbClr val="FBF6EE"/>
                </a:solidFill>
                <a:latin typeface="Karla" pitchFamily="34" charset="0"/>
                <a:ea typeface="Karla" pitchFamily="34" charset="-122"/>
                <a:cs typeface="Karla" pitchFamily="34" charset="-120"/>
              </a:rPr>
              <a:t>One action colour   ·   Two fonts   ·   Generous space   ·   Every section different</a:t>
            </a:r>
            <a:endParaRPr lang="en-US" sz="13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75</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DESIGN AUDIT</a:t>
            </a:r>
            <a:endParaRPr lang="en-US" sz="1100" dirty="0"/>
          </a:p>
        </p:txBody>
      </p:sp>
      <p:sp>
        <p:nvSpPr>
          <p:cNvPr id="4" name="Text 2"/>
          <p:cNvSpPr/>
          <p:nvPr/>
        </p:nvSpPr>
        <p:spPr>
          <a:xfrm>
            <a:off x="777240" y="1051560"/>
            <a:ext cx="7863840" cy="91440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Open your site and check honestly.</a:t>
            </a:r>
            <a:endParaRPr lang="en-US" sz="3300" dirty="0"/>
          </a:p>
        </p:txBody>
      </p:sp>
      <p:sp>
        <p:nvSpPr>
          <p:cNvPr id="5" name="Shape 3"/>
          <p:cNvSpPr/>
          <p:nvPr/>
        </p:nvSpPr>
        <p:spPr>
          <a:xfrm>
            <a:off x="777240" y="2514600"/>
            <a:ext cx="347472" cy="347472"/>
          </a:xfrm>
          <a:prstGeom prst="roundRect">
            <a:avLst>
              <a:gd name="adj" fmla="val 21053"/>
            </a:avLst>
          </a:prstGeom>
          <a:solidFill>
            <a:srgbClr val="2E1F27"/>
          </a:solidFill>
          <a:ln w="15875">
            <a:solidFill>
              <a:srgbClr val="A93F63"/>
            </a:solidFill>
            <a:prstDash val="solid"/>
          </a:ln>
        </p:spPr>
      </p:sp>
      <p:sp>
        <p:nvSpPr>
          <p:cNvPr id="6" name="Text 4"/>
          <p:cNvSpPr/>
          <p:nvPr/>
        </p:nvSpPr>
        <p:spPr>
          <a:xfrm>
            <a:off x="13441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A stranger knows what I sell within three seconds</a:t>
            </a:r>
            <a:endParaRPr lang="en-US" sz="1300" dirty="0"/>
          </a:p>
        </p:txBody>
      </p:sp>
      <p:sp>
        <p:nvSpPr>
          <p:cNvPr id="7" name="Shape 5"/>
          <p:cNvSpPr/>
          <p:nvPr/>
        </p:nvSpPr>
        <p:spPr>
          <a:xfrm>
            <a:off x="777240" y="3538728"/>
            <a:ext cx="347472" cy="347472"/>
          </a:xfrm>
          <a:prstGeom prst="roundRect">
            <a:avLst>
              <a:gd name="adj" fmla="val 21053"/>
            </a:avLst>
          </a:prstGeom>
          <a:solidFill>
            <a:srgbClr val="2E1F27"/>
          </a:solidFill>
          <a:ln w="15875">
            <a:solidFill>
              <a:srgbClr val="A93F63"/>
            </a:solidFill>
            <a:prstDash val="solid"/>
          </a:ln>
        </p:spPr>
      </p:sp>
      <p:sp>
        <p:nvSpPr>
          <p:cNvPr id="8" name="Text 6"/>
          <p:cNvSpPr/>
          <p:nvPr/>
        </p:nvSpPr>
        <p:spPr>
          <a:xfrm>
            <a:off x="13441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There is one obvious next step above the fold</a:t>
            </a:r>
            <a:endParaRPr lang="en-US" sz="1300" dirty="0"/>
          </a:p>
        </p:txBody>
      </p:sp>
      <p:sp>
        <p:nvSpPr>
          <p:cNvPr id="9" name="Shape 7"/>
          <p:cNvSpPr/>
          <p:nvPr/>
        </p:nvSpPr>
        <p:spPr>
          <a:xfrm>
            <a:off x="777240" y="4562856"/>
            <a:ext cx="347472" cy="347472"/>
          </a:xfrm>
          <a:prstGeom prst="roundRect">
            <a:avLst>
              <a:gd name="adj" fmla="val 21053"/>
            </a:avLst>
          </a:prstGeom>
          <a:solidFill>
            <a:srgbClr val="2E1F27"/>
          </a:solidFill>
          <a:ln w="15875">
            <a:solidFill>
              <a:srgbClr val="A93F63"/>
            </a:solidFill>
            <a:prstDash val="solid"/>
          </a:ln>
        </p:spPr>
      </p:sp>
      <p:sp>
        <p:nvSpPr>
          <p:cNvPr id="10" name="Text 8"/>
          <p:cNvSpPr/>
          <p:nvPr/>
        </p:nvSpPr>
        <p:spPr>
          <a:xfrm>
            <a:off x="13441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No two sections next to each other look the same</a:t>
            </a:r>
            <a:endParaRPr lang="en-US" sz="1300" dirty="0"/>
          </a:p>
        </p:txBody>
      </p:sp>
      <p:sp>
        <p:nvSpPr>
          <p:cNvPr id="11" name="Shape 9"/>
          <p:cNvSpPr/>
          <p:nvPr/>
        </p:nvSpPr>
        <p:spPr>
          <a:xfrm>
            <a:off x="6263640" y="2514600"/>
            <a:ext cx="347472" cy="347472"/>
          </a:xfrm>
          <a:prstGeom prst="roundRect">
            <a:avLst>
              <a:gd name="adj" fmla="val 21053"/>
            </a:avLst>
          </a:prstGeom>
          <a:solidFill>
            <a:srgbClr val="2E1F27"/>
          </a:solidFill>
          <a:ln w="15875">
            <a:solidFill>
              <a:srgbClr val="A93F63"/>
            </a:solidFill>
            <a:prstDash val="solid"/>
          </a:ln>
        </p:spPr>
      </p:sp>
      <p:sp>
        <p:nvSpPr>
          <p:cNvPr id="12" name="Text 10"/>
          <p:cNvSpPr/>
          <p:nvPr/>
        </p:nvSpPr>
        <p:spPr>
          <a:xfrm>
            <a:off x="68305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 action colour only appears on clickable things</a:t>
            </a:r>
            <a:endParaRPr lang="en-US" sz="1300" dirty="0"/>
          </a:p>
        </p:txBody>
      </p:sp>
      <p:sp>
        <p:nvSpPr>
          <p:cNvPr id="13" name="Shape 11"/>
          <p:cNvSpPr/>
          <p:nvPr/>
        </p:nvSpPr>
        <p:spPr>
          <a:xfrm>
            <a:off x="6263640" y="3538728"/>
            <a:ext cx="347472" cy="347472"/>
          </a:xfrm>
          <a:prstGeom prst="roundRect">
            <a:avLst>
              <a:gd name="adj" fmla="val 21053"/>
            </a:avLst>
          </a:prstGeom>
          <a:solidFill>
            <a:srgbClr val="2E1F27"/>
          </a:solidFill>
          <a:ln w="15875">
            <a:solidFill>
              <a:srgbClr val="A93F63"/>
            </a:solidFill>
            <a:prstDash val="solid"/>
          </a:ln>
        </p:spPr>
      </p:sp>
      <p:sp>
        <p:nvSpPr>
          <p:cNvPr id="14" name="Text 12"/>
          <p:cNvSpPr/>
          <p:nvPr/>
        </p:nvSpPr>
        <p:spPr>
          <a:xfrm>
            <a:off x="68305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It looks right on my phone, not just my laptop</a:t>
            </a:r>
            <a:endParaRPr lang="en-US" sz="1300" dirty="0"/>
          </a:p>
        </p:txBody>
      </p:sp>
      <p:sp>
        <p:nvSpPr>
          <p:cNvPr id="15" name="Shape 13"/>
          <p:cNvSpPr/>
          <p:nvPr/>
        </p:nvSpPr>
        <p:spPr>
          <a:xfrm>
            <a:off x="6263640" y="4562856"/>
            <a:ext cx="347472" cy="347472"/>
          </a:xfrm>
          <a:prstGeom prst="roundRect">
            <a:avLst>
              <a:gd name="adj" fmla="val 21053"/>
            </a:avLst>
          </a:prstGeom>
          <a:solidFill>
            <a:srgbClr val="2E1F27"/>
          </a:solidFill>
          <a:ln w="15875">
            <a:solidFill>
              <a:srgbClr val="A93F63"/>
            </a:solidFill>
            <a:prstDash val="solid"/>
          </a:ln>
        </p:spPr>
      </p:sp>
      <p:sp>
        <p:nvSpPr>
          <p:cNvPr id="16" name="Text 14"/>
          <p:cNvSpPr/>
          <p:nvPr/>
        </p:nvSpPr>
        <p:spPr>
          <a:xfrm>
            <a:off x="68305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 price is visible without hunting</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76</a:t>
            </a:r>
            <a:endParaRPr lang="en-US" sz="950" dirty="0"/>
          </a:p>
        </p:txBody>
      </p:sp>
      <p:sp>
        <p:nvSpPr>
          <p:cNvPr id="3" name="Shape 1"/>
          <p:cNvSpPr/>
          <p:nvPr/>
        </p:nvSpPr>
        <p:spPr>
          <a:xfrm>
            <a:off x="2971800" y="320040"/>
            <a:ext cx="6217920" cy="6217920"/>
          </a:xfrm>
          <a:prstGeom prst="ellipse">
            <a:avLst/>
          </a:prstGeom>
          <a:solidFill>
            <a:srgbClr val="7C2B48">
              <a:alpha val="45000"/>
            </a:srgbClr>
          </a:solidFill>
          <a:ln/>
        </p:spPr>
      </p:sp>
      <p:sp>
        <p:nvSpPr>
          <p:cNvPr id="4" name="Text 2"/>
          <p:cNvSpPr/>
          <p:nvPr/>
        </p:nvSpPr>
        <p:spPr>
          <a:xfrm>
            <a:off x="914400" y="960120"/>
            <a:ext cx="10332720" cy="3108960"/>
          </a:xfrm>
          <a:prstGeom prst="rect">
            <a:avLst/>
          </a:prstGeom>
          <a:noFill/>
          <a:ln/>
        </p:spPr>
        <p:txBody>
          <a:bodyPr wrap="square" lIns="0" tIns="0" rIns="0" bIns="0" rtlCol="0" anchor="ctr"/>
          <a:lstStyle/>
          <a:p>
            <a:pPr algn="ctr" indent="0" marL="0">
              <a:buNone/>
            </a:pPr>
            <a:r>
              <a:rPr lang="en-US" sz="15000" i="1" dirty="0">
                <a:solidFill>
                  <a:srgbClr val="A93F63"/>
                </a:solidFill>
                <a:latin typeface="Fraunces" pitchFamily="34" charset="0"/>
                <a:ea typeface="Fraunces" pitchFamily="34" charset="-122"/>
                <a:cs typeface="Fraunces" pitchFamily="34" charset="-120"/>
              </a:rPr>
              <a:t>3</a:t>
            </a:r>
            <a:endParaRPr lang="en-US" sz="15000" dirty="0"/>
          </a:p>
        </p:txBody>
      </p:sp>
      <p:sp>
        <p:nvSpPr>
          <p:cNvPr id="5" name="Text 3"/>
          <p:cNvSpPr/>
          <p:nvPr/>
        </p:nvSpPr>
        <p:spPr>
          <a:xfrm>
            <a:off x="1371600" y="4114800"/>
            <a:ext cx="9418320" cy="411480"/>
          </a:xfrm>
          <a:prstGeom prst="rect">
            <a:avLst/>
          </a:prstGeom>
          <a:noFill/>
          <a:ln/>
        </p:spPr>
        <p:txBody>
          <a:bodyPr wrap="square" lIns="0" tIns="0" rIns="0" bIns="0" rtlCol="0" anchor="t"/>
          <a:lstStyle/>
          <a:p>
            <a:pPr algn="ctr" indent="0" marL="0">
              <a:buNone/>
            </a:pPr>
            <a:r>
              <a:rPr lang="en-US" sz="1300" b="1" spc="400" kern="0" dirty="0">
                <a:solidFill>
                  <a:srgbClr val="BC8A47"/>
                </a:solidFill>
                <a:latin typeface="Karla" pitchFamily="34" charset="0"/>
                <a:ea typeface="Karla" pitchFamily="34" charset="-122"/>
                <a:cs typeface="Karla" pitchFamily="34" charset="-120"/>
              </a:rPr>
              <a:t>SECONDS TO ANSWER WHO AND WHAT</a:t>
            </a:r>
            <a:endParaRPr lang="en-US" sz="1300" dirty="0"/>
          </a:p>
        </p:txBody>
      </p:sp>
      <p:sp>
        <p:nvSpPr>
          <p:cNvPr id="6" name="Text 4"/>
          <p:cNvSpPr/>
          <p:nvPr/>
        </p:nvSpPr>
        <p:spPr>
          <a:xfrm>
            <a:off x="2743200" y="4709160"/>
            <a:ext cx="6675120" cy="914400"/>
          </a:xfrm>
          <a:prstGeom prst="rect">
            <a:avLst/>
          </a:prstGeom>
          <a:noFill/>
          <a:ln/>
        </p:spPr>
        <p:txBody>
          <a:bodyPr wrap="square" lIns="0" tIns="0" rIns="0" bIns="0" rtlCol="0" anchor="t"/>
          <a:lstStyle/>
          <a:p>
            <a:pPr algn="ctr" indent="0" marL="0">
              <a:lnSpc>
                <a:spcPts val="2200"/>
              </a:lnSpc>
              <a:buNone/>
            </a:pPr>
            <a:r>
              <a:rPr lang="en-US" sz="1400" dirty="0">
                <a:solidFill>
                  <a:srgbClr val="D8CBC3"/>
                </a:solidFill>
                <a:latin typeface="Karla" pitchFamily="34" charset="0"/>
                <a:ea typeface="Karla" pitchFamily="34" charset="-122"/>
                <a:cs typeface="Karla" pitchFamily="34" charset="-120"/>
              </a:rPr>
              <a:t>That is the entire budget your homepage gets before she decides whether to keep scrolling.</a:t>
            </a:r>
            <a:endParaRPr lang="en-US"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0DCE2"/>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77</a:t>
            </a:r>
            <a:endParaRPr lang="en-US" sz="950" dirty="0"/>
          </a:p>
        </p:txBody>
      </p:sp>
      <p:sp>
        <p:nvSpPr>
          <p:cNvPr id="3" name="Shape 1"/>
          <p:cNvSpPr/>
          <p:nvPr/>
        </p:nvSpPr>
        <p:spPr>
          <a:xfrm>
            <a:off x="-2194560" y="-2194560"/>
            <a:ext cx="5852160" cy="5852160"/>
          </a:xfrm>
          <a:prstGeom prst="ellipse">
            <a:avLst/>
          </a:prstGeom>
          <a:solidFill>
            <a:srgbClr val="FBF6EE">
              <a:alpha val="55000"/>
            </a:srgbClr>
          </a:solidFill>
          <a:ln/>
        </p:spPr>
      </p:sp>
      <p:sp>
        <p:nvSpPr>
          <p:cNvPr id="4" name="Shape 2"/>
          <p:cNvSpPr/>
          <p:nvPr/>
        </p:nvSpPr>
        <p:spPr>
          <a:xfrm>
            <a:off x="10149840" y="4663440"/>
            <a:ext cx="4206240" cy="4206240"/>
          </a:xfrm>
          <a:prstGeom prst="ellipse">
            <a:avLst/>
          </a:prstGeom>
          <a:solidFill>
            <a:srgbClr val="FBF6EE">
              <a:alpha val="38000"/>
            </a:srgbClr>
          </a:solidFill>
          <a:ln/>
        </p:spPr>
      </p:sp>
      <p:sp>
        <p:nvSpPr>
          <p:cNvPr id="5" name="Text 3"/>
          <p:cNvSpPr/>
          <p:nvPr/>
        </p:nvSpPr>
        <p:spPr>
          <a:xfrm>
            <a:off x="868680" y="1051560"/>
            <a:ext cx="2011680" cy="2011680"/>
          </a:xfrm>
          <a:prstGeom prst="rect">
            <a:avLst/>
          </a:prstGeom>
          <a:noFill/>
          <a:ln/>
        </p:spPr>
        <p:txBody>
          <a:bodyPr wrap="square" lIns="0" tIns="0" rIns="0" bIns="0" rtlCol="0" anchor="t"/>
          <a:lstStyle/>
          <a:p>
            <a:pPr indent="0" marL="0">
              <a:buNone/>
            </a:pPr>
            <a:r>
              <a:rPr lang="en-US" sz="13200" i="1" dirty="0">
                <a:solidFill>
                  <a:srgbClr val="A93F63"/>
                </a:solidFill>
                <a:latin typeface="Fraunces" pitchFamily="34" charset="0"/>
                <a:ea typeface="Fraunces" pitchFamily="34" charset="-122"/>
                <a:cs typeface="Fraunces" pitchFamily="34" charset="-120"/>
              </a:rPr>
              <a:t>“</a:t>
            </a:r>
            <a:endParaRPr lang="en-US" sz="13200" dirty="0"/>
          </a:p>
        </p:txBody>
      </p:sp>
      <p:sp>
        <p:nvSpPr>
          <p:cNvPr id="6" name="Text 4"/>
          <p:cNvSpPr/>
          <p:nvPr/>
        </p:nvSpPr>
        <p:spPr>
          <a:xfrm>
            <a:off x="2514600" y="1965960"/>
            <a:ext cx="8229600" cy="2651760"/>
          </a:xfrm>
          <a:prstGeom prst="rect">
            <a:avLst/>
          </a:prstGeom>
          <a:noFill/>
          <a:ln/>
        </p:spPr>
        <p:txBody>
          <a:bodyPr wrap="square" lIns="0" tIns="0" rIns="0" bIns="0" rtlCol="0" anchor="ctr"/>
          <a:lstStyle/>
          <a:p>
            <a:pPr indent="0" marL="0">
              <a:lnSpc>
                <a:spcPts val="3700"/>
              </a:lnSpc>
              <a:buNone/>
            </a:pPr>
            <a:r>
              <a:rPr lang="en-US" sz="2900" i="1" dirty="0">
                <a:solidFill>
                  <a:srgbClr val="2E1F27"/>
                </a:solidFill>
                <a:latin typeface="Fraunces" pitchFamily="34" charset="0"/>
                <a:ea typeface="Fraunces" pitchFamily="34" charset="-122"/>
                <a:cs typeface="Fraunces" pitchFamily="34" charset="-120"/>
              </a:rPr>
              <a:t>A template is a set of decisions made by someone who has never met your offer.</a:t>
            </a:r>
            <a:endParaRPr lang="en-US" sz="2900" dirty="0"/>
          </a:p>
        </p:txBody>
      </p:sp>
      <p:sp>
        <p:nvSpPr>
          <p:cNvPr id="7" name="Text 5"/>
          <p:cNvSpPr/>
          <p:nvPr/>
        </p:nvSpPr>
        <p:spPr>
          <a:xfrm>
            <a:off x="2514600" y="4846320"/>
            <a:ext cx="8229600" cy="365760"/>
          </a:xfrm>
          <a:prstGeom prst="rect">
            <a:avLst/>
          </a:prstGeom>
          <a:noFill/>
          <a:ln/>
        </p:spPr>
        <p:txBody>
          <a:bodyPr wrap="square" lIns="0" tIns="0" rIns="0" bIns="0" rtlCol="0" anchor="t"/>
          <a:lstStyle/>
          <a:p>
            <a:pPr indent="0" marL="0">
              <a:buNone/>
            </a:pPr>
            <a:r>
              <a:rPr lang="en-US" sz="1100" b="1" spc="400" kern="0" dirty="0">
                <a:solidFill>
                  <a:srgbClr val="7C2B48"/>
                </a:solidFill>
                <a:latin typeface="Karla" pitchFamily="34" charset="0"/>
                <a:ea typeface="Karla" pitchFamily="34" charset="-122"/>
                <a:cs typeface="Karla" pitchFamily="34" charset="-120"/>
              </a:rPr>
              <a:t>WHY CUSTOM WINS</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78</a:t>
            </a:r>
            <a:endParaRPr lang="en-US" sz="950" dirty="0"/>
          </a:p>
        </p:txBody>
      </p:sp>
      <p:sp>
        <p:nvSpPr>
          <p:cNvPr id="3" name="Shape 1"/>
          <p:cNvSpPr/>
          <p:nvPr/>
        </p:nvSpPr>
        <p:spPr>
          <a:xfrm>
            <a:off x="0" y="0"/>
            <a:ext cx="12161520" cy="2331720"/>
          </a:xfrm>
          <a:prstGeom prst="rect">
            <a:avLst/>
          </a:prstGeom>
          <a:solidFill>
            <a:srgbClr val="A93F63"/>
          </a:solidFill>
          <a:ln/>
        </p:spPr>
      </p:sp>
      <p:sp>
        <p:nvSpPr>
          <p:cNvPr id="4" name="Text 2"/>
          <p:cNvSpPr/>
          <p:nvPr/>
        </p:nvSpPr>
        <p:spPr>
          <a:xfrm>
            <a:off x="777240" y="713232"/>
            <a:ext cx="10607040" cy="274320"/>
          </a:xfrm>
          <a:prstGeom prst="rect">
            <a:avLst/>
          </a:prstGeom>
          <a:noFill/>
          <a:ln/>
        </p:spPr>
        <p:txBody>
          <a:bodyPr wrap="square" lIns="0" tIns="0" rIns="0" bIns="0" rtlCol="0" anchor="t"/>
          <a:lstStyle/>
          <a:p>
            <a:pPr indent="0" marL="0">
              <a:buNone/>
            </a:pPr>
            <a:r>
              <a:rPr lang="en-US" sz="1100" b="1" spc="350" kern="0" dirty="0">
                <a:solidFill>
                  <a:srgbClr val="F6DCE5"/>
                </a:solidFill>
                <a:latin typeface="Karla" pitchFamily="34" charset="0"/>
                <a:ea typeface="Karla" pitchFamily="34" charset="-122"/>
                <a:cs typeface="Karla" pitchFamily="34" charset="-120"/>
              </a:rPr>
              <a:t>YOUR TURN</a:t>
            </a:r>
            <a:endParaRPr lang="en-US" sz="1100" dirty="0"/>
          </a:p>
        </p:txBody>
      </p:sp>
      <p:sp>
        <p:nvSpPr>
          <p:cNvPr id="5" name="Text 3"/>
          <p:cNvSpPr/>
          <p:nvPr/>
        </p:nvSpPr>
        <p:spPr>
          <a:xfrm>
            <a:off x="777240" y="1115568"/>
            <a:ext cx="7406640" cy="100584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Run the three second test.</a:t>
            </a:r>
            <a:endParaRPr lang="en-US" sz="3300" dirty="0"/>
          </a:p>
        </p:txBody>
      </p:sp>
      <p:sp>
        <p:nvSpPr>
          <p:cNvPr id="6" name="Shape 4"/>
          <p:cNvSpPr/>
          <p:nvPr/>
        </p:nvSpPr>
        <p:spPr>
          <a:xfrm>
            <a:off x="777240" y="2743200"/>
            <a:ext cx="10607040" cy="3291840"/>
          </a:xfrm>
          <a:prstGeom prst="roundRect">
            <a:avLst>
              <a:gd name="adj" fmla="val 388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7" name="Text 5"/>
          <p:cNvSpPr/>
          <p:nvPr/>
        </p:nvSpPr>
        <p:spPr>
          <a:xfrm>
            <a:off x="1234440" y="3063240"/>
            <a:ext cx="9692640" cy="777240"/>
          </a:xfrm>
          <a:prstGeom prst="rect">
            <a:avLst/>
          </a:prstGeom>
          <a:noFill/>
          <a:ln/>
        </p:spPr>
        <p:txBody>
          <a:bodyPr wrap="square" lIns="0" tIns="0" rIns="0" bIns="0" rtlCol="0" anchor="t"/>
          <a:lstStyle/>
          <a:p>
            <a:pPr indent="0" marL="0">
              <a:lnSpc>
                <a:spcPts val="2300"/>
              </a:lnSpc>
              <a:buNone/>
            </a:pPr>
            <a:r>
              <a:rPr lang="en-US" sz="1900" i="1" dirty="0">
                <a:solidFill>
                  <a:srgbClr val="A93F63"/>
                </a:solidFill>
                <a:latin typeface="Fraunces" pitchFamily="34" charset="0"/>
                <a:ea typeface="Fraunces" pitchFamily="34" charset="-122"/>
                <a:cs typeface="Fraunces" pitchFamily="34" charset="-120"/>
              </a:rPr>
              <a:t>Show your homepage to someone for three seconds. Write exactly what they said, then what you wish they had said.</a:t>
            </a:r>
            <a:endParaRPr lang="en-US" sz="1900" dirty="0"/>
          </a:p>
        </p:txBody>
      </p:sp>
      <p:sp>
        <p:nvSpPr>
          <p:cNvPr id="8" name="Shape 6"/>
          <p:cNvSpPr/>
          <p:nvPr/>
        </p:nvSpPr>
        <p:spPr>
          <a:xfrm>
            <a:off x="1234440" y="3977640"/>
            <a:ext cx="9692640" cy="0"/>
          </a:xfrm>
          <a:prstGeom prst="line">
            <a:avLst/>
          </a:prstGeom>
          <a:noFill/>
          <a:ln w="12700">
            <a:solidFill>
              <a:srgbClr val="DCD2C7"/>
            </a:solidFill>
            <a:prstDash val="dash"/>
          </a:ln>
        </p:spPr>
      </p:sp>
      <p:sp>
        <p:nvSpPr>
          <p:cNvPr id="9" name="Shape 7"/>
          <p:cNvSpPr/>
          <p:nvPr/>
        </p:nvSpPr>
        <p:spPr>
          <a:xfrm>
            <a:off x="1234440" y="4480560"/>
            <a:ext cx="9692640" cy="0"/>
          </a:xfrm>
          <a:prstGeom prst="line">
            <a:avLst/>
          </a:prstGeom>
          <a:noFill/>
          <a:ln w="12700">
            <a:solidFill>
              <a:srgbClr val="DCD2C7"/>
            </a:solidFill>
            <a:prstDash val="dash"/>
          </a:ln>
        </p:spPr>
      </p:sp>
      <p:sp>
        <p:nvSpPr>
          <p:cNvPr id="10" name="Shape 8"/>
          <p:cNvSpPr/>
          <p:nvPr/>
        </p:nvSpPr>
        <p:spPr>
          <a:xfrm>
            <a:off x="1234440" y="4983480"/>
            <a:ext cx="9692640" cy="0"/>
          </a:xfrm>
          <a:prstGeom prst="line">
            <a:avLst/>
          </a:prstGeom>
          <a:noFill/>
          <a:ln w="12700">
            <a:solidFill>
              <a:srgbClr val="DCD2C7"/>
            </a:solidFill>
            <a:prstDash val="dash"/>
          </a:ln>
        </p:spPr>
      </p:sp>
      <p:sp>
        <p:nvSpPr>
          <p:cNvPr id="11" name="Shape 9"/>
          <p:cNvSpPr/>
          <p:nvPr/>
        </p:nvSpPr>
        <p:spPr>
          <a:xfrm>
            <a:off x="1234440" y="5486400"/>
            <a:ext cx="9692640" cy="0"/>
          </a:xfrm>
          <a:prstGeom prst="line">
            <a:avLst/>
          </a:prstGeom>
          <a:noFill/>
          <a:ln w="12700">
            <a:solidFill>
              <a:srgbClr val="DCD2C7"/>
            </a:solidFill>
            <a:prstDash val="dash"/>
          </a:ln>
        </p:spPr>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79</a:t>
            </a:r>
            <a:endParaRPr lang="en-US" sz="950" dirty="0"/>
          </a:p>
        </p:txBody>
      </p:sp>
      <p:sp>
        <p:nvSpPr>
          <p:cNvPr id="3" name="Shape 1"/>
          <p:cNvSpPr/>
          <p:nvPr/>
        </p:nvSpPr>
        <p:spPr>
          <a:xfrm>
            <a:off x="7680960" y="0"/>
            <a:ext cx="4480560" cy="6858000"/>
          </a:xfrm>
          <a:prstGeom prst="rect">
            <a:avLst/>
          </a:prstGeom>
          <a:solidFill>
            <a:srgbClr val="F4EBDE"/>
          </a:solidFill>
          <a:ln/>
        </p:spPr>
      </p:sp>
      <p:sp>
        <p:nvSpPr>
          <p:cNvPr id="4" name="Text 2"/>
          <p:cNvSpPr/>
          <p:nvPr/>
        </p:nvSpPr>
        <p:spPr>
          <a:xfrm>
            <a:off x="777240" y="1371600"/>
            <a:ext cx="621792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DESIGN IT ON YOUR PHONE</a:t>
            </a:r>
            <a:endParaRPr lang="en-US" sz="1100" dirty="0"/>
          </a:p>
        </p:txBody>
      </p:sp>
      <p:sp>
        <p:nvSpPr>
          <p:cNvPr id="5" name="Text 3"/>
          <p:cNvSpPr/>
          <p:nvPr/>
        </p:nvSpPr>
        <p:spPr>
          <a:xfrm>
            <a:off x="777240" y="1783080"/>
            <a:ext cx="6400800" cy="1371600"/>
          </a:xfrm>
          <a:prstGeom prst="rect">
            <a:avLst/>
          </a:prstGeom>
          <a:noFill/>
          <a:ln/>
        </p:spPr>
        <p:txBody>
          <a:bodyPr wrap="square" lIns="0" tIns="0" rIns="0" bIns="0" rtlCol="0" anchor="t"/>
          <a:lstStyle/>
          <a:p>
            <a:pPr indent="0" marL="0">
              <a:lnSpc>
                <a:spcPts val="3500"/>
              </a:lnSpc>
              <a:buNone/>
            </a:pPr>
            <a:r>
              <a:rPr lang="en-US" sz="3100" dirty="0">
                <a:solidFill>
                  <a:srgbClr val="2E1F27"/>
                </a:solidFill>
                <a:latin typeface="Fraunces" pitchFamily="34" charset="0"/>
                <a:ea typeface="Fraunces" pitchFamily="34" charset="-122"/>
                <a:cs typeface="Fraunces" pitchFamily="34" charset="-120"/>
              </a:rPr>
              <a:t>Most of them are reading it there.</a:t>
            </a:r>
            <a:endParaRPr lang="en-US" sz="3100" dirty="0"/>
          </a:p>
        </p:txBody>
      </p:sp>
      <p:sp>
        <p:nvSpPr>
          <p:cNvPr id="6" name="Text 4"/>
          <p:cNvSpPr/>
          <p:nvPr/>
        </p:nvSpPr>
        <p:spPr>
          <a:xfrm>
            <a:off x="777240" y="3200400"/>
            <a:ext cx="6309360" cy="2651760"/>
          </a:xfrm>
          <a:prstGeom prst="rect">
            <a:avLst/>
          </a:prstGeom>
          <a:noFill/>
          <a:ln/>
        </p:spPr>
        <p:txBody>
          <a:bodyPr wrap="square" lIns="0" tIns="0" rIns="0" bIns="0" rtlCol="0" anchor="ctr"/>
          <a:lstStyle/>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The majority of your visitors will meet your site on a phone, usually with one thumb, usually distracted.</a:t>
            </a:r>
            <a:endParaRPr lang="en-US" sz="1450" dirty="0"/>
          </a:p>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That means bigger text than feels necessary, buttons that stretch full width, and sections that stack cleanly.</a:t>
            </a:r>
            <a:endParaRPr lang="en-US" sz="1450" dirty="0"/>
          </a:p>
          <a:p>
            <a:pPr indent="0" marL="0">
              <a:lnSpc>
                <a:spcPts val="2400"/>
              </a:lnSpc>
              <a:spcAft>
                <a:spcPts val="1400"/>
              </a:spcAft>
              <a:buNone/>
            </a:pPr>
            <a:r>
              <a:rPr lang="en-US" sz="1450" dirty="0">
                <a:solidFill>
                  <a:srgbClr val="2E1F27"/>
                </a:solidFill>
                <a:latin typeface="Karla" pitchFamily="34" charset="0"/>
                <a:ea typeface="Karla" pitchFamily="34" charset="-122"/>
                <a:cs typeface="Karla" pitchFamily="34" charset="-120"/>
              </a:rPr>
              <a:t>Build the phone version first. A page that works small almost always works big. The reverse is rarely true.</a:t>
            </a:r>
            <a:endParaRPr lang="en-US" sz="1450" dirty="0"/>
          </a:p>
        </p:txBody>
      </p:sp>
      <p:sp>
        <p:nvSpPr>
          <p:cNvPr id="7" name="Shape 5"/>
          <p:cNvSpPr/>
          <p:nvPr/>
        </p:nvSpPr>
        <p:spPr>
          <a:xfrm>
            <a:off x="9765792" y="1965960"/>
            <a:ext cx="310896" cy="310896"/>
          </a:xfrm>
          <a:prstGeom prst="ellipse">
            <a:avLst/>
          </a:prstGeom>
          <a:solidFill>
            <a:srgbClr val="BC8A47"/>
          </a:solidFill>
          <a:ln/>
        </p:spPr>
      </p:sp>
      <p:sp>
        <p:nvSpPr>
          <p:cNvPr id="8" name="Text 6"/>
          <p:cNvSpPr/>
          <p:nvPr/>
        </p:nvSpPr>
        <p:spPr>
          <a:xfrm>
            <a:off x="7909560" y="2651760"/>
            <a:ext cx="4023360" cy="2194560"/>
          </a:xfrm>
          <a:prstGeom prst="rect">
            <a:avLst/>
          </a:prstGeom>
          <a:noFill/>
          <a:ln/>
        </p:spPr>
        <p:txBody>
          <a:bodyPr wrap="square" lIns="0" tIns="0" rIns="0" bIns="0" rtlCol="0" anchor="ctr"/>
          <a:lstStyle/>
          <a:p>
            <a:pPr algn="ctr" indent="0" marL="0">
              <a:buNone/>
            </a:pPr>
            <a:r>
              <a:rPr lang="en-US" sz="4600" dirty="0">
                <a:solidFill>
                  <a:srgbClr val="A93F63"/>
                </a:solidFill>
                <a:latin typeface="Ephesis" pitchFamily="34" charset="0"/>
                <a:ea typeface="Ephesis" pitchFamily="34" charset="-122"/>
                <a:cs typeface="Ephesis" pitchFamily="34" charset="-120"/>
              </a:rPr>
              <a:t>thumb</a:t>
            </a:r>
            <a:endParaRPr lang="en-US" sz="4600" dirty="0"/>
          </a:p>
          <a:p>
            <a:pPr algn="ctr" indent="0" marL="0">
              <a:buNone/>
            </a:pPr>
            <a:r>
              <a:rPr lang="en-US" sz="4600" dirty="0">
                <a:solidFill>
                  <a:srgbClr val="A93F63"/>
                </a:solidFill>
                <a:latin typeface="Ephesis" pitchFamily="34" charset="0"/>
                <a:ea typeface="Ephesis" pitchFamily="34" charset="-122"/>
                <a:cs typeface="Ephesis" pitchFamily="34" charset="-120"/>
              </a:rPr>
              <a:t>first</a:t>
            </a:r>
            <a:endParaRPr lang="en-US" sz="4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7C2B48"/>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80</a:t>
            </a:r>
            <a:endParaRPr lang="en-US" sz="950" dirty="0"/>
          </a:p>
        </p:txBody>
      </p:sp>
      <p:sp>
        <p:nvSpPr>
          <p:cNvPr id="3" name="Text 1"/>
          <p:cNvSpPr/>
          <p:nvPr/>
        </p:nvSpPr>
        <p:spPr>
          <a:xfrm>
            <a:off x="777240" y="685800"/>
            <a:ext cx="10607040" cy="274320"/>
          </a:xfrm>
          <a:prstGeom prst="rect">
            <a:avLst/>
          </a:prstGeom>
          <a:noFill/>
          <a:ln/>
        </p:spPr>
        <p:txBody>
          <a:bodyPr wrap="square" lIns="0" tIns="0" rIns="0" bIns="0" rtlCol="0" anchor="t"/>
          <a:lstStyle/>
          <a:p>
            <a:pPr indent="0" marL="0">
              <a:buNone/>
            </a:pPr>
            <a:r>
              <a:rPr lang="en-US" sz="1100" b="1" spc="300" kern="0" dirty="0">
                <a:solidFill>
                  <a:srgbClr val="F0DCE2"/>
                </a:solidFill>
                <a:latin typeface="Karla" pitchFamily="34" charset="0"/>
                <a:ea typeface="Karla" pitchFamily="34" charset="-122"/>
                <a:cs typeface="Karla" pitchFamily="34" charset="-120"/>
              </a:rPr>
              <a:t>MODULE FOUR</a:t>
            </a:r>
            <a:endParaRPr lang="en-US" sz="1100" dirty="0"/>
          </a:p>
        </p:txBody>
      </p:sp>
      <p:sp>
        <p:nvSpPr>
          <p:cNvPr id="4" name="Text 2"/>
          <p:cNvSpPr/>
          <p:nvPr/>
        </p:nvSpPr>
        <p:spPr>
          <a:xfrm>
            <a:off x="777240" y="1097280"/>
            <a:ext cx="7863840" cy="914400"/>
          </a:xfrm>
          <a:prstGeom prst="rect">
            <a:avLst/>
          </a:prstGeom>
          <a:noFill/>
          <a:ln/>
        </p:spPr>
        <p:txBody>
          <a:bodyPr wrap="square" lIns="0" tIns="0" rIns="0" bIns="0" rtlCol="0" anchor="t"/>
          <a:lstStyle/>
          <a:p>
            <a:pPr indent="0" marL="0">
              <a:lnSpc>
                <a:spcPts val="3800"/>
              </a:lnSpc>
              <a:buNone/>
            </a:pPr>
            <a:r>
              <a:rPr lang="en-US" sz="3400" dirty="0">
                <a:solidFill>
                  <a:srgbClr val="FBF6EE"/>
                </a:solidFill>
                <a:latin typeface="Fraunces" pitchFamily="34" charset="0"/>
                <a:ea typeface="Fraunces" pitchFamily="34" charset="-122"/>
                <a:cs typeface="Fraunces" pitchFamily="34" charset="-120"/>
              </a:rPr>
              <a:t>What to take with you.</a:t>
            </a:r>
            <a:endParaRPr lang="en-US" sz="3400" dirty="0"/>
          </a:p>
        </p:txBody>
      </p:sp>
      <p:sp>
        <p:nvSpPr>
          <p:cNvPr id="5" name="Text 3"/>
          <p:cNvSpPr/>
          <p:nvPr/>
        </p:nvSpPr>
        <p:spPr>
          <a:xfrm>
            <a:off x="777240" y="24048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01</a:t>
            </a:r>
            <a:endParaRPr lang="en-US" sz="3400" dirty="0"/>
          </a:p>
        </p:txBody>
      </p:sp>
      <p:sp>
        <p:nvSpPr>
          <p:cNvPr id="6" name="Text 4"/>
          <p:cNvSpPr/>
          <p:nvPr/>
        </p:nvSpPr>
        <p:spPr>
          <a:xfrm>
            <a:off x="1920240" y="24963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Design serves the offer, and comes after the copy.</a:t>
            </a:r>
            <a:endParaRPr lang="en-US" sz="1450" dirty="0"/>
          </a:p>
        </p:txBody>
      </p:sp>
      <p:sp>
        <p:nvSpPr>
          <p:cNvPr id="7" name="Text 5"/>
          <p:cNvSpPr/>
          <p:nvPr/>
        </p:nvSpPr>
        <p:spPr>
          <a:xfrm>
            <a:off x="777240" y="33192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02</a:t>
            </a:r>
            <a:endParaRPr lang="en-US" sz="3400" dirty="0"/>
          </a:p>
        </p:txBody>
      </p:sp>
      <p:sp>
        <p:nvSpPr>
          <p:cNvPr id="8" name="Text 6"/>
          <p:cNvSpPr/>
          <p:nvPr/>
        </p:nvSpPr>
        <p:spPr>
          <a:xfrm>
            <a:off x="1920240" y="34107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Build the page in the order a buyer reads it.</a:t>
            </a:r>
            <a:endParaRPr lang="en-US" sz="1450" dirty="0"/>
          </a:p>
        </p:txBody>
      </p:sp>
      <p:sp>
        <p:nvSpPr>
          <p:cNvPr id="9" name="Text 7"/>
          <p:cNvSpPr/>
          <p:nvPr/>
        </p:nvSpPr>
        <p:spPr>
          <a:xfrm>
            <a:off x="777240" y="42336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03</a:t>
            </a:r>
            <a:endParaRPr lang="en-US" sz="3400" dirty="0"/>
          </a:p>
        </p:txBody>
      </p:sp>
      <p:sp>
        <p:nvSpPr>
          <p:cNvPr id="10" name="Text 8"/>
          <p:cNvSpPr/>
          <p:nvPr/>
        </p:nvSpPr>
        <p:spPr>
          <a:xfrm>
            <a:off x="1920240" y="43251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One dominant thing per section, one action colour, plenty of space.</a:t>
            </a:r>
            <a:endParaRPr lang="en-US" sz="1450" dirty="0"/>
          </a:p>
        </p:txBody>
      </p:sp>
      <p:sp>
        <p:nvSpPr>
          <p:cNvPr id="11" name="Text 9"/>
          <p:cNvSpPr/>
          <p:nvPr/>
        </p:nvSpPr>
        <p:spPr>
          <a:xfrm>
            <a:off x="777240" y="51480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04</a:t>
            </a:r>
            <a:endParaRPr lang="en-US" sz="3400" dirty="0"/>
          </a:p>
        </p:txBody>
      </p:sp>
      <p:sp>
        <p:nvSpPr>
          <p:cNvPr id="12" name="Text 10"/>
          <p:cNvSpPr/>
          <p:nvPr/>
        </p:nvSpPr>
        <p:spPr>
          <a:xfrm>
            <a:off x="1920240" y="52395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If it fails the three second test, nothing else matters yet.</a:t>
            </a:r>
            <a:endParaRPr lang="en-US" sz="14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81</a:t>
            </a:r>
            <a:endParaRPr lang="en-US" sz="950" dirty="0"/>
          </a:p>
        </p:txBody>
      </p:sp>
      <p:sp>
        <p:nvSpPr>
          <p:cNvPr id="3" name="Text 1"/>
          <p:cNvSpPr/>
          <p:nvPr/>
        </p:nvSpPr>
        <p:spPr>
          <a:xfrm>
            <a:off x="-640080" y="182880"/>
            <a:ext cx="5486400" cy="4937760"/>
          </a:xfrm>
          <a:prstGeom prst="rect">
            <a:avLst/>
          </a:prstGeom>
          <a:noFill/>
          <a:ln/>
        </p:spPr>
        <p:txBody>
          <a:bodyPr wrap="square" lIns="0" tIns="0" rIns="0" bIns="0" rtlCol="0" anchor="ctr"/>
          <a:lstStyle/>
          <a:p>
            <a:pPr indent="0" marL="0">
              <a:buNone/>
            </a:pPr>
            <a:r>
              <a:rPr lang="en-US" sz="25000" i="1" dirty="0">
                <a:solidFill>
                  <a:srgbClr val="7C2B48"/>
                </a:solidFill>
                <a:latin typeface="Fraunces" pitchFamily="34" charset="0"/>
                <a:ea typeface="Fraunces" pitchFamily="34" charset="-122"/>
                <a:cs typeface="Fraunces" pitchFamily="34" charset="-120"/>
              </a:rPr>
              <a:t>05</a:t>
            </a:r>
            <a:endParaRPr lang="en-US" sz="25000" dirty="0"/>
          </a:p>
        </p:txBody>
      </p:sp>
      <p:sp>
        <p:nvSpPr>
          <p:cNvPr id="4" name="Shape 2"/>
          <p:cNvSpPr/>
          <p:nvPr/>
        </p:nvSpPr>
        <p:spPr>
          <a:xfrm>
            <a:off x="9235440" y="-1005840"/>
            <a:ext cx="4023360" cy="4023360"/>
          </a:xfrm>
          <a:prstGeom prst="ellipse">
            <a:avLst/>
          </a:prstGeom>
          <a:solidFill>
            <a:srgbClr val="A93F63">
              <a:alpha val="30000"/>
            </a:srgbClr>
          </a:solidFill>
          <a:ln/>
        </p:spPr>
      </p:sp>
      <p:sp>
        <p:nvSpPr>
          <p:cNvPr id="5" name="Text 3"/>
          <p:cNvSpPr/>
          <p:nvPr/>
        </p:nvSpPr>
        <p:spPr>
          <a:xfrm>
            <a:off x="3931920" y="1920240"/>
            <a:ext cx="7315200" cy="1737360"/>
          </a:xfrm>
          <a:prstGeom prst="rect">
            <a:avLst/>
          </a:prstGeom>
          <a:noFill/>
          <a:ln/>
        </p:spPr>
        <p:txBody>
          <a:bodyPr wrap="square" lIns="0" tIns="0" rIns="0" bIns="0" rtlCol="0" anchor="t"/>
          <a:lstStyle/>
          <a:p>
            <a:pPr indent="0" marL="0">
              <a:lnSpc>
                <a:spcPts val="4600"/>
              </a:lnSpc>
              <a:buNone/>
            </a:pPr>
            <a:r>
              <a:rPr lang="en-US" sz="4200" dirty="0">
                <a:solidFill>
                  <a:srgbClr val="FBF6EE"/>
                </a:solidFill>
                <a:latin typeface="Fraunces" pitchFamily="34" charset="0"/>
                <a:ea typeface="Fraunces" pitchFamily="34" charset="-122"/>
                <a:cs typeface="Fraunces" pitchFamily="34" charset="-120"/>
              </a:rPr>
              <a:t>Traffic that</a:t>
            </a:r>
            <a:endParaRPr lang="en-US" sz="4200" dirty="0"/>
          </a:p>
          <a:p>
            <a:pPr indent="0" marL="0">
              <a:lnSpc>
                <a:spcPts val="4600"/>
              </a:lnSpc>
              <a:buNone/>
            </a:pPr>
            <a:r>
              <a:rPr lang="en-US" sz="4200" dirty="0">
                <a:solidFill>
                  <a:srgbClr val="FBF6EE"/>
                </a:solidFill>
                <a:latin typeface="Fraunces" pitchFamily="34" charset="0"/>
                <a:ea typeface="Fraunces" pitchFamily="34" charset="-122"/>
                <a:cs typeface="Fraunces" pitchFamily="34" charset="-120"/>
              </a:rPr>
              <a:t>converts</a:t>
            </a:r>
            <a:endParaRPr lang="en-US" sz="4200" dirty="0"/>
          </a:p>
        </p:txBody>
      </p:sp>
      <p:sp>
        <p:nvSpPr>
          <p:cNvPr id="6" name="Text 4"/>
          <p:cNvSpPr/>
          <p:nvPr/>
        </p:nvSpPr>
        <p:spPr>
          <a:xfrm>
            <a:off x="3977640" y="3703320"/>
            <a:ext cx="7223760" cy="548640"/>
          </a:xfrm>
          <a:prstGeom prst="rect">
            <a:avLst/>
          </a:prstGeom>
          <a:noFill/>
          <a:ln/>
        </p:spPr>
        <p:txBody>
          <a:bodyPr wrap="square" lIns="0" tIns="0" rIns="0" bIns="0" rtlCol="0" anchor="t"/>
          <a:lstStyle/>
          <a:p>
            <a:pPr indent="0" marL="0">
              <a:buNone/>
            </a:pPr>
            <a:r>
              <a:rPr lang="en-US" sz="2600" dirty="0">
                <a:solidFill>
                  <a:srgbClr val="BC8A47"/>
                </a:solidFill>
                <a:latin typeface="Ephesis" pitchFamily="34" charset="0"/>
                <a:ea typeface="Ephesis" pitchFamily="34" charset="-122"/>
                <a:cs typeface="Ephesis" pitchFamily="34" charset="-120"/>
              </a:rPr>
              <a:t>last on purpose, not by accident</a:t>
            </a:r>
            <a:endParaRPr lang="en-US" sz="2600" dirty="0"/>
          </a:p>
        </p:txBody>
      </p:sp>
      <p:sp>
        <p:nvSpPr>
          <p:cNvPr id="7" name="Shape 5"/>
          <p:cNvSpPr/>
          <p:nvPr/>
        </p:nvSpPr>
        <p:spPr>
          <a:xfrm>
            <a:off x="4023360" y="4526280"/>
            <a:ext cx="146304" cy="146304"/>
          </a:xfrm>
          <a:prstGeom prst="ellipse">
            <a:avLst/>
          </a:prstGeom>
          <a:solidFill>
            <a:srgbClr val="A93F63"/>
          </a:solidFill>
          <a:ln/>
        </p:spPr>
      </p:sp>
      <p:sp>
        <p:nvSpPr>
          <p:cNvPr id="8" name="Text 6"/>
          <p:cNvSpPr/>
          <p:nvPr/>
        </p:nvSpPr>
        <p:spPr>
          <a:xfrm>
            <a:off x="4389120" y="441655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Why traffic comes last in this order</a:t>
            </a:r>
            <a:endParaRPr lang="en-US" sz="1300" dirty="0"/>
          </a:p>
        </p:txBody>
      </p:sp>
      <p:sp>
        <p:nvSpPr>
          <p:cNvPr id="9" name="Shape 7"/>
          <p:cNvSpPr/>
          <p:nvPr/>
        </p:nvSpPr>
        <p:spPr>
          <a:xfrm>
            <a:off x="4023360" y="5029200"/>
            <a:ext cx="146304" cy="146304"/>
          </a:xfrm>
          <a:prstGeom prst="ellipse">
            <a:avLst/>
          </a:prstGeom>
          <a:solidFill>
            <a:srgbClr val="A93F63"/>
          </a:solidFill>
          <a:ln/>
        </p:spPr>
      </p:sp>
      <p:sp>
        <p:nvSpPr>
          <p:cNvPr id="10" name="Text 8"/>
          <p:cNvSpPr/>
          <p:nvPr/>
        </p:nvSpPr>
        <p:spPr>
          <a:xfrm>
            <a:off x="4389120" y="491947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The kind worth having, and how to earn it</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0DCE2"/>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82</a:t>
            </a:r>
            <a:endParaRPr lang="en-US" sz="950" dirty="0"/>
          </a:p>
        </p:txBody>
      </p:sp>
      <p:sp>
        <p:nvSpPr>
          <p:cNvPr id="3" name="Text 1"/>
          <p:cNvSpPr/>
          <p:nvPr/>
        </p:nvSpPr>
        <p:spPr>
          <a:xfrm>
            <a:off x="1828800" y="1508760"/>
            <a:ext cx="8503920" cy="640080"/>
          </a:xfrm>
          <a:prstGeom prst="rect">
            <a:avLst/>
          </a:prstGeom>
          <a:noFill/>
          <a:ln/>
        </p:spPr>
        <p:txBody>
          <a:bodyPr wrap="square" lIns="0" tIns="0" rIns="0" bIns="0" rtlCol="0" anchor="t"/>
          <a:lstStyle/>
          <a:p>
            <a:pPr algn="ctr" indent="0" marL="0">
              <a:buNone/>
            </a:pPr>
            <a:r>
              <a:rPr lang="en-US" sz="3000" dirty="0">
                <a:solidFill>
                  <a:srgbClr val="BC8A47"/>
                </a:solidFill>
                <a:latin typeface="Ephesis" pitchFamily="34" charset="0"/>
                <a:ea typeface="Ephesis" pitchFamily="34" charset="-122"/>
                <a:cs typeface="Ephesis" pitchFamily="34" charset="-120"/>
              </a:rPr>
              <a:t>the last piece</a:t>
            </a:r>
            <a:endParaRPr lang="en-US" sz="3000" dirty="0"/>
          </a:p>
        </p:txBody>
      </p:sp>
      <p:sp>
        <p:nvSpPr>
          <p:cNvPr id="4" name="Text 2"/>
          <p:cNvSpPr/>
          <p:nvPr/>
        </p:nvSpPr>
        <p:spPr>
          <a:xfrm>
            <a:off x="1645920" y="2286000"/>
            <a:ext cx="8869680" cy="2194560"/>
          </a:xfrm>
          <a:prstGeom prst="rect">
            <a:avLst/>
          </a:prstGeom>
          <a:noFill/>
          <a:ln/>
        </p:spPr>
        <p:txBody>
          <a:bodyPr wrap="square" lIns="0" tIns="0" rIns="0" bIns="0" rtlCol="0" anchor="ctr"/>
          <a:lstStyle/>
          <a:p>
            <a:pPr algn="ctr" indent="0" marL="0">
              <a:lnSpc>
                <a:spcPts val="4600"/>
              </a:lnSpc>
              <a:buNone/>
            </a:pPr>
            <a:r>
              <a:rPr lang="en-US" sz="4000" dirty="0">
                <a:solidFill>
                  <a:srgbClr val="2E1F27"/>
                </a:solidFill>
                <a:latin typeface="Fraunces" pitchFamily="34" charset="0"/>
                <a:ea typeface="Fraunces" pitchFamily="34" charset="-122"/>
                <a:cs typeface="Fraunces" pitchFamily="34" charset="-120"/>
              </a:rPr>
              <a:t>Traffic is the </a:t>
            </a:r>
            <a:pPr algn="ctr" indent="0" marL="0">
              <a:lnSpc>
                <a:spcPts val="4600"/>
              </a:lnSpc>
              <a:buNone/>
            </a:pPr>
            <a:r>
              <a:rPr lang="en-US" sz="4000" i="1" dirty="0">
                <a:solidFill>
                  <a:srgbClr val="A93F63"/>
                </a:solidFill>
                <a:latin typeface="Fraunces" pitchFamily="34" charset="0"/>
                <a:ea typeface="Fraunces" pitchFamily="34" charset="-122"/>
                <a:cs typeface="Fraunces" pitchFamily="34" charset="-120"/>
              </a:rPr>
              <a:t>amplifier.</a:t>
            </a:r>
            <a:endParaRPr lang="en-US" sz="4000" dirty="0"/>
          </a:p>
        </p:txBody>
      </p:sp>
      <p:sp>
        <p:nvSpPr>
          <p:cNvPr id="5" name="Text 3"/>
          <p:cNvSpPr/>
          <p:nvPr/>
        </p:nvSpPr>
        <p:spPr>
          <a:xfrm>
            <a:off x="2743200" y="4709160"/>
            <a:ext cx="6675120" cy="548640"/>
          </a:xfrm>
          <a:prstGeom prst="rect">
            <a:avLst/>
          </a:prstGeom>
          <a:noFill/>
          <a:ln/>
        </p:spPr>
        <p:txBody>
          <a:bodyPr wrap="square" lIns="0" tIns="0" rIns="0" bIns="0" rtlCol="0" anchor="t"/>
          <a:lstStyle/>
          <a:p>
            <a:pPr algn="ctr" indent="0" marL="0">
              <a:buNone/>
            </a:pPr>
            <a:r>
              <a:rPr lang="en-US" sz="1350" dirty="0">
                <a:solidFill>
                  <a:srgbClr val="7C2B48"/>
                </a:solidFill>
                <a:latin typeface="Karla" pitchFamily="34" charset="0"/>
                <a:ea typeface="Karla" pitchFamily="34" charset="-122"/>
                <a:cs typeface="Karla" pitchFamily="34" charset="-120"/>
              </a:rPr>
              <a:t>It makes whatever you already have louder. Including nothing.</a:t>
            </a:r>
            <a:endParaRPr lang="en-US" sz="13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83</a:t>
            </a:r>
            <a:endParaRPr lang="en-US" sz="950" dirty="0"/>
          </a:p>
        </p:txBody>
      </p:sp>
      <p:sp>
        <p:nvSpPr>
          <p:cNvPr id="3" name="Text 1"/>
          <p:cNvSpPr/>
          <p:nvPr/>
        </p:nvSpPr>
        <p:spPr>
          <a:xfrm>
            <a:off x="-457200" y="1188720"/>
            <a:ext cx="13075920" cy="3657600"/>
          </a:xfrm>
          <a:prstGeom prst="rect">
            <a:avLst/>
          </a:prstGeom>
          <a:noFill/>
          <a:ln/>
        </p:spPr>
        <p:txBody>
          <a:bodyPr wrap="square" lIns="0" tIns="0" rIns="0" bIns="0" rtlCol="0" anchor="ctr"/>
          <a:lstStyle/>
          <a:p>
            <a:pPr algn="ctr" indent="0" marL="0">
              <a:buNone/>
            </a:pPr>
            <a:r>
              <a:rPr lang="en-US" sz="19000" i="1" dirty="0">
                <a:solidFill>
                  <a:srgbClr val="EADFD1"/>
                </a:solidFill>
                <a:latin typeface="Fraunces" pitchFamily="34" charset="0"/>
                <a:ea typeface="Fraunces" pitchFamily="34" charset="-122"/>
                <a:cs typeface="Fraunces" pitchFamily="34" charset="-120"/>
              </a:rPr>
              <a:t>last</a:t>
            </a:r>
            <a:endParaRPr lang="en-US" sz="19000" dirty="0"/>
          </a:p>
        </p:txBody>
      </p:sp>
      <p:sp>
        <p:nvSpPr>
          <p:cNvPr id="4" name="Text 2"/>
          <p:cNvSpPr/>
          <p:nvPr/>
        </p:nvSpPr>
        <p:spPr>
          <a:xfrm>
            <a:off x="777240" y="1371600"/>
            <a:ext cx="594360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WHY THIS MODULE IS LAST</a:t>
            </a:r>
            <a:endParaRPr lang="en-US" sz="1100" dirty="0"/>
          </a:p>
        </p:txBody>
      </p:sp>
      <p:sp>
        <p:nvSpPr>
          <p:cNvPr id="5" name="Text 3"/>
          <p:cNvSpPr/>
          <p:nvPr/>
        </p:nvSpPr>
        <p:spPr>
          <a:xfrm>
            <a:off x="777240" y="1783080"/>
            <a:ext cx="6035040" cy="155448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Because now it can actually pay you.</a:t>
            </a:r>
            <a:endParaRPr lang="en-US" sz="3300" dirty="0"/>
          </a:p>
        </p:txBody>
      </p:sp>
      <p:sp>
        <p:nvSpPr>
          <p:cNvPr id="6" name="Text 4"/>
          <p:cNvSpPr/>
          <p:nvPr/>
        </p:nvSpPr>
        <p:spPr>
          <a:xfrm>
            <a:off x="777240" y="3520440"/>
            <a:ext cx="5852160" cy="2468880"/>
          </a:xfrm>
          <a:prstGeom prst="rect">
            <a:avLst/>
          </a:prstGeom>
          <a:noFill/>
          <a:ln/>
        </p:spPr>
        <p:txBody>
          <a:bodyPr wrap="square" lIns="0" tIns="0" rIns="0" bIns="0" rtlCol="0" anchor="ctr"/>
          <a:lstStyle/>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If you had brought traffic to the site you had four modules ago, it would have arrived, looked around, and left.</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Now there is an offer, copy that sells it, and a page built to convert. The same hundred visitors are worth something entirely different.</a:t>
            </a:r>
            <a:endParaRPr lang="en-US" sz="1400" dirty="0"/>
          </a:p>
          <a:p>
            <a:pPr indent="0" marL="0">
              <a:lnSpc>
                <a:spcPts val="2300"/>
              </a:lnSpc>
              <a:spcAft>
                <a:spcPts val="1200"/>
              </a:spcAft>
              <a:buNone/>
            </a:pPr>
            <a:r>
              <a:rPr lang="en-US" sz="1400" dirty="0">
                <a:solidFill>
                  <a:srgbClr val="2E1F27"/>
                </a:solidFill>
                <a:latin typeface="Karla" pitchFamily="34" charset="0"/>
                <a:ea typeface="Karla" pitchFamily="34" charset="-122"/>
                <a:cs typeface="Karla" pitchFamily="34" charset="-120"/>
              </a:rPr>
              <a:t>Traffic is worth exactly as much as what it lands on.</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84</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THREE SOURCES</a:t>
            </a:r>
            <a:endParaRPr lang="en-US" sz="1100" dirty="0"/>
          </a:p>
        </p:txBody>
      </p:sp>
      <p:sp>
        <p:nvSpPr>
          <p:cNvPr id="4" name="Text 2"/>
          <p:cNvSpPr/>
          <p:nvPr/>
        </p:nvSpPr>
        <p:spPr>
          <a:xfrm>
            <a:off x="777240" y="1051560"/>
            <a:ext cx="8321040" cy="100584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Pick one and get good at it. Not all three.</a:t>
            </a:r>
            <a:endParaRPr lang="en-US" sz="3300" dirty="0"/>
          </a:p>
        </p:txBody>
      </p:sp>
      <p:sp>
        <p:nvSpPr>
          <p:cNvPr id="5" name="Shape 3"/>
          <p:cNvSpPr/>
          <p:nvPr/>
        </p:nvSpPr>
        <p:spPr>
          <a:xfrm>
            <a:off x="777240" y="2423160"/>
            <a:ext cx="3304032" cy="3017520"/>
          </a:xfrm>
          <a:prstGeom prst="roundRect">
            <a:avLst>
              <a:gd name="adj" fmla="val 4242"/>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6" name="Text 4"/>
          <p:cNvSpPr/>
          <p:nvPr/>
        </p:nvSpPr>
        <p:spPr>
          <a:xfrm>
            <a:off x="1106424" y="2807208"/>
            <a:ext cx="2645664"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Search</a:t>
            </a:r>
            <a:endParaRPr lang="en-US" sz="1900" dirty="0"/>
          </a:p>
        </p:txBody>
      </p:sp>
      <p:sp>
        <p:nvSpPr>
          <p:cNvPr id="7" name="Text 5"/>
          <p:cNvSpPr/>
          <p:nvPr/>
        </p:nvSpPr>
        <p:spPr>
          <a:xfrm>
            <a:off x="1106424" y="3749040"/>
            <a:ext cx="2645664" cy="146304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Slow to start, compounds forever. Best for problems people already type into Google.</a:t>
            </a:r>
            <a:endParaRPr lang="en-US" sz="1250" dirty="0"/>
          </a:p>
        </p:txBody>
      </p:sp>
      <p:sp>
        <p:nvSpPr>
          <p:cNvPr id="8" name="Shape 6"/>
          <p:cNvSpPr/>
          <p:nvPr/>
        </p:nvSpPr>
        <p:spPr>
          <a:xfrm>
            <a:off x="4428744" y="2926080"/>
            <a:ext cx="3304032" cy="3017520"/>
          </a:xfrm>
          <a:prstGeom prst="roundRect">
            <a:avLst>
              <a:gd name="adj" fmla="val 4242"/>
            </a:avLst>
          </a:prstGeom>
          <a:solidFill>
            <a:srgbClr val="2E1F27"/>
          </a:solidFill>
          <a:ln w="9525">
            <a:solidFill>
              <a:srgbClr val="2E1F27"/>
            </a:solidFill>
            <a:prstDash val="solid"/>
          </a:ln>
          <a:effectLst>
            <a:outerShdw sx="100000" sy="100000" kx="0" ky="0" algn="bl" rotWithShape="0" blurRad="203200" dist="63500" dir="5400000">
              <a:srgbClr val="2E1F27">
                <a:alpha val="15000"/>
              </a:srgbClr>
            </a:outerShdw>
          </a:effectLst>
        </p:spPr>
      </p:sp>
      <p:sp>
        <p:nvSpPr>
          <p:cNvPr id="9" name="Text 7"/>
          <p:cNvSpPr/>
          <p:nvPr/>
        </p:nvSpPr>
        <p:spPr>
          <a:xfrm>
            <a:off x="4757928" y="3310128"/>
            <a:ext cx="2645664" cy="822960"/>
          </a:xfrm>
          <a:prstGeom prst="rect">
            <a:avLst/>
          </a:prstGeom>
          <a:noFill/>
          <a:ln/>
        </p:spPr>
        <p:txBody>
          <a:bodyPr wrap="square" lIns="0" tIns="0" rIns="0" bIns="0" rtlCol="0" anchor="t"/>
          <a:lstStyle/>
          <a:p>
            <a:pPr indent="0" marL="0">
              <a:lnSpc>
                <a:spcPts val="2300"/>
              </a:lnSpc>
              <a:buNone/>
            </a:pPr>
            <a:r>
              <a:rPr lang="en-US" sz="1900" dirty="0">
                <a:solidFill>
                  <a:srgbClr val="FBF6EE"/>
                </a:solidFill>
                <a:latin typeface="Fraunces" pitchFamily="34" charset="0"/>
                <a:ea typeface="Fraunces" pitchFamily="34" charset="-122"/>
                <a:cs typeface="Fraunces" pitchFamily="34" charset="-120"/>
              </a:rPr>
              <a:t>Social</a:t>
            </a:r>
            <a:endParaRPr lang="en-US" sz="1900" dirty="0"/>
          </a:p>
        </p:txBody>
      </p:sp>
      <p:sp>
        <p:nvSpPr>
          <p:cNvPr id="10" name="Text 8"/>
          <p:cNvSpPr/>
          <p:nvPr/>
        </p:nvSpPr>
        <p:spPr>
          <a:xfrm>
            <a:off x="4757928" y="4251960"/>
            <a:ext cx="2645664" cy="1463040"/>
          </a:xfrm>
          <a:prstGeom prst="rect">
            <a:avLst/>
          </a:prstGeom>
          <a:noFill/>
          <a:ln/>
        </p:spPr>
        <p:txBody>
          <a:bodyPr wrap="square" lIns="0" tIns="0" rIns="0" bIns="0" rtlCol="0" anchor="t"/>
          <a:lstStyle/>
          <a:p>
            <a:pPr indent="0" marL="0">
              <a:lnSpc>
                <a:spcPts val="1900"/>
              </a:lnSpc>
              <a:buNone/>
            </a:pPr>
            <a:r>
              <a:rPr lang="en-US" sz="1250" dirty="0">
                <a:solidFill>
                  <a:srgbClr val="D8CBC3"/>
                </a:solidFill>
                <a:latin typeface="Karla" pitchFamily="34" charset="0"/>
                <a:ea typeface="Karla" pitchFamily="34" charset="-122"/>
                <a:cs typeface="Karla" pitchFamily="34" charset="-120"/>
              </a:rPr>
              <a:t>Fast and personal, and it stops when you stop. Best for building trust quickly.</a:t>
            </a:r>
            <a:endParaRPr lang="en-US" sz="1250" dirty="0"/>
          </a:p>
        </p:txBody>
      </p:sp>
      <p:sp>
        <p:nvSpPr>
          <p:cNvPr id="11" name="Shape 9"/>
          <p:cNvSpPr/>
          <p:nvPr/>
        </p:nvSpPr>
        <p:spPr>
          <a:xfrm>
            <a:off x="8080248" y="2679192"/>
            <a:ext cx="3304032" cy="3017520"/>
          </a:xfrm>
          <a:prstGeom prst="roundRect">
            <a:avLst>
              <a:gd name="adj" fmla="val 4242"/>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2" name="Text 10"/>
          <p:cNvSpPr/>
          <p:nvPr/>
        </p:nvSpPr>
        <p:spPr>
          <a:xfrm>
            <a:off x="8409432" y="3063240"/>
            <a:ext cx="2645664" cy="822960"/>
          </a:xfrm>
          <a:prstGeom prst="rect">
            <a:avLst/>
          </a:prstGeom>
          <a:noFill/>
          <a:ln/>
        </p:spPr>
        <p:txBody>
          <a:bodyPr wrap="square" lIns="0" tIns="0" rIns="0" bIns="0" rtlCol="0" anchor="t"/>
          <a:lstStyle/>
          <a:p>
            <a:pPr indent="0" marL="0">
              <a:lnSpc>
                <a:spcPts val="2300"/>
              </a:lnSpc>
              <a:buNone/>
            </a:pPr>
            <a:r>
              <a:rPr lang="en-US" sz="1900" dirty="0">
                <a:solidFill>
                  <a:srgbClr val="2E1F27"/>
                </a:solidFill>
                <a:latin typeface="Fraunces" pitchFamily="34" charset="0"/>
                <a:ea typeface="Fraunces" pitchFamily="34" charset="-122"/>
                <a:cs typeface="Fraunces" pitchFamily="34" charset="-120"/>
              </a:rPr>
              <a:t>Borrowed</a:t>
            </a:r>
            <a:endParaRPr lang="en-US" sz="1900" dirty="0"/>
          </a:p>
        </p:txBody>
      </p:sp>
      <p:sp>
        <p:nvSpPr>
          <p:cNvPr id="13" name="Text 11"/>
          <p:cNvSpPr/>
          <p:nvPr/>
        </p:nvSpPr>
        <p:spPr>
          <a:xfrm>
            <a:off x="8409432" y="4005072"/>
            <a:ext cx="2645664" cy="1463040"/>
          </a:xfrm>
          <a:prstGeom prst="rect">
            <a:avLst/>
          </a:prstGeom>
          <a:noFill/>
          <a:ln/>
        </p:spPr>
        <p:txBody>
          <a:bodyPr wrap="square" lIns="0" tIns="0" rIns="0" bIns="0" rtlCol="0" anchor="t"/>
          <a:lstStyle/>
          <a:p>
            <a:pPr indent="0" marL="0">
              <a:lnSpc>
                <a:spcPts val="1900"/>
              </a:lnSpc>
              <a:buNone/>
            </a:pPr>
            <a:r>
              <a:rPr lang="en-US" sz="1250" dirty="0">
                <a:solidFill>
                  <a:srgbClr val="6E5C63"/>
                </a:solidFill>
                <a:latin typeface="Karla" pitchFamily="34" charset="0"/>
                <a:ea typeface="Karla" pitchFamily="34" charset="-122"/>
                <a:cs typeface="Karla" pitchFamily="34" charset="-120"/>
              </a:rPr>
              <a:t>Podcasts, guest posts, collaborations. Someone else's trust, lent to you for an afternoon.</a:t>
            </a:r>
            <a:endParaRPr lang="en-US" sz="12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85</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THE PATH</a:t>
            </a:r>
            <a:endParaRPr lang="en-US" sz="1100" dirty="0"/>
          </a:p>
        </p:txBody>
      </p:sp>
      <p:sp>
        <p:nvSpPr>
          <p:cNvPr id="4" name="Text 2"/>
          <p:cNvSpPr/>
          <p:nvPr/>
        </p:nvSpPr>
        <p:spPr>
          <a:xfrm>
            <a:off x="777240" y="1051560"/>
            <a:ext cx="83210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How a stranger becomes a client.</a:t>
            </a:r>
            <a:endParaRPr lang="en-US" sz="3300" dirty="0"/>
          </a:p>
        </p:txBody>
      </p:sp>
      <p:sp>
        <p:nvSpPr>
          <p:cNvPr id="5" name="Shape 3"/>
          <p:cNvSpPr/>
          <p:nvPr/>
        </p:nvSpPr>
        <p:spPr>
          <a:xfrm>
            <a:off x="2103120" y="3429000"/>
            <a:ext cx="7955280" cy="0"/>
          </a:xfrm>
          <a:prstGeom prst="line">
            <a:avLst/>
          </a:prstGeom>
          <a:noFill/>
          <a:ln w="25400">
            <a:solidFill>
              <a:srgbClr val="E0D5C9"/>
            </a:solidFill>
            <a:prstDash val="solid"/>
          </a:ln>
        </p:spPr>
      </p:sp>
      <p:sp>
        <p:nvSpPr>
          <p:cNvPr id="6" name="Shape 4"/>
          <p:cNvSpPr/>
          <p:nvPr/>
        </p:nvSpPr>
        <p:spPr>
          <a:xfrm>
            <a:off x="1901952" y="3227832"/>
            <a:ext cx="402336" cy="402336"/>
          </a:xfrm>
          <a:prstGeom prst="ellipse">
            <a:avLst/>
          </a:prstGeom>
          <a:solidFill>
            <a:srgbClr val="2E1F27"/>
          </a:solidFill>
          <a:ln/>
        </p:spPr>
      </p:sp>
      <p:sp>
        <p:nvSpPr>
          <p:cNvPr id="7" name="Text 5"/>
          <p:cNvSpPr/>
          <p:nvPr/>
        </p:nvSpPr>
        <p:spPr>
          <a:xfrm>
            <a:off x="77724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first</a:t>
            </a:r>
            <a:endParaRPr lang="en-US" sz="2300" dirty="0"/>
          </a:p>
        </p:txBody>
      </p:sp>
      <p:sp>
        <p:nvSpPr>
          <p:cNvPr id="8" name="Text 6"/>
          <p:cNvSpPr/>
          <p:nvPr/>
        </p:nvSpPr>
        <p:spPr>
          <a:xfrm>
            <a:off x="77724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She finds a post</a:t>
            </a:r>
            <a:endParaRPr lang="en-US" sz="1700" dirty="0"/>
          </a:p>
        </p:txBody>
      </p:sp>
      <p:sp>
        <p:nvSpPr>
          <p:cNvPr id="9" name="Text 7"/>
          <p:cNvSpPr/>
          <p:nvPr/>
        </p:nvSpPr>
        <p:spPr>
          <a:xfrm>
            <a:off x="100584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Search or social brings her to something genuinely useful.</a:t>
            </a:r>
            <a:endParaRPr lang="en-US" sz="1150" dirty="0"/>
          </a:p>
        </p:txBody>
      </p:sp>
      <p:sp>
        <p:nvSpPr>
          <p:cNvPr id="10" name="Shape 8"/>
          <p:cNvSpPr/>
          <p:nvPr/>
        </p:nvSpPr>
        <p:spPr>
          <a:xfrm>
            <a:off x="4553712" y="3227832"/>
            <a:ext cx="402336" cy="402336"/>
          </a:xfrm>
          <a:prstGeom prst="ellipse">
            <a:avLst/>
          </a:prstGeom>
          <a:solidFill>
            <a:srgbClr val="2E1F27"/>
          </a:solidFill>
          <a:ln/>
        </p:spPr>
      </p:sp>
      <p:sp>
        <p:nvSpPr>
          <p:cNvPr id="11" name="Text 9"/>
          <p:cNvSpPr/>
          <p:nvPr/>
        </p:nvSpPr>
        <p:spPr>
          <a:xfrm>
            <a:off x="342900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then</a:t>
            </a:r>
            <a:endParaRPr lang="en-US" sz="2300" dirty="0"/>
          </a:p>
        </p:txBody>
      </p:sp>
      <p:sp>
        <p:nvSpPr>
          <p:cNvPr id="12" name="Text 10"/>
          <p:cNvSpPr/>
          <p:nvPr/>
        </p:nvSpPr>
        <p:spPr>
          <a:xfrm>
            <a:off x="342900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She joins the list</a:t>
            </a:r>
            <a:endParaRPr lang="en-US" sz="1700" dirty="0"/>
          </a:p>
        </p:txBody>
      </p:sp>
      <p:sp>
        <p:nvSpPr>
          <p:cNvPr id="13" name="Text 11"/>
          <p:cNvSpPr/>
          <p:nvPr/>
        </p:nvSpPr>
        <p:spPr>
          <a:xfrm>
            <a:off x="365760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The post points to a freebie worth her email address.</a:t>
            </a:r>
            <a:endParaRPr lang="en-US" sz="1150" dirty="0"/>
          </a:p>
        </p:txBody>
      </p:sp>
      <p:sp>
        <p:nvSpPr>
          <p:cNvPr id="14" name="Shape 12"/>
          <p:cNvSpPr/>
          <p:nvPr/>
        </p:nvSpPr>
        <p:spPr>
          <a:xfrm>
            <a:off x="7205472" y="3227832"/>
            <a:ext cx="402336" cy="402336"/>
          </a:xfrm>
          <a:prstGeom prst="ellipse">
            <a:avLst/>
          </a:prstGeom>
          <a:solidFill>
            <a:srgbClr val="2E1F27"/>
          </a:solidFill>
          <a:ln/>
        </p:spPr>
      </p:sp>
      <p:sp>
        <p:nvSpPr>
          <p:cNvPr id="15" name="Text 13"/>
          <p:cNvSpPr/>
          <p:nvPr/>
        </p:nvSpPr>
        <p:spPr>
          <a:xfrm>
            <a:off x="608076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then</a:t>
            </a:r>
            <a:endParaRPr lang="en-US" sz="2300" dirty="0"/>
          </a:p>
        </p:txBody>
      </p:sp>
      <p:sp>
        <p:nvSpPr>
          <p:cNvPr id="16" name="Text 14"/>
          <p:cNvSpPr/>
          <p:nvPr/>
        </p:nvSpPr>
        <p:spPr>
          <a:xfrm>
            <a:off x="608076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She gets to know you</a:t>
            </a:r>
            <a:endParaRPr lang="en-US" sz="1700" dirty="0"/>
          </a:p>
        </p:txBody>
      </p:sp>
      <p:sp>
        <p:nvSpPr>
          <p:cNvPr id="17" name="Text 15"/>
          <p:cNvSpPr/>
          <p:nvPr/>
        </p:nvSpPr>
        <p:spPr>
          <a:xfrm>
            <a:off x="630936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A few emails where you are helpful and human.</a:t>
            </a:r>
            <a:endParaRPr lang="en-US" sz="1150" dirty="0"/>
          </a:p>
        </p:txBody>
      </p:sp>
      <p:sp>
        <p:nvSpPr>
          <p:cNvPr id="18" name="Shape 16"/>
          <p:cNvSpPr/>
          <p:nvPr/>
        </p:nvSpPr>
        <p:spPr>
          <a:xfrm>
            <a:off x="9857232" y="3227832"/>
            <a:ext cx="402336" cy="402336"/>
          </a:xfrm>
          <a:prstGeom prst="ellipse">
            <a:avLst/>
          </a:prstGeom>
          <a:solidFill>
            <a:srgbClr val="A93F63"/>
          </a:solidFill>
          <a:ln/>
        </p:spPr>
      </p:sp>
      <p:sp>
        <p:nvSpPr>
          <p:cNvPr id="19" name="Text 17"/>
          <p:cNvSpPr/>
          <p:nvPr/>
        </p:nvSpPr>
        <p:spPr>
          <a:xfrm>
            <a:off x="873252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finally</a:t>
            </a:r>
            <a:endParaRPr lang="en-US" sz="2300" dirty="0"/>
          </a:p>
        </p:txBody>
      </p:sp>
      <p:sp>
        <p:nvSpPr>
          <p:cNvPr id="20" name="Text 18"/>
          <p:cNvSpPr/>
          <p:nvPr/>
        </p:nvSpPr>
        <p:spPr>
          <a:xfrm>
            <a:off x="873252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She buys</a:t>
            </a:r>
            <a:endParaRPr lang="en-US" sz="1700" dirty="0"/>
          </a:p>
        </p:txBody>
      </p:sp>
      <p:sp>
        <p:nvSpPr>
          <p:cNvPr id="21" name="Text 19"/>
          <p:cNvSpPr/>
          <p:nvPr/>
        </p:nvSpPr>
        <p:spPr>
          <a:xfrm>
            <a:off x="896112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When she is ready, the offer is right there and obvious.</a:t>
            </a:r>
            <a:endParaRPr lang="en-US" sz="11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86</a:t>
            </a:r>
            <a:endParaRPr lang="en-US" sz="950" dirty="0"/>
          </a:p>
        </p:txBody>
      </p:sp>
      <p:sp>
        <p:nvSpPr>
          <p:cNvPr id="3" name="Shape 1"/>
          <p:cNvSpPr/>
          <p:nvPr/>
        </p:nvSpPr>
        <p:spPr>
          <a:xfrm>
            <a:off x="-2103120" y="3566160"/>
            <a:ext cx="4937760" cy="4937760"/>
          </a:xfrm>
          <a:prstGeom prst="ellipse">
            <a:avLst/>
          </a:prstGeom>
          <a:solidFill>
            <a:srgbClr val="F4EBDE">
              <a:alpha val="70000"/>
            </a:srgbClr>
          </a:solidFill>
          <a:ln/>
        </p:spPr>
      </p:sp>
      <p:sp>
        <p:nvSpPr>
          <p:cNvPr id="4" name="Text 2"/>
          <p:cNvSpPr/>
          <p:nvPr/>
        </p:nvSpPr>
        <p:spPr>
          <a:xfrm>
            <a:off x="777240" y="1143000"/>
            <a:ext cx="51206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WHAT TO WRITE ABOUT</a:t>
            </a:r>
            <a:endParaRPr lang="en-US" sz="1100" dirty="0"/>
          </a:p>
        </p:txBody>
      </p:sp>
      <p:sp>
        <p:nvSpPr>
          <p:cNvPr id="5" name="Text 3"/>
          <p:cNvSpPr/>
          <p:nvPr/>
        </p:nvSpPr>
        <p:spPr>
          <a:xfrm>
            <a:off x="777240" y="1554480"/>
            <a:ext cx="4846320" cy="1828800"/>
          </a:xfrm>
          <a:prstGeom prst="rect">
            <a:avLst/>
          </a:prstGeom>
          <a:noFill/>
          <a:ln/>
        </p:spPr>
        <p:txBody>
          <a:bodyPr wrap="square" lIns="0" tIns="0" rIns="0" bIns="0" rtlCol="0" anchor="t"/>
          <a:lstStyle/>
          <a:p>
            <a:pPr indent="0" marL="0">
              <a:lnSpc>
                <a:spcPts val="3600"/>
              </a:lnSpc>
              <a:buNone/>
            </a:pPr>
            <a:r>
              <a:rPr lang="en-US" sz="3200" dirty="0">
                <a:solidFill>
                  <a:srgbClr val="2E1F27"/>
                </a:solidFill>
                <a:latin typeface="Fraunces" pitchFamily="34" charset="0"/>
                <a:ea typeface="Fraunces" pitchFamily="34" charset="-122"/>
                <a:cs typeface="Fraunces" pitchFamily="34" charset="-120"/>
              </a:rPr>
              <a:t>Content that leads somewhere, not content that just exists.</a:t>
            </a:r>
            <a:endParaRPr lang="en-US" sz="3200" dirty="0"/>
          </a:p>
        </p:txBody>
      </p:sp>
      <p:sp>
        <p:nvSpPr>
          <p:cNvPr id="6" name="Shape 4"/>
          <p:cNvSpPr/>
          <p:nvPr/>
        </p:nvSpPr>
        <p:spPr>
          <a:xfrm>
            <a:off x="5777179" y="2651760"/>
            <a:ext cx="137160" cy="137160"/>
          </a:xfrm>
          <a:prstGeom prst="ellipse">
            <a:avLst/>
          </a:prstGeom>
          <a:solidFill>
            <a:srgbClr val="BC8A47"/>
          </a:solidFill>
          <a:ln/>
        </p:spPr>
      </p:sp>
      <p:sp>
        <p:nvSpPr>
          <p:cNvPr id="7" name="Text 5"/>
          <p:cNvSpPr/>
          <p:nvPr/>
        </p:nvSpPr>
        <p:spPr>
          <a:xfrm>
            <a:off x="6188659" y="245973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The questions people ask right before they buy</a:t>
            </a:r>
            <a:endParaRPr lang="en-US" sz="1400" dirty="0"/>
          </a:p>
        </p:txBody>
      </p:sp>
      <p:sp>
        <p:nvSpPr>
          <p:cNvPr id="8" name="Shape 6"/>
          <p:cNvSpPr/>
          <p:nvPr/>
        </p:nvSpPr>
        <p:spPr>
          <a:xfrm>
            <a:off x="5777179" y="3429000"/>
            <a:ext cx="137160" cy="137160"/>
          </a:xfrm>
          <a:prstGeom prst="ellipse">
            <a:avLst/>
          </a:prstGeom>
          <a:solidFill>
            <a:srgbClr val="BC8A47"/>
          </a:solidFill>
          <a:ln/>
        </p:spPr>
      </p:sp>
      <p:sp>
        <p:nvSpPr>
          <p:cNvPr id="9" name="Text 7"/>
          <p:cNvSpPr/>
          <p:nvPr/>
        </p:nvSpPr>
        <p:spPr>
          <a:xfrm>
            <a:off x="6188659" y="323697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The mistake you see constantly, and what to do instead</a:t>
            </a:r>
            <a:endParaRPr lang="en-US" sz="1400" dirty="0"/>
          </a:p>
        </p:txBody>
      </p:sp>
      <p:sp>
        <p:nvSpPr>
          <p:cNvPr id="10" name="Shape 8"/>
          <p:cNvSpPr/>
          <p:nvPr/>
        </p:nvSpPr>
        <p:spPr>
          <a:xfrm>
            <a:off x="5777179" y="4206240"/>
            <a:ext cx="137160" cy="137160"/>
          </a:xfrm>
          <a:prstGeom prst="ellipse">
            <a:avLst/>
          </a:prstGeom>
          <a:solidFill>
            <a:srgbClr val="BC8A47"/>
          </a:solidFill>
          <a:ln/>
        </p:spPr>
      </p:sp>
      <p:sp>
        <p:nvSpPr>
          <p:cNvPr id="11" name="Text 9"/>
          <p:cNvSpPr/>
          <p:nvPr/>
        </p:nvSpPr>
        <p:spPr>
          <a:xfrm>
            <a:off x="6188659" y="401421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The behind the scenes of a real result</a:t>
            </a:r>
            <a:endParaRPr lang="en-US" sz="1400" dirty="0"/>
          </a:p>
        </p:txBody>
      </p:sp>
      <p:sp>
        <p:nvSpPr>
          <p:cNvPr id="12" name="Shape 10"/>
          <p:cNvSpPr/>
          <p:nvPr/>
        </p:nvSpPr>
        <p:spPr>
          <a:xfrm>
            <a:off x="5777179" y="4983480"/>
            <a:ext cx="137160" cy="137160"/>
          </a:xfrm>
          <a:prstGeom prst="ellipse">
            <a:avLst/>
          </a:prstGeom>
          <a:solidFill>
            <a:srgbClr val="BC8A47"/>
          </a:solidFill>
          <a:ln/>
        </p:spPr>
      </p:sp>
      <p:sp>
        <p:nvSpPr>
          <p:cNvPr id="13" name="Text 11"/>
          <p:cNvSpPr/>
          <p:nvPr/>
        </p:nvSpPr>
        <p:spPr>
          <a:xfrm>
            <a:off x="6188659" y="479145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The thing everyone in your niche says, and why you disagree</a:t>
            </a:r>
            <a:endParaRPr lang="en-US" sz="1400" dirty="0"/>
          </a:p>
        </p:txBody>
      </p:sp>
      <p:sp>
        <p:nvSpPr>
          <p:cNvPr id="14" name="Shape 12"/>
          <p:cNvSpPr/>
          <p:nvPr/>
        </p:nvSpPr>
        <p:spPr>
          <a:xfrm>
            <a:off x="5777179" y="5760720"/>
            <a:ext cx="137160" cy="137160"/>
          </a:xfrm>
          <a:prstGeom prst="ellipse">
            <a:avLst/>
          </a:prstGeom>
          <a:solidFill>
            <a:srgbClr val="BC8A47"/>
          </a:solidFill>
          <a:ln/>
        </p:spPr>
      </p:sp>
      <p:sp>
        <p:nvSpPr>
          <p:cNvPr id="15" name="Text 13"/>
          <p:cNvSpPr/>
          <p:nvPr/>
        </p:nvSpPr>
        <p:spPr>
          <a:xfrm>
            <a:off x="6188659" y="5568696"/>
            <a:ext cx="5104181" cy="548640"/>
          </a:xfrm>
          <a:prstGeom prst="rect">
            <a:avLst/>
          </a:prstGeom>
          <a:noFill/>
          <a:ln/>
        </p:spPr>
        <p:txBody>
          <a:bodyPr wrap="square" lIns="0" tIns="0" rIns="0" bIns="0" rtlCol="0" anchor="ctr"/>
          <a:lstStyle/>
          <a:p>
            <a:pPr indent="0" marL="0">
              <a:lnSpc>
                <a:spcPts val="1900"/>
              </a:lnSpc>
              <a:buNone/>
            </a:pPr>
            <a:r>
              <a:rPr lang="en-US" sz="1400" dirty="0">
                <a:solidFill>
                  <a:srgbClr val="2E1F27"/>
                </a:solidFill>
                <a:latin typeface="Karla" pitchFamily="34" charset="0"/>
                <a:ea typeface="Karla" pitchFamily="34" charset="-122"/>
                <a:cs typeface="Karla" pitchFamily="34" charset="-120"/>
              </a:rPr>
              <a:t>The step-by-step for the part they can do themselves</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87</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A93F63"/>
                </a:solidFill>
                <a:latin typeface="Karla" pitchFamily="34" charset="0"/>
                <a:ea typeface="Karla" pitchFamily="34" charset="-122"/>
                <a:cs typeface="Karla" pitchFamily="34" charset="-120"/>
              </a:rPr>
              <a:t>NOT ALL TRAFFIC IS EQUAL</a:t>
            </a:r>
            <a:endParaRPr lang="en-US" sz="1100" dirty="0"/>
          </a:p>
        </p:txBody>
      </p:sp>
      <p:sp>
        <p:nvSpPr>
          <p:cNvPr id="4" name="Text 2"/>
          <p:cNvSpPr/>
          <p:nvPr/>
        </p:nvSpPr>
        <p:spPr>
          <a:xfrm>
            <a:off x="777240" y="1051560"/>
            <a:ext cx="83210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Big numbers are not the goal. Right numbers are.</a:t>
            </a:r>
            <a:endParaRPr lang="en-US" sz="3300" dirty="0"/>
          </a:p>
        </p:txBody>
      </p:sp>
      <p:sp>
        <p:nvSpPr>
          <p:cNvPr id="5" name="Shape 3"/>
          <p:cNvSpPr/>
          <p:nvPr/>
        </p:nvSpPr>
        <p:spPr>
          <a:xfrm>
            <a:off x="777240" y="2468880"/>
            <a:ext cx="4572000" cy="2743200"/>
          </a:xfrm>
          <a:prstGeom prst="roundRect">
            <a:avLst>
              <a:gd name="adj" fmla="val 4667"/>
            </a:avLst>
          </a:prstGeom>
          <a:solidFill>
            <a:srgbClr val="FFFFFF"/>
          </a:solidFill>
          <a:ln w="9525">
            <a:solidFill>
              <a:srgbClr val="DCD2C7"/>
            </a:solidFill>
            <a:prstDash val="solid"/>
          </a:ln>
        </p:spPr>
      </p:sp>
      <p:sp>
        <p:nvSpPr>
          <p:cNvPr id="6" name="Text 4"/>
          <p:cNvSpPr/>
          <p:nvPr/>
        </p:nvSpPr>
        <p:spPr>
          <a:xfrm>
            <a:off x="1143000" y="2788920"/>
            <a:ext cx="3840480" cy="274320"/>
          </a:xfrm>
          <a:prstGeom prst="rect">
            <a:avLst/>
          </a:prstGeom>
          <a:noFill/>
          <a:ln/>
        </p:spPr>
        <p:txBody>
          <a:bodyPr wrap="square" lIns="0" tIns="0" rIns="0" bIns="0" rtlCol="0" anchor="t"/>
          <a:lstStyle/>
          <a:p>
            <a:pPr indent="0" marL="0">
              <a:buNone/>
            </a:pPr>
            <a:r>
              <a:rPr lang="en-US" sz="1050" b="1" spc="300" kern="0" dirty="0">
                <a:solidFill>
                  <a:srgbClr val="6E5C63"/>
                </a:solidFill>
                <a:latin typeface="Karla" pitchFamily="34" charset="0"/>
                <a:ea typeface="Karla" pitchFamily="34" charset="-122"/>
                <a:cs typeface="Karla" pitchFamily="34" charset="-120"/>
              </a:rPr>
              <a:t>FEELS GOOD</a:t>
            </a:r>
            <a:endParaRPr lang="en-US" sz="1050" dirty="0"/>
          </a:p>
        </p:txBody>
      </p:sp>
      <p:sp>
        <p:nvSpPr>
          <p:cNvPr id="7" name="Text 5"/>
          <p:cNvSpPr/>
          <p:nvPr/>
        </p:nvSpPr>
        <p:spPr>
          <a:xfrm>
            <a:off x="1143000" y="3246120"/>
            <a:ext cx="3840480" cy="173736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A viral post about nothing</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Visitors from the wrong country</a:t>
            </a:r>
            <a:endParaRPr lang="en-US" sz="1250" dirty="0"/>
          </a:p>
          <a:p>
            <a:pPr marL="342900" indent="-342900">
              <a:lnSpc>
                <a:spcPts val="1800"/>
              </a:lnSpc>
              <a:spcAft>
                <a:spcPts val="1100"/>
              </a:spcAft>
              <a:buSzPct val="100000"/>
              <a:buChar char="✕"/>
            </a:pPr>
            <a:r>
              <a:rPr lang="en-US" sz="1250" dirty="0">
                <a:solidFill>
                  <a:srgbClr val="6E5C63"/>
                </a:solidFill>
                <a:latin typeface="Karla" pitchFamily="34" charset="0"/>
                <a:ea typeface="Karla" pitchFamily="34" charset="-122"/>
                <a:cs typeface="Karla" pitchFamily="34" charset="-120"/>
              </a:rPr>
              <a:t>People who came for a free tool</a:t>
            </a:r>
            <a:endParaRPr lang="en-US" sz="1250" dirty="0"/>
          </a:p>
        </p:txBody>
      </p:sp>
      <p:sp>
        <p:nvSpPr>
          <p:cNvPr id="8" name="Text 6"/>
          <p:cNvSpPr/>
          <p:nvPr/>
        </p:nvSpPr>
        <p:spPr>
          <a:xfrm>
            <a:off x="5486400" y="3474720"/>
            <a:ext cx="1188720" cy="822960"/>
          </a:xfrm>
          <a:prstGeom prst="rect">
            <a:avLst/>
          </a:prstGeom>
          <a:noFill/>
          <a:ln/>
        </p:spPr>
        <p:txBody>
          <a:bodyPr wrap="square" lIns="0" tIns="0" rIns="0" bIns="0" rtlCol="0" anchor="t"/>
          <a:lstStyle/>
          <a:p>
            <a:pPr algn="ctr" indent="0" marL="0">
              <a:buNone/>
            </a:pPr>
            <a:r>
              <a:rPr lang="en-US" sz="4400" dirty="0">
                <a:solidFill>
                  <a:srgbClr val="A93F63"/>
                </a:solidFill>
                <a:latin typeface="Fraunces" pitchFamily="34" charset="0"/>
                <a:ea typeface="Fraunces" pitchFamily="34" charset="-122"/>
                <a:cs typeface="Fraunces" pitchFamily="34" charset="-120"/>
              </a:rPr>
              <a:t>→</a:t>
            </a:r>
            <a:endParaRPr lang="en-US" sz="4400" dirty="0"/>
          </a:p>
        </p:txBody>
      </p:sp>
      <p:sp>
        <p:nvSpPr>
          <p:cNvPr id="9" name="Shape 7"/>
          <p:cNvSpPr/>
          <p:nvPr/>
        </p:nvSpPr>
        <p:spPr>
          <a:xfrm>
            <a:off x="6812280" y="2468880"/>
            <a:ext cx="4572000" cy="2743200"/>
          </a:xfrm>
          <a:prstGeom prst="roundRect">
            <a:avLst>
              <a:gd name="adj" fmla="val 4667"/>
            </a:avLst>
          </a:prstGeom>
          <a:solidFill>
            <a:srgbClr val="2E1F27"/>
          </a:solidFill>
          <a:ln w="9525">
            <a:solidFill>
              <a:srgbClr val="2E1F27"/>
            </a:solidFill>
            <a:prstDash val="solid"/>
          </a:ln>
          <a:effectLst>
            <a:outerShdw sx="100000" sy="100000" kx="0" ky="0" algn="bl" rotWithShape="0" blurRad="203200" dist="63500" dir="5400000">
              <a:srgbClr val="2E1F27">
                <a:alpha val="15000"/>
              </a:srgbClr>
            </a:outerShdw>
          </a:effectLst>
        </p:spPr>
      </p:sp>
      <p:sp>
        <p:nvSpPr>
          <p:cNvPr id="10" name="Text 8"/>
          <p:cNvSpPr/>
          <p:nvPr/>
        </p:nvSpPr>
        <p:spPr>
          <a:xfrm>
            <a:off x="7178040" y="2788920"/>
            <a:ext cx="3840480" cy="274320"/>
          </a:xfrm>
          <a:prstGeom prst="rect">
            <a:avLst/>
          </a:prstGeom>
          <a:noFill/>
          <a:ln/>
        </p:spPr>
        <p:txBody>
          <a:bodyPr wrap="square" lIns="0" tIns="0" rIns="0" bIns="0" rtlCol="0" anchor="t"/>
          <a:lstStyle/>
          <a:p>
            <a:pPr indent="0" marL="0">
              <a:buNone/>
            </a:pPr>
            <a:r>
              <a:rPr lang="en-US" sz="1050" b="1" spc="300" kern="0" dirty="0">
                <a:solidFill>
                  <a:srgbClr val="BC8A47"/>
                </a:solidFill>
                <a:latin typeface="Karla" pitchFamily="34" charset="0"/>
                <a:ea typeface="Karla" pitchFamily="34" charset="-122"/>
                <a:cs typeface="Karla" pitchFamily="34" charset="-120"/>
              </a:rPr>
              <a:t>CONVERTS</a:t>
            </a:r>
            <a:endParaRPr lang="en-US" sz="1050" dirty="0"/>
          </a:p>
        </p:txBody>
      </p:sp>
      <p:sp>
        <p:nvSpPr>
          <p:cNvPr id="11" name="Text 9"/>
          <p:cNvSpPr/>
          <p:nvPr/>
        </p:nvSpPr>
        <p:spPr>
          <a:xfrm>
            <a:off x="7178040" y="3246120"/>
            <a:ext cx="3840480" cy="173736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A post answering a buying question</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Visitors who match your person</a:t>
            </a:r>
            <a:endParaRPr lang="en-US" sz="1250" dirty="0"/>
          </a:p>
          <a:p>
            <a:pPr marL="342900" indent="-342900">
              <a:lnSpc>
                <a:spcPts val="1800"/>
              </a:lnSpc>
              <a:spcAft>
                <a:spcPts val="1100"/>
              </a:spcAft>
              <a:buSzPct val="100000"/>
              <a:buChar char="✓"/>
            </a:pPr>
            <a:r>
              <a:rPr lang="en-US" sz="1250" dirty="0">
                <a:solidFill>
                  <a:srgbClr val="FBF6EE"/>
                </a:solidFill>
                <a:latin typeface="Karla" pitchFamily="34" charset="0"/>
                <a:ea typeface="Karla" pitchFamily="34" charset="-122"/>
                <a:cs typeface="Karla" pitchFamily="34" charset="-120"/>
              </a:rPr>
              <a:t>People who came for your topic</a:t>
            </a:r>
            <a:endParaRPr lang="en-US" sz="1250" dirty="0"/>
          </a:p>
        </p:txBody>
      </p:sp>
      <p:sp>
        <p:nvSpPr>
          <p:cNvPr id="12" name="Text 10"/>
          <p:cNvSpPr/>
          <p:nvPr/>
        </p:nvSpPr>
        <p:spPr>
          <a:xfrm>
            <a:off x="1828800" y="5440680"/>
            <a:ext cx="8503920" cy="548640"/>
          </a:xfrm>
          <a:prstGeom prst="rect">
            <a:avLst/>
          </a:prstGeom>
          <a:noFill/>
          <a:ln/>
        </p:spPr>
        <p:txBody>
          <a:bodyPr wrap="square" lIns="0" tIns="0" rIns="0" bIns="0" rtlCol="0" anchor="t"/>
          <a:lstStyle/>
          <a:p>
            <a:pPr algn="ctr" indent="0" marL="0">
              <a:buNone/>
            </a:pPr>
            <a:r>
              <a:rPr lang="en-US" sz="2600" dirty="0">
                <a:solidFill>
                  <a:srgbClr val="A93F63"/>
                </a:solidFill>
                <a:latin typeface="Ephesis" pitchFamily="34" charset="0"/>
                <a:ea typeface="Ephesis" pitchFamily="34" charset="-122"/>
                <a:cs typeface="Ephesis" pitchFamily="34" charset="-120"/>
              </a:rPr>
              <a:t>small and warm beats big and cold</a:t>
            </a:r>
            <a:endParaRPr lang="en-US" sz="26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88</a:t>
            </a:r>
            <a:endParaRPr lang="en-US" sz="950" dirty="0"/>
          </a:p>
        </p:txBody>
      </p:sp>
      <p:sp>
        <p:nvSpPr>
          <p:cNvPr id="3" name="Shape 1"/>
          <p:cNvSpPr/>
          <p:nvPr/>
        </p:nvSpPr>
        <p:spPr>
          <a:xfrm>
            <a:off x="0" y="0"/>
            <a:ext cx="5029200" cy="6858000"/>
          </a:xfrm>
          <a:prstGeom prst="rect">
            <a:avLst/>
          </a:prstGeom>
          <a:solidFill>
            <a:srgbClr val="2E1F27"/>
          </a:solidFill>
          <a:ln/>
        </p:spPr>
      </p:sp>
      <p:sp>
        <p:nvSpPr>
          <p:cNvPr id="4" name="Text 2"/>
          <p:cNvSpPr/>
          <p:nvPr/>
        </p:nvSpPr>
        <p:spPr>
          <a:xfrm>
            <a:off x="777240" y="1371600"/>
            <a:ext cx="384048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THE EMAIL LIST</a:t>
            </a:r>
            <a:endParaRPr lang="en-US" sz="1100" dirty="0"/>
          </a:p>
        </p:txBody>
      </p:sp>
      <p:sp>
        <p:nvSpPr>
          <p:cNvPr id="5" name="Text 3"/>
          <p:cNvSpPr/>
          <p:nvPr/>
        </p:nvSpPr>
        <p:spPr>
          <a:xfrm>
            <a:off x="777240" y="1828800"/>
            <a:ext cx="3931920" cy="2377440"/>
          </a:xfrm>
          <a:prstGeom prst="rect">
            <a:avLst/>
          </a:prstGeom>
          <a:noFill/>
          <a:ln/>
        </p:spPr>
        <p:txBody>
          <a:bodyPr wrap="square" lIns="0" tIns="0" rIns="0" bIns="0" rtlCol="0" anchor="t"/>
          <a:lstStyle/>
          <a:p>
            <a:pPr indent="0" marL="0">
              <a:lnSpc>
                <a:spcPts val="3600"/>
              </a:lnSpc>
              <a:buNone/>
            </a:pPr>
            <a:r>
              <a:rPr lang="en-US" sz="3200" dirty="0">
                <a:solidFill>
                  <a:srgbClr val="FBF6EE"/>
                </a:solidFill>
                <a:latin typeface="Fraunces" pitchFamily="34" charset="0"/>
                <a:ea typeface="Fraunces" pitchFamily="34" charset="-122"/>
                <a:cs typeface="Fraunces" pitchFamily="34" charset="-120"/>
              </a:rPr>
              <a:t>The only audience you actually own.</a:t>
            </a:r>
            <a:endParaRPr lang="en-US" sz="3200" dirty="0"/>
          </a:p>
        </p:txBody>
      </p:sp>
      <p:sp>
        <p:nvSpPr>
          <p:cNvPr id="6" name="Shape 4"/>
          <p:cNvSpPr/>
          <p:nvPr/>
        </p:nvSpPr>
        <p:spPr>
          <a:xfrm>
            <a:off x="5760720" y="1463040"/>
            <a:ext cx="512064" cy="512064"/>
          </a:xfrm>
          <a:prstGeom prst="ellipse">
            <a:avLst/>
          </a:prstGeom>
          <a:solidFill>
            <a:srgbClr val="A93F63"/>
          </a:solidFill>
          <a:ln/>
        </p:spPr>
      </p:sp>
      <p:sp>
        <p:nvSpPr>
          <p:cNvPr id="7" name="Text 5"/>
          <p:cNvSpPr/>
          <p:nvPr/>
        </p:nvSpPr>
        <p:spPr>
          <a:xfrm>
            <a:off x="5760720" y="146304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1</a:t>
            </a:r>
            <a:endParaRPr lang="en-US" sz="1500" dirty="0"/>
          </a:p>
        </p:txBody>
      </p:sp>
      <p:sp>
        <p:nvSpPr>
          <p:cNvPr id="8" name="Text 6"/>
          <p:cNvSpPr/>
          <p:nvPr/>
        </p:nvSpPr>
        <p:spPr>
          <a:xfrm>
            <a:off x="6492240" y="1444752"/>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Platforms lend</a:t>
            </a:r>
            <a:endParaRPr lang="en-US" sz="1900" dirty="0"/>
          </a:p>
        </p:txBody>
      </p:sp>
      <p:sp>
        <p:nvSpPr>
          <p:cNvPr id="9" name="Text 7"/>
          <p:cNvSpPr/>
          <p:nvPr/>
        </p:nvSpPr>
        <p:spPr>
          <a:xfrm>
            <a:off x="6492240" y="1874520"/>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Social lends you an audience and can take it back tomorrow. Search rankings move.</a:t>
            </a:r>
            <a:endParaRPr lang="en-US" sz="1250" dirty="0"/>
          </a:p>
        </p:txBody>
      </p:sp>
      <p:sp>
        <p:nvSpPr>
          <p:cNvPr id="10" name="Shape 8"/>
          <p:cNvSpPr/>
          <p:nvPr/>
        </p:nvSpPr>
        <p:spPr>
          <a:xfrm>
            <a:off x="5760720" y="2944368"/>
            <a:ext cx="512064" cy="512064"/>
          </a:xfrm>
          <a:prstGeom prst="ellipse">
            <a:avLst/>
          </a:prstGeom>
          <a:solidFill>
            <a:srgbClr val="A93F63"/>
          </a:solidFill>
          <a:ln/>
        </p:spPr>
      </p:sp>
      <p:sp>
        <p:nvSpPr>
          <p:cNvPr id="11" name="Text 9"/>
          <p:cNvSpPr/>
          <p:nvPr/>
        </p:nvSpPr>
        <p:spPr>
          <a:xfrm>
            <a:off x="5760720" y="294436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2</a:t>
            </a:r>
            <a:endParaRPr lang="en-US" sz="1500" dirty="0"/>
          </a:p>
        </p:txBody>
      </p:sp>
      <p:sp>
        <p:nvSpPr>
          <p:cNvPr id="12" name="Text 10"/>
          <p:cNvSpPr/>
          <p:nvPr/>
        </p:nvSpPr>
        <p:spPr>
          <a:xfrm>
            <a:off x="6492240" y="2926080"/>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You do not need many</a:t>
            </a:r>
            <a:endParaRPr lang="en-US" sz="1900" dirty="0"/>
          </a:p>
        </p:txBody>
      </p:sp>
      <p:sp>
        <p:nvSpPr>
          <p:cNvPr id="13" name="Text 11"/>
          <p:cNvSpPr/>
          <p:nvPr/>
        </p:nvSpPr>
        <p:spPr>
          <a:xfrm>
            <a:off x="6492240" y="3355848"/>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A few hundred people who want to hear from you will out-earn thousands of passive followers.</a:t>
            </a:r>
            <a:endParaRPr lang="en-US" sz="1250" dirty="0"/>
          </a:p>
        </p:txBody>
      </p:sp>
      <p:sp>
        <p:nvSpPr>
          <p:cNvPr id="14" name="Shape 12"/>
          <p:cNvSpPr/>
          <p:nvPr/>
        </p:nvSpPr>
        <p:spPr>
          <a:xfrm>
            <a:off x="5760720" y="4425696"/>
            <a:ext cx="512064" cy="512064"/>
          </a:xfrm>
          <a:prstGeom prst="ellipse">
            <a:avLst/>
          </a:prstGeom>
          <a:solidFill>
            <a:srgbClr val="A93F63"/>
          </a:solidFill>
          <a:ln/>
        </p:spPr>
      </p:sp>
      <p:sp>
        <p:nvSpPr>
          <p:cNvPr id="15" name="Text 13"/>
          <p:cNvSpPr/>
          <p:nvPr/>
        </p:nvSpPr>
        <p:spPr>
          <a:xfrm>
            <a:off x="5760720" y="442569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Karla" pitchFamily="34" charset="0"/>
                <a:ea typeface="Karla" pitchFamily="34" charset="-122"/>
                <a:cs typeface="Karla" pitchFamily="34" charset="-120"/>
              </a:rPr>
              <a:t>3</a:t>
            </a:r>
            <a:endParaRPr lang="en-US" sz="1500" dirty="0"/>
          </a:p>
        </p:txBody>
      </p:sp>
      <p:sp>
        <p:nvSpPr>
          <p:cNvPr id="16" name="Text 14"/>
          <p:cNvSpPr/>
          <p:nvPr/>
        </p:nvSpPr>
        <p:spPr>
          <a:xfrm>
            <a:off x="6492240" y="4407408"/>
            <a:ext cx="4892040" cy="411480"/>
          </a:xfrm>
          <a:prstGeom prst="rect">
            <a:avLst/>
          </a:prstGeom>
          <a:noFill/>
          <a:ln/>
        </p:spPr>
        <p:txBody>
          <a:bodyPr wrap="square" lIns="0" tIns="0" rIns="0" bIns="0" rtlCol="0" anchor="t"/>
          <a:lstStyle/>
          <a:p>
            <a:pPr indent="0" marL="0">
              <a:buNone/>
            </a:pPr>
            <a:r>
              <a:rPr lang="en-US" sz="1900" dirty="0">
                <a:solidFill>
                  <a:srgbClr val="2E1F27"/>
                </a:solidFill>
                <a:latin typeface="Fraunces" pitchFamily="34" charset="0"/>
                <a:ea typeface="Fraunces" pitchFamily="34" charset="-122"/>
                <a:cs typeface="Fraunces" pitchFamily="34" charset="-120"/>
              </a:rPr>
              <a:t>Then actually email</a:t>
            </a:r>
            <a:endParaRPr lang="en-US" sz="1900" dirty="0"/>
          </a:p>
        </p:txBody>
      </p:sp>
      <p:sp>
        <p:nvSpPr>
          <p:cNvPr id="17" name="Text 15"/>
          <p:cNvSpPr/>
          <p:nvPr/>
        </p:nvSpPr>
        <p:spPr>
          <a:xfrm>
            <a:off x="6492240" y="4837176"/>
            <a:ext cx="4892040" cy="822960"/>
          </a:xfrm>
          <a:prstGeom prst="rect">
            <a:avLst/>
          </a:prstGeom>
          <a:noFill/>
          <a:ln/>
        </p:spPr>
        <p:txBody>
          <a:bodyPr wrap="square" lIns="0" tIns="0" rIns="0" bIns="0" rtlCol="0" anchor="t"/>
          <a:lstStyle/>
          <a:p>
            <a:pPr indent="0" marL="0">
              <a:lnSpc>
                <a:spcPts val="1800"/>
              </a:lnSpc>
              <a:buNone/>
            </a:pPr>
            <a:r>
              <a:rPr lang="en-US" sz="1250" dirty="0">
                <a:solidFill>
                  <a:srgbClr val="6E5C63"/>
                </a:solidFill>
                <a:latin typeface="Karla" pitchFamily="34" charset="0"/>
                <a:ea typeface="Karla" pitchFamily="34" charset="-122"/>
                <a:cs typeface="Karla" pitchFamily="34" charset="-120"/>
              </a:rPr>
              <a:t>Give away something worth an email address, then send emails. The second half is where most people quit.</a:t>
            </a:r>
            <a:endParaRPr lang="en-US" sz="12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89</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TRAFFIC CHECKLIST</a:t>
            </a:r>
            <a:endParaRPr lang="en-US" sz="1100" dirty="0"/>
          </a:p>
        </p:txBody>
      </p:sp>
      <p:sp>
        <p:nvSpPr>
          <p:cNvPr id="4" name="Text 2"/>
          <p:cNvSpPr/>
          <p:nvPr/>
        </p:nvSpPr>
        <p:spPr>
          <a:xfrm>
            <a:off x="777240" y="1051560"/>
            <a:ext cx="7863840" cy="91440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Before you chase a single new visitor.</a:t>
            </a:r>
            <a:endParaRPr lang="en-US" sz="3300" dirty="0"/>
          </a:p>
        </p:txBody>
      </p:sp>
      <p:sp>
        <p:nvSpPr>
          <p:cNvPr id="5" name="Shape 3"/>
          <p:cNvSpPr/>
          <p:nvPr/>
        </p:nvSpPr>
        <p:spPr>
          <a:xfrm>
            <a:off x="777240" y="2514600"/>
            <a:ext cx="347472" cy="347472"/>
          </a:xfrm>
          <a:prstGeom prst="roundRect">
            <a:avLst>
              <a:gd name="adj" fmla="val 21053"/>
            </a:avLst>
          </a:prstGeom>
          <a:solidFill>
            <a:srgbClr val="2E1F27"/>
          </a:solidFill>
          <a:ln w="15875">
            <a:solidFill>
              <a:srgbClr val="A93F63"/>
            </a:solidFill>
            <a:prstDash val="solid"/>
          </a:ln>
        </p:spPr>
      </p:sp>
      <p:sp>
        <p:nvSpPr>
          <p:cNvPr id="6" name="Text 4"/>
          <p:cNvSpPr/>
          <p:nvPr/>
        </p:nvSpPr>
        <p:spPr>
          <a:xfrm>
            <a:off x="13441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There is an offer on my site worth arriving to</a:t>
            </a:r>
            <a:endParaRPr lang="en-US" sz="1300" dirty="0"/>
          </a:p>
        </p:txBody>
      </p:sp>
      <p:sp>
        <p:nvSpPr>
          <p:cNvPr id="7" name="Shape 5"/>
          <p:cNvSpPr/>
          <p:nvPr/>
        </p:nvSpPr>
        <p:spPr>
          <a:xfrm>
            <a:off x="777240" y="3538728"/>
            <a:ext cx="347472" cy="347472"/>
          </a:xfrm>
          <a:prstGeom prst="roundRect">
            <a:avLst>
              <a:gd name="adj" fmla="val 21053"/>
            </a:avLst>
          </a:prstGeom>
          <a:solidFill>
            <a:srgbClr val="2E1F27"/>
          </a:solidFill>
          <a:ln w="15875">
            <a:solidFill>
              <a:srgbClr val="A93F63"/>
            </a:solidFill>
            <a:prstDash val="solid"/>
          </a:ln>
        </p:spPr>
      </p:sp>
      <p:sp>
        <p:nvSpPr>
          <p:cNvPr id="8" name="Text 6"/>
          <p:cNvSpPr/>
          <p:nvPr/>
        </p:nvSpPr>
        <p:spPr>
          <a:xfrm>
            <a:off x="13441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have one freebie worth an email address</a:t>
            </a:r>
            <a:endParaRPr lang="en-US" sz="1300" dirty="0"/>
          </a:p>
        </p:txBody>
      </p:sp>
      <p:sp>
        <p:nvSpPr>
          <p:cNvPr id="9" name="Shape 7"/>
          <p:cNvSpPr/>
          <p:nvPr/>
        </p:nvSpPr>
        <p:spPr>
          <a:xfrm>
            <a:off x="777240" y="4562856"/>
            <a:ext cx="347472" cy="347472"/>
          </a:xfrm>
          <a:prstGeom prst="roundRect">
            <a:avLst>
              <a:gd name="adj" fmla="val 21053"/>
            </a:avLst>
          </a:prstGeom>
          <a:solidFill>
            <a:srgbClr val="2E1F27"/>
          </a:solidFill>
          <a:ln w="15875">
            <a:solidFill>
              <a:srgbClr val="A93F63"/>
            </a:solidFill>
            <a:prstDash val="solid"/>
          </a:ln>
        </p:spPr>
      </p:sp>
      <p:sp>
        <p:nvSpPr>
          <p:cNvPr id="10" name="Text 8"/>
          <p:cNvSpPr/>
          <p:nvPr/>
        </p:nvSpPr>
        <p:spPr>
          <a:xfrm>
            <a:off x="13441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Every post points somewhere specific</a:t>
            </a:r>
            <a:endParaRPr lang="en-US" sz="1300" dirty="0"/>
          </a:p>
        </p:txBody>
      </p:sp>
      <p:sp>
        <p:nvSpPr>
          <p:cNvPr id="11" name="Shape 9"/>
          <p:cNvSpPr/>
          <p:nvPr/>
        </p:nvSpPr>
        <p:spPr>
          <a:xfrm>
            <a:off x="6263640" y="2514600"/>
            <a:ext cx="347472" cy="347472"/>
          </a:xfrm>
          <a:prstGeom prst="roundRect">
            <a:avLst>
              <a:gd name="adj" fmla="val 21053"/>
            </a:avLst>
          </a:prstGeom>
          <a:solidFill>
            <a:srgbClr val="2E1F27"/>
          </a:solidFill>
          <a:ln w="15875">
            <a:solidFill>
              <a:srgbClr val="A93F63"/>
            </a:solidFill>
            <a:prstDash val="solid"/>
          </a:ln>
        </p:spPr>
      </p:sp>
      <p:sp>
        <p:nvSpPr>
          <p:cNvPr id="12" name="Text 10"/>
          <p:cNvSpPr/>
          <p:nvPr/>
        </p:nvSpPr>
        <p:spPr>
          <a:xfrm>
            <a:off x="68305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have chosen one traffic source to focus on</a:t>
            </a:r>
            <a:endParaRPr lang="en-US" sz="1300" dirty="0"/>
          </a:p>
        </p:txBody>
      </p:sp>
      <p:sp>
        <p:nvSpPr>
          <p:cNvPr id="13" name="Shape 11"/>
          <p:cNvSpPr/>
          <p:nvPr/>
        </p:nvSpPr>
        <p:spPr>
          <a:xfrm>
            <a:off x="6263640" y="3538728"/>
            <a:ext cx="347472" cy="347472"/>
          </a:xfrm>
          <a:prstGeom prst="roundRect">
            <a:avLst>
              <a:gd name="adj" fmla="val 21053"/>
            </a:avLst>
          </a:prstGeom>
          <a:solidFill>
            <a:srgbClr val="2E1F27"/>
          </a:solidFill>
          <a:ln w="15875">
            <a:solidFill>
              <a:srgbClr val="A93F63"/>
            </a:solidFill>
            <a:prstDash val="solid"/>
          </a:ln>
        </p:spPr>
      </p:sp>
      <p:sp>
        <p:nvSpPr>
          <p:cNvPr id="14" name="Text 12"/>
          <p:cNvSpPr/>
          <p:nvPr/>
        </p:nvSpPr>
        <p:spPr>
          <a:xfrm>
            <a:off x="68305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email my list at least twice a month</a:t>
            </a:r>
            <a:endParaRPr lang="en-US" sz="1300" dirty="0"/>
          </a:p>
        </p:txBody>
      </p:sp>
      <p:sp>
        <p:nvSpPr>
          <p:cNvPr id="15" name="Shape 13"/>
          <p:cNvSpPr/>
          <p:nvPr/>
        </p:nvSpPr>
        <p:spPr>
          <a:xfrm>
            <a:off x="6263640" y="4562856"/>
            <a:ext cx="347472" cy="347472"/>
          </a:xfrm>
          <a:prstGeom prst="roundRect">
            <a:avLst>
              <a:gd name="adj" fmla="val 21053"/>
            </a:avLst>
          </a:prstGeom>
          <a:solidFill>
            <a:srgbClr val="2E1F27"/>
          </a:solidFill>
          <a:ln w="15875">
            <a:solidFill>
              <a:srgbClr val="A93F63"/>
            </a:solidFill>
            <a:prstDash val="solid"/>
          </a:ln>
        </p:spPr>
      </p:sp>
      <p:sp>
        <p:nvSpPr>
          <p:cNvPr id="16" name="Text 14"/>
          <p:cNvSpPr/>
          <p:nvPr/>
        </p:nvSpPr>
        <p:spPr>
          <a:xfrm>
            <a:off x="68305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know which post brings the best readers</a:t>
            </a:r>
            <a:endParaRPr lang="en-US" sz="13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0DCE2"/>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90</a:t>
            </a:r>
            <a:endParaRPr lang="en-US" sz="950" dirty="0"/>
          </a:p>
        </p:txBody>
      </p:sp>
      <p:sp>
        <p:nvSpPr>
          <p:cNvPr id="3" name="Shape 1"/>
          <p:cNvSpPr/>
          <p:nvPr/>
        </p:nvSpPr>
        <p:spPr>
          <a:xfrm>
            <a:off x="-2194560" y="-2194560"/>
            <a:ext cx="5852160" cy="5852160"/>
          </a:xfrm>
          <a:prstGeom prst="ellipse">
            <a:avLst/>
          </a:prstGeom>
          <a:solidFill>
            <a:srgbClr val="FBF6EE">
              <a:alpha val="55000"/>
            </a:srgbClr>
          </a:solidFill>
          <a:ln/>
        </p:spPr>
      </p:sp>
      <p:sp>
        <p:nvSpPr>
          <p:cNvPr id="4" name="Shape 2"/>
          <p:cNvSpPr/>
          <p:nvPr/>
        </p:nvSpPr>
        <p:spPr>
          <a:xfrm>
            <a:off x="10149840" y="4663440"/>
            <a:ext cx="4206240" cy="4206240"/>
          </a:xfrm>
          <a:prstGeom prst="ellipse">
            <a:avLst/>
          </a:prstGeom>
          <a:solidFill>
            <a:srgbClr val="FBF6EE">
              <a:alpha val="38000"/>
            </a:srgbClr>
          </a:solidFill>
          <a:ln/>
        </p:spPr>
      </p:sp>
      <p:sp>
        <p:nvSpPr>
          <p:cNvPr id="5" name="Text 3"/>
          <p:cNvSpPr/>
          <p:nvPr/>
        </p:nvSpPr>
        <p:spPr>
          <a:xfrm>
            <a:off x="868680" y="1051560"/>
            <a:ext cx="2011680" cy="2011680"/>
          </a:xfrm>
          <a:prstGeom prst="rect">
            <a:avLst/>
          </a:prstGeom>
          <a:noFill/>
          <a:ln/>
        </p:spPr>
        <p:txBody>
          <a:bodyPr wrap="square" lIns="0" tIns="0" rIns="0" bIns="0" rtlCol="0" anchor="t"/>
          <a:lstStyle/>
          <a:p>
            <a:pPr indent="0" marL="0">
              <a:buNone/>
            </a:pPr>
            <a:r>
              <a:rPr lang="en-US" sz="13200" i="1" dirty="0">
                <a:solidFill>
                  <a:srgbClr val="A93F63"/>
                </a:solidFill>
                <a:latin typeface="Fraunces" pitchFamily="34" charset="0"/>
                <a:ea typeface="Fraunces" pitchFamily="34" charset="-122"/>
                <a:cs typeface="Fraunces" pitchFamily="34" charset="-120"/>
              </a:rPr>
              <a:t>“</a:t>
            </a:r>
            <a:endParaRPr lang="en-US" sz="13200" dirty="0"/>
          </a:p>
        </p:txBody>
      </p:sp>
      <p:sp>
        <p:nvSpPr>
          <p:cNvPr id="6" name="Text 4"/>
          <p:cNvSpPr/>
          <p:nvPr/>
        </p:nvSpPr>
        <p:spPr>
          <a:xfrm>
            <a:off x="2514600" y="1965960"/>
            <a:ext cx="8229600" cy="2651760"/>
          </a:xfrm>
          <a:prstGeom prst="rect">
            <a:avLst/>
          </a:prstGeom>
          <a:noFill/>
          <a:ln/>
        </p:spPr>
        <p:txBody>
          <a:bodyPr wrap="square" lIns="0" tIns="0" rIns="0" bIns="0" rtlCol="0" anchor="ctr"/>
          <a:lstStyle/>
          <a:p>
            <a:pPr indent="0" marL="0">
              <a:lnSpc>
                <a:spcPts val="3700"/>
              </a:lnSpc>
              <a:buNone/>
            </a:pPr>
            <a:r>
              <a:rPr lang="en-US" sz="2900" i="1" dirty="0">
                <a:solidFill>
                  <a:srgbClr val="2E1F27"/>
                </a:solidFill>
                <a:latin typeface="Fraunces" pitchFamily="34" charset="0"/>
                <a:ea typeface="Fraunces" pitchFamily="34" charset="-122"/>
                <a:cs typeface="Fraunces" pitchFamily="34" charset="-120"/>
              </a:rPr>
              <a:t>Traffic is worth exactly as much as what it lands on. Ten thousand visitors times nothing is still nothing.</a:t>
            </a:r>
            <a:endParaRPr lang="en-US" sz="2900" dirty="0"/>
          </a:p>
        </p:txBody>
      </p:sp>
      <p:sp>
        <p:nvSpPr>
          <p:cNvPr id="7" name="Text 5"/>
          <p:cNvSpPr/>
          <p:nvPr/>
        </p:nvSpPr>
        <p:spPr>
          <a:xfrm>
            <a:off x="2514600" y="4846320"/>
            <a:ext cx="8229600" cy="365760"/>
          </a:xfrm>
          <a:prstGeom prst="rect">
            <a:avLst/>
          </a:prstGeom>
          <a:noFill/>
          <a:ln/>
        </p:spPr>
        <p:txBody>
          <a:bodyPr wrap="square" lIns="0" tIns="0" rIns="0" bIns="0" rtlCol="0" anchor="t"/>
          <a:lstStyle/>
          <a:p>
            <a:pPr indent="0" marL="0">
              <a:buNone/>
            </a:pPr>
            <a:r>
              <a:rPr lang="en-US" sz="1100" b="1" spc="400" kern="0" dirty="0">
                <a:solidFill>
                  <a:srgbClr val="7C2B48"/>
                </a:solidFill>
                <a:latin typeface="Karla" pitchFamily="34" charset="0"/>
                <a:ea typeface="Karla" pitchFamily="34" charset="-122"/>
                <a:cs typeface="Karla" pitchFamily="34" charset="-120"/>
              </a:rPr>
              <a:t>THE LAST LESSON</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91</a:t>
            </a:r>
            <a:endParaRPr lang="en-US" sz="950" dirty="0"/>
          </a:p>
        </p:txBody>
      </p:sp>
      <p:sp>
        <p:nvSpPr>
          <p:cNvPr id="3" name="Shape 1"/>
          <p:cNvSpPr/>
          <p:nvPr/>
        </p:nvSpPr>
        <p:spPr>
          <a:xfrm>
            <a:off x="0" y="0"/>
            <a:ext cx="12161520" cy="2331720"/>
          </a:xfrm>
          <a:prstGeom prst="rect">
            <a:avLst/>
          </a:prstGeom>
          <a:solidFill>
            <a:srgbClr val="A93F63"/>
          </a:solidFill>
          <a:ln/>
        </p:spPr>
      </p:sp>
      <p:sp>
        <p:nvSpPr>
          <p:cNvPr id="4" name="Text 2"/>
          <p:cNvSpPr/>
          <p:nvPr/>
        </p:nvSpPr>
        <p:spPr>
          <a:xfrm>
            <a:off x="777240" y="713232"/>
            <a:ext cx="10607040" cy="274320"/>
          </a:xfrm>
          <a:prstGeom prst="rect">
            <a:avLst/>
          </a:prstGeom>
          <a:noFill/>
          <a:ln/>
        </p:spPr>
        <p:txBody>
          <a:bodyPr wrap="square" lIns="0" tIns="0" rIns="0" bIns="0" rtlCol="0" anchor="t"/>
          <a:lstStyle/>
          <a:p>
            <a:pPr indent="0" marL="0">
              <a:buNone/>
            </a:pPr>
            <a:r>
              <a:rPr lang="en-US" sz="1100" b="1" spc="350" kern="0" dirty="0">
                <a:solidFill>
                  <a:srgbClr val="F6DCE5"/>
                </a:solidFill>
                <a:latin typeface="Karla" pitchFamily="34" charset="0"/>
                <a:ea typeface="Karla" pitchFamily="34" charset="-122"/>
                <a:cs typeface="Karla" pitchFamily="34" charset="-120"/>
              </a:rPr>
              <a:t>YOUR TURN</a:t>
            </a:r>
            <a:endParaRPr lang="en-US" sz="1100" dirty="0"/>
          </a:p>
        </p:txBody>
      </p:sp>
      <p:sp>
        <p:nvSpPr>
          <p:cNvPr id="5" name="Text 3"/>
          <p:cNvSpPr/>
          <p:nvPr/>
        </p:nvSpPr>
        <p:spPr>
          <a:xfrm>
            <a:off x="777240" y="1115568"/>
            <a:ext cx="7406640" cy="100584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Choose one.</a:t>
            </a:r>
            <a:endParaRPr lang="en-US" sz="3300" dirty="0"/>
          </a:p>
        </p:txBody>
      </p:sp>
      <p:sp>
        <p:nvSpPr>
          <p:cNvPr id="6" name="Shape 4"/>
          <p:cNvSpPr/>
          <p:nvPr/>
        </p:nvSpPr>
        <p:spPr>
          <a:xfrm>
            <a:off x="777240" y="2743200"/>
            <a:ext cx="10607040" cy="3291840"/>
          </a:xfrm>
          <a:prstGeom prst="roundRect">
            <a:avLst>
              <a:gd name="adj" fmla="val 3889"/>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7" name="Text 5"/>
          <p:cNvSpPr/>
          <p:nvPr/>
        </p:nvSpPr>
        <p:spPr>
          <a:xfrm>
            <a:off x="1234440" y="3063240"/>
            <a:ext cx="9692640" cy="777240"/>
          </a:xfrm>
          <a:prstGeom prst="rect">
            <a:avLst/>
          </a:prstGeom>
          <a:noFill/>
          <a:ln/>
        </p:spPr>
        <p:txBody>
          <a:bodyPr wrap="square" lIns="0" tIns="0" rIns="0" bIns="0" rtlCol="0" anchor="t"/>
          <a:lstStyle/>
          <a:p>
            <a:pPr indent="0" marL="0">
              <a:lnSpc>
                <a:spcPts val="2300"/>
              </a:lnSpc>
              <a:buNone/>
            </a:pPr>
            <a:r>
              <a:rPr lang="en-US" sz="1900" i="1" dirty="0">
                <a:solidFill>
                  <a:srgbClr val="A93F63"/>
                </a:solidFill>
                <a:latin typeface="Fraunces" pitchFamily="34" charset="0"/>
                <a:ea typeface="Fraunces" pitchFamily="34" charset="-122"/>
                <a:cs typeface="Fraunces" pitchFamily="34" charset="-120"/>
              </a:rPr>
              <a:t>Which single traffic source are you committing to for the next 90 days, and what will you publish there?</a:t>
            </a:r>
            <a:endParaRPr lang="en-US" sz="1900" dirty="0"/>
          </a:p>
        </p:txBody>
      </p:sp>
      <p:sp>
        <p:nvSpPr>
          <p:cNvPr id="8" name="Shape 6"/>
          <p:cNvSpPr/>
          <p:nvPr/>
        </p:nvSpPr>
        <p:spPr>
          <a:xfrm>
            <a:off x="1234440" y="3977640"/>
            <a:ext cx="9692640" cy="0"/>
          </a:xfrm>
          <a:prstGeom prst="line">
            <a:avLst/>
          </a:prstGeom>
          <a:noFill/>
          <a:ln w="12700">
            <a:solidFill>
              <a:srgbClr val="DCD2C7"/>
            </a:solidFill>
            <a:prstDash val="dash"/>
          </a:ln>
        </p:spPr>
      </p:sp>
      <p:sp>
        <p:nvSpPr>
          <p:cNvPr id="9" name="Shape 7"/>
          <p:cNvSpPr/>
          <p:nvPr/>
        </p:nvSpPr>
        <p:spPr>
          <a:xfrm>
            <a:off x="1234440" y="4480560"/>
            <a:ext cx="9692640" cy="0"/>
          </a:xfrm>
          <a:prstGeom prst="line">
            <a:avLst/>
          </a:prstGeom>
          <a:noFill/>
          <a:ln w="12700">
            <a:solidFill>
              <a:srgbClr val="DCD2C7"/>
            </a:solidFill>
            <a:prstDash val="dash"/>
          </a:ln>
        </p:spPr>
      </p:sp>
      <p:sp>
        <p:nvSpPr>
          <p:cNvPr id="10" name="Shape 8"/>
          <p:cNvSpPr/>
          <p:nvPr/>
        </p:nvSpPr>
        <p:spPr>
          <a:xfrm>
            <a:off x="1234440" y="4983480"/>
            <a:ext cx="9692640" cy="0"/>
          </a:xfrm>
          <a:prstGeom prst="line">
            <a:avLst/>
          </a:prstGeom>
          <a:noFill/>
          <a:ln w="12700">
            <a:solidFill>
              <a:srgbClr val="DCD2C7"/>
            </a:solidFill>
            <a:prstDash val="dash"/>
          </a:ln>
        </p:spPr>
      </p:sp>
      <p:sp>
        <p:nvSpPr>
          <p:cNvPr id="11" name="Shape 9"/>
          <p:cNvSpPr/>
          <p:nvPr/>
        </p:nvSpPr>
        <p:spPr>
          <a:xfrm>
            <a:off x="1234440" y="5486400"/>
            <a:ext cx="9692640" cy="0"/>
          </a:xfrm>
          <a:prstGeom prst="line">
            <a:avLst/>
          </a:prstGeom>
          <a:noFill/>
          <a:ln w="12700">
            <a:solidFill>
              <a:srgbClr val="DCD2C7"/>
            </a:solidFill>
            <a:prstDash val="dash"/>
          </a:ln>
        </p:spPr>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7C2B48"/>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92</a:t>
            </a:r>
            <a:endParaRPr lang="en-US" sz="950" dirty="0"/>
          </a:p>
        </p:txBody>
      </p:sp>
      <p:sp>
        <p:nvSpPr>
          <p:cNvPr id="3" name="Text 1"/>
          <p:cNvSpPr/>
          <p:nvPr/>
        </p:nvSpPr>
        <p:spPr>
          <a:xfrm>
            <a:off x="777240" y="685800"/>
            <a:ext cx="10607040" cy="274320"/>
          </a:xfrm>
          <a:prstGeom prst="rect">
            <a:avLst/>
          </a:prstGeom>
          <a:noFill/>
          <a:ln/>
        </p:spPr>
        <p:txBody>
          <a:bodyPr wrap="square" lIns="0" tIns="0" rIns="0" bIns="0" rtlCol="0" anchor="t"/>
          <a:lstStyle/>
          <a:p>
            <a:pPr indent="0" marL="0">
              <a:buNone/>
            </a:pPr>
            <a:r>
              <a:rPr lang="en-US" sz="1100" b="1" spc="300" kern="0" dirty="0">
                <a:solidFill>
                  <a:srgbClr val="F0DCE2"/>
                </a:solidFill>
                <a:latin typeface="Karla" pitchFamily="34" charset="0"/>
                <a:ea typeface="Karla" pitchFamily="34" charset="-122"/>
                <a:cs typeface="Karla" pitchFamily="34" charset="-120"/>
              </a:rPr>
              <a:t>MODULE FIVE</a:t>
            </a:r>
            <a:endParaRPr lang="en-US" sz="1100" dirty="0"/>
          </a:p>
        </p:txBody>
      </p:sp>
      <p:sp>
        <p:nvSpPr>
          <p:cNvPr id="4" name="Text 2"/>
          <p:cNvSpPr/>
          <p:nvPr/>
        </p:nvSpPr>
        <p:spPr>
          <a:xfrm>
            <a:off x="777240" y="1097280"/>
            <a:ext cx="7863840" cy="914400"/>
          </a:xfrm>
          <a:prstGeom prst="rect">
            <a:avLst/>
          </a:prstGeom>
          <a:noFill/>
          <a:ln/>
        </p:spPr>
        <p:txBody>
          <a:bodyPr wrap="square" lIns="0" tIns="0" rIns="0" bIns="0" rtlCol="0" anchor="t"/>
          <a:lstStyle/>
          <a:p>
            <a:pPr indent="0" marL="0">
              <a:lnSpc>
                <a:spcPts val="3800"/>
              </a:lnSpc>
              <a:buNone/>
            </a:pPr>
            <a:r>
              <a:rPr lang="en-US" sz="3400" dirty="0">
                <a:solidFill>
                  <a:srgbClr val="FBF6EE"/>
                </a:solidFill>
                <a:latin typeface="Fraunces" pitchFamily="34" charset="0"/>
                <a:ea typeface="Fraunces" pitchFamily="34" charset="-122"/>
                <a:cs typeface="Fraunces" pitchFamily="34" charset="-120"/>
              </a:rPr>
              <a:t>What to take with you.</a:t>
            </a:r>
            <a:endParaRPr lang="en-US" sz="3400" dirty="0"/>
          </a:p>
        </p:txBody>
      </p:sp>
      <p:sp>
        <p:nvSpPr>
          <p:cNvPr id="5" name="Text 3"/>
          <p:cNvSpPr/>
          <p:nvPr/>
        </p:nvSpPr>
        <p:spPr>
          <a:xfrm>
            <a:off x="777240" y="24048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01</a:t>
            </a:r>
            <a:endParaRPr lang="en-US" sz="3400" dirty="0"/>
          </a:p>
        </p:txBody>
      </p:sp>
      <p:sp>
        <p:nvSpPr>
          <p:cNvPr id="6" name="Text 4"/>
          <p:cNvSpPr/>
          <p:nvPr/>
        </p:nvSpPr>
        <p:spPr>
          <a:xfrm>
            <a:off x="1920240" y="24963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Traffic amplifies what is already there, good or bad.</a:t>
            </a:r>
            <a:endParaRPr lang="en-US" sz="1450" dirty="0"/>
          </a:p>
        </p:txBody>
      </p:sp>
      <p:sp>
        <p:nvSpPr>
          <p:cNvPr id="7" name="Text 5"/>
          <p:cNvSpPr/>
          <p:nvPr/>
        </p:nvSpPr>
        <p:spPr>
          <a:xfrm>
            <a:off x="777240" y="33192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02</a:t>
            </a:r>
            <a:endParaRPr lang="en-US" sz="3400" dirty="0"/>
          </a:p>
        </p:txBody>
      </p:sp>
      <p:sp>
        <p:nvSpPr>
          <p:cNvPr id="8" name="Text 6"/>
          <p:cNvSpPr/>
          <p:nvPr/>
        </p:nvSpPr>
        <p:spPr>
          <a:xfrm>
            <a:off x="1920240" y="34107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Pick one source and get genuinely good at it.</a:t>
            </a:r>
            <a:endParaRPr lang="en-US" sz="1450" dirty="0"/>
          </a:p>
        </p:txBody>
      </p:sp>
      <p:sp>
        <p:nvSpPr>
          <p:cNvPr id="9" name="Text 7"/>
          <p:cNvSpPr/>
          <p:nvPr/>
        </p:nvSpPr>
        <p:spPr>
          <a:xfrm>
            <a:off x="777240" y="42336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03</a:t>
            </a:r>
            <a:endParaRPr lang="en-US" sz="3400" dirty="0"/>
          </a:p>
        </p:txBody>
      </p:sp>
      <p:sp>
        <p:nvSpPr>
          <p:cNvPr id="10" name="Text 8"/>
          <p:cNvSpPr/>
          <p:nvPr/>
        </p:nvSpPr>
        <p:spPr>
          <a:xfrm>
            <a:off x="1920240" y="43251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Every post points somewhere. No dead ends.</a:t>
            </a:r>
            <a:endParaRPr lang="en-US" sz="1450" dirty="0"/>
          </a:p>
        </p:txBody>
      </p:sp>
      <p:sp>
        <p:nvSpPr>
          <p:cNvPr id="11" name="Text 9"/>
          <p:cNvSpPr/>
          <p:nvPr/>
        </p:nvSpPr>
        <p:spPr>
          <a:xfrm>
            <a:off x="777240" y="5148072"/>
            <a:ext cx="1005840" cy="640080"/>
          </a:xfrm>
          <a:prstGeom prst="rect">
            <a:avLst/>
          </a:prstGeom>
          <a:noFill/>
          <a:ln/>
        </p:spPr>
        <p:txBody>
          <a:bodyPr wrap="square" lIns="0" tIns="0" rIns="0" bIns="0" rtlCol="0" anchor="t"/>
          <a:lstStyle/>
          <a:p>
            <a:pPr indent="0" marL="0">
              <a:buNone/>
            </a:pPr>
            <a:r>
              <a:rPr lang="en-US" sz="3400" i="1" dirty="0">
                <a:solidFill>
                  <a:srgbClr val="D98BA6"/>
                </a:solidFill>
                <a:latin typeface="Fraunces" pitchFamily="34" charset="0"/>
                <a:ea typeface="Fraunces" pitchFamily="34" charset="-122"/>
                <a:cs typeface="Fraunces" pitchFamily="34" charset="-120"/>
              </a:rPr>
              <a:t>04</a:t>
            </a:r>
            <a:endParaRPr lang="en-US" sz="3400" dirty="0"/>
          </a:p>
        </p:txBody>
      </p:sp>
      <p:sp>
        <p:nvSpPr>
          <p:cNvPr id="12" name="Text 10"/>
          <p:cNvSpPr/>
          <p:nvPr/>
        </p:nvSpPr>
        <p:spPr>
          <a:xfrm>
            <a:off x="1920240" y="5239512"/>
            <a:ext cx="9235440" cy="640080"/>
          </a:xfrm>
          <a:prstGeom prst="rect">
            <a:avLst/>
          </a:prstGeom>
          <a:noFill/>
          <a:ln/>
        </p:spPr>
        <p:txBody>
          <a:bodyPr wrap="square" lIns="0" tIns="0" rIns="0" bIns="0" rtlCol="0" anchor="t"/>
          <a:lstStyle/>
          <a:p>
            <a:pPr indent="0" marL="0">
              <a:lnSpc>
                <a:spcPts val="2000"/>
              </a:lnSpc>
              <a:buNone/>
            </a:pPr>
            <a:r>
              <a:rPr lang="en-US" sz="1450" dirty="0">
                <a:solidFill>
                  <a:srgbClr val="FBF6EE"/>
                </a:solidFill>
                <a:latin typeface="Karla" pitchFamily="34" charset="0"/>
                <a:ea typeface="Karla" pitchFamily="34" charset="-122"/>
                <a:cs typeface="Karla" pitchFamily="34" charset="-120"/>
              </a:rPr>
              <a:t>The email list is the only audience you own.</a:t>
            </a:r>
            <a:endParaRPr lang="en-US" sz="14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93</a:t>
            </a:r>
            <a:endParaRPr lang="en-US" sz="950" dirty="0"/>
          </a:p>
        </p:txBody>
      </p:sp>
      <p:sp>
        <p:nvSpPr>
          <p:cNvPr id="3" name="Text 1"/>
          <p:cNvSpPr/>
          <p:nvPr/>
        </p:nvSpPr>
        <p:spPr>
          <a:xfrm>
            <a:off x="-640080" y="182880"/>
            <a:ext cx="5486400" cy="4937760"/>
          </a:xfrm>
          <a:prstGeom prst="rect">
            <a:avLst/>
          </a:prstGeom>
          <a:noFill/>
          <a:ln/>
        </p:spPr>
        <p:txBody>
          <a:bodyPr wrap="square" lIns="0" tIns="0" rIns="0" bIns="0" rtlCol="0" anchor="ctr"/>
          <a:lstStyle/>
          <a:p>
            <a:pPr indent="0" marL="0">
              <a:buNone/>
            </a:pPr>
            <a:r>
              <a:rPr lang="en-US" sz="25000" i="1" dirty="0">
                <a:solidFill>
                  <a:srgbClr val="7C2B48"/>
                </a:solidFill>
                <a:latin typeface="Fraunces" pitchFamily="34" charset="0"/>
                <a:ea typeface="Fraunces" pitchFamily="34" charset="-122"/>
                <a:cs typeface="Fraunces" pitchFamily="34" charset="-120"/>
              </a:rPr>
              <a:t>06</a:t>
            </a:r>
            <a:endParaRPr lang="en-US" sz="25000" dirty="0"/>
          </a:p>
        </p:txBody>
      </p:sp>
      <p:sp>
        <p:nvSpPr>
          <p:cNvPr id="4" name="Shape 2"/>
          <p:cNvSpPr/>
          <p:nvPr/>
        </p:nvSpPr>
        <p:spPr>
          <a:xfrm>
            <a:off x="9235440" y="-1005840"/>
            <a:ext cx="4023360" cy="4023360"/>
          </a:xfrm>
          <a:prstGeom prst="ellipse">
            <a:avLst/>
          </a:prstGeom>
          <a:solidFill>
            <a:srgbClr val="A93F63">
              <a:alpha val="30000"/>
            </a:srgbClr>
          </a:solidFill>
          <a:ln/>
        </p:spPr>
      </p:sp>
      <p:sp>
        <p:nvSpPr>
          <p:cNvPr id="5" name="Text 3"/>
          <p:cNvSpPr/>
          <p:nvPr/>
        </p:nvSpPr>
        <p:spPr>
          <a:xfrm>
            <a:off x="3931920" y="1920240"/>
            <a:ext cx="7315200" cy="1737360"/>
          </a:xfrm>
          <a:prstGeom prst="rect">
            <a:avLst/>
          </a:prstGeom>
          <a:noFill/>
          <a:ln/>
        </p:spPr>
        <p:txBody>
          <a:bodyPr wrap="square" lIns="0" tIns="0" rIns="0" bIns="0" rtlCol="0" anchor="t"/>
          <a:lstStyle/>
          <a:p>
            <a:pPr indent="0" marL="0">
              <a:lnSpc>
                <a:spcPts val="4600"/>
              </a:lnSpc>
              <a:buNone/>
            </a:pPr>
            <a:r>
              <a:rPr lang="en-US" sz="4200" dirty="0">
                <a:solidFill>
                  <a:srgbClr val="FBF6EE"/>
                </a:solidFill>
                <a:latin typeface="Fraunces" pitchFamily="34" charset="0"/>
                <a:ea typeface="Fraunces" pitchFamily="34" charset="-122"/>
                <a:cs typeface="Fraunces" pitchFamily="34" charset="-120"/>
              </a:rPr>
              <a:t>Putting it</a:t>
            </a:r>
            <a:endParaRPr lang="en-US" sz="4200" dirty="0"/>
          </a:p>
          <a:p>
            <a:pPr indent="0" marL="0">
              <a:lnSpc>
                <a:spcPts val="4600"/>
              </a:lnSpc>
              <a:buNone/>
            </a:pPr>
            <a:r>
              <a:rPr lang="en-US" sz="4200" dirty="0">
                <a:solidFill>
                  <a:srgbClr val="FBF6EE"/>
                </a:solidFill>
                <a:latin typeface="Fraunces" pitchFamily="34" charset="0"/>
                <a:ea typeface="Fraunces" pitchFamily="34" charset="-122"/>
                <a:cs typeface="Fraunces" pitchFamily="34" charset="-120"/>
              </a:rPr>
              <a:t>all together</a:t>
            </a:r>
            <a:endParaRPr lang="en-US" sz="4200" dirty="0"/>
          </a:p>
        </p:txBody>
      </p:sp>
      <p:sp>
        <p:nvSpPr>
          <p:cNvPr id="6" name="Text 4"/>
          <p:cNvSpPr/>
          <p:nvPr/>
        </p:nvSpPr>
        <p:spPr>
          <a:xfrm>
            <a:off x="3977640" y="3703320"/>
            <a:ext cx="7223760" cy="548640"/>
          </a:xfrm>
          <a:prstGeom prst="rect">
            <a:avLst/>
          </a:prstGeom>
          <a:noFill/>
          <a:ln/>
        </p:spPr>
        <p:txBody>
          <a:bodyPr wrap="square" lIns="0" tIns="0" rIns="0" bIns="0" rtlCol="0" anchor="t"/>
          <a:lstStyle/>
          <a:p>
            <a:pPr indent="0" marL="0">
              <a:buNone/>
            </a:pPr>
            <a:r>
              <a:rPr lang="en-US" sz="2600" dirty="0">
                <a:solidFill>
                  <a:srgbClr val="BC8A47"/>
                </a:solidFill>
                <a:latin typeface="Ephesis" pitchFamily="34" charset="0"/>
                <a:ea typeface="Ephesis" pitchFamily="34" charset="-122"/>
                <a:cs typeface="Ephesis" pitchFamily="34" charset="-120"/>
              </a:rPr>
              <a:t>the whole thing on one page</a:t>
            </a:r>
            <a:endParaRPr lang="en-US" sz="2600" dirty="0"/>
          </a:p>
        </p:txBody>
      </p:sp>
      <p:sp>
        <p:nvSpPr>
          <p:cNvPr id="7" name="Shape 5"/>
          <p:cNvSpPr/>
          <p:nvPr/>
        </p:nvSpPr>
        <p:spPr>
          <a:xfrm>
            <a:off x="4023360" y="4526280"/>
            <a:ext cx="146304" cy="146304"/>
          </a:xfrm>
          <a:prstGeom prst="ellipse">
            <a:avLst/>
          </a:prstGeom>
          <a:solidFill>
            <a:srgbClr val="A93F63"/>
          </a:solidFill>
          <a:ln/>
        </p:spPr>
      </p:sp>
      <p:sp>
        <p:nvSpPr>
          <p:cNvPr id="8" name="Text 6"/>
          <p:cNvSpPr/>
          <p:nvPr/>
        </p:nvSpPr>
        <p:spPr>
          <a:xfrm>
            <a:off x="4389120" y="441655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The framework start to finish</a:t>
            </a:r>
            <a:endParaRPr lang="en-US" sz="1300" dirty="0"/>
          </a:p>
        </p:txBody>
      </p:sp>
      <p:sp>
        <p:nvSpPr>
          <p:cNvPr id="9" name="Shape 7"/>
          <p:cNvSpPr/>
          <p:nvPr/>
        </p:nvSpPr>
        <p:spPr>
          <a:xfrm>
            <a:off x="4023360" y="5029200"/>
            <a:ext cx="146304" cy="146304"/>
          </a:xfrm>
          <a:prstGeom prst="ellipse">
            <a:avLst/>
          </a:prstGeom>
          <a:solidFill>
            <a:srgbClr val="A93F63"/>
          </a:solidFill>
          <a:ln/>
        </p:spPr>
      </p:sp>
      <p:sp>
        <p:nvSpPr>
          <p:cNvPr id="10" name="Text 8"/>
          <p:cNvSpPr/>
          <p:nvPr/>
        </p:nvSpPr>
        <p:spPr>
          <a:xfrm>
            <a:off x="4389120" y="4919472"/>
            <a:ext cx="6766560" cy="384048"/>
          </a:xfrm>
          <a:prstGeom prst="rect">
            <a:avLst/>
          </a:prstGeom>
          <a:noFill/>
          <a:ln/>
        </p:spPr>
        <p:txBody>
          <a:bodyPr wrap="square" lIns="0" tIns="0" rIns="0" bIns="0" rtlCol="0" anchor="t"/>
          <a:lstStyle/>
          <a:p>
            <a:pPr indent="0" marL="0">
              <a:buNone/>
            </a:pPr>
            <a:r>
              <a:rPr lang="en-US" sz="1300" dirty="0">
                <a:solidFill>
                  <a:srgbClr val="D8CBC3"/>
                </a:solidFill>
                <a:latin typeface="Karla" pitchFamily="34" charset="0"/>
                <a:ea typeface="Karla" pitchFamily="34" charset="-122"/>
                <a:cs typeface="Karla" pitchFamily="34" charset="-120"/>
              </a:rPr>
              <a:t>What to do in the next 30 days</a:t>
            </a:r>
            <a:endParaRPr lang="en-US" sz="13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4EBD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94</a:t>
            </a:r>
            <a:endParaRPr lang="en-US" sz="950" dirty="0"/>
          </a:p>
        </p:txBody>
      </p:sp>
      <p:sp>
        <p:nvSpPr>
          <p:cNvPr id="3" name="Text 1"/>
          <p:cNvSpPr/>
          <p:nvPr/>
        </p:nvSpPr>
        <p:spPr>
          <a:xfrm>
            <a:off x="1828800" y="1143000"/>
            <a:ext cx="8503920" cy="274320"/>
          </a:xfrm>
          <a:prstGeom prst="rect">
            <a:avLst/>
          </a:prstGeom>
          <a:noFill/>
          <a:ln/>
        </p:spPr>
        <p:txBody>
          <a:bodyPr wrap="square" lIns="0" tIns="0" rIns="0" bIns="0" rtlCol="0" anchor="t"/>
          <a:lstStyle/>
          <a:p>
            <a:pPr algn="ctr" indent="0" marL="0">
              <a:buNone/>
            </a:pPr>
            <a:r>
              <a:rPr lang="en-US" sz="1100" b="1" spc="400" kern="0" dirty="0">
                <a:solidFill>
                  <a:srgbClr val="A93F63"/>
                </a:solidFill>
                <a:latin typeface="Karla" pitchFamily="34" charset="0"/>
                <a:ea typeface="Karla" pitchFamily="34" charset="-122"/>
                <a:cs typeface="Karla" pitchFamily="34" charset="-120"/>
              </a:rPr>
              <a:t>THE WHOLE FRAMEWORK</a:t>
            </a:r>
            <a:endParaRPr lang="en-US" sz="1100" dirty="0"/>
          </a:p>
        </p:txBody>
      </p:sp>
      <p:sp>
        <p:nvSpPr>
          <p:cNvPr id="4" name="Text 2"/>
          <p:cNvSpPr/>
          <p:nvPr/>
        </p:nvSpPr>
        <p:spPr>
          <a:xfrm>
            <a:off x="1463040" y="1554480"/>
            <a:ext cx="9235440" cy="1371600"/>
          </a:xfrm>
          <a:prstGeom prst="rect">
            <a:avLst/>
          </a:prstGeom>
          <a:noFill/>
          <a:ln/>
        </p:spPr>
        <p:txBody>
          <a:bodyPr wrap="square" lIns="0" tIns="0" rIns="0" bIns="0" rtlCol="0" anchor="t"/>
          <a:lstStyle/>
          <a:p>
            <a:pPr algn="ctr" indent="0" marL="0">
              <a:lnSpc>
                <a:spcPts val="4000"/>
              </a:lnSpc>
              <a:buNone/>
            </a:pPr>
            <a:r>
              <a:rPr lang="en-US" sz="3600" dirty="0">
                <a:solidFill>
                  <a:srgbClr val="2E1F27"/>
                </a:solidFill>
                <a:latin typeface="Fraunces" pitchFamily="34" charset="0"/>
                <a:ea typeface="Fraunces" pitchFamily="34" charset="-122"/>
                <a:cs typeface="Fraunces" pitchFamily="34" charset="-120"/>
              </a:rPr>
              <a:t>This is the course, in five moves.</a:t>
            </a:r>
            <a:endParaRPr lang="en-US" sz="3600" dirty="0"/>
          </a:p>
        </p:txBody>
      </p:sp>
      <p:sp>
        <p:nvSpPr>
          <p:cNvPr id="5" name="Shape 3"/>
          <p:cNvSpPr/>
          <p:nvPr/>
        </p:nvSpPr>
        <p:spPr>
          <a:xfrm>
            <a:off x="1687982" y="3154680"/>
            <a:ext cx="768096" cy="768096"/>
          </a:xfrm>
          <a:prstGeom prst="ellipse">
            <a:avLst/>
          </a:prstGeom>
          <a:solidFill>
            <a:srgbClr val="A93F63"/>
          </a:solidFill>
          <a:ln/>
        </p:spPr>
      </p:sp>
      <p:sp>
        <p:nvSpPr>
          <p:cNvPr id="6" name="Text 4"/>
          <p:cNvSpPr/>
          <p:nvPr/>
        </p:nvSpPr>
        <p:spPr>
          <a:xfrm>
            <a:off x="1687982" y="3154680"/>
            <a:ext cx="768096" cy="768096"/>
          </a:xfrm>
          <a:prstGeom prst="rect">
            <a:avLst/>
          </a:prstGeom>
          <a:noFill/>
          <a:ln/>
        </p:spPr>
        <p:txBody>
          <a:bodyPr wrap="square" lIns="0" tIns="0" rIns="0" bIns="0" rtlCol="0" anchor="ctr"/>
          <a:lstStyle/>
          <a:p>
            <a:pPr algn="ctr" indent="0" marL="0">
              <a:buNone/>
            </a:pPr>
            <a:r>
              <a:rPr lang="en-US" sz="2400" dirty="0">
                <a:solidFill>
                  <a:srgbClr val="FFFFFF"/>
                </a:solidFill>
                <a:latin typeface="Fraunces" pitchFamily="34" charset="0"/>
                <a:ea typeface="Fraunces" pitchFamily="34" charset="-122"/>
                <a:cs typeface="Fraunces" pitchFamily="34" charset="-120"/>
              </a:rPr>
              <a:t>1</a:t>
            </a:r>
            <a:endParaRPr lang="en-US" sz="2400" dirty="0"/>
          </a:p>
        </p:txBody>
      </p:sp>
      <p:sp>
        <p:nvSpPr>
          <p:cNvPr id="7" name="Text 5"/>
          <p:cNvSpPr/>
          <p:nvPr/>
        </p:nvSpPr>
        <p:spPr>
          <a:xfrm>
            <a:off x="1261872" y="4206240"/>
            <a:ext cx="1620317" cy="1645920"/>
          </a:xfrm>
          <a:prstGeom prst="rect">
            <a:avLst/>
          </a:prstGeom>
          <a:noFill/>
          <a:ln/>
        </p:spPr>
        <p:txBody>
          <a:bodyPr wrap="square" lIns="0" tIns="0" rIns="0" bIns="0" rtlCol="0" anchor="t"/>
          <a:lstStyle/>
          <a:p>
            <a:pPr algn="ctr" indent="0" marL="0">
              <a:lnSpc>
                <a:spcPts val="1800"/>
              </a:lnSpc>
              <a:buNone/>
            </a:pPr>
            <a:r>
              <a:rPr lang="en-US" sz="1200" dirty="0">
                <a:solidFill>
                  <a:srgbClr val="2E1F27"/>
                </a:solidFill>
                <a:latin typeface="Karla" pitchFamily="34" charset="0"/>
                <a:ea typeface="Karla" pitchFamily="34" charset="-122"/>
                <a:cs typeface="Karla" pitchFamily="34" charset="-120"/>
              </a:rPr>
              <a:t>Name the offer. Specific person, outcome, and price.</a:t>
            </a:r>
            <a:endParaRPr lang="en-US" sz="1200" dirty="0"/>
          </a:p>
        </p:txBody>
      </p:sp>
      <p:sp>
        <p:nvSpPr>
          <p:cNvPr id="8" name="Shape 6"/>
          <p:cNvSpPr/>
          <p:nvPr/>
        </p:nvSpPr>
        <p:spPr>
          <a:xfrm>
            <a:off x="3692347" y="3154680"/>
            <a:ext cx="768096" cy="768096"/>
          </a:xfrm>
          <a:prstGeom prst="ellipse">
            <a:avLst/>
          </a:prstGeom>
          <a:solidFill>
            <a:srgbClr val="A93F63"/>
          </a:solidFill>
          <a:ln/>
        </p:spPr>
      </p:sp>
      <p:sp>
        <p:nvSpPr>
          <p:cNvPr id="9" name="Text 7"/>
          <p:cNvSpPr/>
          <p:nvPr/>
        </p:nvSpPr>
        <p:spPr>
          <a:xfrm>
            <a:off x="3692347" y="3154680"/>
            <a:ext cx="768096" cy="768096"/>
          </a:xfrm>
          <a:prstGeom prst="rect">
            <a:avLst/>
          </a:prstGeom>
          <a:noFill/>
          <a:ln/>
        </p:spPr>
        <p:txBody>
          <a:bodyPr wrap="square" lIns="0" tIns="0" rIns="0" bIns="0" rtlCol="0" anchor="ctr"/>
          <a:lstStyle/>
          <a:p>
            <a:pPr algn="ctr" indent="0" marL="0">
              <a:buNone/>
            </a:pPr>
            <a:r>
              <a:rPr lang="en-US" sz="2400" dirty="0">
                <a:solidFill>
                  <a:srgbClr val="FFFFFF"/>
                </a:solidFill>
                <a:latin typeface="Fraunces" pitchFamily="34" charset="0"/>
                <a:ea typeface="Fraunces" pitchFamily="34" charset="-122"/>
                <a:cs typeface="Fraunces" pitchFamily="34" charset="-120"/>
              </a:rPr>
              <a:t>2</a:t>
            </a:r>
            <a:endParaRPr lang="en-US" sz="2400" dirty="0"/>
          </a:p>
        </p:txBody>
      </p:sp>
      <p:sp>
        <p:nvSpPr>
          <p:cNvPr id="10" name="Text 8"/>
          <p:cNvSpPr/>
          <p:nvPr/>
        </p:nvSpPr>
        <p:spPr>
          <a:xfrm>
            <a:off x="3266237" y="4206240"/>
            <a:ext cx="1620317" cy="1645920"/>
          </a:xfrm>
          <a:prstGeom prst="rect">
            <a:avLst/>
          </a:prstGeom>
          <a:noFill/>
          <a:ln/>
        </p:spPr>
        <p:txBody>
          <a:bodyPr wrap="square" lIns="0" tIns="0" rIns="0" bIns="0" rtlCol="0" anchor="t"/>
          <a:lstStyle/>
          <a:p>
            <a:pPr algn="ctr" indent="0" marL="0">
              <a:lnSpc>
                <a:spcPts val="1800"/>
              </a:lnSpc>
              <a:buNone/>
            </a:pPr>
            <a:r>
              <a:rPr lang="en-US" sz="1200" dirty="0">
                <a:solidFill>
                  <a:srgbClr val="2E1F27"/>
                </a:solidFill>
                <a:latin typeface="Karla" pitchFamily="34" charset="0"/>
                <a:ea typeface="Karla" pitchFamily="34" charset="-122"/>
                <a:cs typeface="Karla" pitchFamily="34" charset="-120"/>
              </a:rPr>
              <a:t>Write the copy. Hook, proof, offer, step.</a:t>
            </a:r>
            <a:endParaRPr lang="en-US" sz="1200" dirty="0"/>
          </a:p>
        </p:txBody>
      </p:sp>
      <p:sp>
        <p:nvSpPr>
          <p:cNvPr id="11" name="Shape 9"/>
          <p:cNvSpPr/>
          <p:nvPr/>
        </p:nvSpPr>
        <p:spPr>
          <a:xfrm>
            <a:off x="5696712" y="3154680"/>
            <a:ext cx="768096" cy="768096"/>
          </a:xfrm>
          <a:prstGeom prst="ellipse">
            <a:avLst/>
          </a:prstGeom>
          <a:solidFill>
            <a:srgbClr val="A93F63"/>
          </a:solidFill>
          <a:ln/>
        </p:spPr>
      </p:sp>
      <p:sp>
        <p:nvSpPr>
          <p:cNvPr id="12" name="Text 10"/>
          <p:cNvSpPr/>
          <p:nvPr/>
        </p:nvSpPr>
        <p:spPr>
          <a:xfrm>
            <a:off x="5696712" y="3154680"/>
            <a:ext cx="768096" cy="768096"/>
          </a:xfrm>
          <a:prstGeom prst="rect">
            <a:avLst/>
          </a:prstGeom>
          <a:noFill/>
          <a:ln/>
        </p:spPr>
        <p:txBody>
          <a:bodyPr wrap="square" lIns="0" tIns="0" rIns="0" bIns="0" rtlCol="0" anchor="ctr"/>
          <a:lstStyle/>
          <a:p>
            <a:pPr algn="ctr" indent="0" marL="0">
              <a:buNone/>
            </a:pPr>
            <a:r>
              <a:rPr lang="en-US" sz="2400" dirty="0">
                <a:solidFill>
                  <a:srgbClr val="FFFFFF"/>
                </a:solidFill>
                <a:latin typeface="Fraunces" pitchFamily="34" charset="0"/>
                <a:ea typeface="Fraunces" pitchFamily="34" charset="-122"/>
                <a:cs typeface="Fraunces" pitchFamily="34" charset="-120"/>
              </a:rPr>
              <a:t>3</a:t>
            </a:r>
            <a:endParaRPr lang="en-US" sz="2400" dirty="0"/>
          </a:p>
        </p:txBody>
      </p:sp>
      <p:sp>
        <p:nvSpPr>
          <p:cNvPr id="13" name="Text 11"/>
          <p:cNvSpPr/>
          <p:nvPr/>
        </p:nvSpPr>
        <p:spPr>
          <a:xfrm>
            <a:off x="5270602" y="4206240"/>
            <a:ext cx="1620317" cy="1645920"/>
          </a:xfrm>
          <a:prstGeom prst="rect">
            <a:avLst/>
          </a:prstGeom>
          <a:noFill/>
          <a:ln/>
        </p:spPr>
        <p:txBody>
          <a:bodyPr wrap="square" lIns="0" tIns="0" rIns="0" bIns="0" rtlCol="0" anchor="t"/>
          <a:lstStyle/>
          <a:p>
            <a:pPr algn="ctr" indent="0" marL="0">
              <a:lnSpc>
                <a:spcPts val="1800"/>
              </a:lnSpc>
              <a:buNone/>
            </a:pPr>
            <a:r>
              <a:rPr lang="en-US" sz="1200" dirty="0">
                <a:solidFill>
                  <a:srgbClr val="2E1F27"/>
                </a:solidFill>
                <a:latin typeface="Karla" pitchFamily="34" charset="0"/>
                <a:ea typeface="Karla" pitchFamily="34" charset="-122"/>
                <a:cs typeface="Karla" pitchFamily="34" charset="-120"/>
              </a:rPr>
              <a:t>Design around it. Build in the order she reads.</a:t>
            </a:r>
            <a:endParaRPr lang="en-US" sz="1200" dirty="0"/>
          </a:p>
        </p:txBody>
      </p:sp>
      <p:sp>
        <p:nvSpPr>
          <p:cNvPr id="14" name="Shape 12"/>
          <p:cNvSpPr/>
          <p:nvPr/>
        </p:nvSpPr>
        <p:spPr>
          <a:xfrm>
            <a:off x="7701077" y="3154680"/>
            <a:ext cx="768096" cy="768096"/>
          </a:xfrm>
          <a:prstGeom prst="ellipse">
            <a:avLst/>
          </a:prstGeom>
          <a:solidFill>
            <a:srgbClr val="A93F63"/>
          </a:solidFill>
          <a:ln/>
        </p:spPr>
      </p:sp>
      <p:sp>
        <p:nvSpPr>
          <p:cNvPr id="15" name="Text 13"/>
          <p:cNvSpPr/>
          <p:nvPr/>
        </p:nvSpPr>
        <p:spPr>
          <a:xfrm>
            <a:off x="7701077" y="3154680"/>
            <a:ext cx="768096" cy="768096"/>
          </a:xfrm>
          <a:prstGeom prst="rect">
            <a:avLst/>
          </a:prstGeom>
          <a:noFill/>
          <a:ln/>
        </p:spPr>
        <p:txBody>
          <a:bodyPr wrap="square" lIns="0" tIns="0" rIns="0" bIns="0" rtlCol="0" anchor="ctr"/>
          <a:lstStyle/>
          <a:p>
            <a:pPr algn="ctr" indent="0" marL="0">
              <a:buNone/>
            </a:pPr>
            <a:r>
              <a:rPr lang="en-US" sz="2400" dirty="0">
                <a:solidFill>
                  <a:srgbClr val="FFFFFF"/>
                </a:solidFill>
                <a:latin typeface="Fraunces" pitchFamily="34" charset="0"/>
                <a:ea typeface="Fraunces" pitchFamily="34" charset="-122"/>
                <a:cs typeface="Fraunces" pitchFamily="34" charset="-120"/>
              </a:rPr>
              <a:t>4</a:t>
            </a:r>
            <a:endParaRPr lang="en-US" sz="2400" dirty="0"/>
          </a:p>
        </p:txBody>
      </p:sp>
      <p:sp>
        <p:nvSpPr>
          <p:cNvPr id="16" name="Text 14"/>
          <p:cNvSpPr/>
          <p:nvPr/>
        </p:nvSpPr>
        <p:spPr>
          <a:xfrm>
            <a:off x="7274966" y="4206240"/>
            <a:ext cx="1620317" cy="1645920"/>
          </a:xfrm>
          <a:prstGeom prst="rect">
            <a:avLst/>
          </a:prstGeom>
          <a:noFill/>
          <a:ln/>
        </p:spPr>
        <p:txBody>
          <a:bodyPr wrap="square" lIns="0" tIns="0" rIns="0" bIns="0" rtlCol="0" anchor="t"/>
          <a:lstStyle/>
          <a:p>
            <a:pPr algn="ctr" indent="0" marL="0">
              <a:lnSpc>
                <a:spcPts val="1800"/>
              </a:lnSpc>
              <a:buNone/>
            </a:pPr>
            <a:r>
              <a:rPr lang="en-US" sz="1200" dirty="0">
                <a:solidFill>
                  <a:srgbClr val="2E1F27"/>
                </a:solidFill>
                <a:latin typeface="Karla" pitchFamily="34" charset="0"/>
                <a:ea typeface="Karla" pitchFamily="34" charset="-122"/>
                <a:cs typeface="Karla" pitchFamily="34" charset="-120"/>
              </a:rPr>
              <a:t>Bring the traffic. One source, pointing at the offer.</a:t>
            </a:r>
            <a:endParaRPr lang="en-US" sz="1200" dirty="0"/>
          </a:p>
        </p:txBody>
      </p:sp>
      <p:sp>
        <p:nvSpPr>
          <p:cNvPr id="17" name="Shape 15"/>
          <p:cNvSpPr/>
          <p:nvPr/>
        </p:nvSpPr>
        <p:spPr>
          <a:xfrm>
            <a:off x="9705442" y="3154680"/>
            <a:ext cx="768096" cy="768096"/>
          </a:xfrm>
          <a:prstGeom prst="ellipse">
            <a:avLst/>
          </a:prstGeom>
          <a:solidFill>
            <a:srgbClr val="A93F63"/>
          </a:solidFill>
          <a:ln/>
        </p:spPr>
      </p:sp>
      <p:sp>
        <p:nvSpPr>
          <p:cNvPr id="18" name="Text 16"/>
          <p:cNvSpPr/>
          <p:nvPr/>
        </p:nvSpPr>
        <p:spPr>
          <a:xfrm>
            <a:off x="9705442" y="3154680"/>
            <a:ext cx="768096" cy="768096"/>
          </a:xfrm>
          <a:prstGeom prst="rect">
            <a:avLst/>
          </a:prstGeom>
          <a:noFill/>
          <a:ln/>
        </p:spPr>
        <p:txBody>
          <a:bodyPr wrap="square" lIns="0" tIns="0" rIns="0" bIns="0" rtlCol="0" anchor="ctr"/>
          <a:lstStyle/>
          <a:p>
            <a:pPr algn="ctr" indent="0" marL="0">
              <a:buNone/>
            </a:pPr>
            <a:r>
              <a:rPr lang="en-US" sz="2400" dirty="0">
                <a:solidFill>
                  <a:srgbClr val="FFFFFF"/>
                </a:solidFill>
                <a:latin typeface="Fraunces" pitchFamily="34" charset="0"/>
                <a:ea typeface="Fraunces" pitchFamily="34" charset="-122"/>
                <a:cs typeface="Fraunces" pitchFamily="34" charset="-120"/>
              </a:rPr>
              <a:t>5</a:t>
            </a:r>
            <a:endParaRPr lang="en-US" sz="2400" dirty="0"/>
          </a:p>
        </p:txBody>
      </p:sp>
      <p:sp>
        <p:nvSpPr>
          <p:cNvPr id="19" name="Text 17"/>
          <p:cNvSpPr/>
          <p:nvPr/>
        </p:nvSpPr>
        <p:spPr>
          <a:xfrm>
            <a:off x="9279331" y="4206240"/>
            <a:ext cx="1620317" cy="1645920"/>
          </a:xfrm>
          <a:prstGeom prst="rect">
            <a:avLst/>
          </a:prstGeom>
          <a:noFill/>
          <a:ln/>
        </p:spPr>
        <p:txBody>
          <a:bodyPr wrap="square" lIns="0" tIns="0" rIns="0" bIns="0" rtlCol="0" anchor="t"/>
          <a:lstStyle/>
          <a:p>
            <a:pPr algn="ctr" indent="0" marL="0">
              <a:lnSpc>
                <a:spcPts val="1800"/>
              </a:lnSpc>
              <a:buNone/>
            </a:pPr>
            <a:r>
              <a:rPr lang="en-US" sz="1200" dirty="0">
                <a:solidFill>
                  <a:srgbClr val="2E1F27"/>
                </a:solidFill>
                <a:latin typeface="Karla" pitchFamily="34" charset="0"/>
                <a:ea typeface="Karla" pitchFamily="34" charset="-122"/>
                <a:cs typeface="Karla" pitchFamily="34" charset="-120"/>
              </a:rPr>
              <a:t>Email the list. The audience you own.</a:t>
            </a:r>
            <a:endParaRPr lang="en-US" sz="1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95</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7C2B48"/>
                </a:solidFill>
                <a:latin typeface="Karla" pitchFamily="34" charset="0"/>
                <a:ea typeface="Karla" pitchFamily="34" charset="-122"/>
                <a:cs typeface="Karla" pitchFamily="34" charset="-120"/>
              </a:rPr>
              <a:t>YOUR NEXT 30 DAYS</a:t>
            </a:r>
            <a:endParaRPr lang="en-US" sz="1100" dirty="0"/>
          </a:p>
        </p:txBody>
      </p:sp>
      <p:sp>
        <p:nvSpPr>
          <p:cNvPr id="4" name="Text 2"/>
          <p:cNvSpPr/>
          <p:nvPr/>
        </p:nvSpPr>
        <p:spPr>
          <a:xfrm>
            <a:off x="777240" y="1051560"/>
            <a:ext cx="8321040" cy="914400"/>
          </a:xfrm>
          <a:prstGeom prst="rect">
            <a:avLst/>
          </a:prstGeom>
          <a:noFill/>
          <a:ln/>
        </p:spPr>
        <p:txBody>
          <a:bodyPr wrap="square" lIns="0" tIns="0" rIns="0" bIns="0" rtlCol="0" anchor="t"/>
          <a:lstStyle/>
          <a:p>
            <a:pPr indent="0" marL="0">
              <a:lnSpc>
                <a:spcPts val="3700"/>
              </a:lnSpc>
              <a:buNone/>
            </a:pPr>
            <a:r>
              <a:rPr lang="en-US" sz="3300" dirty="0">
                <a:solidFill>
                  <a:srgbClr val="2E1F27"/>
                </a:solidFill>
                <a:latin typeface="Fraunces" pitchFamily="34" charset="0"/>
                <a:ea typeface="Fraunces" pitchFamily="34" charset="-122"/>
                <a:cs typeface="Fraunces" pitchFamily="34" charset="-120"/>
              </a:rPr>
              <a:t>Do it in this order and do not skip ahead.</a:t>
            </a:r>
            <a:endParaRPr lang="en-US" sz="3300" dirty="0"/>
          </a:p>
        </p:txBody>
      </p:sp>
      <p:sp>
        <p:nvSpPr>
          <p:cNvPr id="5" name="Shape 3"/>
          <p:cNvSpPr/>
          <p:nvPr/>
        </p:nvSpPr>
        <p:spPr>
          <a:xfrm>
            <a:off x="2103120" y="3429000"/>
            <a:ext cx="7955280" cy="0"/>
          </a:xfrm>
          <a:prstGeom prst="line">
            <a:avLst/>
          </a:prstGeom>
          <a:noFill/>
          <a:ln w="25400">
            <a:solidFill>
              <a:srgbClr val="E0D5C9"/>
            </a:solidFill>
            <a:prstDash val="solid"/>
          </a:ln>
        </p:spPr>
      </p:sp>
      <p:sp>
        <p:nvSpPr>
          <p:cNvPr id="6" name="Shape 4"/>
          <p:cNvSpPr/>
          <p:nvPr/>
        </p:nvSpPr>
        <p:spPr>
          <a:xfrm>
            <a:off x="1901952" y="3227832"/>
            <a:ext cx="402336" cy="402336"/>
          </a:xfrm>
          <a:prstGeom prst="ellipse">
            <a:avLst/>
          </a:prstGeom>
          <a:solidFill>
            <a:srgbClr val="2E1F27"/>
          </a:solidFill>
          <a:ln/>
        </p:spPr>
      </p:sp>
      <p:sp>
        <p:nvSpPr>
          <p:cNvPr id="7" name="Text 5"/>
          <p:cNvSpPr/>
          <p:nvPr/>
        </p:nvSpPr>
        <p:spPr>
          <a:xfrm>
            <a:off x="77724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week one</a:t>
            </a:r>
            <a:endParaRPr lang="en-US" sz="2300" dirty="0"/>
          </a:p>
        </p:txBody>
      </p:sp>
      <p:sp>
        <p:nvSpPr>
          <p:cNvPr id="8" name="Text 6"/>
          <p:cNvSpPr/>
          <p:nvPr/>
        </p:nvSpPr>
        <p:spPr>
          <a:xfrm>
            <a:off x="77724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Name it</a:t>
            </a:r>
            <a:endParaRPr lang="en-US" sz="1700" dirty="0"/>
          </a:p>
        </p:txBody>
      </p:sp>
      <p:sp>
        <p:nvSpPr>
          <p:cNvPr id="9" name="Text 7"/>
          <p:cNvSpPr/>
          <p:nvPr/>
        </p:nvSpPr>
        <p:spPr>
          <a:xfrm>
            <a:off x="100584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Write your offer sentence, price it, say it out loud to one person.</a:t>
            </a:r>
            <a:endParaRPr lang="en-US" sz="1150" dirty="0"/>
          </a:p>
        </p:txBody>
      </p:sp>
      <p:sp>
        <p:nvSpPr>
          <p:cNvPr id="10" name="Shape 8"/>
          <p:cNvSpPr/>
          <p:nvPr/>
        </p:nvSpPr>
        <p:spPr>
          <a:xfrm>
            <a:off x="4553712" y="3227832"/>
            <a:ext cx="402336" cy="402336"/>
          </a:xfrm>
          <a:prstGeom prst="ellipse">
            <a:avLst/>
          </a:prstGeom>
          <a:solidFill>
            <a:srgbClr val="2E1F27"/>
          </a:solidFill>
          <a:ln/>
        </p:spPr>
      </p:sp>
      <p:sp>
        <p:nvSpPr>
          <p:cNvPr id="11" name="Text 9"/>
          <p:cNvSpPr/>
          <p:nvPr/>
        </p:nvSpPr>
        <p:spPr>
          <a:xfrm>
            <a:off x="342900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week two</a:t>
            </a:r>
            <a:endParaRPr lang="en-US" sz="2300" dirty="0"/>
          </a:p>
        </p:txBody>
      </p:sp>
      <p:sp>
        <p:nvSpPr>
          <p:cNvPr id="12" name="Text 10"/>
          <p:cNvSpPr/>
          <p:nvPr/>
        </p:nvSpPr>
        <p:spPr>
          <a:xfrm>
            <a:off x="342900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Write it</a:t>
            </a:r>
            <a:endParaRPr lang="en-US" sz="1700" dirty="0"/>
          </a:p>
        </p:txBody>
      </p:sp>
      <p:sp>
        <p:nvSpPr>
          <p:cNvPr id="13" name="Text 11"/>
          <p:cNvSpPr/>
          <p:nvPr/>
        </p:nvSpPr>
        <p:spPr>
          <a:xfrm>
            <a:off x="365760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The offer page. Hook, proof, offer, step. Ugly is fine.</a:t>
            </a:r>
            <a:endParaRPr lang="en-US" sz="1150" dirty="0"/>
          </a:p>
        </p:txBody>
      </p:sp>
      <p:sp>
        <p:nvSpPr>
          <p:cNvPr id="14" name="Shape 12"/>
          <p:cNvSpPr/>
          <p:nvPr/>
        </p:nvSpPr>
        <p:spPr>
          <a:xfrm>
            <a:off x="7205472" y="3227832"/>
            <a:ext cx="402336" cy="402336"/>
          </a:xfrm>
          <a:prstGeom prst="ellipse">
            <a:avLst/>
          </a:prstGeom>
          <a:solidFill>
            <a:srgbClr val="2E1F27"/>
          </a:solidFill>
          <a:ln/>
        </p:spPr>
      </p:sp>
      <p:sp>
        <p:nvSpPr>
          <p:cNvPr id="15" name="Text 13"/>
          <p:cNvSpPr/>
          <p:nvPr/>
        </p:nvSpPr>
        <p:spPr>
          <a:xfrm>
            <a:off x="608076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week three</a:t>
            </a:r>
            <a:endParaRPr lang="en-US" sz="2300" dirty="0"/>
          </a:p>
        </p:txBody>
      </p:sp>
      <p:sp>
        <p:nvSpPr>
          <p:cNvPr id="16" name="Text 14"/>
          <p:cNvSpPr/>
          <p:nvPr/>
        </p:nvSpPr>
        <p:spPr>
          <a:xfrm>
            <a:off x="608076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Build it</a:t>
            </a:r>
            <a:endParaRPr lang="en-US" sz="1700" dirty="0"/>
          </a:p>
        </p:txBody>
      </p:sp>
      <p:sp>
        <p:nvSpPr>
          <p:cNvPr id="17" name="Text 15"/>
          <p:cNvSpPr/>
          <p:nvPr/>
        </p:nvSpPr>
        <p:spPr>
          <a:xfrm>
            <a:off x="630936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Rebuild the page around that copy. Run the three second test.</a:t>
            </a:r>
            <a:endParaRPr lang="en-US" sz="1150" dirty="0"/>
          </a:p>
        </p:txBody>
      </p:sp>
      <p:sp>
        <p:nvSpPr>
          <p:cNvPr id="18" name="Shape 16"/>
          <p:cNvSpPr/>
          <p:nvPr/>
        </p:nvSpPr>
        <p:spPr>
          <a:xfrm>
            <a:off x="9857232" y="3227832"/>
            <a:ext cx="402336" cy="402336"/>
          </a:xfrm>
          <a:prstGeom prst="ellipse">
            <a:avLst/>
          </a:prstGeom>
          <a:solidFill>
            <a:srgbClr val="A93F63"/>
          </a:solidFill>
          <a:ln/>
        </p:spPr>
      </p:sp>
      <p:sp>
        <p:nvSpPr>
          <p:cNvPr id="19" name="Text 17"/>
          <p:cNvSpPr/>
          <p:nvPr/>
        </p:nvSpPr>
        <p:spPr>
          <a:xfrm>
            <a:off x="8732520" y="2487168"/>
            <a:ext cx="2651760" cy="457200"/>
          </a:xfrm>
          <a:prstGeom prst="rect">
            <a:avLst/>
          </a:prstGeom>
          <a:noFill/>
          <a:ln/>
        </p:spPr>
        <p:txBody>
          <a:bodyPr wrap="square" lIns="0" tIns="0" rIns="0" bIns="0" rtlCol="0" anchor="t"/>
          <a:lstStyle/>
          <a:p>
            <a:pPr algn="ctr" indent="0" marL="0">
              <a:buNone/>
            </a:pPr>
            <a:r>
              <a:rPr lang="en-US" sz="2300" dirty="0">
                <a:solidFill>
                  <a:srgbClr val="BC8A47"/>
                </a:solidFill>
                <a:latin typeface="Ephesis" pitchFamily="34" charset="0"/>
                <a:ea typeface="Ephesis" pitchFamily="34" charset="-122"/>
                <a:cs typeface="Ephesis" pitchFamily="34" charset="-120"/>
              </a:rPr>
              <a:t>week four</a:t>
            </a:r>
            <a:endParaRPr lang="en-US" sz="2300" dirty="0"/>
          </a:p>
        </p:txBody>
      </p:sp>
      <p:sp>
        <p:nvSpPr>
          <p:cNvPr id="20" name="Text 18"/>
          <p:cNvSpPr/>
          <p:nvPr/>
        </p:nvSpPr>
        <p:spPr>
          <a:xfrm>
            <a:off x="8732520" y="3858768"/>
            <a:ext cx="2651760" cy="457200"/>
          </a:xfrm>
          <a:prstGeom prst="rect">
            <a:avLst/>
          </a:prstGeom>
          <a:noFill/>
          <a:ln/>
        </p:spPr>
        <p:txBody>
          <a:bodyPr wrap="square" lIns="0" tIns="0" rIns="0" bIns="0" rtlCol="0" anchor="t"/>
          <a:lstStyle/>
          <a:p>
            <a:pPr algn="ctr" indent="0" marL="0">
              <a:buNone/>
            </a:pPr>
            <a:r>
              <a:rPr lang="en-US" sz="1700" dirty="0">
                <a:solidFill>
                  <a:srgbClr val="2E1F27"/>
                </a:solidFill>
                <a:latin typeface="Fraunces" pitchFamily="34" charset="0"/>
                <a:ea typeface="Fraunces" pitchFamily="34" charset="-122"/>
                <a:cs typeface="Fraunces" pitchFamily="34" charset="-120"/>
              </a:rPr>
              <a:t>Ship it</a:t>
            </a:r>
            <a:endParaRPr lang="en-US" sz="1700" dirty="0"/>
          </a:p>
        </p:txBody>
      </p:sp>
      <p:sp>
        <p:nvSpPr>
          <p:cNvPr id="21" name="Text 19"/>
          <p:cNvSpPr/>
          <p:nvPr/>
        </p:nvSpPr>
        <p:spPr>
          <a:xfrm>
            <a:off x="8961120" y="4434840"/>
            <a:ext cx="2194560" cy="1417320"/>
          </a:xfrm>
          <a:prstGeom prst="rect">
            <a:avLst/>
          </a:prstGeom>
          <a:noFill/>
          <a:ln/>
        </p:spPr>
        <p:txBody>
          <a:bodyPr wrap="square" lIns="0" tIns="0" rIns="0" bIns="0" rtlCol="0" anchor="t"/>
          <a:lstStyle/>
          <a:p>
            <a:pPr algn="ctr" indent="0" marL="0">
              <a:lnSpc>
                <a:spcPts val="1700"/>
              </a:lnSpc>
              <a:buNone/>
            </a:pPr>
            <a:r>
              <a:rPr lang="en-US" sz="1150" dirty="0">
                <a:solidFill>
                  <a:srgbClr val="6E5C63"/>
                </a:solidFill>
                <a:latin typeface="Karla" pitchFamily="34" charset="0"/>
                <a:ea typeface="Karla" pitchFamily="34" charset="-122"/>
                <a:cs typeface="Karla" pitchFamily="34" charset="-120"/>
              </a:rPr>
              <a:t>Publish, tell your list, ask five people to look.</a:t>
            </a:r>
            <a:endParaRPr lang="en-US" sz="11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96</a:t>
            </a:r>
            <a:endParaRPr lang="en-US" sz="950" dirty="0"/>
          </a:p>
        </p:txBody>
      </p:sp>
      <p:sp>
        <p:nvSpPr>
          <p:cNvPr id="3" name="Text 1"/>
          <p:cNvSpPr/>
          <p:nvPr/>
        </p:nvSpPr>
        <p:spPr>
          <a:xfrm>
            <a:off x="777240" y="658368"/>
            <a:ext cx="1060704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LAUNCH CHECKLIST</a:t>
            </a:r>
            <a:endParaRPr lang="en-US" sz="1100" dirty="0"/>
          </a:p>
        </p:txBody>
      </p:sp>
      <p:sp>
        <p:nvSpPr>
          <p:cNvPr id="4" name="Text 2"/>
          <p:cNvSpPr/>
          <p:nvPr/>
        </p:nvSpPr>
        <p:spPr>
          <a:xfrm>
            <a:off x="777240" y="1051560"/>
            <a:ext cx="7863840" cy="914400"/>
          </a:xfrm>
          <a:prstGeom prst="rect">
            <a:avLst/>
          </a:prstGeom>
          <a:noFill/>
          <a:ln/>
        </p:spPr>
        <p:txBody>
          <a:bodyPr wrap="square" lIns="0" tIns="0" rIns="0" bIns="0" rtlCol="0" anchor="t"/>
          <a:lstStyle/>
          <a:p>
            <a:pPr indent="0" marL="0">
              <a:lnSpc>
                <a:spcPts val="3700"/>
              </a:lnSpc>
              <a:buNone/>
            </a:pPr>
            <a:r>
              <a:rPr lang="en-US" sz="3300" dirty="0">
                <a:solidFill>
                  <a:srgbClr val="FBF6EE"/>
                </a:solidFill>
                <a:latin typeface="Fraunces" pitchFamily="34" charset="0"/>
                <a:ea typeface="Fraunces" pitchFamily="34" charset="-122"/>
                <a:cs typeface="Fraunces" pitchFamily="34" charset="-120"/>
              </a:rPr>
              <a:t>Before you call it done.</a:t>
            </a:r>
            <a:endParaRPr lang="en-US" sz="3300" dirty="0"/>
          </a:p>
        </p:txBody>
      </p:sp>
      <p:sp>
        <p:nvSpPr>
          <p:cNvPr id="5" name="Shape 3"/>
          <p:cNvSpPr/>
          <p:nvPr/>
        </p:nvSpPr>
        <p:spPr>
          <a:xfrm>
            <a:off x="777240" y="2514600"/>
            <a:ext cx="347472" cy="347472"/>
          </a:xfrm>
          <a:prstGeom prst="roundRect">
            <a:avLst>
              <a:gd name="adj" fmla="val 21053"/>
            </a:avLst>
          </a:prstGeom>
          <a:solidFill>
            <a:srgbClr val="2E1F27"/>
          </a:solidFill>
          <a:ln w="15875">
            <a:solidFill>
              <a:srgbClr val="A93F63"/>
            </a:solidFill>
            <a:prstDash val="solid"/>
          </a:ln>
        </p:spPr>
      </p:sp>
      <p:sp>
        <p:nvSpPr>
          <p:cNvPr id="6" name="Text 4"/>
          <p:cNvSpPr/>
          <p:nvPr/>
        </p:nvSpPr>
        <p:spPr>
          <a:xfrm>
            <a:off x="13441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My offer sentence is written and priced</a:t>
            </a:r>
            <a:endParaRPr lang="en-US" sz="1300" dirty="0"/>
          </a:p>
        </p:txBody>
      </p:sp>
      <p:sp>
        <p:nvSpPr>
          <p:cNvPr id="7" name="Shape 5"/>
          <p:cNvSpPr/>
          <p:nvPr/>
        </p:nvSpPr>
        <p:spPr>
          <a:xfrm>
            <a:off x="777240" y="3538728"/>
            <a:ext cx="347472" cy="347472"/>
          </a:xfrm>
          <a:prstGeom prst="roundRect">
            <a:avLst>
              <a:gd name="adj" fmla="val 21053"/>
            </a:avLst>
          </a:prstGeom>
          <a:solidFill>
            <a:srgbClr val="2E1F27"/>
          </a:solidFill>
          <a:ln w="15875">
            <a:solidFill>
              <a:srgbClr val="A93F63"/>
            </a:solidFill>
            <a:prstDash val="solid"/>
          </a:ln>
        </p:spPr>
      </p:sp>
      <p:sp>
        <p:nvSpPr>
          <p:cNvPr id="8" name="Text 6"/>
          <p:cNvSpPr/>
          <p:nvPr/>
        </p:nvSpPr>
        <p:spPr>
          <a:xfrm>
            <a:off x="13441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 offer page headline names the outcome</a:t>
            </a:r>
            <a:endParaRPr lang="en-US" sz="1300" dirty="0"/>
          </a:p>
        </p:txBody>
      </p:sp>
      <p:sp>
        <p:nvSpPr>
          <p:cNvPr id="9" name="Shape 7"/>
          <p:cNvSpPr/>
          <p:nvPr/>
        </p:nvSpPr>
        <p:spPr>
          <a:xfrm>
            <a:off x="777240" y="4562856"/>
            <a:ext cx="347472" cy="347472"/>
          </a:xfrm>
          <a:prstGeom prst="roundRect">
            <a:avLst>
              <a:gd name="adj" fmla="val 21053"/>
            </a:avLst>
          </a:prstGeom>
          <a:solidFill>
            <a:srgbClr val="2E1F27"/>
          </a:solidFill>
          <a:ln w="15875">
            <a:solidFill>
              <a:srgbClr val="A93F63"/>
            </a:solidFill>
            <a:prstDash val="solid"/>
          </a:ln>
        </p:spPr>
      </p:sp>
      <p:sp>
        <p:nvSpPr>
          <p:cNvPr id="10" name="Text 8"/>
          <p:cNvSpPr/>
          <p:nvPr/>
        </p:nvSpPr>
        <p:spPr>
          <a:xfrm>
            <a:off x="13441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There is proof above the fold</a:t>
            </a:r>
            <a:endParaRPr lang="en-US" sz="1300" dirty="0"/>
          </a:p>
        </p:txBody>
      </p:sp>
      <p:sp>
        <p:nvSpPr>
          <p:cNvPr id="11" name="Shape 9"/>
          <p:cNvSpPr/>
          <p:nvPr/>
        </p:nvSpPr>
        <p:spPr>
          <a:xfrm>
            <a:off x="6263640" y="2514600"/>
            <a:ext cx="347472" cy="347472"/>
          </a:xfrm>
          <a:prstGeom prst="roundRect">
            <a:avLst>
              <a:gd name="adj" fmla="val 21053"/>
            </a:avLst>
          </a:prstGeom>
          <a:solidFill>
            <a:srgbClr val="2E1F27"/>
          </a:solidFill>
          <a:ln w="15875">
            <a:solidFill>
              <a:srgbClr val="A93F63"/>
            </a:solidFill>
            <a:prstDash val="solid"/>
          </a:ln>
        </p:spPr>
      </p:sp>
      <p:sp>
        <p:nvSpPr>
          <p:cNvPr id="12" name="Text 10"/>
          <p:cNvSpPr/>
          <p:nvPr/>
        </p:nvSpPr>
        <p:spPr>
          <a:xfrm>
            <a:off x="6830568" y="2368296"/>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One clear button, repeated down the page</a:t>
            </a:r>
            <a:endParaRPr lang="en-US" sz="1300" dirty="0"/>
          </a:p>
        </p:txBody>
      </p:sp>
      <p:sp>
        <p:nvSpPr>
          <p:cNvPr id="13" name="Shape 11"/>
          <p:cNvSpPr/>
          <p:nvPr/>
        </p:nvSpPr>
        <p:spPr>
          <a:xfrm>
            <a:off x="6263640" y="3538728"/>
            <a:ext cx="347472" cy="347472"/>
          </a:xfrm>
          <a:prstGeom prst="roundRect">
            <a:avLst>
              <a:gd name="adj" fmla="val 21053"/>
            </a:avLst>
          </a:prstGeom>
          <a:solidFill>
            <a:srgbClr val="2E1F27"/>
          </a:solidFill>
          <a:ln w="15875">
            <a:solidFill>
              <a:srgbClr val="A93F63"/>
            </a:solidFill>
            <a:prstDash val="solid"/>
          </a:ln>
        </p:spPr>
      </p:sp>
      <p:sp>
        <p:nvSpPr>
          <p:cNvPr id="14" name="Text 12"/>
          <p:cNvSpPr/>
          <p:nvPr/>
        </p:nvSpPr>
        <p:spPr>
          <a:xfrm>
            <a:off x="6830568" y="3392424"/>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It passes the three second test on a phone</a:t>
            </a:r>
            <a:endParaRPr lang="en-US" sz="1300" dirty="0"/>
          </a:p>
        </p:txBody>
      </p:sp>
      <p:sp>
        <p:nvSpPr>
          <p:cNvPr id="15" name="Shape 13"/>
          <p:cNvSpPr/>
          <p:nvPr/>
        </p:nvSpPr>
        <p:spPr>
          <a:xfrm>
            <a:off x="6263640" y="4562856"/>
            <a:ext cx="347472" cy="347472"/>
          </a:xfrm>
          <a:prstGeom prst="roundRect">
            <a:avLst>
              <a:gd name="adj" fmla="val 21053"/>
            </a:avLst>
          </a:prstGeom>
          <a:solidFill>
            <a:srgbClr val="2E1F27"/>
          </a:solidFill>
          <a:ln w="15875">
            <a:solidFill>
              <a:srgbClr val="A93F63"/>
            </a:solidFill>
            <a:prstDash val="solid"/>
          </a:ln>
        </p:spPr>
      </p:sp>
      <p:sp>
        <p:nvSpPr>
          <p:cNvPr id="16" name="Text 14"/>
          <p:cNvSpPr/>
          <p:nvPr/>
        </p:nvSpPr>
        <p:spPr>
          <a:xfrm>
            <a:off x="6830568" y="4416552"/>
            <a:ext cx="4526280" cy="640080"/>
          </a:xfrm>
          <a:prstGeom prst="rect">
            <a:avLst/>
          </a:prstGeom>
          <a:noFill/>
          <a:ln/>
        </p:spPr>
        <p:txBody>
          <a:bodyPr wrap="square" lIns="0" tIns="0" rIns="0" bIns="0" rtlCol="0" anchor="ctr"/>
          <a:lstStyle/>
          <a:p>
            <a:pPr indent="0" marL="0">
              <a:lnSpc>
                <a:spcPts val="1800"/>
              </a:lnSpc>
              <a:buNone/>
            </a:pPr>
            <a:r>
              <a:rPr lang="en-US" sz="1300" dirty="0">
                <a:solidFill>
                  <a:srgbClr val="FBF6EE"/>
                </a:solidFill>
                <a:latin typeface="Karla" pitchFamily="34" charset="0"/>
                <a:ea typeface="Karla" pitchFamily="34" charset="-122"/>
                <a:cs typeface="Karla" pitchFamily="34" charset="-120"/>
              </a:rPr>
              <a:t>I have told my list it exists</a:t>
            </a:r>
            <a:endParaRPr lang="en-US" sz="13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A93F63"/>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97</a:t>
            </a:r>
            <a:endParaRPr lang="en-US" sz="950" dirty="0"/>
          </a:p>
        </p:txBody>
      </p:sp>
      <p:sp>
        <p:nvSpPr>
          <p:cNvPr id="3" name="Shape 1"/>
          <p:cNvSpPr/>
          <p:nvPr/>
        </p:nvSpPr>
        <p:spPr>
          <a:xfrm>
            <a:off x="-2377440" y="-2377440"/>
            <a:ext cx="5669280" cy="5669280"/>
          </a:xfrm>
          <a:prstGeom prst="ellipse">
            <a:avLst/>
          </a:prstGeom>
          <a:solidFill>
            <a:srgbClr val="FBF6EE">
              <a:alpha val="10000"/>
            </a:srgbClr>
          </a:solidFill>
          <a:ln/>
        </p:spPr>
      </p:sp>
      <p:sp>
        <p:nvSpPr>
          <p:cNvPr id="4" name="Shape 2"/>
          <p:cNvSpPr/>
          <p:nvPr/>
        </p:nvSpPr>
        <p:spPr>
          <a:xfrm>
            <a:off x="9601200" y="4480560"/>
            <a:ext cx="5120640" cy="5120640"/>
          </a:xfrm>
          <a:prstGeom prst="ellipse">
            <a:avLst/>
          </a:prstGeom>
          <a:solidFill>
            <a:srgbClr val="7C2B48">
              <a:alpha val="45000"/>
            </a:srgbClr>
          </a:solidFill>
          <a:ln/>
        </p:spPr>
      </p:sp>
      <p:sp>
        <p:nvSpPr>
          <p:cNvPr id="5" name="Text 3"/>
          <p:cNvSpPr/>
          <p:nvPr/>
        </p:nvSpPr>
        <p:spPr>
          <a:xfrm>
            <a:off x="1463040" y="1783080"/>
            <a:ext cx="9235440" cy="2743200"/>
          </a:xfrm>
          <a:prstGeom prst="rect">
            <a:avLst/>
          </a:prstGeom>
          <a:noFill/>
          <a:ln/>
        </p:spPr>
        <p:txBody>
          <a:bodyPr wrap="square" lIns="0" tIns="0" rIns="0" bIns="0" rtlCol="0" anchor="ctr"/>
          <a:lstStyle/>
          <a:p>
            <a:pPr algn="ctr" indent="0" marL="0">
              <a:lnSpc>
                <a:spcPts val="5200"/>
              </a:lnSpc>
              <a:buNone/>
            </a:pPr>
            <a:r>
              <a:rPr lang="en-US" sz="4600" dirty="0">
                <a:solidFill>
                  <a:srgbClr val="FBF6EE"/>
                </a:solidFill>
                <a:latin typeface="Fraunces" pitchFamily="34" charset="0"/>
                <a:ea typeface="Fraunces" pitchFamily="34" charset="-122"/>
                <a:cs typeface="Fraunces" pitchFamily="34" charset="-120"/>
              </a:rPr>
              <a:t>You do not need two years.
</a:t>
            </a:r>
            <a:pPr algn="ctr" indent="0" marL="0">
              <a:lnSpc>
                <a:spcPts val="5200"/>
              </a:lnSpc>
              <a:buNone/>
            </a:pPr>
            <a:r>
              <a:rPr lang="en-US" sz="4600" i="1" dirty="0">
                <a:solidFill>
                  <a:srgbClr val="2E1F27"/>
                </a:solidFill>
                <a:latin typeface="Fraunces" pitchFamily="34" charset="0"/>
                <a:ea typeface="Fraunces" pitchFamily="34" charset="-122"/>
                <a:cs typeface="Fraunces" pitchFamily="34" charset="-120"/>
              </a:rPr>
              <a:t>You needed the order.</a:t>
            </a:r>
            <a:endParaRPr lang="en-US" sz="4600" dirty="0"/>
          </a:p>
        </p:txBody>
      </p:sp>
      <p:sp>
        <p:nvSpPr>
          <p:cNvPr id="6" name="Text 4"/>
          <p:cNvSpPr/>
          <p:nvPr/>
        </p:nvSpPr>
        <p:spPr>
          <a:xfrm>
            <a:off x="2377440" y="4754880"/>
            <a:ext cx="7406640" cy="548640"/>
          </a:xfrm>
          <a:prstGeom prst="rect">
            <a:avLst/>
          </a:prstGeom>
          <a:noFill/>
          <a:ln/>
        </p:spPr>
        <p:txBody>
          <a:bodyPr wrap="square" lIns="0" tIns="0" rIns="0" bIns="0" rtlCol="0" anchor="t"/>
          <a:lstStyle/>
          <a:p>
            <a:pPr algn="ctr" indent="0" marL="0">
              <a:buNone/>
            </a:pPr>
            <a:r>
              <a:rPr lang="en-US" sz="1350" dirty="0">
                <a:solidFill>
                  <a:srgbClr val="F9E7EC"/>
                </a:solidFill>
                <a:latin typeface="Karla" pitchFamily="34" charset="0"/>
                <a:ea typeface="Karla" pitchFamily="34" charset="-122"/>
                <a:cs typeface="Karla" pitchFamily="34" charset="-120"/>
              </a:rPr>
              <a:t>That is the whole thing. Now go build it.</a:t>
            </a:r>
            <a:endParaRPr lang="en-US" sz="13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98</a:t>
            </a:r>
            <a:endParaRPr lang="en-US" sz="950" dirty="0"/>
          </a:p>
        </p:txBody>
      </p:sp>
      <p:sp>
        <p:nvSpPr>
          <p:cNvPr id="3" name="Text 1"/>
          <p:cNvSpPr/>
          <p:nvPr/>
        </p:nvSpPr>
        <p:spPr>
          <a:xfrm>
            <a:off x="777240" y="685800"/>
            <a:ext cx="10607040" cy="274320"/>
          </a:xfrm>
          <a:prstGeom prst="rect">
            <a:avLst/>
          </a:prstGeom>
          <a:noFill/>
          <a:ln/>
        </p:spPr>
        <p:txBody>
          <a:bodyPr wrap="square" lIns="0" tIns="0" rIns="0" bIns="0" rtlCol="0" anchor="t"/>
          <a:lstStyle/>
          <a:p>
            <a:pPr indent="0" marL="0">
              <a:buNone/>
            </a:pPr>
            <a:r>
              <a:rPr lang="en-US" sz="1100" b="1" spc="300" kern="0" dirty="0">
                <a:solidFill>
                  <a:srgbClr val="BC8A47"/>
                </a:solidFill>
                <a:latin typeface="Karla" pitchFamily="34" charset="0"/>
                <a:ea typeface="Karla" pitchFamily="34" charset="-122"/>
                <a:cs typeface="Karla" pitchFamily="34" charset="-120"/>
              </a:rPr>
              <a:t>KEEP GOING</a:t>
            </a:r>
            <a:endParaRPr lang="en-US" sz="1100" dirty="0"/>
          </a:p>
        </p:txBody>
      </p:sp>
      <p:sp>
        <p:nvSpPr>
          <p:cNvPr id="4" name="Text 2"/>
          <p:cNvSpPr/>
          <p:nvPr/>
        </p:nvSpPr>
        <p:spPr>
          <a:xfrm>
            <a:off x="777240" y="1097280"/>
            <a:ext cx="7863840" cy="914400"/>
          </a:xfrm>
          <a:prstGeom prst="rect">
            <a:avLst/>
          </a:prstGeom>
          <a:noFill/>
          <a:ln/>
        </p:spPr>
        <p:txBody>
          <a:bodyPr wrap="square" lIns="0" tIns="0" rIns="0" bIns="0" rtlCol="0" anchor="t"/>
          <a:lstStyle/>
          <a:p>
            <a:pPr indent="0" marL="0">
              <a:lnSpc>
                <a:spcPts val="3800"/>
              </a:lnSpc>
              <a:buNone/>
            </a:pPr>
            <a:r>
              <a:rPr lang="en-US" sz="3400" dirty="0">
                <a:solidFill>
                  <a:srgbClr val="FBF6EE"/>
                </a:solidFill>
                <a:latin typeface="Fraunces" pitchFamily="34" charset="0"/>
                <a:ea typeface="Fraunces" pitchFamily="34" charset="-122"/>
                <a:cs typeface="Fraunces" pitchFamily="34" charset="-120"/>
              </a:rPr>
              <a:t>Everything else that will help.</a:t>
            </a:r>
            <a:endParaRPr lang="en-US" sz="3400" dirty="0"/>
          </a:p>
        </p:txBody>
      </p:sp>
      <p:sp>
        <p:nvSpPr>
          <p:cNvPr id="5" name="Shape 3"/>
          <p:cNvSpPr/>
          <p:nvPr/>
        </p:nvSpPr>
        <p:spPr>
          <a:xfrm>
            <a:off x="777240" y="2377440"/>
            <a:ext cx="5157216" cy="1005840"/>
          </a:xfrm>
          <a:prstGeom prst="roundRect">
            <a:avLst>
              <a:gd name="adj" fmla="val 12727"/>
            </a:avLst>
          </a:prstGeom>
          <a:solidFill>
            <a:srgbClr val="3B2A32"/>
          </a:solidFill>
          <a:ln w="9525">
            <a:solidFill>
              <a:srgbClr val="4C3A42"/>
            </a:solidFill>
            <a:prstDash val="solid"/>
          </a:ln>
        </p:spPr>
      </p:sp>
      <p:sp>
        <p:nvSpPr>
          <p:cNvPr id="6" name="Text 4"/>
          <p:cNvSpPr/>
          <p:nvPr/>
        </p:nvSpPr>
        <p:spPr>
          <a:xfrm>
            <a:off x="1097280" y="2560320"/>
            <a:ext cx="4517136" cy="320040"/>
          </a:xfrm>
          <a:prstGeom prst="rect">
            <a:avLst/>
          </a:prstGeom>
          <a:noFill/>
          <a:ln/>
        </p:spPr>
        <p:txBody>
          <a:bodyPr wrap="square" lIns="0" tIns="0" rIns="0" bIns="0" rtlCol="0" anchor="t"/>
          <a:lstStyle/>
          <a:p>
            <a:pPr indent="0" marL="0">
              <a:buNone/>
            </a:pPr>
            <a:r>
              <a:rPr lang="en-US" sz="1600" dirty="0">
                <a:solidFill>
                  <a:srgbClr val="FBF6EE"/>
                </a:solidFill>
                <a:latin typeface="Fraunces" pitchFamily="34" charset="0"/>
                <a:ea typeface="Fraunces" pitchFamily="34" charset="-122"/>
                <a:cs typeface="Fraunces" pitchFamily="34" charset="-120"/>
              </a:rPr>
              <a:t>The rest of the free library</a:t>
            </a:r>
            <a:endParaRPr lang="en-US" sz="1600" dirty="0"/>
          </a:p>
        </p:txBody>
      </p:sp>
      <p:sp>
        <p:nvSpPr>
          <p:cNvPr id="7" name="Text 5"/>
          <p:cNvSpPr/>
          <p:nvPr/>
        </p:nvSpPr>
        <p:spPr>
          <a:xfrm>
            <a:off x="1097280" y="2926080"/>
            <a:ext cx="4517136" cy="320040"/>
          </a:xfrm>
          <a:prstGeom prst="rect">
            <a:avLst/>
          </a:prstGeom>
          <a:noFill/>
          <a:ln/>
        </p:spPr>
        <p:txBody>
          <a:bodyPr wrap="square" lIns="0" tIns="0" rIns="0" bIns="0" rtlCol="0" anchor="t"/>
          <a:lstStyle/>
          <a:p>
            <a:pPr indent="0" marL="0">
              <a:buNone/>
            </a:pPr>
            <a:r>
              <a:rPr lang="en-US" sz="1150" dirty="0">
                <a:solidFill>
                  <a:srgbClr val="E39BB4"/>
                </a:solidFill>
                <a:latin typeface="Karla" pitchFamily="34" charset="0"/>
                <a:ea typeface="Karla" pitchFamily="34" charset="-122"/>
                <a:cs typeface="Karla" pitchFamily="34" charset="-120"/>
              </a:rPr>
              <a:t>bossladybloggers.com/freebies</a:t>
            </a:r>
            <a:endParaRPr lang="en-US" sz="1150" dirty="0"/>
          </a:p>
        </p:txBody>
      </p:sp>
      <p:sp>
        <p:nvSpPr>
          <p:cNvPr id="8" name="Shape 6"/>
          <p:cNvSpPr/>
          <p:nvPr/>
        </p:nvSpPr>
        <p:spPr>
          <a:xfrm>
            <a:off x="6227064" y="2377440"/>
            <a:ext cx="5157216" cy="1005840"/>
          </a:xfrm>
          <a:prstGeom prst="roundRect">
            <a:avLst>
              <a:gd name="adj" fmla="val 12727"/>
            </a:avLst>
          </a:prstGeom>
          <a:solidFill>
            <a:srgbClr val="3B2A32"/>
          </a:solidFill>
          <a:ln w="9525">
            <a:solidFill>
              <a:srgbClr val="4C3A42"/>
            </a:solidFill>
            <a:prstDash val="solid"/>
          </a:ln>
        </p:spPr>
      </p:sp>
      <p:sp>
        <p:nvSpPr>
          <p:cNvPr id="9" name="Text 7"/>
          <p:cNvSpPr/>
          <p:nvPr/>
        </p:nvSpPr>
        <p:spPr>
          <a:xfrm>
            <a:off x="6547104" y="2560320"/>
            <a:ext cx="4517136" cy="320040"/>
          </a:xfrm>
          <a:prstGeom prst="rect">
            <a:avLst/>
          </a:prstGeom>
          <a:noFill/>
          <a:ln/>
        </p:spPr>
        <p:txBody>
          <a:bodyPr wrap="square" lIns="0" tIns="0" rIns="0" bIns="0" rtlCol="0" anchor="t"/>
          <a:lstStyle/>
          <a:p>
            <a:pPr indent="0" marL="0">
              <a:buNone/>
            </a:pPr>
            <a:r>
              <a:rPr lang="en-US" sz="1600" dirty="0">
                <a:solidFill>
                  <a:srgbClr val="FBF6EE"/>
                </a:solidFill>
                <a:latin typeface="Fraunces" pitchFamily="34" charset="0"/>
                <a:ea typeface="Fraunces" pitchFamily="34" charset="-122"/>
                <a:cs typeface="Fraunces" pitchFamily="34" charset="-120"/>
              </a:rPr>
              <a:t>The podcast</a:t>
            </a:r>
            <a:endParaRPr lang="en-US" sz="1600" dirty="0"/>
          </a:p>
        </p:txBody>
      </p:sp>
      <p:sp>
        <p:nvSpPr>
          <p:cNvPr id="10" name="Text 8"/>
          <p:cNvSpPr/>
          <p:nvPr/>
        </p:nvSpPr>
        <p:spPr>
          <a:xfrm>
            <a:off x="6547104" y="2926080"/>
            <a:ext cx="4517136" cy="320040"/>
          </a:xfrm>
          <a:prstGeom prst="rect">
            <a:avLst/>
          </a:prstGeom>
          <a:noFill/>
          <a:ln/>
        </p:spPr>
        <p:txBody>
          <a:bodyPr wrap="square" lIns="0" tIns="0" rIns="0" bIns="0" rtlCol="0" anchor="t"/>
          <a:lstStyle/>
          <a:p>
            <a:pPr indent="0" marL="0">
              <a:buNone/>
            </a:pPr>
            <a:r>
              <a:rPr lang="en-US" sz="1150" dirty="0">
                <a:solidFill>
                  <a:srgbClr val="E39BB4"/>
                </a:solidFill>
                <a:latin typeface="Karla" pitchFamily="34" charset="0"/>
                <a:ea typeface="Karla" pitchFamily="34" charset="-122"/>
                <a:cs typeface="Karla" pitchFamily="34" charset="-120"/>
              </a:rPr>
              <a:t>bossladybloggers.com/podcast</a:t>
            </a:r>
            <a:endParaRPr lang="en-US" sz="1150" dirty="0"/>
          </a:p>
        </p:txBody>
      </p:sp>
      <p:sp>
        <p:nvSpPr>
          <p:cNvPr id="11" name="Shape 9"/>
          <p:cNvSpPr/>
          <p:nvPr/>
        </p:nvSpPr>
        <p:spPr>
          <a:xfrm>
            <a:off x="777240" y="3584448"/>
            <a:ext cx="5157216" cy="1005840"/>
          </a:xfrm>
          <a:prstGeom prst="roundRect">
            <a:avLst>
              <a:gd name="adj" fmla="val 12727"/>
            </a:avLst>
          </a:prstGeom>
          <a:solidFill>
            <a:srgbClr val="3B2A32"/>
          </a:solidFill>
          <a:ln w="9525">
            <a:solidFill>
              <a:srgbClr val="4C3A42"/>
            </a:solidFill>
            <a:prstDash val="solid"/>
          </a:ln>
        </p:spPr>
      </p:sp>
      <p:sp>
        <p:nvSpPr>
          <p:cNvPr id="12" name="Text 10"/>
          <p:cNvSpPr/>
          <p:nvPr/>
        </p:nvSpPr>
        <p:spPr>
          <a:xfrm>
            <a:off x="1097280" y="3767328"/>
            <a:ext cx="4517136" cy="320040"/>
          </a:xfrm>
          <a:prstGeom prst="rect">
            <a:avLst/>
          </a:prstGeom>
          <a:noFill/>
          <a:ln/>
        </p:spPr>
        <p:txBody>
          <a:bodyPr wrap="square" lIns="0" tIns="0" rIns="0" bIns="0" rtlCol="0" anchor="t"/>
          <a:lstStyle/>
          <a:p>
            <a:pPr indent="0" marL="0">
              <a:buNone/>
            </a:pPr>
            <a:r>
              <a:rPr lang="en-US" sz="1600" dirty="0">
                <a:solidFill>
                  <a:srgbClr val="FBF6EE"/>
                </a:solidFill>
                <a:latin typeface="Fraunces" pitchFamily="34" charset="0"/>
                <a:ea typeface="Fraunces" pitchFamily="34" charset="-122"/>
                <a:cs typeface="Fraunces" pitchFamily="34" charset="-120"/>
              </a:rPr>
              <a:t>The Blog Accelerator</a:t>
            </a:r>
            <a:endParaRPr lang="en-US" sz="1600" dirty="0"/>
          </a:p>
        </p:txBody>
      </p:sp>
      <p:sp>
        <p:nvSpPr>
          <p:cNvPr id="13" name="Text 11"/>
          <p:cNvSpPr/>
          <p:nvPr/>
        </p:nvSpPr>
        <p:spPr>
          <a:xfrm>
            <a:off x="1097280" y="4133088"/>
            <a:ext cx="4517136" cy="320040"/>
          </a:xfrm>
          <a:prstGeom prst="rect">
            <a:avLst/>
          </a:prstGeom>
          <a:noFill/>
          <a:ln/>
        </p:spPr>
        <p:txBody>
          <a:bodyPr wrap="square" lIns="0" tIns="0" rIns="0" bIns="0" rtlCol="0" anchor="t"/>
          <a:lstStyle/>
          <a:p>
            <a:pPr indent="0" marL="0">
              <a:buNone/>
            </a:pPr>
            <a:r>
              <a:rPr lang="en-US" sz="1150" dirty="0">
                <a:solidFill>
                  <a:srgbClr val="E39BB4"/>
                </a:solidFill>
                <a:latin typeface="Karla" pitchFamily="34" charset="0"/>
                <a:ea typeface="Karla" pitchFamily="34" charset="-122"/>
                <a:cs typeface="Karla" pitchFamily="34" charset="-120"/>
              </a:rPr>
              <a:t>bossladybloggers.com/blog-accelerator</a:t>
            </a:r>
            <a:endParaRPr lang="en-US" sz="1150" dirty="0"/>
          </a:p>
        </p:txBody>
      </p:sp>
      <p:sp>
        <p:nvSpPr>
          <p:cNvPr id="14" name="Shape 12"/>
          <p:cNvSpPr/>
          <p:nvPr/>
        </p:nvSpPr>
        <p:spPr>
          <a:xfrm>
            <a:off x="6227064" y="3584448"/>
            <a:ext cx="5157216" cy="1005840"/>
          </a:xfrm>
          <a:prstGeom prst="roundRect">
            <a:avLst>
              <a:gd name="adj" fmla="val 12727"/>
            </a:avLst>
          </a:prstGeom>
          <a:solidFill>
            <a:srgbClr val="3B2A32"/>
          </a:solidFill>
          <a:ln w="9525">
            <a:solidFill>
              <a:srgbClr val="4C3A42"/>
            </a:solidFill>
            <a:prstDash val="solid"/>
          </a:ln>
        </p:spPr>
      </p:sp>
      <p:sp>
        <p:nvSpPr>
          <p:cNvPr id="15" name="Text 13"/>
          <p:cNvSpPr/>
          <p:nvPr/>
        </p:nvSpPr>
        <p:spPr>
          <a:xfrm>
            <a:off x="6547104" y="3767328"/>
            <a:ext cx="4517136" cy="320040"/>
          </a:xfrm>
          <a:prstGeom prst="rect">
            <a:avLst/>
          </a:prstGeom>
          <a:noFill/>
          <a:ln/>
        </p:spPr>
        <p:txBody>
          <a:bodyPr wrap="square" lIns="0" tIns="0" rIns="0" bIns="0" rtlCol="0" anchor="t"/>
          <a:lstStyle/>
          <a:p>
            <a:pPr indent="0" marL="0">
              <a:buNone/>
            </a:pPr>
            <a:r>
              <a:rPr lang="en-US" sz="1600" dirty="0">
                <a:solidFill>
                  <a:srgbClr val="FBF6EE"/>
                </a:solidFill>
                <a:latin typeface="Fraunces" pitchFamily="34" charset="0"/>
                <a:ea typeface="Fraunces" pitchFamily="34" charset="-122"/>
                <a:cs typeface="Fraunces" pitchFamily="34" charset="-120"/>
              </a:rPr>
              <a:t>Book a free call</a:t>
            </a:r>
            <a:endParaRPr lang="en-US" sz="1600" dirty="0"/>
          </a:p>
        </p:txBody>
      </p:sp>
      <p:sp>
        <p:nvSpPr>
          <p:cNvPr id="16" name="Text 14"/>
          <p:cNvSpPr/>
          <p:nvPr/>
        </p:nvSpPr>
        <p:spPr>
          <a:xfrm>
            <a:off x="6547104" y="4133088"/>
            <a:ext cx="4517136" cy="320040"/>
          </a:xfrm>
          <a:prstGeom prst="rect">
            <a:avLst/>
          </a:prstGeom>
          <a:noFill/>
          <a:ln/>
        </p:spPr>
        <p:txBody>
          <a:bodyPr wrap="square" lIns="0" tIns="0" rIns="0" bIns="0" rtlCol="0" anchor="t"/>
          <a:lstStyle/>
          <a:p>
            <a:pPr indent="0" marL="0">
              <a:buNone/>
            </a:pPr>
            <a:r>
              <a:rPr lang="en-US" sz="1150" dirty="0">
                <a:solidFill>
                  <a:srgbClr val="E39BB4"/>
                </a:solidFill>
                <a:latin typeface="Karla" pitchFamily="34" charset="0"/>
                <a:ea typeface="Karla" pitchFamily="34" charset="-122"/>
                <a:cs typeface="Karla" pitchFamily="34" charset="-120"/>
              </a:rPr>
              <a:t>bossladybloggers.com/book-a-call</a:t>
            </a:r>
            <a:endParaRPr lang="en-US" sz="1150" dirty="0"/>
          </a:p>
        </p:txBody>
      </p:sp>
      <p:sp>
        <p:nvSpPr>
          <p:cNvPr id="17" name="Shape 15"/>
          <p:cNvSpPr/>
          <p:nvPr/>
        </p:nvSpPr>
        <p:spPr>
          <a:xfrm>
            <a:off x="777240" y="4791456"/>
            <a:ext cx="5157216" cy="1005840"/>
          </a:xfrm>
          <a:prstGeom prst="roundRect">
            <a:avLst>
              <a:gd name="adj" fmla="val 12727"/>
            </a:avLst>
          </a:prstGeom>
          <a:solidFill>
            <a:srgbClr val="3B2A32"/>
          </a:solidFill>
          <a:ln w="9525">
            <a:solidFill>
              <a:srgbClr val="4C3A42"/>
            </a:solidFill>
            <a:prstDash val="solid"/>
          </a:ln>
        </p:spPr>
      </p:sp>
      <p:sp>
        <p:nvSpPr>
          <p:cNvPr id="18" name="Text 16"/>
          <p:cNvSpPr/>
          <p:nvPr/>
        </p:nvSpPr>
        <p:spPr>
          <a:xfrm>
            <a:off x="1097280" y="4974336"/>
            <a:ext cx="4517136" cy="320040"/>
          </a:xfrm>
          <a:prstGeom prst="rect">
            <a:avLst/>
          </a:prstGeom>
          <a:noFill/>
          <a:ln/>
        </p:spPr>
        <p:txBody>
          <a:bodyPr wrap="square" lIns="0" tIns="0" rIns="0" bIns="0" rtlCol="0" anchor="t"/>
          <a:lstStyle/>
          <a:p>
            <a:pPr indent="0" marL="0">
              <a:buNone/>
            </a:pPr>
            <a:r>
              <a:rPr lang="en-US" sz="1600" dirty="0">
                <a:solidFill>
                  <a:srgbClr val="FBF6EE"/>
                </a:solidFill>
                <a:latin typeface="Fraunces" pitchFamily="34" charset="0"/>
                <a:ea typeface="Fraunces" pitchFamily="34" charset="-122"/>
                <a:cs typeface="Fraunces" pitchFamily="34" charset="-120"/>
              </a:rPr>
              <a:t>Blog coaching sessions</a:t>
            </a:r>
            <a:endParaRPr lang="en-US" sz="1600" dirty="0"/>
          </a:p>
        </p:txBody>
      </p:sp>
      <p:sp>
        <p:nvSpPr>
          <p:cNvPr id="19" name="Text 17"/>
          <p:cNvSpPr/>
          <p:nvPr/>
        </p:nvSpPr>
        <p:spPr>
          <a:xfrm>
            <a:off x="1097280" y="5340096"/>
            <a:ext cx="4517136" cy="320040"/>
          </a:xfrm>
          <a:prstGeom prst="rect">
            <a:avLst/>
          </a:prstGeom>
          <a:noFill/>
          <a:ln/>
        </p:spPr>
        <p:txBody>
          <a:bodyPr wrap="square" lIns="0" tIns="0" rIns="0" bIns="0" rtlCol="0" anchor="t"/>
          <a:lstStyle/>
          <a:p>
            <a:pPr indent="0" marL="0">
              <a:buNone/>
            </a:pPr>
            <a:r>
              <a:rPr lang="en-US" sz="1150" dirty="0">
                <a:solidFill>
                  <a:srgbClr val="E39BB4"/>
                </a:solidFill>
                <a:latin typeface="Karla" pitchFamily="34" charset="0"/>
                <a:ea typeface="Karla" pitchFamily="34" charset="-122"/>
                <a:cs typeface="Karla" pitchFamily="34" charset="-120"/>
              </a:rPr>
              <a:t>bossladybloggers.com/blog-coaching</a:t>
            </a:r>
            <a:endParaRPr lang="en-US" sz="1150" dirty="0"/>
          </a:p>
        </p:txBody>
      </p:sp>
      <p:sp>
        <p:nvSpPr>
          <p:cNvPr id="20" name="Shape 18"/>
          <p:cNvSpPr/>
          <p:nvPr/>
        </p:nvSpPr>
        <p:spPr>
          <a:xfrm>
            <a:off x="6227064" y="4791456"/>
            <a:ext cx="5157216" cy="1005840"/>
          </a:xfrm>
          <a:prstGeom prst="roundRect">
            <a:avLst>
              <a:gd name="adj" fmla="val 12727"/>
            </a:avLst>
          </a:prstGeom>
          <a:solidFill>
            <a:srgbClr val="3B2A32"/>
          </a:solidFill>
          <a:ln w="9525">
            <a:solidFill>
              <a:srgbClr val="4C3A42"/>
            </a:solidFill>
            <a:prstDash val="solid"/>
          </a:ln>
        </p:spPr>
      </p:sp>
      <p:sp>
        <p:nvSpPr>
          <p:cNvPr id="21" name="Text 19"/>
          <p:cNvSpPr/>
          <p:nvPr/>
        </p:nvSpPr>
        <p:spPr>
          <a:xfrm>
            <a:off x="6547104" y="4974336"/>
            <a:ext cx="4517136" cy="320040"/>
          </a:xfrm>
          <a:prstGeom prst="rect">
            <a:avLst/>
          </a:prstGeom>
          <a:noFill/>
          <a:ln/>
        </p:spPr>
        <p:txBody>
          <a:bodyPr wrap="square" lIns="0" tIns="0" rIns="0" bIns="0" rtlCol="0" anchor="t"/>
          <a:lstStyle/>
          <a:p>
            <a:pPr indent="0" marL="0">
              <a:buNone/>
            </a:pPr>
            <a:r>
              <a:rPr lang="en-US" sz="1600" dirty="0">
                <a:solidFill>
                  <a:srgbClr val="FBF6EE"/>
                </a:solidFill>
                <a:latin typeface="Fraunces" pitchFamily="34" charset="0"/>
                <a:ea typeface="Fraunces" pitchFamily="34" charset="-122"/>
                <a:cs typeface="Fraunces" pitchFamily="34" charset="-120"/>
              </a:rPr>
              <a:t>Questions?</a:t>
            </a:r>
            <a:endParaRPr lang="en-US" sz="1600" dirty="0"/>
          </a:p>
        </p:txBody>
      </p:sp>
      <p:sp>
        <p:nvSpPr>
          <p:cNvPr id="22" name="Text 20"/>
          <p:cNvSpPr/>
          <p:nvPr/>
        </p:nvSpPr>
        <p:spPr>
          <a:xfrm>
            <a:off x="6547104" y="5340096"/>
            <a:ext cx="4517136" cy="320040"/>
          </a:xfrm>
          <a:prstGeom prst="rect">
            <a:avLst/>
          </a:prstGeom>
          <a:noFill/>
          <a:ln/>
        </p:spPr>
        <p:txBody>
          <a:bodyPr wrap="square" lIns="0" tIns="0" rIns="0" bIns="0" rtlCol="0" anchor="t"/>
          <a:lstStyle/>
          <a:p>
            <a:pPr indent="0" marL="0">
              <a:buNone/>
            </a:pPr>
            <a:r>
              <a:rPr lang="en-US" sz="1150" dirty="0">
                <a:solidFill>
                  <a:srgbClr val="E39BB4"/>
                </a:solidFill>
                <a:latin typeface="Karla" pitchFamily="34" charset="0"/>
                <a:ea typeface="Karla" pitchFamily="34" charset="-122"/>
                <a:cs typeface="Karla" pitchFamily="34" charset="-120"/>
              </a:rPr>
              <a:t>hello@bossladybloggers.com</a:t>
            </a:r>
            <a:endParaRPr lang="en-US" sz="11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BF6EE"/>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C3B6AC"/>
                </a:solidFill>
                <a:latin typeface="Karla" pitchFamily="34" charset="0"/>
                <a:ea typeface="Karla" pitchFamily="34" charset="-122"/>
                <a:cs typeface="Karla" pitchFamily="34" charset="-120"/>
              </a:rPr>
              <a:t>99</a:t>
            </a:r>
            <a:endParaRPr lang="en-US" sz="950" dirty="0"/>
          </a:p>
        </p:txBody>
      </p:sp>
      <p:sp>
        <p:nvSpPr>
          <p:cNvPr id="3" name="Shape 1"/>
          <p:cNvSpPr/>
          <p:nvPr/>
        </p:nvSpPr>
        <p:spPr>
          <a:xfrm>
            <a:off x="0" y="0"/>
            <a:ext cx="7296912" cy="6858000"/>
          </a:xfrm>
          <a:prstGeom prst="rect">
            <a:avLst/>
          </a:prstGeom>
          <a:solidFill>
            <a:srgbClr val="A93F63"/>
          </a:solidFill>
          <a:ln/>
        </p:spPr>
      </p:sp>
      <p:sp>
        <p:nvSpPr>
          <p:cNvPr id="4" name="Shape 2"/>
          <p:cNvSpPr/>
          <p:nvPr/>
        </p:nvSpPr>
        <p:spPr>
          <a:xfrm>
            <a:off x="-1371600" y="4480560"/>
            <a:ext cx="4023360" cy="4023360"/>
          </a:xfrm>
          <a:prstGeom prst="ellipse">
            <a:avLst/>
          </a:prstGeom>
          <a:solidFill>
            <a:srgbClr val="FBF6EE">
              <a:alpha val="12000"/>
            </a:srgbClr>
          </a:solidFill>
          <a:ln/>
        </p:spPr>
      </p:sp>
      <p:sp>
        <p:nvSpPr>
          <p:cNvPr id="5" name="Text 3"/>
          <p:cNvSpPr/>
          <p:nvPr/>
        </p:nvSpPr>
        <p:spPr>
          <a:xfrm>
            <a:off x="777240" y="1005840"/>
            <a:ext cx="5852160" cy="274320"/>
          </a:xfrm>
          <a:prstGeom prst="rect">
            <a:avLst/>
          </a:prstGeom>
          <a:noFill/>
          <a:ln/>
        </p:spPr>
        <p:txBody>
          <a:bodyPr wrap="square" lIns="0" tIns="0" rIns="0" bIns="0" rtlCol="0" anchor="t"/>
          <a:lstStyle/>
          <a:p>
            <a:pPr indent="0" marL="0">
              <a:buNone/>
            </a:pPr>
            <a:r>
              <a:rPr lang="en-US" sz="1100" b="1" spc="350" kern="0" dirty="0">
                <a:solidFill>
                  <a:srgbClr val="F6DCE5"/>
                </a:solidFill>
                <a:latin typeface="Karla" pitchFamily="34" charset="0"/>
                <a:ea typeface="Karla" pitchFamily="34" charset="-122"/>
                <a:cs typeface="Karla" pitchFamily="34" charset="-120"/>
              </a:rPr>
              <a:t>IF YOU WOULD RATHER NOT DO IT ALONE</a:t>
            </a:r>
            <a:endParaRPr lang="en-US" sz="1100" dirty="0"/>
          </a:p>
        </p:txBody>
      </p:sp>
      <p:sp>
        <p:nvSpPr>
          <p:cNvPr id="6" name="Text 4"/>
          <p:cNvSpPr/>
          <p:nvPr/>
        </p:nvSpPr>
        <p:spPr>
          <a:xfrm>
            <a:off x="777240" y="1417320"/>
            <a:ext cx="5852160" cy="1097280"/>
          </a:xfrm>
          <a:prstGeom prst="rect">
            <a:avLst/>
          </a:prstGeom>
          <a:noFill/>
          <a:ln/>
        </p:spPr>
        <p:txBody>
          <a:bodyPr wrap="square" lIns="0" tIns="0" rIns="0" bIns="0" rtlCol="0" anchor="t"/>
          <a:lstStyle/>
          <a:p>
            <a:pPr indent="0" marL="0">
              <a:lnSpc>
                <a:spcPts val="4200"/>
              </a:lnSpc>
              <a:buNone/>
            </a:pPr>
            <a:r>
              <a:rPr lang="en-US" sz="3800" dirty="0">
                <a:solidFill>
                  <a:srgbClr val="FBF6EE"/>
                </a:solidFill>
                <a:latin typeface="Fraunces" pitchFamily="34" charset="0"/>
                <a:ea typeface="Fraunces" pitchFamily="34" charset="-122"/>
                <a:cs typeface="Fraunces" pitchFamily="34" charset="-120"/>
              </a:rPr>
              <a:t>The Blog Accelerator</a:t>
            </a:r>
            <a:endParaRPr lang="en-US" sz="3800" dirty="0"/>
          </a:p>
        </p:txBody>
      </p:sp>
      <p:sp>
        <p:nvSpPr>
          <p:cNvPr id="7" name="Text 5"/>
          <p:cNvSpPr/>
          <p:nvPr/>
        </p:nvSpPr>
        <p:spPr>
          <a:xfrm>
            <a:off x="777240" y="2606040"/>
            <a:ext cx="5760720" cy="1005840"/>
          </a:xfrm>
          <a:prstGeom prst="rect">
            <a:avLst/>
          </a:prstGeom>
          <a:noFill/>
          <a:ln/>
        </p:spPr>
        <p:txBody>
          <a:bodyPr wrap="square" lIns="0" tIns="0" rIns="0" bIns="0" rtlCol="0" anchor="t"/>
          <a:lstStyle/>
          <a:p>
            <a:pPr indent="0" marL="0">
              <a:lnSpc>
                <a:spcPts val="2100"/>
              </a:lnSpc>
              <a:buNone/>
            </a:pPr>
            <a:r>
              <a:rPr lang="en-US" sz="1350" dirty="0">
                <a:solidFill>
                  <a:srgbClr val="F9E7EC"/>
                </a:solidFill>
                <a:latin typeface="Karla" pitchFamily="34" charset="0"/>
                <a:ea typeface="Karla" pitchFamily="34" charset="-122"/>
                <a:cs typeface="Karla" pitchFamily="34" charset="-120"/>
              </a:rPr>
              <a:t>Everything in this course, done with you in 21 days. Your offer, your copy, and a custom site designed around it.</a:t>
            </a:r>
            <a:endParaRPr lang="en-US" sz="1350" dirty="0"/>
          </a:p>
        </p:txBody>
      </p:sp>
      <p:sp>
        <p:nvSpPr>
          <p:cNvPr id="8" name="Text 6"/>
          <p:cNvSpPr/>
          <p:nvPr/>
        </p:nvSpPr>
        <p:spPr>
          <a:xfrm>
            <a:off x="777240" y="3703320"/>
            <a:ext cx="5669280" cy="219456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300" dirty="0">
                <a:solidFill>
                  <a:srgbClr val="FBF6EE"/>
                </a:solidFill>
                <a:latin typeface="Karla" pitchFamily="34" charset="0"/>
                <a:ea typeface="Karla" pitchFamily="34" charset="-122"/>
                <a:cs typeface="Karla" pitchFamily="34" charset="-120"/>
              </a:rPr>
              <a:t>Your offer nailed down and priced</a:t>
            </a:r>
            <a:endParaRPr lang="en-US" sz="1300" dirty="0"/>
          </a:p>
          <a:p>
            <a:pPr marL="342900" indent="-342900">
              <a:lnSpc>
                <a:spcPts val="1800"/>
              </a:lnSpc>
              <a:spcAft>
                <a:spcPts val="1000"/>
              </a:spcAft>
              <a:buSzPct val="100000"/>
              <a:buChar char="✓"/>
            </a:pPr>
            <a:r>
              <a:rPr lang="en-US" sz="1300" dirty="0">
                <a:solidFill>
                  <a:srgbClr val="FBF6EE"/>
                </a:solidFill>
                <a:latin typeface="Karla" pitchFamily="34" charset="0"/>
                <a:ea typeface="Karla" pitchFamily="34" charset="-122"/>
                <a:cs typeface="Karla" pitchFamily="34" charset="-120"/>
              </a:rPr>
              <a:t>Sales copy written in your voice</a:t>
            </a:r>
            <a:endParaRPr lang="en-US" sz="1300" dirty="0"/>
          </a:p>
          <a:p>
            <a:pPr marL="342900" indent="-342900">
              <a:lnSpc>
                <a:spcPts val="1800"/>
              </a:lnSpc>
              <a:spcAft>
                <a:spcPts val="1000"/>
              </a:spcAft>
              <a:buSzPct val="100000"/>
              <a:buChar char="✓"/>
            </a:pPr>
            <a:r>
              <a:rPr lang="en-US" sz="1300" dirty="0">
                <a:solidFill>
                  <a:srgbClr val="FBF6EE"/>
                </a:solidFill>
                <a:latin typeface="Karla" pitchFamily="34" charset="0"/>
                <a:ea typeface="Karla" pitchFamily="34" charset="-122"/>
                <a:cs typeface="Karla" pitchFamily="34" charset="-120"/>
              </a:rPr>
              <a:t>A custom Showit site built around it</a:t>
            </a:r>
            <a:endParaRPr lang="en-US" sz="1300" dirty="0"/>
          </a:p>
          <a:p>
            <a:pPr marL="342900" indent="-342900">
              <a:lnSpc>
                <a:spcPts val="1800"/>
              </a:lnSpc>
              <a:spcAft>
                <a:spcPts val="1000"/>
              </a:spcAft>
              <a:buSzPct val="100000"/>
              <a:buChar char="✓"/>
            </a:pPr>
            <a:r>
              <a:rPr lang="en-US" sz="1300" dirty="0">
                <a:solidFill>
                  <a:srgbClr val="FBF6EE"/>
                </a:solidFill>
                <a:latin typeface="Karla" pitchFamily="34" charset="0"/>
                <a:ea typeface="Karla" pitchFamily="34" charset="-122"/>
                <a:cs typeface="Karla" pitchFamily="34" charset="-120"/>
              </a:rPr>
              <a:t>Weekly 1:1 coaching the whole way</a:t>
            </a:r>
            <a:endParaRPr lang="en-US" sz="1300" dirty="0"/>
          </a:p>
          <a:p>
            <a:pPr marL="342900" indent="-342900">
              <a:lnSpc>
                <a:spcPts val="1800"/>
              </a:lnSpc>
              <a:spcAft>
                <a:spcPts val="1000"/>
              </a:spcAft>
              <a:buSzPct val="100000"/>
              <a:buChar char="✓"/>
            </a:pPr>
            <a:r>
              <a:rPr lang="en-US" sz="1300" dirty="0">
                <a:solidFill>
                  <a:srgbClr val="FBF6EE"/>
                </a:solidFill>
                <a:latin typeface="Karla" pitchFamily="34" charset="0"/>
                <a:ea typeface="Karla" pitchFamily="34" charset="-122"/>
                <a:cs typeface="Karla" pitchFamily="34" charset="-120"/>
              </a:rPr>
              <a:t>Only three clients at a time</a:t>
            </a:r>
            <a:endParaRPr lang="en-US" sz="1300" dirty="0"/>
          </a:p>
        </p:txBody>
      </p:sp>
      <p:sp>
        <p:nvSpPr>
          <p:cNvPr id="9" name="Shape 7"/>
          <p:cNvSpPr/>
          <p:nvPr/>
        </p:nvSpPr>
        <p:spPr>
          <a:xfrm>
            <a:off x="7982712" y="1965960"/>
            <a:ext cx="3401568" cy="2926080"/>
          </a:xfrm>
          <a:prstGeom prst="roundRect">
            <a:avLst>
              <a:gd name="adj" fmla="val 4375"/>
            </a:avLst>
          </a:prstGeom>
          <a:solidFill>
            <a:srgbClr val="FFFFFF"/>
          </a:solidFill>
          <a:ln w="9525">
            <a:solidFill>
              <a:srgbClr val="E2D8CE"/>
            </a:solidFill>
            <a:prstDash val="solid"/>
          </a:ln>
          <a:effectLst>
            <a:outerShdw sx="100000" sy="100000" kx="0" ky="0" algn="bl" rotWithShape="0" blurRad="203200" dist="63500" dir="5400000">
              <a:srgbClr val="2E1F27">
                <a:alpha val="15000"/>
              </a:srgbClr>
            </a:outerShdw>
          </a:effectLst>
        </p:spPr>
      </p:sp>
      <p:sp>
        <p:nvSpPr>
          <p:cNvPr id="10" name="Text 8"/>
          <p:cNvSpPr/>
          <p:nvPr/>
        </p:nvSpPr>
        <p:spPr>
          <a:xfrm>
            <a:off x="7982712" y="2377440"/>
            <a:ext cx="3401568" cy="868680"/>
          </a:xfrm>
          <a:prstGeom prst="rect">
            <a:avLst/>
          </a:prstGeom>
          <a:noFill/>
          <a:ln/>
        </p:spPr>
        <p:txBody>
          <a:bodyPr wrap="square" lIns="0" tIns="0" rIns="0" bIns="0" rtlCol="0" anchor="t"/>
          <a:lstStyle/>
          <a:p>
            <a:pPr algn="ctr" indent="0" marL="0">
              <a:buNone/>
            </a:pPr>
            <a:r>
              <a:rPr lang="en-US" sz="4400" dirty="0">
                <a:solidFill>
                  <a:srgbClr val="A93F63"/>
                </a:solidFill>
                <a:latin typeface="Fraunces" pitchFamily="34" charset="0"/>
                <a:ea typeface="Fraunces" pitchFamily="34" charset="-122"/>
                <a:cs typeface="Fraunces" pitchFamily="34" charset="-120"/>
              </a:rPr>
              <a:t>$3,000</a:t>
            </a:r>
            <a:endParaRPr lang="en-US" sz="4400" dirty="0"/>
          </a:p>
        </p:txBody>
      </p:sp>
      <p:sp>
        <p:nvSpPr>
          <p:cNvPr id="11" name="Text 9"/>
          <p:cNvSpPr/>
          <p:nvPr/>
        </p:nvSpPr>
        <p:spPr>
          <a:xfrm>
            <a:off x="8257032" y="3246120"/>
            <a:ext cx="2852928" cy="457200"/>
          </a:xfrm>
          <a:prstGeom prst="rect">
            <a:avLst/>
          </a:prstGeom>
          <a:noFill/>
          <a:ln/>
        </p:spPr>
        <p:txBody>
          <a:bodyPr wrap="square" lIns="0" tIns="0" rIns="0" bIns="0" rtlCol="0" anchor="t"/>
          <a:lstStyle/>
          <a:p>
            <a:pPr algn="ctr" indent="0" marL="0">
              <a:buNone/>
            </a:pPr>
            <a:r>
              <a:rPr lang="en-US" sz="1250" dirty="0">
                <a:solidFill>
                  <a:srgbClr val="6E5C63"/>
                </a:solidFill>
                <a:latin typeface="Karla" pitchFamily="34" charset="0"/>
                <a:ea typeface="Karla" pitchFamily="34" charset="-122"/>
                <a:cs typeface="Karla" pitchFamily="34" charset="-120"/>
              </a:rPr>
              <a:t>or three payments of $1,000</a:t>
            </a:r>
            <a:endParaRPr lang="en-US" sz="1250" dirty="0"/>
          </a:p>
        </p:txBody>
      </p:sp>
      <p:sp>
        <p:nvSpPr>
          <p:cNvPr id="12" name="Shape 10"/>
          <p:cNvSpPr/>
          <p:nvPr/>
        </p:nvSpPr>
        <p:spPr>
          <a:xfrm>
            <a:off x="8439912" y="3886200"/>
            <a:ext cx="2487168" cy="640080"/>
          </a:xfrm>
          <a:prstGeom prst="roundRect">
            <a:avLst>
              <a:gd name="adj" fmla="val 50000"/>
            </a:avLst>
          </a:prstGeom>
          <a:solidFill>
            <a:srgbClr val="2E1F27"/>
          </a:solidFill>
          <a:ln w="12700">
            <a:solidFill>
              <a:srgbClr val="333333"/>
            </a:solidFill>
            <a:prstDash val="solid"/>
          </a:ln>
        </p:spPr>
      </p:sp>
      <p:sp>
        <p:nvSpPr>
          <p:cNvPr id="13" name="Text 11"/>
          <p:cNvSpPr/>
          <p:nvPr/>
        </p:nvSpPr>
        <p:spPr>
          <a:xfrm>
            <a:off x="8439912" y="3886200"/>
            <a:ext cx="2487168" cy="640080"/>
          </a:xfrm>
          <a:prstGeom prst="rect">
            <a:avLst/>
          </a:prstGeom>
          <a:noFill/>
          <a:ln/>
        </p:spPr>
        <p:txBody>
          <a:bodyPr wrap="square" lIns="0" tIns="0" rIns="0" bIns="0" rtlCol="0" anchor="ctr"/>
          <a:lstStyle/>
          <a:p>
            <a:pPr algn="ctr" indent="0" marL="0">
              <a:buNone/>
            </a:pPr>
            <a:r>
              <a:rPr lang="en-US" sz="1150" b="1" spc="250" kern="0" dirty="0">
                <a:solidFill>
                  <a:srgbClr val="FBF6EE"/>
                </a:solidFill>
                <a:latin typeface="Karla" pitchFamily="34" charset="0"/>
                <a:ea typeface="Karla" pitchFamily="34" charset="-122"/>
                <a:cs typeface="Karla" pitchFamily="34" charset="-120"/>
              </a:rPr>
              <a:t>SEE THE PROGRAM</a:t>
            </a:r>
            <a:endParaRPr lang="en-US" sz="11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2E1F27"/>
        </a:solidFill>
      </p:bgPr>
    </p:bg>
    <p:spTree>
      <p:nvGrpSpPr>
        <p:cNvPr id="1" name=""/>
        <p:cNvGrpSpPr/>
        <p:nvPr/>
      </p:nvGrpSpPr>
      <p:grpSpPr>
        <a:xfrm>
          <a:off x="0" y="0"/>
          <a:ext cx="0" cy="0"/>
          <a:chOff x="0" y="0"/>
          <a:chExt cx="0" cy="0"/>
        </a:xfrm>
      </p:grpSpPr>
      <p:sp>
        <p:nvSpPr>
          <p:cNvPr id="2" name="Text 0"/>
          <p:cNvSpPr/>
          <p:nvPr/>
        </p:nvSpPr>
        <p:spPr>
          <a:xfrm>
            <a:off x="11247120" y="6355080"/>
            <a:ext cx="457200" cy="256032"/>
          </a:xfrm>
          <a:prstGeom prst="rect">
            <a:avLst/>
          </a:prstGeom>
          <a:noFill/>
          <a:ln/>
        </p:spPr>
        <p:txBody>
          <a:bodyPr wrap="square" lIns="0" tIns="0" rIns="0" bIns="0" rtlCol="0" anchor="ctr"/>
          <a:lstStyle/>
          <a:p>
            <a:pPr algn="r" indent="0" marL="0">
              <a:buNone/>
            </a:pPr>
            <a:r>
              <a:rPr lang="en-US" sz="950" dirty="0">
                <a:solidFill>
                  <a:srgbClr val="7A6870"/>
                </a:solidFill>
                <a:latin typeface="Karla" pitchFamily="34" charset="0"/>
                <a:ea typeface="Karla" pitchFamily="34" charset="-122"/>
                <a:cs typeface="Karla" pitchFamily="34" charset="-120"/>
              </a:rPr>
              <a:t>100</a:t>
            </a:r>
            <a:endParaRPr lang="en-US" sz="950" dirty="0"/>
          </a:p>
        </p:txBody>
      </p:sp>
      <p:sp>
        <p:nvSpPr>
          <p:cNvPr id="3" name="Shape 1"/>
          <p:cNvSpPr/>
          <p:nvPr/>
        </p:nvSpPr>
        <p:spPr>
          <a:xfrm>
            <a:off x="3154680" y="548640"/>
            <a:ext cx="5852160" cy="5852160"/>
          </a:xfrm>
          <a:prstGeom prst="ellipse">
            <a:avLst/>
          </a:prstGeom>
          <a:solidFill>
            <a:srgbClr val="7C2B48">
              <a:alpha val="50000"/>
            </a:srgbClr>
          </a:solidFill>
          <a:ln/>
        </p:spPr>
      </p:sp>
      <p:sp>
        <p:nvSpPr>
          <p:cNvPr id="4" name="Text 2"/>
          <p:cNvSpPr/>
          <p:nvPr/>
        </p:nvSpPr>
        <p:spPr>
          <a:xfrm>
            <a:off x="1280160" y="2103120"/>
            <a:ext cx="9601200" cy="1554480"/>
          </a:xfrm>
          <a:prstGeom prst="rect">
            <a:avLst/>
          </a:prstGeom>
          <a:noFill/>
          <a:ln/>
        </p:spPr>
        <p:txBody>
          <a:bodyPr wrap="square" lIns="0" tIns="0" rIns="0" bIns="0" rtlCol="0" anchor="ctr"/>
          <a:lstStyle/>
          <a:p>
            <a:pPr algn="ctr" indent="0" marL="0">
              <a:lnSpc>
                <a:spcPts val="5200"/>
              </a:lnSpc>
              <a:buNone/>
            </a:pPr>
            <a:r>
              <a:rPr lang="en-US" sz="4600" dirty="0">
                <a:solidFill>
                  <a:srgbClr val="FBF6EE"/>
                </a:solidFill>
                <a:latin typeface="Fraunces" pitchFamily="34" charset="0"/>
                <a:ea typeface="Fraunces" pitchFamily="34" charset="-122"/>
                <a:cs typeface="Fraunces" pitchFamily="34" charset="-120"/>
              </a:rPr>
              <a:t>Thank you for </a:t>
            </a:r>
            <a:pPr algn="ctr" indent="0" marL="0">
              <a:lnSpc>
                <a:spcPts val="5200"/>
              </a:lnSpc>
              <a:buNone/>
            </a:pPr>
            <a:r>
              <a:rPr lang="en-US" sz="4600" i="1" dirty="0">
                <a:solidFill>
                  <a:srgbClr val="A93F63"/>
                </a:solidFill>
                <a:latin typeface="Fraunces" pitchFamily="34" charset="0"/>
                <a:ea typeface="Fraunces" pitchFamily="34" charset="-122"/>
                <a:cs typeface="Fraunces" pitchFamily="34" charset="-120"/>
              </a:rPr>
              <a:t>doing the work.</a:t>
            </a:r>
            <a:endParaRPr lang="en-US" sz="4600" dirty="0"/>
          </a:p>
        </p:txBody>
      </p:sp>
      <p:sp>
        <p:nvSpPr>
          <p:cNvPr id="5" name="Text 3"/>
          <p:cNvSpPr/>
          <p:nvPr/>
        </p:nvSpPr>
        <p:spPr>
          <a:xfrm>
            <a:off x="2377440" y="3749040"/>
            <a:ext cx="7406640" cy="731520"/>
          </a:xfrm>
          <a:prstGeom prst="rect">
            <a:avLst/>
          </a:prstGeom>
          <a:noFill/>
          <a:ln/>
        </p:spPr>
        <p:txBody>
          <a:bodyPr wrap="square" lIns="0" tIns="0" rIns="0" bIns="0" rtlCol="0" anchor="t"/>
          <a:lstStyle/>
          <a:p>
            <a:pPr algn="ctr" indent="0" marL="0">
              <a:buNone/>
            </a:pPr>
            <a:r>
              <a:rPr lang="en-US" sz="3200" dirty="0">
                <a:solidFill>
                  <a:srgbClr val="BC8A47"/>
                </a:solidFill>
                <a:latin typeface="Ephesis" pitchFamily="34" charset="0"/>
                <a:ea typeface="Ephesis" pitchFamily="34" charset="-122"/>
                <a:cs typeface="Ephesis" pitchFamily="34" charset="-120"/>
              </a:rPr>
              <a:t>now go make something that sells</a:t>
            </a:r>
            <a:endParaRPr lang="en-US" sz="3200" dirty="0"/>
          </a:p>
        </p:txBody>
      </p:sp>
      <p:sp>
        <p:nvSpPr>
          <p:cNvPr id="6" name="Text 4"/>
          <p:cNvSpPr/>
          <p:nvPr/>
        </p:nvSpPr>
        <p:spPr>
          <a:xfrm>
            <a:off x="2377440" y="4709160"/>
            <a:ext cx="7406640" cy="457200"/>
          </a:xfrm>
          <a:prstGeom prst="rect">
            <a:avLst/>
          </a:prstGeom>
          <a:noFill/>
          <a:ln/>
        </p:spPr>
        <p:txBody>
          <a:bodyPr wrap="square" lIns="0" tIns="0" rIns="0" bIns="0" rtlCol="0" anchor="t"/>
          <a:lstStyle/>
          <a:p>
            <a:pPr algn="ctr" indent="0" marL="0">
              <a:buNone/>
            </a:pPr>
            <a:r>
              <a:rPr lang="en-US" sz="1250" spc="200" kern="0" dirty="0">
                <a:solidFill>
                  <a:srgbClr val="D8CBC3"/>
                </a:solidFill>
                <a:latin typeface="Karla" pitchFamily="34" charset="0"/>
                <a:ea typeface="Karla" pitchFamily="34" charset="-122"/>
                <a:cs typeface="Karla" pitchFamily="34" charset="-120"/>
              </a:rPr>
              <a:t>BOSSLADYBLOGGERS.COM  ·  HELLO@BOSSLADYBLOGGERS.COM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100</Slides>
  <Notes>100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100</vt:i4>
      </vt:variant>
    </vt:vector>
  </HeadingPairs>
  <TitlesOfParts>
    <vt:vector size="10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vector>
  </TitlesOfParts>
  <Company>Boss Lady Bloggers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Blog Foundations Course Deck Template</dc:title>
  <dc:subject>PptxGenJS Presentation</dc:subject>
  <dc:creator>Boss Lady Bloggers</dc:creator>
  <cp:lastModifiedBy>Boss Lady Bloggers</cp:lastModifiedBy>
  <cp:revision>1</cp:revision>
  <dcterms:created xsi:type="dcterms:W3CDTF">2026-08-09T00:48:41Z</dcterms:created>
  <dcterms:modified xsi:type="dcterms:W3CDTF">2026-08-09T00:48:41Z</dcterms:modified>
</cp:coreProperties>
</file>