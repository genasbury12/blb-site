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LAYOUT. Swap the course name and subtitle. Keep the two soft circles, they are the brand motif.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LAYOUT. One idea, big. Use these to break up teaching and let a point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LAYOUT. Three to five points max. If you need more, split into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 LAYOUT. Great for options, pillars, or a three-part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CARD LAYOUT. Use for a pair, a contrast, or a this-then-that.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LAYOUT. Three to five points max. If you need more, split into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BREATHER SLIDE. A beat between heavy sections. Script only, nothing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Duplicate for each module. Change the number, title, script line, and the 2-3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LAYOUT. One idea, big. Use these to break up teaching and let a point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LAYOUT. Left is what people do, right is what works. The dark side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LAYOUT. Three to five points max. If you need more, split into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 LAYOUT. One number, said loudly. Use sparingly so it keeps its punch.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 DONT LAYOUT. Concrete and specific beats abstract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LAYOUT. Your own line, a client win, or a hard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LAYOUT. Replace the tinted box with a real screenshot. Showing beats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LAYOUT. Students tick these off. Five or six rows fits comfortably.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Pause the video here and let them write. One question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LAYOUT. Close every module with this. Three or four takeaways, no new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BREATHER SLIDE. A beat between heavy sections. Script only, nothing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Duplicate for each module. Change the number, title, script line, and the 2-3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LAYOUT. One idea, big. Use these to break up teaching and let a point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 LAYOUT. Great for options, pillars, or a three-part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LAYOUT. Three to five steps in order. Works for any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LAYOUT. One idea, big. Use these to break up teaching and let a point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LAYOUT. Three to five points max. If you need more, split into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LAYOUT. Left is what people do, right is what works. The dark side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LAYOUT. Replace the tinted box with a real screenshot. Showing beats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 LAYOUT. Great for options, pillars, or a three-part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Pause the video here and let them write. One question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 LAYOUT. Great for options, pillars, or a three-part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CARD LAYOUT. Use for a pair, a contrast, or a this-then-that.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LAYOUT. Three to five points max. If you need more, split into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 LAYOUT. One number, said loudly. Use sparingly so it keeps its punch.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LAYOUT. Students tick these off. Five or six rows fits comfortably.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LAYOUT. Your own line, a client win, or a hard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Pause the video here and let them write. One question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LAYOUT. Close every module with this. Three or four takeaways, no new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Duplicate for each module. Change the number, title, script line, and the 2-3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LAYOUT. One idea, big. Use these to break up teaching and let a point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LAYOUT. Three to five steps in order. Works for any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 LAYOUT. Great for options, pillars, or a three-part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LAYOUT. Three to five points max. If you need more, split into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LAYOUT. Left is what people do, right is what works. The dark side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LAYOUT. Replace the tinted box with a real screenshot. Showing beats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 DONT LAYOUT. Concrete and specific beats abstract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LAYOUT. Students tick these off. Five or six rows fits comfortably.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 LAYOUT. One number, said loudly. Use sparingly so it keeps its punch.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LAYOUT. Your own line, a client win, or a hard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Pause the video here and let them write. One question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LAYOUT. Close every module with this. Three or four takeaways, no new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BREATHER SLIDE. A beat between heavy sections. Script only, nothing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Duplicate for each module. Change the number, title, script line, and the 2-3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LAYOUT. One idea, big. Use these to break up teaching and let a point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LAYOUT. Three to five steps in order. Works for any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 LAYOUT. Great for options, pillars, or a three-part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LAYOUT. Three to five points max. If you need more, split into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LAYOUT. Left is what people do, right is what works. The dark side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LAYOUT. Replace the tinted box with a real screenshot. Showing beats explaining.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 LAYOUT. Great for options, pillars, or a three-part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CARD LAYOUT. Use for a pair, a contrast, or a this-then-that.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 DONT LAYOUT. Concrete and specific beats abstract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LAYOUT. Students tick these off. Five or six rows fits comfortably.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 LAYOUT. One number, said loudly. Use sparingly so it keeps its punch.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LAYOUT. Your own line, a client win, or a hard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Pause the video here and let them write. One question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LAYOUT. Close every module with this. Three or four takeaways, no new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Duplicate for each module. Change the number, title, script line, and the 2-3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LAYOUT. One idea, big. Use these to break up teaching and let a point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CARD LAYOUT. Great for options, pillars, or a three-part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LAYOUT. Three to five steps in order. Works for any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BULLET LAYOUT. Three to five points max. If you need more, split into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LAYOUT. Left is what people do, right is what works. The dark side always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LAYOUT. Title plus 2-4 short paragraphs. Keep paragraphs to two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LAYOUT. Students tick these off. Five or six rows fits comfortably.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QUOTE LAYOUT. Your own line, a client win, or a hard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WORKBOOK PROMPT. Pause the video here and let them write. One question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LAYOUT. Close every module with this. Three or four takeaways, no new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DIVIDER. Duplicate for each module. Change the number, title, script line, and the 2-3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LAYOUT. Three to five steps in order. Works for any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LAYOUT. Three to five steps in order. Works for any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LAYOUT. Students tick these off. Five or six rows fits comfortably.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STATEMENT LAYOUT. One idea, big. Use these to break up teaching and let a point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RESOURCES LAYOUT. Links, downloads, and where to go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OFFER LAYOUT. Every course ends with a next step. Keep it warm, not pushy.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Warm sign off plus where to find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1F27"/>
        </a:solidFill>
      </p:bgPr>
    </p:bg>
    <p:spTree>
      <p:nvGrpSpPr>
        <p:cNvPr id="1" name=""/>
        <p:cNvGrpSpPr/>
        <p:nvPr/>
      </p:nvGrpSpPr>
      <p:grpSpPr>
        <a:xfrm>
          <a:off x="0" y="0"/>
          <a:ext cx="0" cy="0"/>
          <a:chOff x="0" y="0"/>
          <a:chExt cx="0" cy="0"/>
        </a:xfrm>
      </p:grpSpPr>
      <p:sp>
        <p:nvSpPr>
          <p:cNvPr id="2" name="Shape 0"/>
          <p:cNvSpPr/>
          <p:nvPr/>
        </p:nvSpPr>
        <p:spPr>
          <a:xfrm>
            <a:off x="9052560" y="-1645920"/>
            <a:ext cx="4754880" cy="4754880"/>
          </a:xfrm>
          <a:prstGeom prst="ellipse">
            <a:avLst/>
          </a:prstGeom>
          <a:solidFill>
            <a:srgbClr val="7C2B48">
              <a:alpha val="38000"/>
            </a:srgbClr>
          </a:solidFill>
          <a:ln w="12700">
            <a:solidFill>
              <a:srgbClr val="333333"/>
            </a:solidFill>
            <a:prstDash val="solid"/>
          </a:ln>
        </p:spPr>
      </p:sp>
      <p:sp>
        <p:nvSpPr>
          <p:cNvPr id="3" name="Shape 1"/>
          <p:cNvSpPr/>
          <p:nvPr/>
        </p:nvSpPr>
        <p:spPr>
          <a:xfrm>
            <a:off x="-1463040" y="4480560"/>
            <a:ext cx="4023360" cy="4023360"/>
          </a:xfrm>
          <a:prstGeom prst="ellipse">
            <a:avLst/>
          </a:prstGeom>
          <a:solidFill>
            <a:srgbClr val="BC8A47">
              <a:alpha val="22000"/>
            </a:srgbClr>
          </a:solidFill>
          <a:ln w="12700">
            <a:solidFill>
              <a:srgbClr val="333333"/>
            </a:solidFill>
            <a:prstDash val="solid"/>
          </a:ln>
        </p:spPr>
      </p:sp>
      <p:sp>
        <p:nvSpPr>
          <p:cNvPr id="4" name="Text 2"/>
          <p:cNvSpPr/>
          <p:nvPr/>
        </p:nvSpPr>
        <p:spPr>
          <a:xfrm>
            <a:off x="777240" y="1371600"/>
            <a:ext cx="10607040" cy="274320"/>
          </a:xfrm>
          <a:prstGeom prst="rect">
            <a:avLst/>
          </a:prstGeom>
          <a:noFill/>
          <a:ln/>
        </p:spPr>
        <p:txBody>
          <a:bodyPr wrap="square" lIns="0" tIns="0" rIns="0" bIns="0" rtlCol="0" anchor="ctr"/>
          <a:lstStyle/>
          <a:p>
            <a:pPr indent="0" marL="0">
              <a:buNone/>
            </a:pPr>
            <a:r>
              <a:rPr lang="en-US" sz="1200" b="1" spc="500" kern="0" dirty="0">
                <a:solidFill>
                  <a:srgbClr val="BC8A47"/>
                </a:solidFill>
                <a:latin typeface="Karla" pitchFamily="34" charset="0"/>
                <a:ea typeface="Karla" pitchFamily="34" charset="-122"/>
                <a:cs typeface="Karla" pitchFamily="34" charset="-120"/>
              </a:rPr>
              <a:t>A BOSS LADY BLOGGERS COURSE</a:t>
            </a:r>
            <a:endParaRPr lang="en-US" sz="1200" dirty="0"/>
          </a:p>
        </p:txBody>
      </p:sp>
      <p:sp>
        <p:nvSpPr>
          <p:cNvPr id="5" name="Text 3"/>
          <p:cNvSpPr/>
          <p:nvPr/>
        </p:nvSpPr>
        <p:spPr>
          <a:xfrm>
            <a:off x="777240" y="1874520"/>
            <a:ext cx="9509760" cy="2011680"/>
          </a:xfrm>
          <a:prstGeom prst="rect">
            <a:avLst/>
          </a:prstGeom>
          <a:noFill/>
          <a:ln/>
        </p:spPr>
        <p:txBody>
          <a:bodyPr wrap="square" lIns="0" tIns="0" rIns="0" bIns="0" rtlCol="0" anchor="ctr"/>
          <a:lstStyle/>
          <a:p>
            <a:pPr indent="0" marL="0">
              <a:lnSpc>
                <a:spcPts val="5600"/>
              </a:lnSpc>
              <a:buNone/>
            </a:pPr>
            <a:r>
              <a:rPr lang="en-US" sz="5200" dirty="0">
                <a:solidFill>
                  <a:srgbClr val="FBF6EE"/>
                </a:solidFill>
                <a:latin typeface="Fraunces" pitchFamily="34" charset="0"/>
                <a:ea typeface="Fraunces" pitchFamily="34" charset="-122"/>
                <a:cs typeface="Fraunces" pitchFamily="34" charset="-120"/>
              </a:rPr>
              <a:t>Blog Foundations:</a:t>
            </a:r>
            <a:endParaRPr lang="en-US" sz="5200" dirty="0"/>
          </a:p>
          <a:p>
            <a:pPr indent="0" marL="0">
              <a:lnSpc>
                <a:spcPts val="5600"/>
              </a:lnSpc>
              <a:buNone/>
            </a:pPr>
            <a:r>
              <a:rPr lang="en-US" sz="5200" dirty="0">
                <a:solidFill>
                  <a:srgbClr val="FBF6EE"/>
                </a:solidFill>
                <a:latin typeface="Fraunces" pitchFamily="34" charset="0"/>
                <a:ea typeface="Fraunces" pitchFamily="34" charset="-122"/>
                <a:cs typeface="Fraunces" pitchFamily="34" charset="-120"/>
              </a:rPr>
              <a:t>build a blog that </a:t>
            </a:r>
            <a:endParaRPr lang="en-US" sz="5200" dirty="0"/>
          </a:p>
          <a:p>
            <a:pPr indent="0" marL="0">
              <a:lnSpc>
                <a:spcPts val="5600"/>
              </a:lnSpc>
              <a:buNone/>
            </a:pPr>
            <a:r>
              <a:rPr lang="en-US" sz="5200" i="1" dirty="0">
                <a:solidFill>
                  <a:srgbClr val="A93F63"/>
                </a:solidFill>
                <a:latin typeface="Fraunces" pitchFamily="34" charset="0"/>
                <a:ea typeface="Fraunces" pitchFamily="34" charset="-122"/>
                <a:cs typeface="Fraunces" pitchFamily="34" charset="-120"/>
              </a:rPr>
              <a:t>actually sells.</a:t>
            </a:r>
            <a:endParaRPr lang="en-US" sz="5200" dirty="0"/>
          </a:p>
        </p:txBody>
      </p:sp>
      <p:sp>
        <p:nvSpPr>
          <p:cNvPr id="6" name="Text 4"/>
          <p:cNvSpPr/>
          <p:nvPr/>
        </p:nvSpPr>
        <p:spPr>
          <a:xfrm>
            <a:off x="777240" y="4069080"/>
            <a:ext cx="8412480" cy="822960"/>
          </a:xfrm>
          <a:prstGeom prst="rect">
            <a:avLst/>
          </a:prstGeom>
          <a:noFill/>
          <a:ln/>
        </p:spPr>
        <p:txBody>
          <a:bodyPr wrap="square" lIns="0" tIns="0" rIns="0" bIns="0" rtlCol="0" anchor="ctr"/>
          <a:lstStyle/>
          <a:p>
            <a:pPr indent="0" marL="0">
              <a:lnSpc>
                <a:spcPts val="2400"/>
              </a:lnSpc>
              <a:buNone/>
            </a:pPr>
            <a:r>
              <a:rPr lang="en-US" sz="1500" dirty="0">
                <a:solidFill>
                  <a:srgbClr val="D8CBC3"/>
                </a:solidFill>
                <a:latin typeface="Karla" pitchFamily="34" charset="0"/>
                <a:ea typeface="Karla" pitchFamily="34" charset="-122"/>
                <a:cs typeface="Karla" pitchFamily="34" charset="-120"/>
              </a:rPr>
              <a:t>The five things that turn a blog nobody pays for into a business. No fluff, no hosting affiliate links, no "just keep posting."</a:t>
            </a:r>
            <a:endParaRPr lang="en-US" sz="1500" dirty="0"/>
          </a:p>
        </p:txBody>
      </p:sp>
      <p:sp>
        <p:nvSpPr>
          <p:cNvPr id="7" name="Text 5"/>
          <p:cNvSpPr/>
          <p:nvPr/>
        </p:nvSpPr>
        <p:spPr>
          <a:xfrm>
            <a:off x="777240" y="5715000"/>
            <a:ext cx="4572000" cy="457200"/>
          </a:xfrm>
          <a:prstGeom prst="rect">
            <a:avLst/>
          </a:prstGeom>
          <a:noFill/>
          <a:ln/>
        </p:spPr>
        <p:txBody>
          <a:bodyPr wrap="square" lIns="0" tIns="0" rIns="0" bIns="0" rtlCol="0" anchor="ctr"/>
          <a:lstStyle/>
          <a:p>
            <a:pPr indent="0" marL="0">
              <a:buNone/>
            </a:pPr>
            <a:r>
              <a:rPr lang="en-US" sz="2000" dirty="0">
                <a:solidFill>
                  <a:srgbClr val="FBF6EE"/>
                </a:solidFill>
                <a:latin typeface="Fraunces" pitchFamily="34" charset="0"/>
                <a:ea typeface="Fraunces" pitchFamily="34" charset="-122"/>
                <a:cs typeface="Fraunces" pitchFamily="34" charset="-120"/>
              </a:rPr>
              <a:t>Boss </a:t>
            </a:r>
            <a:pPr indent="0" marL="0">
              <a:buNone/>
            </a:pPr>
            <a:r>
              <a:rPr lang="en-US" sz="2000" i="1" dirty="0">
                <a:solidFill>
                  <a:srgbClr val="A93F63"/>
                </a:solidFill>
                <a:latin typeface="Fraunces" pitchFamily="34" charset="0"/>
                <a:ea typeface="Fraunces" pitchFamily="34" charset="-122"/>
                <a:cs typeface="Fraunces" pitchFamily="34" charset="-120"/>
              </a:rPr>
              <a:t>Lady</a:t>
            </a:r>
            <a:pPr indent="0" marL="0">
              <a:buNone/>
            </a:pPr>
            <a:r>
              <a:rPr lang="en-US" sz="2000" dirty="0">
                <a:solidFill>
                  <a:srgbClr val="FBF6EE"/>
                </a:solidFill>
                <a:latin typeface="Fraunces" pitchFamily="34" charset="0"/>
                <a:ea typeface="Fraunces" pitchFamily="34" charset="-122"/>
                <a:cs typeface="Fraunces" pitchFamily="34" charset="-120"/>
              </a:rPr>
              <a:t> Bloggers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HI, I'M GENASYS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short version of why I teach this.</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I started blogging in 2017 from my aunt's basement, typing "how to make money online" into Google. I did everything the internet told me to do.</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Two years later I had a site I could not stand to look at and almost no income to show for it.</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Then I changed the order I built things in. Four months after that, I made $4,000. Same person, same hours, different order.</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That order is the whole course.</a:t>
            </a:r>
            <a:endParaRPr lang="en-US" sz="1550" dirty="0"/>
          </a:p>
        </p:txBody>
      </p:sp>
      <p:sp>
        <p:nvSpPr>
          <p:cNvPr id="6" name="Text 4"/>
          <p:cNvSpPr/>
          <p:nvPr/>
        </p:nvSpPr>
        <p:spPr>
          <a:xfrm>
            <a:off x="777240" y="5806440"/>
            <a:ext cx="10607040" cy="457200"/>
          </a:xfrm>
          <a:prstGeom prst="rect">
            <a:avLst/>
          </a:prstGeom>
          <a:noFill/>
          <a:ln/>
        </p:spPr>
        <p:txBody>
          <a:bodyPr wrap="square" lIns="0" tIns="0" rIns="0" bIns="0" rtlCol="0" anchor="ctr"/>
          <a:lstStyle/>
          <a:p>
            <a:pPr algn="l" indent="0" marL="0">
              <a:buNone/>
            </a:pPr>
            <a:r>
              <a:rPr lang="en-US" sz="2200" dirty="0">
                <a:solidFill>
                  <a:srgbClr val="BC8A47"/>
                </a:solidFill>
                <a:latin typeface="Ephesis" pitchFamily="34" charset="0"/>
                <a:ea typeface="Ephesis" pitchFamily="34" charset="-122"/>
                <a:cs typeface="Ephesis" pitchFamily="34" charset="-120"/>
              </a:rPr>
              <a:t>and now I get to hand it to you</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3</a:t>
            </a:r>
            <a:endParaRPr lang="en-US" sz="1000" dirty="0"/>
          </a:p>
        </p:txBody>
      </p:sp>
      <p:sp>
        <p:nvSpPr>
          <p:cNvPr id="3" name="Text 1"/>
          <p:cNvSpPr/>
          <p:nvPr/>
        </p:nvSpPr>
        <p:spPr>
          <a:xfrm>
            <a:off x="1188720" y="1920240"/>
            <a:ext cx="9784080" cy="2377440"/>
          </a:xfrm>
          <a:prstGeom prst="rect">
            <a:avLst/>
          </a:prstGeom>
          <a:noFill/>
          <a:ln/>
        </p:spPr>
        <p:txBody>
          <a:bodyPr wrap="square" lIns="0" tIns="0" rIns="0" bIns="0" rtlCol="0" anchor="ctr"/>
          <a:lstStyle/>
          <a:p>
            <a:pPr algn="ctr" indent="0" marL="0">
              <a:lnSpc>
                <a:spcPts val="5000"/>
              </a:lnSpc>
              <a:buNone/>
            </a:pPr>
            <a:r>
              <a:rPr lang="en-US" sz="4400" dirty="0">
                <a:solidFill>
                  <a:srgbClr val="FBF6EE"/>
                </a:solidFill>
                <a:latin typeface="Fraunces" pitchFamily="34" charset="0"/>
                <a:ea typeface="Fraunces" pitchFamily="34" charset="-122"/>
                <a:cs typeface="Fraunces" pitchFamily="34" charset="-120"/>
              </a:rPr>
              <a:t>Two years of nothing.
</a:t>
            </a:r>
            <a:pPr algn="ctr" indent="0" marL="0">
              <a:lnSpc>
                <a:spcPts val="5000"/>
              </a:lnSpc>
              <a:buNone/>
            </a:pPr>
            <a:r>
              <a:rPr lang="en-US" sz="4400" i="1" dirty="0">
                <a:solidFill>
                  <a:srgbClr val="A93F63"/>
                </a:solidFill>
                <a:latin typeface="Fraunces" pitchFamily="34" charset="0"/>
                <a:ea typeface="Fraunces" pitchFamily="34" charset="-122"/>
                <a:cs typeface="Fraunces" pitchFamily="34" charset="-120"/>
              </a:rPr>
              <a:t>Four months of something.</a:t>
            </a:r>
            <a:endParaRPr lang="en-US" sz="4400" dirty="0"/>
          </a:p>
        </p:txBody>
      </p:sp>
      <p:sp>
        <p:nvSpPr>
          <p:cNvPr id="4" name="Text 2"/>
          <p:cNvSpPr/>
          <p:nvPr/>
        </p:nvSpPr>
        <p:spPr>
          <a:xfrm>
            <a:off x="2011680" y="4480560"/>
            <a:ext cx="8138160" cy="548640"/>
          </a:xfrm>
          <a:prstGeom prst="rect">
            <a:avLst/>
          </a:prstGeom>
          <a:noFill/>
          <a:ln/>
        </p:spPr>
        <p:txBody>
          <a:bodyPr wrap="square" lIns="0" tIns="0" rIns="0" bIns="0" rtlCol="0" anchor="ctr"/>
          <a:lstStyle/>
          <a:p>
            <a:pPr algn="ctr" indent="0" marL="0">
              <a:buNone/>
            </a:pPr>
            <a:r>
              <a:rPr lang="en-US" sz="1400" dirty="0">
                <a:solidFill>
                  <a:srgbClr val="D8CBC3"/>
                </a:solidFill>
                <a:latin typeface="Karla" pitchFamily="34" charset="0"/>
                <a:ea typeface="Karla" pitchFamily="34" charset="-122"/>
                <a:cs typeface="Karla" pitchFamily="34" charset="-120"/>
              </a:rPr>
              <a:t>Nothing about me changed. Only the order I built in.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PROMISE</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By the end of this course you will be able to:</a:t>
            </a:r>
            <a:endParaRPr lang="en-US" sz="3200" dirty="0"/>
          </a:p>
        </p:txBody>
      </p:sp>
      <p:sp>
        <p:nvSpPr>
          <p:cNvPr id="5" name="Text 3"/>
          <p:cNvSpPr/>
          <p:nvPr/>
        </p:nvSpPr>
        <p:spPr>
          <a:xfrm>
            <a:off x="822960" y="2331720"/>
            <a:ext cx="9875520" cy="3840480"/>
          </a:xfrm>
          <a:prstGeom prst="rect">
            <a:avLst/>
          </a:prstGeom>
          <a:noFill/>
          <a:ln/>
        </p:spPr>
        <p:txBody>
          <a:bodyPr wrap="square" lIns="0" tIns="0" rIns="0" bIns="0" rtlCol="0" anchor="ctr"/>
          <a:lstStyle/>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Name exactly what your blog sells, in one sentence</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Write a page that turns a reader into a buyer</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Design your site around that offer instead of around a template</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Choose the traffic that actually converts, and ignore the rest</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Know the order to build in, which matters more than how hard you work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WHAT'S INSIDE</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Five modules, in the order that works.</a:t>
            </a:r>
            <a:endParaRPr lang="en-US" sz="3200" dirty="0"/>
          </a:p>
        </p:txBody>
      </p:sp>
      <p:sp>
        <p:nvSpPr>
          <p:cNvPr id="5" name="Shape 3"/>
          <p:cNvSpPr/>
          <p:nvPr/>
        </p:nvSpPr>
        <p:spPr>
          <a:xfrm>
            <a:off x="777240"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Shape 4"/>
          <p:cNvSpPr/>
          <p:nvPr/>
        </p:nvSpPr>
        <p:spPr>
          <a:xfrm>
            <a:off x="1124712" y="2624328"/>
            <a:ext cx="530352" cy="530352"/>
          </a:xfrm>
          <a:prstGeom prst="ellipse">
            <a:avLst/>
          </a:prstGeom>
          <a:solidFill>
            <a:srgbClr val="A93F63"/>
          </a:solidFill>
          <a:ln w="12700">
            <a:solidFill>
              <a:srgbClr val="A93F63"/>
            </a:solidFill>
            <a:prstDash val="solid"/>
          </a:ln>
        </p:spPr>
      </p:sp>
      <p:sp>
        <p:nvSpPr>
          <p:cNvPr id="7" name="Text 5"/>
          <p:cNvSpPr/>
          <p:nvPr/>
        </p:nvSpPr>
        <p:spPr>
          <a:xfrm>
            <a:off x="1124712"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124712"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Why most blogs make nothing</a:t>
            </a:r>
            <a:endParaRPr lang="en-US" sz="2000" dirty="0"/>
          </a:p>
        </p:txBody>
      </p:sp>
      <p:sp>
        <p:nvSpPr>
          <p:cNvPr id="9" name="Text 7"/>
          <p:cNvSpPr/>
          <p:nvPr/>
        </p:nvSpPr>
        <p:spPr>
          <a:xfrm>
            <a:off x="1124712"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four traps that keep good bloggers broke, and how to spot them in your own site.</a:t>
            </a:r>
            <a:endParaRPr lang="en-US" sz="1300" dirty="0"/>
          </a:p>
        </p:txBody>
      </p:sp>
      <p:sp>
        <p:nvSpPr>
          <p:cNvPr id="10" name="Shape 8"/>
          <p:cNvSpPr/>
          <p:nvPr/>
        </p:nvSpPr>
        <p:spPr>
          <a:xfrm>
            <a:off x="4416552"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1" name="Shape 9"/>
          <p:cNvSpPr/>
          <p:nvPr/>
        </p:nvSpPr>
        <p:spPr>
          <a:xfrm>
            <a:off x="4764024" y="2624328"/>
            <a:ext cx="530352" cy="530352"/>
          </a:xfrm>
          <a:prstGeom prst="ellipse">
            <a:avLst/>
          </a:prstGeom>
          <a:solidFill>
            <a:srgbClr val="A93F63"/>
          </a:solidFill>
          <a:ln w="12700">
            <a:solidFill>
              <a:srgbClr val="A93F63"/>
            </a:solidFill>
            <a:prstDash val="solid"/>
          </a:ln>
        </p:spPr>
      </p:sp>
      <p:sp>
        <p:nvSpPr>
          <p:cNvPr id="12" name="Text 10"/>
          <p:cNvSpPr/>
          <p:nvPr/>
        </p:nvSpPr>
        <p:spPr>
          <a:xfrm>
            <a:off x="4764024"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3" name="Text 11"/>
          <p:cNvSpPr/>
          <p:nvPr/>
        </p:nvSpPr>
        <p:spPr>
          <a:xfrm>
            <a:off x="4764024"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Your offer comes first</a:t>
            </a:r>
            <a:endParaRPr lang="en-US" sz="2000" dirty="0"/>
          </a:p>
        </p:txBody>
      </p:sp>
      <p:sp>
        <p:nvSpPr>
          <p:cNvPr id="14" name="Text 12"/>
          <p:cNvSpPr/>
          <p:nvPr/>
        </p:nvSpPr>
        <p:spPr>
          <a:xfrm>
            <a:off x="4764024"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Finding, shaping, and pricing the thing you sell before you touch a design.</a:t>
            </a:r>
            <a:endParaRPr lang="en-US" sz="1300" dirty="0"/>
          </a:p>
        </p:txBody>
      </p:sp>
      <p:sp>
        <p:nvSpPr>
          <p:cNvPr id="15" name="Shape 13"/>
          <p:cNvSpPr/>
          <p:nvPr/>
        </p:nvSpPr>
        <p:spPr>
          <a:xfrm>
            <a:off x="8055864"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6" name="Shape 14"/>
          <p:cNvSpPr/>
          <p:nvPr/>
        </p:nvSpPr>
        <p:spPr>
          <a:xfrm>
            <a:off x="8403336" y="2624328"/>
            <a:ext cx="530352" cy="530352"/>
          </a:xfrm>
          <a:prstGeom prst="ellipse">
            <a:avLst/>
          </a:prstGeom>
          <a:solidFill>
            <a:srgbClr val="A93F63"/>
          </a:solidFill>
          <a:ln w="12700">
            <a:solidFill>
              <a:srgbClr val="A93F63"/>
            </a:solidFill>
            <a:prstDash val="solid"/>
          </a:ln>
        </p:spPr>
      </p:sp>
      <p:sp>
        <p:nvSpPr>
          <p:cNvPr id="17" name="Text 15"/>
          <p:cNvSpPr/>
          <p:nvPr/>
        </p:nvSpPr>
        <p:spPr>
          <a:xfrm>
            <a:off x="8403336"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8" name="Text 16"/>
          <p:cNvSpPr/>
          <p:nvPr/>
        </p:nvSpPr>
        <p:spPr>
          <a:xfrm>
            <a:off x="8403336"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Copy that sells</a:t>
            </a:r>
            <a:endParaRPr lang="en-US" sz="2000" dirty="0"/>
          </a:p>
        </p:txBody>
      </p:sp>
      <p:sp>
        <p:nvSpPr>
          <p:cNvPr id="19" name="Text 17"/>
          <p:cNvSpPr/>
          <p:nvPr/>
        </p:nvSpPr>
        <p:spPr>
          <a:xfrm>
            <a:off x="8403336"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words that do the work, from the headline down to the button.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AND THEN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last two modules.</a:t>
            </a:r>
            <a:endParaRPr lang="en-US" sz="3200" dirty="0"/>
          </a:p>
        </p:txBody>
      </p:sp>
      <p:sp>
        <p:nvSpPr>
          <p:cNvPr id="5" name="Shape 3"/>
          <p:cNvSpPr/>
          <p:nvPr/>
        </p:nvSpPr>
        <p:spPr>
          <a:xfrm>
            <a:off x="777240" y="2240280"/>
            <a:ext cx="5120640" cy="3794760"/>
          </a:xfrm>
          <a:prstGeom prst="roundRect">
            <a:avLst>
              <a:gd name="adj" fmla="val 2892"/>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161288" y="2624328"/>
            <a:ext cx="4352544"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MODULE FOUR</a:t>
            </a:r>
            <a:endParaRPr lang="en-US" sz="1100" dirty="0"/>
          </a:p>
        </p:txBody>
      </p:sp>
      <p:sp>
        <p:nvSpPr>
          <p:cNvPr id="7" name="Text 5"/>
          <p:cNvSpPr/>
          <p:nvPr/>
        </p:nvSpPr>
        <p:spPr>
          <a:xfrm>
            <a:off x="1161288" y="3108960"/>
            <a:ext cx="4352544" cy="914400"/>
          </a:xfrm>
          <a:prstGeom prst="rect">
            <a:avLst/>
          </a:prstGeom>
          <a:noFill/>
          <a:ln/>
        </p:spPr>
        <p:txBody>
          <a:bodyPr wrap="square" lIns="0" tIns="0" rIns="0" bIns="0" rtlCol="0" anchor="ctr"/>
          <a:lstStyle/>
          <a:p>
            <a:pPr indent="0" marL="0">
              <a:lnSpc>
                <a:spcPts val="2700"/>
              </a:lnSpc>
              <a:buNone/>
            </a:pPr>
            <a:r>
              <a:rPr lang="en-US" sz="2300" dirty="0">
                <a:solidFill>
                  <a:srgbClr val="2E1F27"/>
                </a:solidFill>
                <a:latin typeface="Fraunces" pitchFamily="34" charset="0"/>
                <a:ea typeface="Fraunces" pitchFamily="34" charset="-122"/>
                <a:cs typeface="Fraunces" pitchFamily="34" charset="-120"/>
              </a:rPr>
              <a:t>Design built around the offer</a:t>
            </a:r>
            <a:endParaRPr lang="en-US" sz="2300" dirty="0"/>
          </a:p>
        </p:txBody>
      </p:sp>
      <p:sp>
        <p:nvSpPr>
          <p:cNvPr id="8" name="Text 6"/>
          <p:cNvSpPr/>
          <p:nvPr/>
        </p:nvSpPr>
        <p:spPr>
          <a:xfrm>
            <a:off x="1161288" y="4251960"/>
            <a:ext cx="4352544" cy="1554480"/>
          </a:xfrm>
          <a:prstGeom prst="rect">
            <a:avLst/>
          </a:prstGeom>
          <a:noFill/>
          <a:ln/>
        </p:spPr>
        <p:txBody>
          <a:bodyPr wrap="square" lIns="0" tIns="0" rIns="0" bIns="0" rtlCol="0" anchor="ctr"/>
          <a:lstStyle/>
          <a:p>
            <a:pPr indent="0" marL="0">
              <a:lnSpc>
                <a:spcPts val="2100"/>
              </a:lnSpc>
              <a:buNone/>
            </a:pPr>
            <a:r>
              <a:rPr lang="en-US" sz="1350" dirty="0">
                <a:solidFill>
                  <a:srgbClr val="6E5C63"/>
                </a:solidFill>
                <a:latin typeface="Karla" pitchFamily="34" charset="0"/>
                <a:ea typeface="Karla" pitchFamily="34" charset="-122"/>
                <a:cs typeface="Karla" pitchFamily="34" charset="-120"/>
              </a:rPr>
              <a:t>Your site is a salesperson. We build it in the order a buyer actually reads.</a:t>
            </a:r>
            <a:endParaRPr lang="en-US" sz="1350" dirty="0"/>
          </a:p>
        </p:txBody>
      </p:sp>
      <p:sp>
        <p:nvSpPr>
          <p:cNvPr id="9" name="Shape 7"/>
          <p:cNvSpPr/>
          <p:nvPr/>
        </p:nvSpPr>
        <p:spPr>
          <a:xfrm>
            <a:off x="6263640" y="2240280"/>
            <a:ext cx="5120640" cy="3794760"/>
          </a:xfrm>
          <a:prstGeom prst="roundRect">
            <a:avLst>
              <a:gd name="adj" fmla="val 2892"/>
            </a:avLst>
          </a:prstGeom>
          <a:solidFill>
            <a:srgbClr val="F0DCE2"/>
          </a:solidFill>
          <a:ln w="9525">
            <a:solidFill>
              <a:srgbClr val="E3C9D2"/>
            </a:solidFill>
            <a:prstDash val="solid"/>
          </a:ln>
          <a:effectLst>
            <a:outerShdw sx="100000" sy="100000" kx="0" ky="0" algn="bl" rotWithShape="0" blurRad="177800" dist="50800" dir="5400000">
              <a:srgbClr val="2E1F27">
                <a:alpha val="13000"/>
              </a:srgbClr>
            </a:outerShdw>
          </a:effectLst>
        </p:spPr>
      </p:sp>
      <p:sp>
        <p:nvSpPr>
          <p:cNvPr id="10" name="Text 8"/>
          <p:cNvSpPr/>
          <p:nvPr/>
        </p:nvSpPr>
        <p:spPr>
          <a:xfrm>
            <a:off x="6647688" y="2624328"/>
            <a:ext cx="4352544"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MODULE FIVE</a:t>
            </a:r>
            <a:endParaRPr lang="en-US" sz="1100" dirty="0"/>
          </a:p>
        </p:txBody>
      </p:sp>
      <p:sp>
        <p:nvSpPr>
          <p:cNvPr id="11" name="Text 9"/>
          <p:cNvSpPr/>
          <p:nvPr/>
        </p:nvSpPr>
        <p:spPr>
          <a:xfrm>
            <a:off x="6647688" y="3108960"/>
            <a:ext cx="4352544" cy="914400"/>
          </a:xfrm>
          <a:prstGeom prst="rect">
            <a:avLst/>
          </a:prstGeom>
          <a:noFill/>
          <a:ln/>
        </p:spPr>
        <p:txBody>
          <a:bodyPr wrap="square" lIns="0" tIns="0" rIns="0" bIns="0" rtlCol="0" anchor="ctr"/>
          <a:lstStyle/>
          <a:p>
            <a:pPr indent="0" marL="0">
              <a:lnSpc>
                <a:spcPts val="2700"/>
              </a:lnSpc>
              <a:buNone/>
            </a:pPr>
            <a:r>
              <a:rPr lang="en-US" sz="2300" dirty="0">
                <a:solidFill>
                  <a:srgbClr val="2E1F27"/>
                </a:solidFill>
                <a:latin typeface="Fraunces" pitchFamily="34" charset="0"/>
                <a:ea typeface="Fraunces" pitchFamily="34" charset="-122"/>
                <a:cs typeface="Fraunces" pitchFamily="34" charset="-120"/>
              </a:rPr>
              <a:t>Traffic that converts</a:t>
            </a:r>
            <a:endParaRPr lang="en-US" sz="2300" dirty="0"/>
          </a:p>
        </p:txBody>
      </p:sp>
      <p:sp>
        <p:nvSpPr>
          <p:cNvPr id="12" name="Text 10"/>
          <p:cNvSpPr/>
          <p:nvPr/>
        </p:nvSpPr>
        <p:spPr>
          <a:xfrm>
            <a:off x="6647688" y="4251960"/>
            <a:ext cx="4352544" cy="1554480"/>
          </a:xfrm>
          <a:prstGeom prst="rect">
            <a:avLst/>
          </a:prstGeom>
          <a:noFill/>
          <a:ln/>
        </p:spPr>
        <p:txBody>
          <a:bodyPr wrap="square" lIns="0" tIns="0" rIns="0" bIns="0" rtlCol="0" anchor="ctr"/>
          <a:lstStyle/>
          <a:p>
            <a:pPr indent="0" marL="0">
              <a:lnSpc>
                <a:spcPts val="2100"/>
              </a:lnSpc>
              <a:buNone/>
            </a:pPr>
            <a:r>
              <a:rPr lang="en-US" sz="1350" dirty="0">
                <a:solidFill>
                  <a:srgbClr val="7C2B48"/>
                </a:solidFill>
                <a:latin typeface="Karla" pitchFamily="34" charset="0"/>
                <a:ea typeface="Karla" pitchFamily="34" charset="-122"/>
                <a:cs typeface="Karla" pitchFamily="34" charset="-120"/>
              </a:rPr>
              <a:t>Why traffic comes last, and how to get the kind that turns into money.</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HOW TO USE THIS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Three things before we start.</a:t>
            </a:r>
            <a:endParaRPr lang="en-US" sz="3200" dirty="0"/>
          </a:p>
        </p:txBody>
      </p:sp>
      <p:sp>
        <p:nvSpPr>
          <p:cNvPr id="5" name="Text 3"/>
          <p:cNvSpPr/>
          <p:nvPr/>
        </p:nvSpPr>
        <p:spPr>
          <a:xfrm>
            <a:off x="822960" y="2331720"/>
            <a:ext cx="9875520" cy="3840480"/>
          </a:xfrm>
          <a:prstGeom prst="rect">
            <a:avLst/>
          </a:prstGeom>
          <a:noFill/>
          <a:ln/>
        </p:spPr>
        <p:txBody>
          <a:bodyPr wrap="square" lIns="0" tIns="0" rIns="0" bIns="0" rtlCol="0" anchor="ctr"/>
          <a:lstStyle/>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Watch in order. The modules build on each other and the order is the point.</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Do the prompts. Every time you see a workbook slide, pause and actually write.</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Finish messy. A finished offer you can improve beats a perfect one you never launched.</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a:t>
            </a:r>
            <a:endParaRPr lang="en-US" sz="1000" dirty="0"/>
          </a:p>
        </p:txBody>
      </p:sp>
      <p:sp>
        <p:nvSpPr>
          <p:cNvPr id="3" name="Text 1"/>
          <p:cNvSpPr/>
          <p:nvPr/>
        </p:nvSpPr>
        <p:spPr>
          <a:xfrm>
            <a:off x="1371600" y="2377440"/>
            <a:ext cx="9418320" cy="1280160"/>
          </a:xfrm>
          <a:prstGeom prst="rect">
            <a:avLst/>
          </a:prstGeom>
          <a:noFill/>
          <a:ln/>
        </p:spPr>
        <p:txBody>
          <a:bodyPr wrap="square" lIns="0" tIns="0" rIns="0" bIns="0" rtlCol="0" anchor="ctr"/>
          <a:lstStyle/>
          <a:p>
            <a:pPr algn="ctr" indent="0" marL="0">
              <a:buNone/>
            </a:pPr>
            <a:r>
              <a:rPr lang="en-US" sz="5400" dirty="0">
                <a:solidFill>
                  <a:srgbClr val="A93F63"/>
                </a:solidFill>
                <a:latin typeface="Ephesis" pitchFamily="34" charset="0"/>
                <a:ea typeface="Ephesis" pitchFamily="34" charset="-122"/>
                <a:cs typeface="Ephesis" pitchFamily="34" charset="-120"/>
              </a:rPr>
              <a:t>okay babe, let's go</a:t>
            </a:r>
            <a:endParaRPr lang="en-US" sz="5400" dirty="0"/>
          </a:p>
        </p:txBody>
      </p:sp>
      <p:sp>
        <p:nvSpPr>
          <p:cNvPr id="4" name="Text 2"/>
          <p:cNvSpPr/>
          <p:nvPr/>
        </p:nvSpPr>
        <p:spPr>
          <a:xfrm>
            <a:off x="2286000" y="3794760"/>
            <a:ext cx="7589520" cy="548640"/>
          </a:xfrm>
          <a:prstGeom prst="rect">
            <a:avLst/>
          </a:prstGeom>
          <a:noFill/>
          <a:ln/>
        </p:spPr>
        <p:txBody>
          <a:bodyPr wrap="square" lIns="0" tIns="0" rIns="0" bIns="0" rtlCol="0" anchor="ctr"/>
          <a:lstStyle/>
          <a:p>
            <a:pPr algn="ctr" indent="0" marL="0">
              <a:buNone/>
            </a:pPr>
            <a:r>
              <a:rPr lang="en-US" sz="1300" spc="200" kern="0" dirty="0">
                <a:solidFill>
                  <a:srgbClr val="6E5C63"/>
                </a:solidFill>
                <a:latin typeface="Karla" pitchFamily="34" charset="0"/>
                <a:ea typeface="Karla" pitchFamily="34" charset="-122"/>
                <a:cs typeface="Karla" pitchFamily="34" charset="-120"/>
              </a:rPr>
              <a:t>MODULE ONE STARTS NOW</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9</a:t>
            </a:r>
            <a:endParaRPr lang="en-US" sz="1000" dirty="0"/>
          </a:p>
        </p:txBody>
      </p:sp>
      <p:sp>
        <p:nvSpPr>
          <p:cNvPr id="3" name="Shape 1"/>
          <p:cNvSpPr/>
          <p:nvPr/>
        </p:nvSpPr>
        <p:spPr>
          <a:xfrm>
            <a:off x="9509760" y="4389120"/>
            <a:ext cx="4206240" cy="4206240"/>
          </a:xfrm>
          <a:prstGeom prst="ellipse">
            <a:avLst/>
          </a:prstGeom>
          <a:solidFill>
            <a:srgbClr val="A93F63">
              <a:alpha val="26000"/>
            </a:srgbClr>
          </a:solidFill>
          <a:ln w="12700">
            <a:solidFill>
              <a:srgbClr val="333333"/>
            </a:solidFill>
            <a:prstDash val="solid"/>
          </a:ln>
        </p:spPr>
      </p:sp>
      <p:sp>
        <p:nvSpPr>
          <p:cNvPr id="4" name="Text 2"/>
          <p:cNvSpPr/>
          <p:nvPr/>
        </p:nvSpPr>
        <p:spPr>
          <a:xfrm>
            <a:off x="777240" y="914400"/>
            <a:ext cx="3657600" cy="2194560"/>
          </a:xfrm>
          <a:prstGeom prst="rect">
            <a:avLst/>
          </a:prstGeom>
          <a:noFill/>
          <a:ln/>
        </p:spPr>
        <p:txBody>
          <a:bodyPr wrap="square" lIns="0" tIns="0" rIns="0" bIns="0" rtlCol="0" anchor="ctr"/>
          <a:lstStyle/>
          <a:p>
            <a:pPr indent="0" marL="0">
              <a:buNone/>
            </a:pPr>
            <a:r>
              <a:rPr lang="en-US" sz="9600" i="1" dirty="0">
                <a:solidFill>
                  <a:srgbClr val="A93F63"/>
                </a:solidFill>
                <a:latin typeface="Fraunces" pitchFamily="34" charset="0"/>
                <a:ea typeface="Fraunces" pitchFamily="34" charset="-122"/>
                <a:cs typeface="Fraunces" pitchFamily="34" charset="-120"/>
              </a:rPr>
              <a:t>01</a:t>
            </a:r>
            <a:endParaRPr lang="en-US" sz="9600" dirty="0"/>
          </a:p>
        </p:txBody>
      </p:sp>
      <p:sp>
        <p:nvSpPr>
          <p:cNvPr id="5" name="Text 3"/>
          <p:cNvSpPr/>
          <p:nvPr/>
        </p:nvSpPr>
        <p:spPr>
          <a:xfrm>
            <a:off x="777240" y="3017520"/>
            <a:ext cx="8229600" cy="1371600"/>
          </a:xfrm>
          <a:prstGeom prst="rect">
            <a:avLst/>
          </a:prstGeom>
          <a:noFill/>
          <a:ln/>
        </p:spPr>
        <p:txBody>
          <a:bodyPr wrap="square" lIns="0" tIns="0" rIns="0" bIns="0" rtlCol="0" anchor="ctr"/>
          <a:lstStyle/>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Why most blogs</a:t>
            </a:r>
            <a:endParaRPr lang="en-US" sz="4000" dirty="0"/>
          </a:p>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make nothing</a:t>
            </a:r>
            <a:endParaRPr lang="en-US" sz="4000" dirty="0"/>
          </a:p>
        </p:txBody>
      </p:sp>
      <p:sp>
        <p:nvSpPr>
          <p:cNvPr id="6" name="Text 4"/>
          <p:cNvSpPr/>
          <p:nvPr/>
        </p:nvSpPr>
        <p:spPr>
          <a:xfrm>
            <a:off x="777240" y="4434840"/>
            <a:ext cx="7863840" cy="502920"/>
          </a:xfrm>
          <a:prstGeom prst="rect">
            <a:avLst/>
          </a:prstGeom>
          <a:noFill/>
          <a:ln/>
        </p:spPr>
        <p:txBody>
          <a:bodyPr wrap="square" lIns="0" tIns="0" rIns="0" bIns="0" rtlCol="0" anchor="ctr"/>
          <a:lstStyle/>
          <a:p>
            <a:pPr indent="0" marL="0">
              <a:buNone/>
            </a:pPr>
            <a:r>
              <a:rPr lang="en-US" sz="2400" dirty="0">
                <a:solidFill>
                  <a:srgbClr val="BC8A47"/>
                </a:solidFill>
                <a:latin typeface="Ephesis" pitchFamily="34" charset="0"/>
                <a:ea typeface="Ephesis" pitchFamily="34" charset="-122"/>
                <a:cs typeface="Ephesis" pitchFamily="34" charset="-120"/>
              </a:rPr>
              <a:t>the part nobody tells you</a:t>
            </a:r>
            <a:endParaRPr lang="en-US" sz="2400" dirty="0"/>
          </a:p>
        </p:txBody>
      </p:sp>
      <p:sp>
        <p:nvSpPr>
          <p:cNvPr id="7" name="Text 5"/>
          <p:cNvSpPr/>
          <p:nvPr/>
        </p:nvSpPr>
        <p:spPr>
          <a:xfrm>
            <a:off x="777240" y="5029200"/>
            <a:ext cx="786384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The four traps that keep good bloggers broke</a:t>
            </a:r>
            <a:endParaRPr lang="en-US" sz="1300" dirty="0"/>
          </a:p>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How to audit your own blog honestly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10</a:t>
            </a:r>
            <a:endParaRPr lang="en-US" sz="1000" dirty="0"/>
          </a:p>
        </p:txBody>
      </p:sp>
      <p:sp>
        <p:nvSpPr>
          <p:cNvPr id="3" name="Text 1"/>
          <p:cNvSpPr/>
          <p:nvPr/>
        </p:nvSpPr>
        <p:spPr>
          <a:xfrm>
            <a:off x="1188720" y="1920240"/>
            <a:ext cx="9784080" cy="2377440"/>
          </a:xfrm>
          <a:prstGeom prst="rect">
            <a:avLst/>
          </a:prstGeom>
          <a:noFill/>
          <a:ln/>
        </p:spPr>
        <p:txBody>
          <a:bodyPr wrap="square" lIns="0" tIns="0" rIns="0" bIns="0" rtlCol="0" anchor="ctr"/>
          <a:lstStyle/>
          <a:p>
            <a:pPr algn="ctr" indent="0" marL="0">
              <a:lnSpc>
                <a:spcPts val="5000"/>
              </a:lnSpc>
              <a:buNone/>
            </a:pPr>
            <a:r>
              <a:rPr lang="en-US" sz="4400" dirty="0">
                <a:solidFill>
                  <a:srgbClr val="2E1F27"/>
                </a:solidFill>
                <a:latin typeface="Fraunces" pitchFamily="34" charset="0"/>
                <a:ea typeface="Fraunces" pitchFamily="34" charset="-122"/>
                <a:cs typeface="Fraunces" pitchFamily="34" charset="-120"/>
              </a:rPr>
              <a:t>Your blog isn't your business.
</a:t>
            </a:r>
            <a:pPr algn="ctr" indent="0" marL="0">
              <a:lnSpc>
                <a:spcPts val="5000"/>
              </a:lnSpc>
              <a:buNone/>
            </a:pPr>
            <a:r>
              <a:rPr lang="en-US" sz="4400" i="1" dirty="0">
                <a:solidFill>
                  <a:srgbClr val="A93F63"/>
                </a:solidFill>
                <a:latin typeface="Fraunces" pitchFamily="34" charset="0"/>
                <a:ea typeface="Fraunces" pitchFamily="34" charset="-122"/>
                <a:cs typeface="Fraunces" pitchFamily="34" charset="-120"/>
              </a:rPr>
              <a:t>It's your marketing.</a:t>
            </a:r>
            <a:endParaRPr lang="en-US" sz="4400" dirty="0"/>
          </a:p>
        </p:txBody>
      </p:sp>
      <p:sp>
        <p:nvSpPr>
          <p:cNvPr id="4" name="Text 2"/>
          <p:cNvSpPr/>
          <p:nvPr/>
        </p:nvSpPr>
        <p:spPr>
          <a:xfrm>
            <a:off x="2011680" y="4480560"/>
            <a:ext cx="8138160" cy="548640"/>
          </a:xfrm>
          <a:prstGeom prst="rect">
            <a:avLst/>
          </a:prstGeom>
          <a:noFill/>
          <a:ln/>
        </p:spPr>
        <p:txBody>
          <a:bodyPr wrap="square" lIns="0" tIns="0" rIns="0" bIns="0" rtlCol="0" anchor="ctr"/>
          <a:lstStyle/>
          <a:p>
            <a:pPr algn="ctr" indent="0" marL="0">
              <a:buNone/>
            </a:pPr>
            <a:r>
              <a:rPr lang="en-US" sz="1400" dirty="0">
                <a:solidFill>
                  <a:srgbClr val="6E5C63"/>
                </a:solidFill>
                <a:latin typeface="Karla" pitchFamily="34" charset="0"/>
                <a:ea typeface="Karla" pitchFamily="34" charset="-122"/>
                <a:cs typeface="Karla" pitchFamily="34" charset="-120"/>
              </a:rPr>
              <a:t>This one sentence changes everything that follows.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11</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DISTINCTION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Marketing brings them in. The offer gets you paid.</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A blog is how people find you and decide they like you. That is a real job and it matters enormously.</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But it is not the thing that takes their money. Something else has to do that.</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Build the blog without the offer and you have built a beautiful machine pointing at nothing. Traffic arrives, likes what it sees, and leaves, because you never told it what to do next.</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12</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ORDER PROBLEM</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Same pieces. Completely different results.</a:t>
            </a:r>
            <a:endParaRPr lang="en-US" sz="3200" dirty="0"/>
          </a:p>
        </p:txBody>
      </p:sp>
      <p:sp>
        <p:nvSpPr>
          <p:cNvPr id="5" name="Shape 3"/>
          <p:cNvSpPr/>
          <p:nvPr/>
        </p:nvSpPr>
        <p:spPr>
          <a:xfrm>
            <a:off x="777240" y="2194560"/>
            <a:ext cx="5120640" cy="3840480"/>
          </a:xfrm>
          <a:prstGeom prst="roundRect">
            <a:avLst>
              <a:gd name="adj" fmla="val 2857"/>
            </a:avLst>
          </a:prstGeom>
          <a:solidFill>
            <a:srgbClr val="FBF6EE"/>
          </a:solidFill>
          <a:ln w="9525">
            <a:solidFill>
              <a:srgbClr val="D8CCC0"/>
            </a:solidFill>
            <a:prstDash val="solid"/>
          </a:ln>
        </p:spPr>
      </p:sp>
      <p:sp>
        <p:nvSpPr>
          <p:cNvPr id="6" name="Text 4"/>
          <p:cNvSpPr/>
          <p:nvPr/>
        </p:nvSpPr>
        <p:spPr>
          <a:xfrm>
            <a:off x="11430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THE WAY MOST PEOPLE BUILD</a:t>
            </a:r>
            <a:endParaRPr lang="en-US" sz="1100" dirty="0"/>
          </a:p>
        </p:txBody>
      </p:sp>
      <p:sp>
        <p:nvSpPr>
          <p:cNvPr id="7" name="Text 5"/>
          <p:cNvSpPr/>
          <p:nvPr/>
        </p:nvSpPr>
        <p:spPr>
          <a:xfrm>
            <a:off x="11430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Pick a pretty template</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Write posts and hope</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Chase traffic</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Add ads and affiliate links</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Wonder where the money is</a:t>
            </a:r>
            <a:endParaRPr lang="en-US" sz="1300" dirty="0"/>
          </a:p>
        </p:txBody>
      </p:sp>
      <p:sp>
        <p:nvSpPr>
          <p:cNvPr id="8" name="Shape 6"/>
          <p:cNvSpPr/>
          <p:nvPr/>
        </p:nvSpPr>
        <p:spPr>
          <a:xfrm>
            <a:off x="6263640" y="2194560"/>
            <a:ext cx="5120640" cy="3840480"/>
          </a:xfrm>
          <a:prstGeom prst="roundRect">
            <a:avLst>
              <a:gd name="adj" fmla="val 2857"/>
            </a:avLst>
          </a:prstGeom>
          <a:solidFill>
            <a:srgbClr val="2E1F27"/>
          </a:solidFill>
          <a:ln w="9525">
            <a:solidFill>
              <a:srgbClr val="2E1F27"/>
            </a:solidFill>
            <a:prstDash val="solid"/>
          </a:ln>
          <a:effectLst>
            <a:outerShdw sx="100000" sy="100000" kx="0" ky="0" algn="bl" rotWithShape="0" blurRad="177800" dist="50800" dir="5400000">
              <a:srgbClr val="2E1F27">
                <a:alpha val="13000"/>
              </a:srgbClr>
            </a:outerShdw>
          </a:effectLst>
        </p:spPr>
      </p:sp>
      <p:sp>
        <p:nvSpPr>
          <p:cNvPr id="9" name="Text 7"/>
          <p:cNvSpPr/>
          <p:nvPr/>
        </p:nvSpPr>
        <p:spPr>
          <a:xfrm>
            <a:off x="66294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THE WAY THAT WORKS</a:t>
            </a:r>
            <a:endParaRPr lang="en-US" sz="1100" dirty="0"/>
          </a:p>
        </p:txBody>
      </p:sp>
      <p:sp>
        <p:nvSpPr>
          <p:cNvPr id="10" name="Text 8"/>
          <p:cNvSpPr/>
          <p:nvPr/>
        </p:nvSpPr>
        <p:spPr>
          <a:xfrm>
            <a:off x="66294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Decide what you sell</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Write copy that sells it</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Design the site around that</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Then bring traffic to it</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Get paid on purpose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13</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FOUR TRAPS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Almost every stuck blog is stuck on one of these.</a:t>
            </a:r>
            <a:endParaRPr lang="en-US" sz="3200" dirty="0"/>
          </a:p>
        </p:txBody>
      </p:sp>
      <p:sp>
        <p:nvSpPr>
          <p:cNvPr id="5" name="Text 3"/>
          <p:cNvSpPr/>
          <p:nvPr/>
        </p:nvSpPr>
        <p:spPr>
          <a:xfrm>
            <a:off x="822960" y="2331720"/>
            <a:ext cx="9875520" cy="3840480"/>
          </a:xfrm>
          <a:prstGeom prst="rect">
            <a:avLst/>
          </a:prstGeom>
          <a:noFill/>
          <a:ln/>
        </p:spPr>
        <p:txBody>
          <a:bodyPr wrap="square" lIns="0" tIns="0" rIns="0" bIns="0" rtlCol="0" anchor="ctr"/>
          <a:lstStyle/>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Trap one: waiting for traffic before you have anything to sell</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Trap two: monetizing with ads and affiliate links instead of your own offer</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Trap three: writing content with no destination</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Trap four: designing first and deciding what it is for later</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14</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TRAP ONE</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Waiting for traffic to show up first.</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The logic feels right: get the audience, then figure out how to make money from it. Everyone says it.</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The problem is that traffic without an offer teaches you nothing. Ten thousand visitors who had nothing to buy tell you exactly as much as zero visitors.</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A hundred visitors and a real offer will teach you more in a week than a year of watching your analytics climb.</a:t>
            </a:r>
            <a:endParaRPr lang="en-US" sz="1550" dirty="0"/>
          </a:p>
        </p:txBody>
      </p:sp>
      <p:sp>
        <p:nvSpPr>
          <p:cNvPr id="6" name="Text 4"/>
          <p:cNvSpPr/>
          <p:nvPr/>
        </p:nvSpPr>
        <p:spPr>
          <a:xfrm>
            <a:off x="777240" y="5806440"/>
            <a:ext cx="10607040" cy="457200"/>
          </a:xfrm>
          <a:prstGeom prst="rect">
            <a:avLst/>
          </a:prstGeom>
          <a:noFill/>
          <a:ln/>
        </p:spPr>
        <p:txBody>
          <a:bodyPr wrap="square" lIns="0" tIns="0" rIns="0" bIns="0" rtlCol="0" anchor="ctr"/>
          <a:lstStyle/>
          <a:p>
            <a:pPr algn="l" indent="0" marL="0">
              <a:buNone/>
            </a:pPr>
            <a:r>
              <a:rPr lang="en-US" sz="2200" dirty="0">
                <a:solidFill>
                  <a:srgbClr val="BC8A47"/>
                </a:solidFill>
                <a:latin typeface="Ephesis" pitchFamily="34" charset="0"/>
                <a:ea typeface="Ephesis" pitchFamily="34" charset="-122"/>
                <a:cs typeface="Ephesis" pitchFamily="34" charset="-120"/>
              </a:rPr>
              <a:t>small and selling beats big and broke</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15</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TRAP TWO</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Ads and affiliate links as the whole plan.</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Display ads pay in pennies per visitor, and they send people away from your site for a living. You are renting out your reader's attention at a discount.</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Affiliate links are better, and they are genuinely fine on the side. But you are still selling somebody else's thing for a slice.</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Neither one should be the plan. They are a nice extra on top of a business that already works.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16</a:t>
            </a:r>
            <a:endParaRPr lang="en-US" sz="1000" dirty="0"/>
          </a:p>
        </p:txBody>
      </p:sp>
      <p:sp>
        <p:nvSpPr>
          <p:cNvPr id="3" name="Text 1"/>
          <p:cNvSpPr/>
          <p:nvPr/>
        </p:nvSpPr>
        <p:spPr>
          <a:xfrm>
            <a:off x="1097280" y="1600200"/>
            <a:ext cx="9966960" cy="2011680"/>
          </a:xfrm>
          <a:prstGeom prst="rect">
            <a:avLst/>
          </a:prstGeom>
          <a:noFill/>
          <a:ln/>
        </p:spPr>
        <p:txBody>
          <a:bodyPr wrap="square" lIns="0" tIns="0" rIns="0" bIns="0" rtlCol="0" anchor="ctr"/>
          <a:lstStyle/>
          <a:p>
            <a:pPr algn="ctr" indent="0" marL="0">
              <a:buNone/>
            </a:pPr>
            <a:r>
              <a:rPr lang="en-US" sz="9600" i="1" dirty="0">
                <a:solidFill>
                  <a:srgbClr val="A93F63"/>
                </a:solidFill>
                <a:latin typeface="Fraunces" pitchFamily="34" charset="0"/>
                <a:ea typeface="Fraunces" pitchFamily="34" charset="-122"/>
                <a:cs typeface="Fraunces" pitchFamily="34" charset="-120"/>
              </a:rPr>
              <a:t>$0</a:t>
            </a:r>
            <a:endParaRPr lang="en-US" sz="9600" dirty="0"/>
          </a:p>
        </p:txBody>
      </p:sp>
      <p:sp>
        <p:nvSpPr>
          <p:cNvPr id="4" name="Text 2"/>
          <p:cNvSpPr/>
          <p:nvPr/>
        </p:nvSpPr>
        <p:spPr>
          <a:xfrm>
            <a:off x="1097280" y="3611880"/>
            <a:ext cx="9966960" cy="365760"/>
          </a:xfrm>
          <a:prstGeom prst="rect">
            <a:avLst/>
          </a:prstGeom>
          <a:noFill/>
          <a:ln/>
        </p:spPr>
        <p:txBody>
          <a:bodyPr wrap="square" lIns="0" tIns="0" rIns="0" bIns="0" rtlCol="0" anchor="ctr"/>
          <a:lstStyle/>
          <a:p>
            <a:pPr algn="ctr" indent="0" marL="0">
              <a:buNone/>
            </a:pPr>
            <a:r>
              <a:rPr lang="en-US" sz="1300" b="1" spc="400" kern="0" dirty="0">
                <a:solidFill>
                  <a:srgbClr val="BC8A47"/>
                </a:solidFill>
                <a:latin typeface="Karla" pitchFamily="34" charset="0"/>
                <a:ea typeface="Karla" pitchFamily="34" charset="-122"/>
                <a:cs typeface="Karla" pitchFamily="34" charset="-120"/>
              </a:rPr>
              <a:t>WHAT TWO YEARS OF ADS AND AFFILIATE LINKS EARNED ME</a:t>
            </a:r>
            <a:endParaRPr lang="en-US" sz="1300" dirty="0"/>
          </a:p>
        </p:txBody>
      </p:sp>
      <p:sp>
        <p:nvSpPr>
          <p:cNvPr id="5" name="Text 3"/>
          <p:cNvSpPr/>
          <p:nvPr/>
        </p:nvSpPr>
        <p:spPr>
          <a:xfrm>
            <a:off x="2377440" y="4206240"/>
            <a:ext cx="7406640" cy="914400"/>
          </a:xfrm>
          <a:prstGeom prst="rect">
            <a:avLst/>
          </a:prstGeom>
          <a:noFill/>
          <a:ln/>
        </p:spPr>
        <p:txBody>
          <a:bodyPr wrap="square" lIns="0" tIns="0" rIns="0" bIns="0" rtlCol="0" anchor="ctr"/>
          <a:lstStyle/>
          <a:p>
            <a:pPr algn="ctr" indent="0" marL="0">
              <a:lnSpc>
                <a:spcPts val="2200"/>
              </a:lnSpc>
              <a:buNone/>
            </a:pPr>
            <a:r>
              <a:rPr lang="en-US" sz="1400" dirty="0">
                <a:solidFill>
                  <a:srgbClr val="D8CBC3"/>
                </a:solidFill>
                <a:latin typeface="Karla" pitchFamily="34" charset="0"/>
                <a:ea typeface="Karla" pitchFamily="34" charset="-122"/>
                <a:cs typeface="Karla" pitchFamily="34" charset="-120"/>
              </a:rPr>
              <a:t>Not because I was lazy. Because I was building in the wrong order.</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17</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TRAP THREE</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Content with nowhere to go.</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Most blog posts end with "let me know in the comments." That is a lovely thought and a dead end.</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Every post should point somewhere: a freebie, an email list, a service page, a product. One clear next step.</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You are not being pushy. You are being useful. A reader who liked your post wants to know what to do with the feeling.</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18</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TRAP FOUR</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Design is the last step, not the first.</a:t>
            </a:r>
            <a:endParaRPr lang="en-US" sz="3200" dirty="0"/>
          </a:p>
        </p:txBody>
      </p:sp>
      <p:sp>
        <p:nvSpPr>
          <p:cNvPr id="5" name="Shape 3"/>
          <p:cNvSpPr/>
          <p:nvPr/>
        </p:nvSpPr>
        <p:spPr>
          <a:xfrm>
            <a:off x="777240" y="2240280"/>
            <a:ext cx="5120640" cy="3291840"/>
          </a:xfrm>
          <a:prstGeom prst="roundRect">
            <a:avLst>
              <a:gd name="adj" fmla="val 3333"/>
            </a:avLst>
          </a:prstGeom>
          <a:solidFill>
            <a:srgbClr val="F0DCE2"/>
          </a:solidFill>
          <a:ln w="9525">
            <a:solidFill>
              <a:srgbClr val="E3C9D2"/>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143000" y="2587752"/>
            <a:ext cx="438912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DO THIS</a:t>
            </a:r>
            <a:endParaRPr lang="en-US" sz="1100" dirty="0"/>
          </a:p>
        </p:txBody>
      </p:sp>
      <p:sp>
        <p:nvSpPr>
          <p:cNvPr id="7" name="Text 5"/>
          <p:cNvSpPr/>
          <p:nvPr/>
        </p:nvSpPr>
        <p:spPr>
          <a:xfrm>
            <a:off x="1143000" y="3081528"/>
            <a:ext cx="4389120" cy="210312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Decide the offer, then design around it</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Let the copy determine the layout</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Build the page in the order a buyer reads</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Choose a look that fits what you sell</a:t>
            </a:r>
            <a:endParaRPr lang="en-US" sz="1300" dirty="0"/>
          </a:p>
        </p:txBody>
      </p:sp>
      <p:sp>
        <p:nvSpPr>
          <p:cNvPr id="8" name="Shape 6"/>
          <p:cNvSpPr/>
          <p:nvPr/>
        </p:nvSpPr>
        <p:spPr>
          <a:xfrm>
            <a:off x="6263640" y="2240280"/>
            <a:ext cx="5120640" cy="3291840"/>
          </a:xfrm>
          <a:prstGeom prst="roundRect">
            <a:avLst>
              <a:gd name="adj" fmla="val 3333"/>
            </a:avLst>
          </a:prstGeom>
          <a:solidFill>
            <a:srgbClr val="FBF6EE"/>
          </a:solidFill>
          <a:ln w="9525">
            <a:solidFill>
              <a:srgbClr val="D8CCC0"/>
            </a:solidFill>
            <a:prstDash val="solid"/>
          </a:ln>
        </p:spPr>
      </p:sp>
      <p:sp>
        <p:nvSpPr>
          <p:cNvPr id="9" name="Text 7"/>
          <p:cNvSpPr/>
          <p:nvPr/>
        </p:nvSpPr>
        <p:spPr>
          <a:xfrm>
            <a:off x="6629400" y="2587752"/>
            <a:ext cx="438912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NOT THIS</a:t>
            </a:r>
            <a:endParaRPr lang="en-US" sz="1100" dirty="0"/>
          </a:p>
        </p:txBody>
      </p:sp>
      <p:sp>
        <p:nvSpPr>
          <p:cNvPr id="10" name="Text 8"/>
          <p:cNvSpPr/>
          <p:nvPr/>
        </p:nvSpPr>
        <p:spPr>
          <a:xfrm>
            <a:off x="6629400" y="3081528"/>
            <a:ext cx="4389120" cy="210312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Buy a template because it is pretty</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Fill a pre-made layout with whatever fits</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Design first and add the offer later</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Copy a site that sells something else</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19</a:t>
            </a:r>
            <a:endParaRPr lang="en-US" sz="1000" dirty="0"/>
          </a:p>
        </p:txBody>
      </p:sp>
      <p:sp>
        <p:nvSpPr>
          <p:cNvPr id="3" name="Text 1"/>
          <p:cNvSpPr/>
          <p:nvPr/>
        </p:nvSpPr>
        <p:spPr>
          <a:xfrm>
            <a:off x="914400" y="914400"/>
            <a:ext cx="1371600" cy="1371600"/>
          </a:xfrm>
          <a:prstGeom prst="rect">
            <a:avLst/>
          </a:prstGeom>
          <a:noFill/>
          <a:ln/>
        </p:spPr>
        <p:txBody>
          <a:bodyPr wrap="square" lIns="0" tIns="0" rIns="0" bIns="0" rtlCol="0" anchor="ctr"/>
          <a:lstStyle/>
          <a:p>
            <a:pPr indent="0" marL="0">
              <a:buNone/>
            </a:pPr>
            <a:r>
              <a:rPr lang="en-US" sz="11000" i="1" dirty="0">
                <a:solidFill>
                  <a:srgbClr val="A93F63"/>
                </a:solidFill>
                <a:latin typeface="Fraunces" pitchFamily="34" charset="0"/>
                <a:ea typeface="Fraunces" pitchFamily="34" charset="-122"/>
                <a:cs typeface="Fraunces" pitchFamily="34" charset="-120"/>
              </a:rPr>
              <a:t>“</a:t>
            </a:r>
            <a:endParaRPr lang="en-US" sz="11000" dirty="0"/>
          </a:p>
        </p:txBody>
      </p:sp>
      <p:sp>
        <p:nvSpPr>
          <p:cNvPr id="4" name="Text 2"/>
          <p:cNvSpPr/>
          <p:nvPr/>
        </p:nvSpPr>
        <p:spPr>
          <a:xfrm>
            <a:off x="1691640" y="1965960"/>
            <a:ext cx="8778240" cy="2377440"/>
          </a:xfrm>
          <a:prstGeom prst="rect">
            <a:avLst/>
          </a:prstGeom>
          <a:noFill/>
          <a:ln/>
        </p:spPr>
        <p:txBody>
          <a:bodyPr wrap="square" lIns="0" tIns="0" rIns="0" bIns="0" rtlCol="0" anchor="ctr"/>
          <a:lstStyle/>
          <a:p>
            <a:pPr algn="ctr" indent="0" marL="0">
              <a:lnSpc>
                <a:spcPts val="3800"/>
              </a:lnSpc>
              <a:buNone/>
            </a:pPr>
            <a:r>
              <a:rPr lang="en-US" sz="3000" i="1" dirty="0">
                <a:solidFill>
                  <a:srgbClr val="2E1F27"/>
                </a:solidFill>
                <a:latin typeface="Fraunces" pitchFamily="34" charset="0"/>
                <a:ea typeface="Fraunces" pitchFamily="34" charset="-122"/>
                <a:cs typeface="Fraunces" pitchFamily="34" charset="-120"/>
              </a:rPr>
              <a:t>Pretty and profitable were never opposites. Somewhere along the way women got told to pick one.</a:t>
            </a:r>
            <a:endParaRPr lang="en-US" sz="3000" dirty="0"/>
          </a:p>
        </p:txBody>
      </p:sp>
      <p:sp>
        <p:nvSpPr>
          <p:cNvPr id="5" name="Text 3"/>
          <p:cNvSpPr/>
          <p:nvPr/>
        </p:nvSpPr>
        <p:spPr>
          <a:xfrm>
            <a:off x="2377440" y="4572000"/>
            <a:ext cx="7406640" cy="365760"/>
          </a:xfrm>
          <a:prstGeom prst="rect">
            <a:avLst/>
          </a:prstGeom>
          <a:noFill/>
          <a:ln/>
        </p:spPr>
        <p:txBody>
          <a:bodyPr wrap="square" lIns="0" tIns="0" rIns="0" bIns="0" rtlCol="0" anchor="ctr"/>
          <a:lstStyle/>
          <a:p>
            <a:pPr algn="ctr" indent="0" marL="0">
              <a:buNone/>
            </a:pPr>
            <a:r>
              <a:rPr lang="en-US" sz="1100" b="1" spc="400" kern="0" dirty="0">
                <a:solidFill>
                  <a:srgbClr val="7C2B48"/>
                </a:solidFill>
                <a:latin typeface="Karla" pitchFamily="34" charset="0"/>
                <a:ea typeface="Karla" pitchFamily="34" charset="-122"/>
                <a:cs typeface="Karla" pitchFamily="34" charset="-120"/>
              </a:rPr>
              <a:t>GENASYS, BOSS LADY BLOGGERS</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20</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SEE IT IN THE WILD</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What a blog built in the right order looks like.</a:t>
            </a:r>
            <a:endParaRPr lang="en-US" sz="3200" dirty="0"/>
          </a:p>
        </p:txBody>
      </p:sp>
      <p:sp>
        <p:nvSpPr>
          <p:cNvPr id="5" name="Shape 3"/>
          <p:cNvSpPr/>
          <p:nvPr/>
        </p:nvSpPr>
        <p:spPr>
          <a:xfrm>
            <a:off x="777240" y="2194560"/>
            <a:ext cx="6576365" cy="3657600"/>
          </a:xfrm>
          <a:prstGeom prst="roundRect">
            <a:avLst>
              <a:gd name="adj" fmla="val 3000"/>
            </a:avLst>
          </a:prstGeom>
          <a:solidFill>
            <a:srgbClr val="F4EBDE"/>
          </a:solidFill>
          <a:ln w="9525">
            <a:solidFill>
              <a:srgbClr val="DCD2C7"/>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777240" y="3794760"/>
            <a:ext cx="6576365" cy="457200"/>
          </a:xfrm>
          <a:prstGeom prst="rect">
            <a:avLst/>
          </a:prstGeom>
          <a:noFill/>
          <a:ln/>
        </p:spPr>
        <p:txBody>
          <a:bodyPr wrap="square" lIns="0" tIns="0" rIns="0" bIns="0" rtlCol="0" anchor="ctr"/>
          <a:lstStyle/>
          <a:p>
            <a:pPr algn="ctr" indent="0" marL="0">
              <a:buNone/>
            </a:pPr>
            <a:r>
              <a:rPr lang="en-US" sz="1100" b="1" spc="300" kern="0" dirty="0">
                <a:solidFill>
                  <a:srgbClr val="B7A99F"/>
                </a:solidFill>
                <a:latin typeface="Karla" pitchFamily="34" charset="0"/>
                <a:ea typeface="Karla" pitchFamily="34" charset="-122"/>
                <a:cs typeface="Karla" pitchFamily="34" charset="-120"/>
              </a:rPr>
              <a:t>DROP YOUR SCREENSHOT HERE</a:t>
            </a:r>
            <a:endParaRPr lang="en-US" sz="1100" dirty="0"/>
          </a:p>
        </p:txBody>
      </p:sp>
      <p:sp>
        <p:nvSpPr>
          <p:cNvPr id="7" name="Text 5"/>
          <p:cNvSpPr/>
          <p:nvPr/>
        </p:nvSpPr>
        <p:spPr>
          <a:xfrm>
            <a:off x="7810805" y="2377440"/>
            <a:ext cx="3573475" cy="128016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Notice what happens above the fold.</a:t>
            </a:r>
            <a:endParaRPr lang="en-US" sz="2000" dirty="0"/>
          </a:p>
        </p:txBody>
      </p:sp>
      <p:sp>
        <p:nvSpPr>
          <p:cNvPr id="8" name="Text 6"/>
          <p:cNvSpPr/>
          <p:nvPr/>
        </p:nvSpPr>
        <p:spPr>
          <a:xfrm>
            <a:off x="7810805" y="3703320"/>
            <a:ext cx="3573475" cy="201168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visitor knows within three seconds who it is for, what is being sold, and what to do next. No hunting, no scrolling to find the point. That clarity is not a design trick. It comes from knowing the offer before the design started.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21</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AUDIT YOUR OWN BLOG</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Be honest. Tick what is true today.</a:t>
            </a:r>
            <a:endParaRPr lang="en-US" sz="3200" dirty="0"/>
          </a:p>
        </p:txBody>
      </p:sp>
      <p:sp>
        <p:nvSpPr>
          <p:cNvPr id="5" name="Shape 3"/>
          <p:cNvSpPr/>
          <p:nvPr/>
        </p:nvSpPr>
        <p:spPr>
          <a:xfrm>
            <a:off x="777240" y="2377440"/>
            <a:ext cx="310896" cy="310896"/>
          </a:xfrm>
          <a:prstGeom prst="roundRect">
            <a:avLst>
              <a:gd name="adj" fmla="val 17647"/>
            </a:avLst>
          </a:prstGeom>
          <a:solidFill>
            <a:srgbClr val="FFFFFF"/>
          </a:solidFill>
          <a:ln w="15875">
            <a:solidFill>
              <a:srgbClr val="A93F63"/>
            </a:solidFill>
            <a:prstDash val="solid"/>
          </a:ln>
        </p:spPr>
      </p:sp>
      <p:sp>
        <p:nvSpPr>
          <p:cNvPr id="6" name="Text 4"/>
          <p:cNvSpPr/>
          <p:nvPr/>
        </p:nvSpPr>
        <p:spPr>
          <a:xfrm>
            <a:off x="1280160" y="234086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 can name what my blog sells in one sentence</a:t>
            </a:r>
            <a:endParaRPr lang="en-US" sz="1400" dirty="0"/>
          </a:p>
        </p:txBody>
      </p:sp>
      <p:sp>
        <p:nvSpPr>
          <p:cNvPr id="7" name="Shape 5"/>
          <p:cNvSpPr/>
          <p:nvPr/>
        </p:nvSpPr>
        <p:spPr>
          <a:xfrm>
            <a:off x="777240" y="3108960"/>
            <a:ext cx="310896" cy="310896"/>
          </a:xfrm>
          <a:prstGeom prst="roundRect">
            <a:avLst>
              <a:gd name="adj" fmla="val 17647"/>
            </a:avLst>
          </a:prstGeom>
          <a:solidFill>
            <a:srgbClr val="FFFFFF"/>
          </a:solidFill>
          <a:ln w="15875">
            <a:solidFill>
              <a:srgbClr val="A93F63"/>
            </a:solidFill>
            <a:prstDash val="solid"/>
          </a:ln>
        </p:spPr>
      </p:sp>
      <p:sp>
        <p:nvSpPr>
          <p:cNvPr id="8" name="Text 6"/>
          <p:cNvSpPr/>
          <p:nvPr/>
        </p:nvSpPr>
        <p:spPr>
          <a:xfrm>
            <a:off x="1280160" y="307238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A first-time visitor knows what to do next within ten seconds</a:t>
            </a:r>
            <a:endParaRPr lang="en-US" sz="1400" dirty="0"/>
          </a:p>
        </p:txBody>
      </p:sp>
      <p:sp>
        <p:nvSpPr>
          <p:cNvPr id="9" name="Shape 7"/>
          <p:cNvSpPr/>
          <p:nvPr/>
        </p:nvSpPr>
        <p:spPr>
          <a:xfrm>
            <a:off x="777240" y="3840480"/>
            <a:ext cx="310896" cy="310896"/>
          </a:xfrm>
          <a:prstGeom prst="roundRect">
            <a:avLst>
              <a:gd name="adj" fmla="val 17647"/>
            </a:avLst>
          </a:prstGeom>
          <a:solidFill>
            <a:srgbClr val="FFFFFF"/>
          </a:solidFill>
          <a:ln w="15875">
            <a:solidFill>
              <a:srgbClr val="A93F63"/>
            </a:solidFill>
            <a:prstDash val="solid"/>
          </a:ln>
        </p:spPr>
      </p:sp>
      <p:sp>
        <p:nvSpPr>
          <p:cNvPr id="10" name="Text 8"/>
          <p:cNvSpPr/>
          <p:nvPr/>
        </p:nvSpPr>
        <p:spPr>
          <a:xfrm>
            <a:off x="1280160" y="380390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Every post points somewhere specific</a:t>
            </a:r>
            <a:endParaRPr lang="en-US" sz="1400" dirty="0"/>
          </a:p>
        </p:txBody>
      </p:sp>
      <p:sp>
        <p:nvSpPr>
          <p:cNvPr id="11" name="Shape 9"/>
          <p:cNvSpPr/>
          <p:nvPr/>
        </p:nvSpPr>
        <p:spPr>
          <a:xfrm>
            <a:off x="777240" y="4572000"/>
            <a:ext cx="310896" cy="310896"/>
          </a:xfrm>
          <a:prstGeom prst="roundRect">
            <a:avLst>
              <a:gd name="adj" fmla="val 17647"/>
            </a:avLst>
          </a:prstGeom>
          <a:solidFill>
            <a:srgbClr val="FFFFFF"/>
          </a:solidFill>
          <a:ln w="15875">
            <a:solidFill>
              <a:srgbClr val="A93F63"/>
            </a:solidFill>
            <a:prstDash val="solid"/>
          </a:ln>
        </p:spPr>
      </p:sp>
      <p:sp>
        <p:nvSpPr>
          <p:cNvPr id="12" name="Text 10"/>
          <p:cNvSpPr/>
          <p:nvPr/>
        </p:nvSpPr>
        <p:spPr>
          <a:xfrm>
            <a:off x="1280160" y="453542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My homepage sells something, not just introduces me</a:t>
            </a:r>
            <a:endParaRPr lang="en-US" sz="1400" dirty="0"/>
          </a:p>
        </p:txBody>
      </p:sp>
      <p:sp>
        <p:nvSpPr>
          <p:cNvPr id="13" name="Shape 11"/>
          <p:cNvSpPr/>
          <p:nvPr/>
        </p:nvSpPr>
        <p:spPr>
          <a:xfrm>
            <a:off x="777240" y="5303520"/>
            <a:ext cx="310896" cy="310896"/>
          </a:xfrm>
          <a:prstGeom prst="roundRect">
            <a:avLst>
              <a:gd name="adj" fmla="val 17647"/>
            </a:avLst>
          </a:prstGeom>
          <a:solidFill>
            <a:srgbClr val="FFFFFF"/>
          </a:solidFill>
          <a:ln w="15875">
            <a:solidFill>
              <a:srgbClr val="A93F63"/>
            </a:solidFill>
            <a:prstDash val="solid"/>
          </a:ln>
        </p:spPr>
      </p:sp>
      <p:sp>
        <p:nvSpPr>
          <p:cNvPr id="14" name="Text 12"/>
          <p:cNvSpPr/>
          <p:nvPr/>
        </p:nvSpPr>
        <p:spPr>
          <a:xfrm>
            <a:off x="1280160" y="526694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 am collecting emails, not just pageviews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22</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YOUR TURN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honest inventory.</a:t>
            </a:r>
            <a:endParaRPr lang="en-US" sz="3200" dirty="0"/>
          </a:p>
        </p:txBody>
      </p:sp>
      <p:sp>
        <p:nvSpPr>
          <p:cNvPr id="5" name="Shape 3"/>
          <p:cNvSpPr/>
          <p:nvPr/>
        </p:nvSpPr>
        <p:spPr>
          <a:xfrm>
            <a:off x="777240" y="2148840"/>
            <a:ext cx="10607040" cy="3703320"/>
          </a:xfrm>
          <a:prstGeom prst="roundRect">
            <a:avLst>
              <a:gd name="adj" fmla="val 2963"/>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234440" y="2487168"/>
            <a:ext cx="9692640" cy="731520"/>
          </a:xfrm>
          <a:prstGeom prst="rect">
            <a:avLst/>
          </a:prstGeom>
          <a:noFill/>
          <a:ln/>
        </p:spPr>
        <p:txBody>
          <a:bodyPr wrap="square" lIns="0" tIns="0" rIns="0" bIns="0" rtlCol="0" anchor="ctr"/>
          <a:lstStyle/>
          <a:p>
            <a:pPr indent="0" marL="0">
              <a:lnSpc>
                <a:spcPts val="2400"/>
              </a:lnSpc>
              <a:buNone/>
            </a:pPr>
            <a:r>
              <a:rPr lang="en-US" sz="2000" i="1" dirty="0">
                <a:solidFill>
                  <a:srgbClr val="A93F63"/>
                </a:solidFill>
                <a:latin typeface="Fraunces" pitchFamily="34" charset="0"/>
                <a:ea typeface="Fraunces" pitchFamily="34" charset="-122"/>
                <a:cs typeface="Fraunces" pitchFamily="34" charset="-120"/>
              </a:rPr>
              <a:t>Which of the four traps is your blog stuck in right now, and what has it cost you so far?</a:t>
            </a:r>
            <a:endParaRPr lang="en-US" sz="2000" dirty="0"/>
          </a:p>
        </p:txBody>
      </p:sp>
      <p:sp>
        <p:nvSpPr>
          <p:cNvPr id="7" name="Shape 5"/>
          <p:cNvSpPr/>
          <p:nvPr/>
        </p:nvSpPr>
        <p:spPr>
          <a:xfrm>
            <a:off x="1234440" y="3429000"/>
            <a:ext cx="9692640" cy="0"/>
          </a:xfrm>
          <a:prstGeom prst="line">
            <a:avLst/>
          </a:prstGeom>
          <a:noFill/>
          <a:ln w="12700">
            <a:solidFill>
              <a:srgbClr val="DCD2C7"/>
            </a:solidFill>
            <a:prstDash val="dash"/>
          </a:ln>
        </p:spPr>
      </p:sp>
      <p:sp>
        <p:nvSpPr>
          <p:cNvPr id="8" name="Shape 6"/>
          <p:cNvSpPr/>
          <p:nvPr/>
        </p:nvSpPr>
        <p:spPr>
          <a:xfrm>
            <a:off x="1234440" y="3995928"/>
            <a:ext cx="9692640" cy="0"/>
          </a:xfrm>
          <a:prstGeom prst="line">
            <a:avLst/>
          </a:prstGeom>
          <a:noFill/>
          <a:ln w="12700">
            <a:solidFill>
              <a:srgbClr val="DCD2C7"/>
            </a:solidFill>
            <a:prstDash val="dash"/>
          </a:ln>
        </p:spPr>
      </p:sp>
      <p:sp>
        <p:nvSpPr>
          <p:cNvPr id="9" name="Shape 7"/>
          <p:cNvSpPr/>
          <p:nvPr/>
        </p:nvSpPr>
        <p:spPr>
          <a:xfrm>
            <a:off x="1234440" y="4562856"/>
            <a:ext cx="9692640" cy="0"/>
          </a:xfrm>
          <a:prstGeom prst="line">
            <a:avLst/>
          </a:prstGeom>
          <a:noFill/>
          <a:ln w="12700">
            <a:solidFill>
              <a:srgbClr val="DCD2C7"/>
            </a:solidFill>
            <a:prstDash val="dash"/>
          </a:ln>
        </p:spPr>
      </p:sp>
      <p:sp>
        <p:nvSpPr>
          <p:cNvPr id="10" name="Shape 8"/>
          <p:cNvSpPr/>
          <p:nvPr/>
        </p:nvSpPr>
        <p:spPr>
          <a:xfrm>
            <a:off x="1234440" y="5129784"/>
            <a:ext cx="9692640" cy="0"/>
          </a:xfrm>
          <a:prstGeom prst="line">
            <a:avLst/>
          </a:prstGeom>
          <a:noFill/>
          <a:ln w="12700">
            <a:solidFill>
              <a:srgbClr val="DCD2C7"/>
            </a:solidFill>
            <a:prstDash val="dash"/>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23</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MODULE ONE</a:t>
            </a:r>
            <a:endParaRPr lang="en-US" sz="1100" dirty="0"/>
          </a:p>
        </p:txBody>
      </p:sp>
      <p:sp>
        <p:nvSpPr>
          <p:cNvPr id="4" name="Text 2"/>
          <p:cNvSpPr/>
          <p:nvPr/>
        </p:nvSpPr>
        <p:spPr>
          <a:xfrm>
            <a:off x="777240" y="932688"/>
            <a:ext cx="106070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Shape 3"/>
          <p:cNvSpPr/>
          <p:nvPr/>
        </p:nvSpPr>
        <p:spPr>
          <a:xfrm>
            <a:off x="777240" y="2423160"/>
            <a:ext cx="457200" cy="457200"/>
          </a:xfrm>
          <a:prstGeom prst="ellipse">
            <a:avLst/>
          </a:prstGeom>
          <a:solidFill>
            <a:srgbClr val="A93F63"/>
          </a:solidFill>
          <a:ln w="12700">
            <a:solidFill>
              <a:srgbClr val="A93F63"/>
            </a:solidFill>
            <a:prstDash val="solid"/>
          </a:ln>
        </p:spPr>
      </p:sp>
      <p:sp>
        <p:nvSpPr>
          <p:cNvPr id="6" name="Text 4"/>
          <p:cNvSpPr/>
          <p:nvPr/>
        </p:nvSpPr>
        <p:spPr>
          <a:xfrm>
            <a:off x="777240" y="24231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7" name="Text 5"/>
          <p:cNvSpPr/>
          <p:nvPr/>
        </p:nvSpPr>
        <p:spPr>
          <a:xfrm>
            <a:off x="1463040" y="240487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Your blog is marketing. The offer is the business.</a:t>
            </a:r>
            <a:endParaRPr lang="en-US" sz="1450" dirty="0"/>
          </a:p>
        </p:txBody>
      </p:sp>
      <p:sp>
        <p:nvSpPr>
          <p:cNvPr id="8" name="Shape 6"/>
          <p:cNvSpPr/>
          <p:nvPr/>
        </p:nvSpPr>
        <p:spPr>
          <a:xfrm>
            <a:off x="777240" y="3291840"/>
            <a:ext cx="457200" cy="457200"/>
          </a:xfrm>
          <a:prstGeom prst="ellipse">
            <a:avLst/>
          </a:prstGeom>
          <a:solidFill>
            <a:srgbClr val="A93F63"/>
          </a:solidFill>
          <a:ln w="12700">
            <a:solidFill>
              <a:srgbClr val="A93F63"/>
            </a:solidFill>
            <a:prstDash val="solid"/>
          </a:ln>
        </p:spPr>
      </p:sp>
      <p:sp>
        <p:nvSpPr>
          <p:cNvPr id="9" name="Text 7"/>
          <p:cNvSpPr/>
          <p:nvPr/>
        </p:nvSpPr>
        <p:spPr>
          <a:xfrm>
            <a:off x="777240" y="32918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0" name="Text 8"/>
          <p:cNvSpPr/>
          <p:nvPr/>
        </p:nvSpPr>
        <p:spPr>
          <a:xfrm>
            <a:off x="1463040" y="327355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Traffic without an offer teaches you nothing.</a:t>
            </a:r>
            <a:endParaRPr lang="en-US" sz="1450" dirty="0"/>
          </a:p>
        </p:txBody>
      </p:sp>
      <p:sp>
        <p:nvSpPr>
          <p:cNvPr id="11" name="Shape 9"/>
          <p:cNvSpPr/>
          <p:nvPr/>
        </p:nvSpPr>
        <p:spPr>
          <a:xfrm>
            <a:off x="777240" y="4160520"/>
            <a:ext cx="457200" cy="457200"/>
          </a:xfrm>
          <a:prstGeom prst="ellipse">
            <a:avLst/>
          </a:prstGeom>
          <a:solidFill>
            <a:srgbClr val="A93F63"/>
          </a:solidFill>
          <a:ln w="12700">
            <a:solidFill>
              <a:srgbClr val="A93F63"/>
            </a:solidFill>
            <a:prstDash val="solid"/>
          </a:ln>
        </p:spPr>
      </p:sp>
      <p:sp>
        <p:nvSpPr>
          <p:cNvPr id="12" name="Text 10"/>
          <p:cNvSpPr/>
          <p:nvPr/>
        </p:nvSpPr>
        <p:spPr>
          <a:xfrm>
            <a:off x="777240" y="4160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3" name="Text 11"/>
          <p:cNvSpPr/>
          <p:nvPr/>
        </p:nvSpPr>
        <p:spPr>
          <a:xfrm>
            <a:off x="1463040" y="414223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Ads and affiliates are a side dish, never the meal.</a:t>
            </a:r>
            <a:endParaRPr lang="en-US" sz="1450" dirty="0"/>
          </a:p>
        </p:txBody>
      </p:sp>
      <p:sp>
        <p:nvSpPr>
          <p:cNvPr id="14" name="Shape 12"/>
          <p:cNvSpPr/>
          <p:nvPr/>
        </p:nvSpPr>
        <p:spPr>
          <a:xfrm>
            <a:off x="777240" y="5029200"/>
            <a:ext cx="457200" cy="457200"/>
          </a:xfrm>
          <a:prstGeom prst="ellipse">
            <a:avLst/>
          </a:prstGeom>
          <a:solidFill>
            <a:srgbClr val="A93F63"/>
          </a:solidFill>
          <a:ln w="12700">
            <a:solidFill>
              <a:srgbClr val="A93F63"/>
            </a:solidFill>
            <a:prstDash val="solid"/>
          </a:ln>
        </p:spPr>
      </p:sp>
      <p:sp>
        <p:nvSpPr>
          <p:cNvPr id="15" name="Text 13"/>
          <p:cNvSpPr/>
          <p:nvPr/>
        </p:nvSpPr>
        <p:spPr>
          <a:xfrm>
            <a:off x="777240" y="50292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16" name="Text 14"/>
          <p:cNvSpPr/>
          <p:nvPr/>
        </p:nvSpPr>
        <p:spPr>
          <a:xfrm>
            <a:off x="1463040" y="501091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The order you build in matters more than how hard you work.</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24</a:t>
            </a:r>
            <a:endParaRPr lang="en-US" sz="1000" dirty="0"/>
          </a:p>
        </p:txBody>
      </p:sp>
      <p:sp>
        <p:nvSpPr>
          <p:cNvPr id="3" name="Text 1"/>
          <p:cNvSpPr/>
          <p:nvPr/>
        </p:nvSpPr>
        <p:spPr>
          <a:xfrm>
            <a:off x="1371600" y="2377440"/>
            <a:ext cx="9418320" cy="1280160"/>
          </a:xfrm>
          <a:prstGeom prst="rect">
            <a:avLst/>
          </a:prstGeom>
          <a:noFill/>
          <a:ln/>
        </p:spPr>
        <p:txBody>
          <a:bodyPr wrap="square" lIns="0" tIns="0" rIns="0" bIns="0" rtlCol="0" anchor="ctr"/>
          <a:lstStyle/>
          <a:p>
            <a:pPr algn="ctr" indent="0" marL="0">
              <a:buNone/>
            </a:pPr>
            <a:r>
              <a:rPr lang="en-US" sz="5400" dirty="0">
                <a:solidFill>
                  <a:srgbClr val="A93F63"/>
                </a:solidFill>
                <a:latin typeface="Ephesis" pitchFamily="34" charset="0"/>
                <a:ea typeface="Ephesis" pitchFamily="34" charset="-122"/>
                <a:cs typeface="Ephesis" pitchFamily="34" charset="-120"/>
              </a:rPr>
              <a:t>one down, four to go</a:t>
            </a:r>
            <a:endParaRPr lang="en-US" sz="5400" dirty="0"/>
          </a:p>
        </p:txBody>
      </p:sp>
      <p:sp>
        <p:nvSpPr>
          <p:cNvPr id="4" name="Text 2"/>
          <p:cNvSpPr/>
          <p:nvPr/>
        </p:nvSpPr>
        <p:spPr>
          <a:xfrm>
            <a:off x="2286000" y="3794760"/>
            <a:ext cx="7589520" cy="548640"/>
          </a:xfrm>
          <a:prstGeom prst="rect">
            <a:avLst/>
          </a:prstGeom>
          <a:noFill/>
          <a:ln/>
        </p:spPr>
        <p:txBody>
          <a:bodyPr wrap="square" lIns="0" tIns="0" rIns="0" bIns="0" rtlCol="0" anchor="ctr"/>
          <a:lstStyle/>
          <a:p>
            <a:pPr algn="ctr" indent="0" marL="0">
              <a:buNone/>
            </a:pPr>
            <a:r>
              <a:rPr lang="en-US" sz="1300" spc="200" kern="0" dirty="0">
                <a:solidFill>
                  <a:srgbClr val="6E5C63"/>
                </a:solidFill>
                <a:latin typeface="Karla" pitchFamily="34" charset="0"/>
                <a:ea typeface="Karla" pitchFamily="34" charset="-122"/>
                <a:cs typeface="Karla" pitchFamily="34" charset="-120"/>
              </a:rPr>
              <a:t>MODULE TWO: YOUR OFFER</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25</a:t>
            </a:r>
            <a:endParaRPr lang="en-US" sz="1000" dirty="0"/>
          </a:p>
        </p:txBody>
      </p:sp>
      <p:sp>
        <p:nvSpPr>
          <p:cNvPr id="3" name="Shape 1"/>
          <p:cNvSpPr/>
          <p:nvPr/>
        </p:nvSpPr>
        <p:spPr>
          <a:xfrm>
            <a:off x="9509760" y="4389120"/>
            <a:ext cx="4206240" cy="4206240"/>
          </a:xfrm>
          <a:prstGeom prst="ellipse">
            <a:avLst/>
          </a:prstGeom>
          <a:solidFill>
            <a:srgbClr val="A93F63">
              <a:alpha val="26000"/>
            </a:srgbClr>
          </a:solidFill>
          <a:ln w="12700">
            <a:solidFill>
              <a:srgbClr val="333333"/>
            </a:solidFill>
            <a:prstDash val="solid"/>
          </a:ln>
        </p:spPr>
      </p:sp>
      <p:sp>
        <p:nvSpPr>
          <p:cNvPr id="4" name="Text 2"/>
          <p:cNvSpPr/>
          <p:nvPr/>
        </p:nvSpPr>
        <p:spPr>
          <a:xfrm>
            <a:off x="777240" y="914400"/>
            <a:ext cx="3657600" cy="2194560"/>
          </a:xfrm>
          <a:prstGeom prst="rect">
            <a:avLst/>
          </a:prstGeom>
          <a:noFill/>
          <a:ln/>
        </p:spPr>
        <p:txBody>
          <a:bodyPr wrap="square" lIns="0" tIns="0" rIns="0" bIns="0" rtlCol="0" anchor="ctr"/>
          <a:lstStyle/>
          <a:p>
            <a:pPr indent="0" marL="0">
              <a:buNone/>
            </a:pPr>
            <a:r>
              <a:rPr lang="en-US" sz="9600" i="1" dirty="0">
                <a:solidFill>
                  <a:srgbClr val="A93F63"/>
                </a:solidFill>
                <a:latin typeface="Fraunces" pitchFamily="34" charset="0"/>
                <a:ea typeface="Fraunces" pitchFamily="34" charset="-122"/>
                <a:cs typeface="Fraunces" pitchFamily="34" charset="-120"/>
              </a:rPr>
              <a:t>02</a:t>
            </a:r>
            <a:endParaRPr lang="en-US" sz="9600" dirty="0"/>
          </a:p>
        </p:txBody>
      </p:sp>
      <p:sp>
        <p:nvSpPr>
          <p:cNvPr id="5" name="Text 3"/>
          <p:cNvSpPr/>
          <p:nvPr/>
        </p:nvSpPr>
        <p:spPr>
          <a:xfrm>
            <a:off x="777240" y="3017520"/>
            <a:ext cx="8229600" cy="1371600"/>
          </a:xfrm>
          <a:prstGeom prst="rect">
            <a:avLst/>
          </a:prstGeom>
          <a:noFill/>
          <a:ln/>
        </p:spPr>
        <p:txBody>
          <a:bodyPr wrap="square" lIns="0" tIns="0" rIns="0" bIns="0" rtlCol="0" anchor="ctr"/>
          <a:lstStyle/>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Your offer</a:t>
            </a:r>
            <a:endParaRPr lang="en-US" sz="4000" dirty="0"/>
          </a:p>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comes first</a:t>
            </a:r>
            <a:endParaRPr lang="en-US" sz="4000" dirty="0"/>
          </a:p>
        </p:txBody>
      </p:sp>
      <p:sp>
        <p:nvSpPr>
          <p:cNvPr id="6" name="Text 4"/>
          <p:cNvSpPr/>
          <p:nvPr/>
        </p:nvSpPr>
        <p:spPr>
          <a:xfrm>
            <a:off x="777240" y="4434840"/>
            <a:ext cx="7863840" cy="502920"/>
          </a:xfrm>
          <a:prstGeom prst="rect">
            <a:avLst/>
          </a:prstGeom>
          <a:noFill/>
          <a:ln/>
        </p:spPr>
        <p:txBody>
          <a:bodyPr wrap="square" lIns="0" tIns="0" rIns="0" bIns="0" rtlCol="0" anchor="ctr"/>
          <a:lstStyle/>
          <a:p>
            <a:pPr indent="0" marL="0">
              <a:buNone/>
            </a:pPr>
            <a:r>
              <a:rPr lang="en-US" sz="2400" dirty="0">
                <a:solidFill>
                  <a:srgbClr val="BC8A47"/>
                </a:solidFill>
                <a:latin typeface="Ephesis" pitchFamily="34" charset="0"/>
                <a:ea typeface="Ephesis" pitchFamily="34" charset="-122"/>
                <a:cs typeface="Ephesis" pitchFamily="34" charset="-120"/>
              </a:rPr>
              <a:t>the part that actually pays you</a:t>
            </a:r>
            <a:endParaRPr lang="en-US" sz="2400" dirty="0"/>
          </a:p>
        </p:txBody>
      </p:sp>
      <p:sp>
        <p:nvSpPr>
          <p:cNvPr id="7" name="Text 5"/>
          <p:cNvSpPr/>
          <p:nvPr/>
        </p:nvSpPr>
        <p:spPr>
          <a:xfrm>
            <a:off x="777240" y="5029200"/>
            <a:ext cx="786384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How to find the offer you already have</a:t>
            </a:r>
            <a:endParaRPr lang="en-US" sz="1300" dirty="0"/>
          </a:p>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Shaping it, pricing it, and testing it</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26</a:t>
            </a:r>
            <a:endParaRPr lang="en-US" sz="1000" dirty="0"/>
          </a:p>
        </p:txBody>
      </p:sp>
      <p:sp>
        <p:nvSpPr>
          <p:cNvPr id="3" name="Text 1"/>
          <p:cNvSpPr/>
          <p:nvPr/>
        </p:nvSpPr>
        <p:spPr>
          <a:xfrm>
            <a:off x="1188720" y="1920240"/>
            <a:ext cx="9784080" cy="2377440"/>
          </a:xfrm>
          <a:prstGeom prst="rect">
            <a:avLst/>
          </a:prstGeom>
          <a:noFill/>
          <a:ln/>
        </p:spPr>
        <p:txBody>
          <a:bodyPr wrap="square" lIns="0" tIns="0" rIns="0" bIns="0" rtlCol="0" anchor="ctr"/>
          <a:lstStyle/>
          <a:p>
            <a:pPr algn="ctr" indent="0" marL="0">
              <a:lnSpc>
                <a:spcPts val="5000"/>
              </a:lnSpc>
              <a:buNone/>
            </a:pPr>
            <a:r>
              <a:rPr lang="en-US" sz="4400" dirty="0">
                <a:solidFill>
                  <a:srgbClr val="2E1F27"/>
                </a:solidFill>
                <a:latin typeface="Fraunces" pitchFamily="34" charset="0"/>
                <a:ea typeface="Fraunces" pitchFamily="34" charset="-122"/>
                <a:cs typeface="Fraunces" pitchFamily="34" charset="-120"/>
              </a:rPr>
              <a:t>The offer is how </a:t>
            </a:r>
            <a:pPr algn="ctr" indent="0" marL="0">
              <a:lnSpc>
                <a:spcPts val="5000"/>
              </a:lnSpc>
              <a:buNone/>
            </a:pPr>
            <a:r>
              <a:rPr lang="en-US" sz="4400" i="1" dirty="0">
                <a:solidFill>
                  <a:srgbClr val="A93F63"/>
                </a:solidFill>
                <a:latin typeface="Fraunces" pitchFamily="34" charset="0"/>
                <a:ea typeface="Fraunces" pitchFamily="34" charset="-122"/>
                <a:cs typeface="Fraunces" pitchFamily="34" charset="-120"/>
              </a:rPr>
              <a:t>you get paid.</a:t>
            </a:r>
            <a:endParaRPr lang="en-US" sz="4400" dirty="0"/>
          </a:p>
        </p:txBody>
      </p:sp>
      <p:sp>
        <p:nvSpPr>
          <p:cNvPr id="4" name="Text 2"/>
          <p:cNvSpPr/>
          <p:nvPr/>
        </p:nvSpPr>
        <p:spPr>
          <a:xfrm>
            <a:off x="2011680" y="4480560"/>
            <a:ext cx="8138160" cy="548640"/>
          </a:xfrm>
          <a:prstGeom prst="rect">
            <a:avLst/>
          </a:prstGeom>
          <a:noFill/>
          <a:ln/>
        </p:spPr>
        <p:txBody>
          <a:bodyPr wrap="square" lIns="0" tIns="0" rIns="0" bIns="0" rtlCol="0" anchor="ctr"/>
          <a:lstStyle/>
          <a:p>
            <a:pPr algn="ctr" indent="0" marL="0">
              <a:buNone/>
            </a:pPr>
            <a:r>
              <a:rPr lang="en-US" sz="1400" dirty="0">
                <a:solidFill>
                  <a:srgbClr val="6E5C63"/>
                </a:solidFill>
                <a:latin typeface="Karla" pitchFamily="34" charset="0"/>
                <a:ea typeface="Karla" pitchFamily="34" charset="-122"/>
                <a:cs typeface="Karla" pitchFamily="34" charset="-120"/>
              </a:rPr>
              <a:t>Everything else on your site exists to point at it.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27</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WHAT AN OFFER ACTUALLY IS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Not a product. A solved problem with a price on it.</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An offer is a specific outcome you deliver, for a specific person, for a specific amount of money.</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It is not "coaching." It is "I will get your blog launched and selling in 21 days." Same work, completely different clarity.</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The test: can someone read one sentence and know whether it is for them? If they have to ask questions to find out, it is not an offer yet.</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28</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THREE SHAPES AN OFFER TAKES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Pick the one that fits where you are now.</a:t>
            </a:r>
            <a:endParaRPr lang="en-US" sz="3200" dirty="0"/>
          </a:p>
        </p:txBody>
      </p:sp>
      <p:sp>
        <p:nvSpPr>
          <p:cNvPr id="5" name="Shape 3"/>
          <p:cNvSpPr/>
          <p:nvPr/>
        </p:nvSpPr>
        <p:spPr>
          <a:xfrm>
            <a:off x="777240"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Shape 4"/>
          <p:cNvSpPr/>
          <p:nvPr/>
        </p:nvSpPr>
        <p:spPr>
          <a:xfrm>
            <a:off x="1124712" y="2624328"/>
            <a:ext cx="530352" cy="530352"/>
          </a:xfrm>
          <a:prstGeom prst="ellipse">
            <a:avLst/>
          </a:prstGeom>
          <a:solidFill>
            <a:srgbClr val="A93F63"/>
          </a:solidFill>
          <a:ln w="12700">
            <a:solidFill>
              <a:srgbClr val="A93F63"/>
            </a:solidFill>
            <a:prstDash val="solid"/>
          </a:ln>
        </p:spPr>
      </p:sp>
      <p:sp>
        <p:nvSpPr>
          <p:cNvPr id="7" name="Text 5"/>
          <p:cNvSpPr/>
          <p:nvPr/>
        </p:nvSpPr>
        <p:spPr>
          <a:xfrm>
            <a:off x="1124712"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124712"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Done for you</a:t>
            </a:r>
            <a:endParaRPr lang="en-US" sz="2000" dirty="0"/>
          </a:p>
        </p:txBody>
      </p:sp>
      <p:sp>
        <p:nvSpPr>
          <p:cNvPr id="9" name="Text 7"/>
          <p:cNvSpPr/>
          <p:nvPr/>
        </p:nvSpPr>
        <p:spPr>
          <a:xfrm>
            <a:off x="1124712"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You do the work for them. Highest price, highest effort, easiest to sell because the outcome is obvious.</a:t>
            </a:r>
            <a:endParaRPr lang="en-US" sz="1300" dirty="0"/>
          </a:p>
        </p:txBody>
      </p:sp>
      <p:sp>
        <p:nvSpPr>
          <p:cNvPr id="10" name="Shape 8"/>
          <p:cNvSpPr/>
          <p:nvPr/>
        </p:nvSpPr>
        <p:spPr>
          <a:xfrm>
            <a:off x="4416552"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1" name="Shape 9"/>
          <p:cNvSpPr/>
          <p:nvPr/>
        </p:nvSpPr>
        <p:spPr>
          <a:xfrm>
            <a:off x="4764024" y="2624328"/>
            <a:ext cx="530352" cy="530352"/>
          </a:xfrm>
          <a:prstGeom prst="ellipse">
            <a:avLst/>
          </a:prstGeom>
          <a:solidFill>
            <a:srgbClr val="A93F63"/>
          </a:solidFill>
          <a:ln w="12700">
            <a:solidFill>
              <a:srgbClr val="A93F63"/>
            </a:solidFill>
            <a:prstDash val="solid"/>
          </a:ln>
        </p:spPr>
      </p:sp>
      <p:sp>
        <p:nvSpPr>
          <p:cNvPr id="12" name="Text 10"/>
          <p:cNvSpPr/>
          <p:nvPr/>
        </p:nvSpPr>
        <p:spPr>
          <a:xfrm>
            <a:off x="4764024"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3" name="Text 11"/>
          <p:cNvSpPr/>
          <p:nvPr/>
        </p:nvSpPr>
        <p:spPr>
          <a:xfrm>
            <a:off x="4764024"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Done with you</a:t>
            </a:r>
            <a:endParaRPr lang="en-US" sz="2000" dirty="0"/>
          </a:p>
        </p:txBody>
      </p:sp>
      <p:sp>
        <p:nvSpPr>
          <p:cNvPr id="14" name="Text 12"/>
          <p:cNvSpPr/>
          <p:nvPr/>
        </p:nvSpPr>
        <p:spPr>
          <a:xfrm>
            <a:off x="4764024"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You guide while they do it. Coaching, programs, intensives. The sweet spot for most bloggers.</a:t>
            </a:r>
            <a:endParaRPr lang="en-US" sz="1300" dirty="0"/>
          </a:p>
        </p:txBody>
      </p:sp>
      <p:sp>
        <p:nvSpPr>
          <p:cNvPr id="15" name="Shape 13"/>
          <p:cNvSpPr/>
          <p:nvPr/>
        </p:nvSpPr>
        <p:spPr>
          <a:xfrm>
            <a:off x="8055864"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6" name="Shape 14"/>
          <p:cNvSpPr/>
          <p:nvPr/>
        </p:nvSpPr>
        <p:spPr>
          <a:xfrm>
            <a:off x="8403336" y="2624328"/>
            <a:ext cx="530352" cy="530352"/>
          </a:xfrm>
          <a:prstGeom prst="ellipse">
            <a:avLst/>
          </a:prstGeom>
          <a:solidFill>
            <a:srgbClr val="A93F63"/>
          </a:solidFill>
          <a:ln w="12700">
            <a:solidFill>
              <a:srgbClr val="A93F63"/>
            </a:solidFill>
            <a:prstDash val="solid"/>
          </a:ln>
        </p:spPr>
      </p:sp>
      <p:sp>
        <p:nvSpPr>
          <p:cNvPr id="17" name="Text 15"/>
          <p:cNvSpPr/>
          <p:nvPr/>
        </p:nvSpPr>
        <p:spPr>
          <a:xfrm>
            <a:off x="8403336"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8" name="Text 16"/>
          <p:cNvSpPr/>
          <p:nvPr/>
        </p:nvSpPr>
        <p:spPr>
          <a:xfrm>
            <a:off x="8403336"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Do it yourself</a:t>
            </a:r>
            <a:endParaRPr lang="en-US" sz="2000" dirty="0"/>
          </a:p>
        </p:txBody>
      </p:sp>
      <p:sp>
        <p:nvSpPr>
          <p:cNvPr id="19" name="Text 17"/>
          <p:cNvSpPr/>
          <p:nvPr/>
        </p:nvSpPr>
        <p:spPr>
          <a:xfrm>
            <a:off x="8403336"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They do it alone with your materials. Courses, templates, guides. Scales, but sells hardest at first.</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29</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FINDING YOURS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Four questions that surface the offer you already have.</a:t>
            </a:r>
            <a:endParaRPr lang="en-US" sz="3200" dirty="0"/>
          </a:p>
        </p:txBody>
      </p:sp>
      <p:sp>
        <p:nvSpPr>
          <p:cNvPr id="5" name="Shape 3"/>
          <p:cNvSpPr/>
          <p:nvPr/>
        </p:nvSpPr>
        <p:spPr>
          <a:xfrm>
            <a:off x="777240" y="2377440"/>
            <a:ext cx="566928" cy="566928"/>
          </a:xfrm>
          <a:prstGeom prst="ellipse">
            <a:avLst/>
          </a:prstGeom>
          <a:solidFill>
            <a:srgbClr val="A93F63"/>
          </a:solidFill>
          <a:ln w="12700">
            <a:solidFill>
              <a:srgbClr val="A93F63"/>
            </a:solidFill>
            <a:prstDash val="solid"/>
          </a:ln>
        </p:spPr>
      </p:sp>
      <p:sp>
        <p:nvSpPr>
          <p:cNvPr id="6" name="Text 4"/>
          <p:cNvSpPr/>
          <p:nvPr/>
        </p:nvSpPr>
        <p:spPr>
          <a:xfrm>
            <a:off x="77724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7" name="Text 5"/>
          <p:cNvSpPr/>
          <p:nvPr/>
        </p:nvSpPr>
        <p:spPr>
          <a:xfrm>
            <a:off x="77724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What do people ask you?</a:t>
            </a:r>
            <a:endParaRPr lang="en-US" sz="1900" dirty="0"/>
          </a:p>
        </p:txBody>
      </p:sp>
      <p:sp>
        <p:nvSpPr>
          <p:cNvPr id="8" name="Text 6"/>
          <p:cNvSpPr/>
          <p:nvPr/>
        </p:nvSpPr>
        <p:spPr>
          <a:xfrm>
            <a:off x="77724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question that lands in your inbox over and over is a paid offer wearing a costume.</a:t>
            </a:r>
            <a:endParaRPr lang="en-US" sz="1300" dirty="0"/>
          </a:p>
        </p:txBody>
      </p:sp>
      <p:sp>
        <p:nvSpPr>
          <p:cNvPr id="9" name="Shape 7"/>
          <p:cNvSpPr/>
          <p:nvPr/>
        </p:nvSpPr>
        <p:spPr>
          <a:xfrm>
            <a:off x="3497580" y="2377440"/>
            <a:ext cx="566928" cy="566928"/>
          </a:xfrm>
          <a:prstGeom prst="ellipse">
            <a:avLst/>
          </a:prstGeom>
          <a:solidFill>
            <a:srgbClr val="A93F63"/>
          </a:solidFill>
          <a:ln w="12700">
            <a:solidFill>
              <a:srgbClr val="A93F63"/>
            </a:solidFill>
            <a:prstDash val="solid"/>
          </a:ln>
        </p:spPr>
      </p:sp>
      <p:sp>
        <p:nvSpPr>
          <p:cNvPr id="10" name="Text 8"/>
          <p:cNvSpPr/>
          <p:nvPr/>
        </p:nvSpPr>
        <p:spPr>
          <a:xfrm>
            <a:off x="349758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1" name="Text 9"/>
          <p:cNvSpPr/>
          <p:nvPr/>
        </p:nvSpPr>
        <p:spPr>
          <a:xfrm>
            <a:off x="349758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What did you solve?</a:t>
            </a:r>
            <a:endParaRPr lang="en-US" sz="1900" dirty="0"/>
          </a:p>
        </p:txBody>
      </p:sp>
      <p:sp>
        <p:nvSpPr>
          <p:cNvPr id="12" name="Text 10"/>
          <p:cNvSpPr/>
          <p:nvPr/>
        </p:nvSpPr>
        <p:spPr>
          <a:xfrm>
            <a:off x="349758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problem you already fixed for yourself is the one you can sell fixing for someone else.</a:t>
            </a:r>
            <a:endParaRPr lang="en-US" sz="1300" dirty="0"/>
          </a:p>
        </p:txBody>
      </p:sp>
      <p:sp>
        <p:nvSpPr>
          <p:cNvPr id="13" name="Shape 11"/>
          <p:cNvSpPr/>
          <p:nvPr/>
        </p:nvSpPr>
        <p:spPr>
          <a:xfrm>
            <a:off x="6217920" y="2377440"/>
            <a:ext cx="566928" cy="566928"/>
          </a:xfrm>
          <a:prstGeom prst="ellipse">
            <a:avLst/>
          </a:prstGeom>
          <a:solidFill>
            <a:srgbClr val="A93F63"/>
          </a:solidFill>
          <a:ln w="12700">
            <a:solidFill>
              <a:srgbClr val="A93F63"/>
            </a:solidFill>
            <a:prstDash val="solid"/>
          </a:ln>
        </p:spPr>
      </p:sp>
      <p:sp>
        <p:nvSpPr>
          <p:cNvPr id="14" name="Text 12"/>
          <p:cNvSpPr/>
          <p:nvPr/>
        </p:nvSpPr>
        <p:spPr>
          <a:xfrm>
            <a:off x="621792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5" name="Text 13"/>
          <p:cNvSpPr/>
          <p:nvPr/>
        </p:nvSpPr>
        <p:spPr>
          <a:xfrm>
            <a:off x="621792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Who was that for?</a:t>
            </a:r>
            <a:endParaRPr lang="en-US" sz="1900" dirty="0"/>
          </a:p>
        </p:txBody>
      </p:sp>
      <p:sp>
        <p:nvSpPr>
          <p:cNvPr id="16" name="Text 14"/>
          <p:cNvSpPr/>
          <p:nvPr/>
        </p:nvSpPr>
        <p:spPr>
          <a:xfrm>
            <a:off x="621792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Name the specific woman. Her situation, her budget, what she has already tried.</a:t>
            </a:r>
            <a:endParaRPr lang="en-US" sz="1300" dirty="0"/>
          </a:p>
        </p:txBody>
      </p:sp>
      <p:sp>
        <p:nvSpPr>
          <p:cNvPr id="17" name="Shape 15"/>
          <p:cNvSpPr/>
          <p:nvPr/>
        </p:nvSpPr>
        <p:spPr>
          <a:xfrm>
            <a:off x="8938260" y="2377440"/>
            <a:ext cx="566928" cy="566928"/>
          </a:xfrm>
          <a:prstGeom prst="ellipse">
            <a:avLst/>
          </a:prstGeom>
          <a:solidFill>
            <a:srgbClr val="A93F63"/>
          </a:solidFill>
          <a:ln w="12700">
            <a:solidFill>
              <a:srgbClr val="A93F63"/>
            </a:solidFill>
            <a:prstDash val="solid"/>
          </a:ln>
        </p:spPr>
      </p:sp>
      <p:sp>
        <p:nvSpPr>
          <p:cNvPr id="18" name="Text 16"/>
          <p:cNvSpPr/>
          <p:nvPr/>
        </p:nvSpPr>
        <p:spPr>
          <a:xfrm>
            <a:off x="893826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4</a:t>
            </a:r>
            <a:endParaRPr lang="en-US" sz="1500" dirty="0"/>
          </a:p>
        </p:txBody>
      </p:sp>
      <p:sp>
        <p:nvSpPr>
          <p:cNvPr id="19" name="Text 17"/>
          <p:cNvSpPr/>
          <p:nvPr/>
        </p:nvSpPr>
        <p:spPr>
          <a:xfrm>
            <a:off x="893826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What is the outcome?</a:t>
            </a:r>
            <a:endParaRPr lang="en-US" sz="1900" dirty="0"/>
          </a:p>
        </p:txBody>
      </p:sp>
      <p:sp>
        <p:nvSpPr>
          <p:cNvPr id="20" name="Text 18"/>
          <p:cNvSpPr/>
          <p:nvPr/>
        </p:nvSpPr>
        <p:spPr>
          <a:xfrm>
            <a:off x="893826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Not what you do. What is different for her when you are done.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30</a:t>
            </a:r>
            <a:endParaRPr lang="en-US" sz="1000" dirty="0"/>
          </a:p>
        </p:txBody>
      </p:sp>
      <p:sp>
        <p:nvSpPr>
          <p:cNvPr id="3" name="Text 1"/>
          <p:cNvSpPr/>
          <p:nvPr/>
        </p:nvSpPr>
        <p:spPr>
          <a:xfrm>
            <a:off x="1188720" y="1920240"/>
            <a:ext cx="9784080" cy="2377440"/>
          </a:xfrm>
          <a:prstGeom prst="rect">
            <a:avLst/>
          </a:prstGeom>
          <a:noFill/>
          <a:ln/>
        </p:spPr>
        <p:txBody>
          <a:bodyPr wrap="square" lIns="0" tIns="0" rIns="0" bIns="0" rtlCol="0" anchor="ctr"/>
          <a:lstStyle/>
          <a:p>
            <a:pPr algn="ctr" indent="0" marL="0">
              <a:lnSpc>
                <a:spcPts val="5000"/>
              </a:lnSpc>
              <a:buNone/>
            </a:pPr>
            <a:r>
              <a:rPr lang="en-US" sz="4400" dirty="0">
                <a:solidFill>
                  <a:srgbClr val="2E1F27"/>
                </a:solidFill>
                <a:latin typeface="Fraunces" pitchFamily="34" charset="0"/>
                <a:ea typeface="Fraunces" pitchFamily="34" charset="-122"/>
                <a:cs typeface="Fraunces" pitchFamily="34" charset="-120"/>
              </a:rPr>
              <a:t>You already have an offer.
</a:t>
            </a:r>
            <a:pPr algn="ctr" indent="0" marL="0">
              <a:lnSpc>
                <a:spcPts val="5000"/>
              </a:lnSpc>
              <a:buNone/>
            </a:pPr>
            <a:r>
              <a:rPr lang="en-US" sz="4400" i="1" dirty="0">
                <a:solidFill>
                  <a:srgbClr val="A93F63"/>
                </a:solidFill>
                <a:latin typeface="Fraunces" pitchFamily="34" charset="0"/>
                <a:ea typeface="Fraunces" pitchFamily="34" charset="-122"/>
                <a:cs typeface="Fraunces" pitchFamily="34" charset="-120"/>
              </a:rPr>
              <a:t>You just haven't named it.</a:t>
            </a:r>
            <a:endParaRPr lang="en-US" sz="4400" dirty="0"/>
          </a:p>
        </p:txBody>
      </p:sp>
      <p:sp>
        <p:nvSpPr>
          <p:cNvPr id="4" name="Text 2"/>
          <p:cNvSpPr/>
          <p:nvPr/>
        </p:nvSpPr>
        <p:spPr>
          <a:xfrm>
            <a:off x="2011680" y="4480560"/>
            <a:ext cx="8138160" cy="548640"/>
          </a:xfrm>
          <a:prstGeom prst="rect">
            <a:avLst/>
          </a:prstGeom>
          <a:noFill/>
          <a:ln/>
        </p:spPr>
        <p:txBody>
          <a:bodyPr wrap="square" lIns="0" tIns="0" rIns="0" bIns="0" rtlCol="0" anchor="ctr"/>
          <a:lstStyle/>
          <a:p>
            <a:pPr algn="ctr" indent="0" marL="0">
              <a:buNone/>
            </a:pPr>
            <a:r>
              <a:rPr lang="en-US" sz="1400" dirty="0">
                <a:solidFill>
                  <a:srgbClr val="6E5C63"/>
                </a:solidFill>
                <a:latin typeface="Karla" pitchFamily="34" charset="0"/>
                <a:ea typeface="Karla" pitchFamily="34" charset="-122"/>
                <a:cs typeface="Karla" pitchFamily="34" charset="-120"/>
              </a:rPr>
              <a:t>Almost nobody needs a new idea. They need to name the one they have.</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31</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WHERE TO LOOK</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Your offer is usually hiding in plain sight.</a:t>
            </a:r>
            <a:endParaRPr lang="en-US" sz="3200" dirty="0"/>
          </a:p>
        </p:txBody>
      </p:sp>
      <p:sp>
        <p:nvSpPr>
          <p:cNvPr id="5" name="Text 3"/>
          <p:cNvSpPr/>
          <p:nvPr/>
        </p:nvSpPr>
        <p:spPr>
          <a:xfrm>
            <a:off x="822960" y="2331720"/>
            <a:ext cx="9875520" cy="3840480"/>
          </a:xfrm>
          <a:prstGeom prst="rect">
            <a:avLst/>
          </a:prstGeom>
          <a:noFill/>
          <a:ln/>
        </p:spPr>
        <p:txBody>
          <a:bodyPr wrap="square" lIns="0" tIns="0" rIns="0" bIns="0" rtlCol="0" anchor="ctr"/>
          <a:lstStyle/>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DM you keep answering with a long, generous reply</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thing friends ask you to help with for free</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part of your own journey that took the longest to figure out</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compliment you keep getting and keep brushing off</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task you enjoy that other people describe as awful</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32</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NAME IT PROPERLY</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Vague offers are the reason people do not buy.</a:t>
            </a:r>
            <a:endParaRPr lang="en-US" sz="3200" dirty="0"/>
          </a:p>
        </p:txBody>
      </p:sp>
      <p:sp>
        <p:nvSpPr>
          <p:cNvPr id="5" name="Shape 3"/>
          <p:cNvSpPr/>
          <p:nvPr/>
        </p:nvSpPr>
        <p:spPr>
          <a:xfrm>
            <a:off x="777240" y="2194560"/>
            <a:ext cx="5120640" cy="3840480"/>
          </a:xfrm>
          <a:prstGeom prst="roundRect">
            <a:avLst>
              <a:gd name="adj" fmla="val 2857"/>
            </a:avLst>
          </a:prstGeom>
          <a:solidFill>
            <a:srgbClr val="FBF6EE"/>
          </a:solidFill>
          <a:ln w="9525">
            <a:solidFill>
              <a:srgbClr val="D8CCC0"/>
            </a:solidFill>
            <a:prstDash val="solid"/>
          </a:ln>
        </p:spPr>
      </p:sp>
      <p:sp>
        <p:nvSpPr>
          <p:cNvPr id="6" name="Text 4"/>
          <p:cNvSpPr/>
          <p:nvPr/>
        </p:nvSpPr>
        <p:spPr>
          <a:xfrm>
            <a:off x="11430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TOO VAGUE TO BUY</a:t>
            </a:r>
            <a:endParaRPr lang="en-US" sz="1100" dirty="0"/>
          </a:p>
        </p:txBody>
      </p:sp>
      <p:sp>
        <p:nvSpPr>
          <p:cNvPr id="7" name="Text 5"/>
          <p:cNvSpPr/>
          <p:nvPr/>
        </p:nvSpPr>
        <p:spPr>
          <a:xfrm>
            <a:off x="11430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I do blog coaching</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I help women with their websites</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I offer social media support</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Packages available, DM me</a:t>
            </a:r>
            <a:endParaRPr lang="en-US" sz="1300" dirty="0"/>
          </a:p>
        </p:txBody>
      </p:sp>
      <p:sp>
        <p:nvSpPr>
          <p:cNvPr id="8" name="Shape 6"/>
          <p:cNvSpPr/>
          <p:nvPr/>
        </p:nvSpPr>
        <p:spPr>
          <a:xfrm>
            <a:off x="6263640" y="2194560"/>
            <a:ext cx="5120640" cy="3840480"/>
          </a:xfrm>
          <a:prstGeom prst="roundRect">
            <a:avLst>
              <a:gd name="adj" fmla="val 2857"/>
            </a:avLst>
          </a:prstGeom>
          <a:solidFill>
            <a:srgbClr val="2E1F27"/>
          </a:solidFill>
          <a:ln w="9525">
            <a:solidFill>
              <a:srgbClr val="2E1F27"/>
            </a:solidFill>
            <a:prstDash val="solid"/>
          </a:ln>
          <a:effectLst>
            <a:outerShdw sx="100000" sy="100000" kx="0" ky="0" algn="bl" rotWithShape="0" blurRad="177800" dist="50800" dir="5400000">
              <a:srgbClr val="2E1F27">
                <a:alpha val="13000"/>
              </a:srgbClr>
            </a:outerShdw>
          </a:effectLst>
        </p:spPr>
      </p:sp>
      <p:sp>
        <p:nvSpPr>
          <p:cNvPr id="9" name="Text 7"/>
          <p:cNvSpPr/>
          <p:nvPr/>
        </p:nvSpPr>
        <p:spPr>
          <a:xfrm>
            <a:off x="66294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SPECIFIC ENOUGH TO BUY</a:t>
            </a:r>
            <a:endParaRPr lang="en-US" sz="1100" dirty="0"/>
          </a:p>
        </p:txBody>
      </p:sp>
      <p:sp>
        <p:nvSpPr>
          <p:cNvPr id="10" name="Text 8"/>
          <p:cNvSpPr/>
          <p:nvPr/>
        </p:nvSpPr>
        <p:spPr>
          <a:xfrm>
            <a:off x="66294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Your blog launched and selling in 21 days</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A custom site built around your offer</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One month of done-for-you content</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Three tiers, prices on the page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33</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AN OFFER ON A PAGE</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What it looks like when the offer leads.</a:t>
            </a:r>
            <a:endParaRPr lang="en-US" sz="3200" dirty="0"/>
          </a:p>
        </p:txBody>
      </p:sp>
      <p:sp>
        <p:nvSpPr>
          <p:cNvPr id="5" name="Shape 3"/>
          <p:cNvSpPr/>
          <p:nvPr/>
        </p:nvSpPr>
        <p:spPr>
          <a:xfrm>
            <a:off x="777240" y="2194560"/>
            <a:ext cx="6576365" cy="3657600"/>
          </a:xfrm>
          <a:prstGeom prst="roundRect">
            <a:avLst>
              <a:gd name="adj" fmla="val 3000"/>
            </a:avLst>
          </a:prstGeom>
          <a:solidFill>
            <a:srgbClr val="F4EBDE"/>
          </a:solidFill>
          <a:ln w="9525">
            <a:solidFill>
              <a:srgbClr val="DCD2C7"/>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777240" y="3794760"/>
            <a:ext cx="6576365" cy="457200"/>
          </a:xfrm>
          <a:prstGeom prst="rect">
            <a:avLst/>
          </a:prstGeom>
          <a:noFill/>
          <a:ln/>
        </p:spPr>
        <p:txBody>
          <a:bodyPr wrap="square" lIns="0" tIns="0" rIns="0" bIns="0" rtlCol="0" anchor="ctr"/>
          <a:lstStyle/>
          <a:p>
            <a:pPr algn="ctr" indent="0" marL="0">
              <a:buNone/>
            </a:pPr>
            <a:r>
              <a:rPr lang="en-US" sz="1100" b="1" spc="300" kern="0" dirty="0">
                <a:solidFill>
                  <a:srgbClr val="B7A99F"/>
                </a:solidFill>
                <a:latin typeface="Karla" pitchFamily="34" charset="0"/>
                <a:ea typeface="Karla" pitchFamily="34" charset="-122"/>
                <a:cs typeface="Karla" pitchFamily="34" charset="-120"/>
              </a:rPr>
              <a:t>DROP YOUR SCREENSHOT HERE</a:t>
            </a:r>
            <a:endParaRPr lang="en-US" sz="1100" dirty="0"/>
          </a:p>
        </p:txBody>
      </p:sp>
      <p:sp>
        <p:nvSpPr>
          <p:cNvPr id="7" name="Text 5"/>
          <p:cNvSpPr/>
          <p:nvPr/>
        </p:nvSpPr>
        <p:spPr>
          <a:xfrm>
            <a:off x="7810805" y="2377440"/>
            <a:ext cx="3573475" cy="128016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offer is the headline.</a:t>
            </a:r>
            <a:endParaRPr lang="en-US" sz="2000" dirty="0"/>
          </a:p>
        </p:txBody>
      </p:sp>
      <p:sp>
        <p:nvSpPr>
          <p:cNvPr id="8" name="Text 6"/>
          <p:cNvSpPr/>
          <p:nvPr/>
        </p:nvSpPr>
        <p:spPr>
          <a:xfrm>
            <a:off x="7810805" y="3703320"/>
            <a:ext cx="3573475" cy="201168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Not the brand name, not a greeting, not a mission statement. The visitor sees the outcome first and everything below it is proof that the outcome is real. Study any page that sells well and you will find this same order every single time.</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34</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OFFER EQUATION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Three parts. Miss one and it stops working.</a:t>
            </a:r>
            <a:endParaRPr lang="en-US" sz="3200" dirty="0"/>
          </a:p>
        </p:txBody>
      </p:sp>
      <p:sp>
        <p:nvSpPr>
          <p:cNvPr id="5" name="Shape 3"/>
          <p:cNvSpPr/>
          <p:nvPr/>
        </p:nvSpPr>
        <p:spPr>
          <a:xfrm>
            <a:off x="777240"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Shape 4"/>
          <p:cNvSpPr/>
          <p:nvPr/>
        </p:nvSpPr>
        <p:spPr>
          <a:xfrm>
            <a:off x="1124712" y="2624328"/>
            <a:ext cx="530352" cy="530352"/>
          </a:xfrm>
          <a:prstGeom prst="ellipse">
            <a:avLst/>
          </a:prstGeom>
          <a:solidFill>
            <a:srgbClr val="A93F63"/>
          </a:solidFill>
          <a:ln w="12700">
            <a:solidFill>
              <a:srgbClr val="A93F63"/>
            </a:solidFill>
            <a:prstDash val="solid"/>
          </a:ln>
        </p:spPr>
      </p:sp>
      <p:sp>
        <p:nvSpPr>
          <p:cNvPr id="7" name="Text 5"/>
          <p:cNvSpPr/>
          <p:nvPr/>
        </p:nvSpPr>
        <p:spPr>
          <a:xfrm>
            <a:off x="1124712"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124712"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A specific person</a:t>
            </a:r>
            <a:endParaRPr lang="en-US" sz="2000" dirty="0"/>
          </a:p>
        </p:txBody>
      </p:sp>
      <p:sp>
        <p:nvSpPr>
          <p:cNvPr id="9" name="Text 7"/>
          <p:cNvSpPr/>
          <p:nvPr/>
        </p:nvSpPr>
        <p:spPr>
          <a:xfrm>
            <a:off x="1124712"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Not "women who blog." A woman at a particular stage with a particular problem.</a:t>
            </a:r>
            <a:endParaRPr lang="en-US" sz="1300" dirty="0"/>
          </a:p>
        </p:txBody>
      </p:sp>
      <p:sp>
        <p:nvSpPr>
          <p:cNvPr id="10" name="Shape 8"/>
          <p:cNvSpPr/>
          <p:nvPr/>
        </p:nvSpPr>
        <p:spPr>
          <a:xfrm>
            <a:off x="4416552"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1" name="Shape 9"/>
          <p:cNvSpPr/>
          <p:nvPr/>
        </p:nvSpPr>
        <p:spPr>
          <a:xfrm>
            <a:off x="4764024" y="2624328"/>
            <a:ext cx="530352" cy="530352"/>
          </a:xfrm>
          <a:prstGeom prst="ellipse">
            <a:avLst/>
          </a:prstGeom>
          <a:solidFill>
            <a:srgbClr val="A93F63"/>
          </a:solidFill>
          <a:ln w="12700">
            <a:solidFill>
              <a:srgbClr val="A93F63"/>
            </a:solidFill>
            <a:prstDash val="solid"/>
          </a:ln>
        </p:spPr>
      </p:sp>
      <p:sp>
        <p:nvSpPr>
          <p:cNvPr id="12" name="Text 10"/>
          <p:cNvSpPr/>
          <p:nvPr/>
        </p:nvSpPr>
        <p:spPr>
          <a:xfrm>
            <a:off x="4764024"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3" name="Text 11"/>
          <p:cNvSpPr/>
          <p:nvPr/>
        </p:nvSpPr>
        <p:spPr>
          <a:xfrm>
            <a:off x="4764024"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A specific outcome</a:t>
            </a:r>
            <a:endParaRPr lang="en-US" sz="2000" dirty="0"/>
          </a:p>
        </p:txBody>
      </p:sp>
      <p:sp>
        <p:nvSpPr>
          <p:cNvPr id="14" name="Text 12"/>
          <p:cNvSpPr/>
          <p:nvPr/>
        </p:nvSpPr>
        <p:spPr>
          <a:xfrm>
            <a:off x="4764024"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Something she can picture and measure. A launched site, a first sale, a full calendar.</a:t>
            </a:r>
            <a:endParaRPr lang="en-US" sz="1300" dirty="0"/>
          </a:p>
        </p:txBody>
      </p:sp>
      <p:sp>
        <p:nvSpPr>
          <p:cNvPr id="15" name="Shape 13"/>
          <p:cNvSpPr/>
          <p:nvPr/>
        </p:nvSpPr>
        <p:spPr>
          <a:xfrm>
            <a:off x="8055864"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6" name="Shape 14"/>
          <p:cNvSpPr/>
          <p:nvPr/>
        </p:nvSpPr>
        <p:spPr>
          <a:xfrm>
            <a:off x="8403336" y="2624328"/>
            <a:ext cx="530352" cy="530352"/>
          </a:xfrm>
          <a:prstGeom prst="ellipse">
            <a:avLst/>
          </a:prstGeom>
          <a:solidFill>
            <a:srgbClr val="A93F63"/>
          </a:solidFill>
          <a:ln w="12700">
            <a:solidFill>
              <a:srgbClr val="A93F63"/>
            </a:solidFill>
            <a:prstDash val="solid"/>
          </a:ln>
        </p:spPr>
      </p:sp>
      <p:sp>
        <p:nvSpPr>
          <p:cNvPr id="17" name="Text 15"/>
          <p:cNvSpPr/>
          <p:nvPr/>
        </p:nvSpPr>
        <p:spPr>
          <a:xfrm>
            <a:off x="8403336"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8" name="Text 16"/>
          <p:cNvSpPr/>
          <p:nvPr/>
        </p:nvSpPr>
        <p:spPr>
          <a:xfrm>
            <a:off x="8403336"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A specific timeframe</a:t>
            </a:r>
            <a:endParaRPr lang="en-US" sz="2000" dirty="0"/>
          </a:p>
        </p:txBody>
      </p:sp>
      <p:sp>
        <p:nvSpPr>
          <p:cNvPr id="19" name="Text 17"/>
          <p:cNvSpPr/>
          <p:nvPr/>
        </p:nvSpPr>
        <p:spPr>
          <a:xfrm>
            <a:off x="8403336"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When it happens. Vagueness about time reads as vagueness about results.</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35</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YOUR TURN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Write the sentence.</a:t>
            </a:r>
            <a:endParaRPr lang="en-US" sz="3200" dirty="0"/>
          </a:p>
        </p:txBody>
      </p:sp>
      <p:sp>
        <p:nvSpPr>
          <p:cNvPr id="5" name="Shape 3"/>
          <p:cNvSpPr/>
          <p:nvPr/>
        </p:nvSpPr>
        <p:spPr>
          <a:xfrm>
            <a:off x="777240" y="2148840"/>
            <a:ext cx="10607040" cy="3703320"/>
          </a:xfrm>
          <a:prstGeom prst="roundRect">
            <a:avLst>
              <a:gd name="adj" fmla="val 2963"/>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234440" y="2487168"/>
            <a:ext cx="9692640" cy="731520"/>
          </a:xfrm>
          <a:prstGeom prst="rect">
            <a:avLst/>
          </a:prstGeom>
          <a:noFill/>
          <a:ln/>
        </p:spPr>
        <p:txBody>
          <a:bodyPr wrap="square" lIns="0" tIns="0" rIns="0" bIns="0" rtlCol="0" anchor="ctr"/>
          <a:lstStyle/>
          <a:p>
            <a:pPr indent="0" marL="0">
              <a:lnSpc>
                <a:spcPts val="2400"/>
              </a:lnSpc>
              <a:buNone/>
            </a:pPr>
            <a:r>
              <a:rPr lang="en-US" sz="2000" i="1" dirty="0">
                <a:solidFill>
                  <a:srgbClr val="A93F63"/>
                </a:solidFill>
                <a:latin typeface="Fraunces" pitchFamily="34" charset="0"/>
                <a:ea typeface="Fraunces" pitchFamily="34" charset="-122"/>
                <a:cs typeface="Fraunces" pitchFamily="34" charset="-120"/>
              </a:rPr>
              <a:t>I help [who] get [outcome] in [timeframe]. Fill it in badly first, then fix it.</a:t>
            </a:r>
            <a:endParaRPr lang="en-US" sz="2000" dirty="0"/>
          </a:p>
        </p:txBody>
      </p:sp>
      <p:sp>
        <p:nvSpPr>
          <p:cNvPr id="7" name="Shape 5"/>
          <p:cNvSpPr/>
          <p:nvPr/>
        </p:nvSpPr>
        <p:spPr>
          <a:xfrm>
            <a:off x="1234440" y="3429000"/>
            <a:ext cx="9692640" cy="0"/>
          </a:xfrm>
          <a:prstGeom prst="line">
            <a:avLst/>
          </a:prstGeom>
          <a:noFill/>
          <a:ln w="12700">
            <a:solidFill>
              <a:srgbClr val="DCD2C7"/>
            </a:solidFill>
            <a:prstDash val="dash"/>
          </a:ln>
        </p:spPr>
      </p:sp>
      <p:sp>
        <p:nvSpPr>
          <p:cNvPr id="8" name="Shape 6"/>
          <p:cNvSpPr/>
          <p:nvPr/>
        </p:nvSpPr>
        <p:spPr>
          <a:xfrm>
            <a:off x="1234440" y="3995928"/>
            <a:ext cx="9692640" cy="0"/>
          </a:xfrm>
          <a:prstGeom prst="line">
            <a:avLst/>
          </a:prstGeom>
          <a:noFill/>
          <a:ln w="12700">
            <a:solidFill>
              <a:srgbClr val="DCD2C7"/>
            </a:solidFill>
            <a:prstDash val="dash"/>
          </a:ln>
        </p:spPr>
      </p:sp>
      <p:sp>
        <p:nvSpPr>
          <p:cNvPr id="9" name="Shape 7"/>
          <p:cNvSpPr/>
          <p:nvPr/>
        </p:nvSpPr>
        <p:spPr>
          <a:xfrm>
            <a:off x="1234440" y="4562856"/>
            <a:ext cx="9692640" cy="0"/>
          </a:xfrm>
          <a:prstGeom prst="line">
            <a:avLst/>
          </a:prstGeom>
          <a:noFill/>
          <a:ln w="12700">
            <a:solidFill>
              <a:srgbClr val="DCD2C7"/>
            </a:solidFill>
            <a:prstDash val="dash"/>
          </a:ln>
        </p:spPr>
      </p:sp>
      <p:sp>
        <p:nvSpPr>
          <p:cNvPr id="10" name="Shape 8"/>
          <p:cNvSpPr/>
          <p:nvPr/>
        </p:nvSpPr>
        <p:spPr>
          <a:xfrm>
            <a:off x="1234440" y="5129784"/>
            <a:ext cx="9692640" cy="0"/>
          </a:xfrm>
          <a:prstGeom prst="line">
            <a:avLst/>
          </a:prstGeom>
          <a:noFill/>
          <a:ln w="12700">
            <a:solidFill>
              <a:srgbClr val="DCD2C7"/>
            </a:solidFill>
            <a:prstDash val="dash"/>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36</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NOW PRICE IT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Price is a decision, not a discovery.</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There is no correct number hiding somewhere that you have to find. There is a number you choose and then defend with the quality of the outcome.</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Price for the result, never for the hours. Nobody buys twelve hours of your time. They buy the thing that exists afterward.</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And price where you can do your best work. Too cheap and you resent it, rush it, and deliver worse. That helps no one.</a:t>
            </a:r>
            <a:endParaRPr lang="en-US" sz="15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37</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A SIMPLE LADDER</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Three tiers cover almost everyone.</a:t>
            </a:r>
            <a:endParaRPr lang="en-US" sz="3200" dirty="0"/>
          </a:p>
        </p:txBody>
      </p:sp>
      <p:sp>
        <p:nvSpPr>
          <p:cNvPr id="5" name="Shape 3"/>
          <p:cNvSpPr/>
          <p:nvPr/>
        </p:nvSpPr>
        <p:spPr>
          <a:xfrm>
            <a:off x="777240"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Shape 4"/>
          <p:cNvSpPr/>
          <p:nvPr/>
        </p:nvSpPr>
        <p:spPr>
          <a:xfrm>
            <a:off x="1124712" y="2624328"/>
            <a:ext cx="530352" cy="530352"/>
          </a:xfrm>
          <a:prstGeom prst="ellipse">
            <a:avLst/>
          </a:prstGeom>
          <a:solidFill>
            <a:srgbClr val="A93F63"/>
          </a:solidFill>
          <a:ln w="12700">
            <a:solidFill>
              <a:srgbClr val="A93F63"/>
            </a:solidFill>
            <a:prstDash val="solid"/>
          </a:ln>
        </p:spPr>
      </p:sp>
      <p:sp>
        <p:nvSpPr>
          <p:cNvPr id="7" name="Text 5"/>
          <p:cNvSpPr/>
          <p:nvPr/>
        </p:nvSpPr>
        <p:spPr>
          <a:xfrm>
            <a:off x="1124712"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124712"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quick one</a:t>
            </a:r>
            <a:endParaRPr lang="en-US" sz="2000" dirty="0"/>
          </a:p>
        </p:txBody>
      </p:sp>
      <p:sp>
        <p:nvSpPr>
          <p:cNvPr id="9" name="Text 7"/>
          <p:cNvSpPr/>
          <p:nvPr/>
        </p:nvSpPr>
        <p:spPr>
          <a:xfrm>
            <a:off x="1124712"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A single session or small deliverable. Low commitment, easy first yes, proves you are worth more.</a:t>
            </a:r>
            <a:endParaRPr lang="en-US" sz="1300" dirty="0"/>
          </a:p>
        </p:txBody>
      </p:sp>
      <p:sp>
        <p:nvSpPr>
          <p:cNvPr id="10" name="Shape 8"/>
          <p:cNvSpPr/>
          <p:nvPr/>
        </p:nvSpPr>
        <p:spPr>
          <a:xfrm>
            <a:off x="4416552"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1" name="Shape 9"/>
          <p:cNvSpPr/>
          <p:nvPr/>
        </p:nvSpPr>
        <p:spPr>
          <a:xfrm>
            <a:off x="4764024" y="2624328"/>
            <a:ext cx="530352" cy="530352"/>
          </a:xfrm>
          <a:prstGeom prst="ellipse">
            <a:avLst/>
          </a:prstGeom>
          <a:solidFill>
            <a:srgbClr val="A93F63"/>
          </a:solidFill>
          <a:ln w="12700">
            <a:solidFill>
              <a:srgbClr val="A93F63"/>
            </a:solidFill>
            <a:prstDash val="solid"/>
          </a:ln>
        </p:spPr>
      </p:sp>
      <p:sp>
        <p:nvSpPr>
          <p:cNvPr id="12" name="Text 10"/>
          <p:cNvSpPr/>
          <p:nvPr/>
        </p:nvSpPr>
        <p:spPr>
          <a:xfrm>
            <a:off x="4764024"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3" name="Text 11"/>
          <p:cNvSpPr/>
          <p:nvPr/>
        </p:nvSpPr>
        <p:spPr>
          <a:xfrm>
            <a:off x="4764024"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main one</a:t>
            </a:r>
            <a:endParaRPr lang="en-US" sz="2000" dirty="0"/>
          </a:p>
        </p:txBody>
      </p:sp>
      <p:sp>
        <p:nvSpPr>
          <p:cNvPr id="14" name="Text 12"/>
          <p:cNvSpPr/>
          <p:nvPr/>
        </p:nvSpPr>
        <p:spPr>
          <a:xfrm>
            <a:off x="4764024"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Your flagship. This is the one you actually want to sell and the one the whole site points at.</a:t>
            </a:r>
            <a:endParaRPr lang="en-US" sz="1300" dirty="0"/>
          </a:p>
        </p:txBody>
      </p:sp>
      <p:sp>
        <p:nvSpPr>
          <p:cNvPr id="15" name="Shape 13"/>
          <p:cNvSpPr/>
          <p:nvPr/>
        </p:nvSpPr>
        <p:spPr>
          <a:xfrm>
            <a:off x="8055864"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6" name="Shape 14"/>
          <p:cNvSpPr/>
          <p:nvPr/>
        </p:nvSpPr>
        <p:spPr>
          <a:xfrm>
            <a:off x="8403336" y="2624328"/>
            <a:ext cx="530352" cy="530352"/>
          </a:xfrm>
          <a:prstGeom prst="ellipse">
            <a:avLst/>
          </a:prstGeom>
          <a:solidFill>
            <a:srgbClr val="A93F63"/>
          </a:solidFill>
          <a:ln w="12700">
            <a:solidFill>
              <a:srgbClr val="A93F63"/>
            </a:solidFill>
            <a:prstDash val="solid"/>
          </a:ln>
        </p:spPr>
      </p:sp>
      <p:sp>
        <p:nvSpPr>
          <p:cNvPr id="17" name="Text 15"/>
          <p:cNvSpPr/>
          <p:nvPr/>
        </p:nvSpPr>
        <p:spPr>
          <a:xfrm>
            <a:off x="8403336"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8" name="Text 16"/>
          <p:cNvSpPr/>
          <p:nvPr/>
        </p:nvSpPr>
        <p:spPr>
          <a:xfrm>
            <a:off x="8403336"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deep one</a:t>
            </a:r>
            <a:endParaRPr lang="en-US" sz="2000" dirty="0"/>
          </a:p>
        </p:txBody>
      </p:sp>
      <p:sp>
        <p:nvSpPr>
          <p:cNvPr id="19" name="Text 17"/>
          <p:cNvSpPr/>
          <p:nvPr/>
        </p:nvSpPr>
        <p:spPr>
          <a:xfrm>
            <a:off x="8403336"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More access, more done for them, more money. Some people will always choose the biggest option.</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38</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TWO WAYS TO RAISE IT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When the price needs to go up.</a:t>
            </a:r>
            <a:endParaRPr lang="en-US" sz="3200" dirty="0"/>
          </a:p>
        </p:txBody>
      </p:sp>
      <p:sp>
        <p:nvSpPr>
          <p:cNvPr id="5" name="Shape 3"/>
          <p:cNvSpPr/>
          <p:nvPr/>
        </p:nvSpPr>
        <p:spPr>
          <a:xfrm>
            <a:off x="777240" y="2240280"/>
            <a:ext cx="5120640" cy="3794760"/>
          </a:xfrm>
          <a:prstGeom prst="roundRect">
            <a:avLst>
              <a:gd name="adj" fmla="val 2892"/>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161288" y="2624328"/>
            <a:ext cx="4352544"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OPTION ONE</a:t>
            </a:r>
            <a:endParaRPr lang="en-US" sz="1100" dirty="0"/>
          </a:p>
        </p:txBody>
      </p:sp>
      <p:sp>
        <p:nvSpPr>
          <p:cNvPr id="7" name="Text 5"/>
          <p:cNvSpPr/>
          <p:nvPr/>
        </p:nvSpPr>
        <p:spPr>
          <a:xfrm>
            <a:off x="1161288" y="3108960"/>
            <a:ext cx="4352544" cy="914400"/>
          </a:xfrm>
          <a:prstGeom prst="rect">
            <a:avLst/>
          </a:prstGeom>
          <a:noFill/>
          <a:ln/>
        </p:spPr>
        <p:txBody>
          <a:bodyPr wrap="square" lIns="0" tIns="0" rIns="0" bIns="0" rtlCol="0" anchor="ctr"/>
          <a:lstStyle/>
          <a:p>
            <a:pPr indent="0" marL="0">
              <a:lnSpc>
                <a:spcPts val="2700"/>
              </a:lnSpc>
              <a:buNone/>
            </a:pPr>
            <a:r>
              <a:rPr lang="en-US" sz="2300" dirty="0">
                <a:solidFill>
                  <a:srgbClr val="2E1F27"/>
                </a:solidFill>
                <a:latin typeface="Fraunces" pitchFamily="34" charset="0"/>
                <a:ea typeface="Fraunces" pitchFamily="34" charset="-122"/>
                <a:cs typeface="Fraunces" pitchFamily="34" charset="-120"/>
              </a:rPr>
              <a:t>Raise it on the next one</a:t>
            </a:r>
            <a:endParaRPr lang="en-US" sz="2300" dirty="0"/>
          </a:p>
        </p:txBody>
      </p:sp>
      <p:sp>
        <p:nvSpPr>
          <p:cNvPr id="8" name="Text 6"/>
          <p:cNvSpPr/>
          <p:nvPr/>
        </p:nvSpPr>
        <p:spPr>
          <a:xfrm>
            <a:off x="1161288" y="4251960"/>
            <a:ext cx="4352544" cy="1554480"/>
          </a:xfrm>
          <a:prstGeom prst="rect">
            <a:avLst/>
          </a:prstGeom>
          <a:noFill/>
          <a:ln/>
        </p:spPr>
        <p:txBody>
          <a:bodyPr wrap="square" lIns="0" tIns="0" rIns="0" bIns="0" rtlCol="0" anchor="ctr"/>
          <a:lstStyle/>
          <a:p>
            <a:pPr indent="0" marL="0">
              <a:lnSpc>
                <a:spcPts val="2100"/>
              </a:lnSpc>
              <a:buNone/>
            </a:pPr>
            <a:r>
              <a:rPr lang="en-US" sz="1350" dirty="0">
                <a:solidFill>
                  <a:srgbClr val="6E5C63"/>
                </a:solidFill>
                <a:latin typeface="Karla" pitchFamily="34" charset="0"/>
                <a:ea typeface="Karla" pitchFamily="34" charset="-122"/>
                <a:cs typeface="Karla" pitchFamily="34" charset="-120"/>
              </a:rPr>
              <a:t>Keep every current client at their price and quote the new number to the next person who asks. Nothing awkward, nothing to explain.</a:t>
            </a:r>
            <a:endParaRPr lang="en-US" sz="1350" dirty="0"/>
          </a:p>
        </p:txBody>
      </p:sp>
      <p:sp>
        <p:nvSpPr>
          <p:cNvPr id="9" name="Shape 7"/>
          <p:cNvSpPr/>
          <p:nvPr/>
        </p:nvSpPr>
        <p:spPr>
          <a:xfrm>
            <a:off x="6263640" y="2240280"/>
            <a:ext cx="5120640" cy="3794760"/>
          </a:xfrm>
          <a:prstGeom prst="roundRect">
            <a:avLst>
              <a:gd name="adj" fmla="val 2892"/>
            </a:avLst>
          </a:prstGeom>
          <a:solidFill>
            <a:srgbClr val="F0DCE2"/>
          </a:solidFill>
          <a:ln w="9525">
            <a:solidFill>
              <a:srgbClr val="E3C9D2"/>
            </a:solidFill>
            <a:prstDash val="solid"/>
          </a:ln>
          <a:effectLst>
            <a:outerShdw sx="100000" sy="100000" kx="0" ky="0" algn="bl" rotWithShape="0" blurRad="177800" dist="50800" dir="5400000">
              <a:srgbClr val="2E1F27">
                <a:alpha val="13000"/>
              </a:srgbClr>
            </a:outerShdw>
          </a:effectLst>
        </p:spPr>
      </p:sp>
      <p:sp>
        <p:nvSpPr>
          <p:cNvPr id="10" name="Text 8"/>
          <p:cNvSpPr/>
          <p:nvPr/>
        </p:nvSpPr>
        <p:spPr>
          <a:xfrm>
            <a:off x="6647688" y="2624328"/>
            <a:ext cx="4352544"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OPTION TWO</a:t>
            </a:r>
            <a:endParaRPr lang="en-US" sz="1100" dirty="0"/>
          </a:p>
        </p:txBody>
      </p:sp>
      <p:sp>
        <p:nvSpPr>
          <p:cNvPr id="11" name="Text 9"/>
          <p:cNvSpPr/>
          <p:nvPr/>
        </p:nvSpPr>
        <p:spPr>
          <a:xfrm>
            <a:off x="6647688" y="3108960"/>
            <a:ext cx="4352544" cy="914400"/>
          </a:xfrm>
          <a:prstGeom prst="rect">
            <a:avLst/>
          </a:prstGeom>
          <a:noFill/>
          <a:ln/>
        </p:spPr>
        <p:txBody>
          <a:bodyPr wrap="square" lIns="0" tIns="0" rIns="0" bIns="0" rtlCol="0" anchor="ctr"/>
          <a:lstStyle/>
          <a:p>
            <a:pPr indent="0" marL="0">
              <a:lnSpc>
                <a:spcPts val="2700"/>
              </a:lnSpc>
              <a:buNone/>
            </a:pPr>
            <a:r>
              <a:rPr lang="en-US" sz="2300" dirty="0">
                <a:solidFill>
                  <a:srgbClr val="2E1F27"/>
                </a:solidFill>
                <a:latin typeface="Fraunces" pitchFamily="34" charset="0"/>
                <a:ea typeface="Fraunces" pitchFamily="34" charset="-122"/>
                <a:cs typeface="Fraunces" pitchFamily="34" charset="-120"/>
              </a:rPr>
              <a:t>Add before you add a number</a:t>
            </a:r>
            <a:endParaRPr lang="en-US" sz="2300" dirty="0"/>
          </a:p>
        </p:txBody>
      </p:sp>
      <p:sp>
        <p:nvSpPr>
          <p:cNvPr id="12" name="Text 10"/>
          <p:cNvSpPr/>
          <p:nvPr/>
        </p:nvSpPr>
        <p:spPr>
          <a:xfrm>
            <a:off x="6647688" y="4251960"/>
            <a:ext cx="4352544" cy="1554480"/>
          </a:xfrm>
          <a:prstGeom prst="rect">
            <a:avLst/>
          </a:prstGeom>
          <a:noFill/>
          <a:ln/>
        </p:spPr>
        <p:txBody>
          <a:bodyPr wrap="square" lIns="0" tIns="0" rIns="0" bIns="0" rtlCol="0" anchor="ctr"/>
          <a:lstStyle/>
          <a:p>
            <a:pPr indent="0" marL="0">
              <a:lnSpc>
                <a:spcPts val="2100"/>
              </a:lnSpc>
              <a:buNone/>
            </a:pPr>
            <a:r>
              <a:rPr lang="en-US" sz="1350" dirty="0">
                <a:solidFill>
                  <a:srgbClr val="7C2B48"/>
                </a:solidFill>
                <a:latin typeface="Karla" pitchFamily="34" charset="0"/>
                <a:ea typeface="Karla" pitchFamily="34" charset="-122"/>
                <a:cs typeface="Karla" pitchFamily="34" charset="-120"/>
              </a:rPr>
              <a:t>Put something genuinely valuable into the offer first, then price the new version. Now the increase has a reason attached to it.</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39</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PRICING MISTAKES TO SKIP</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Every one of these I made personally.</a:t>
            </a:r>
            <a:endParaRPr lang="en-US" sz="3200" dirty="0"/>
          </a:p>
        </p:txBody>
      </p:sp>
      <p:sp>
        <p:nvSpPr>
          <p:cNvPr id="5" name="Text 3"/>
          <p:cNvSpPr/>
          <p:nvPr/>
        </p:nvSpPr>
        <p:spPr>
          <a:xfrm>
            <a:off x="822960" y="2331720"/>
            <a:ext cx="9875520" cy="3840480"/>
          </a:xfrm>
          <a:prstGeom prst="rect">
            <a:avLst/>
          </a:prstGeom>
          <a:noFill/>
          <a:ln/>
        </p:spPr>
        <p:txBody>
          <a:bodyPr wrap="square" lIns="0" tIns="0" rIns="0" bIns="0" rtlCol="0" anchor="ctr"/>
          <a:lstStyle/>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Pricing off what other people charge without knowing their costs or their results</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Discounting before anyone has objected to the price</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Hiding the price so people have to ask, which mostly means they do not</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Charging by the hour for something whose value has nothing to do with hours</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Raising your price only after you are already burnt out and resentful</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40</a:t>
            </a:r>
            <a:endParaRPr lang="en-US" sz="1000" dirty="0"/>
          </a:p>
        </p:txBody>
      </p:sp>
      <p:sp>
        <p:nvSpPr>
          <p:cNvPr id="3" name="Text 1"/>
          <p:cNvSpPr/>
          <p:nvPr/>
        </p:nvSpPr>
        <p:spPr>
          <a:xfrm>
            <a:off x="1097280" y="1600200"/>
            <a:ext cx="9966960" cy="2011680"/>
          </a:xfrm>
          <a:prstGeom prst="rect">
            <a:avLst/>
          </a:prstGeom>
          <a:noFill/>
          <a:ln/>
        </p:spPr>
        <p:txBody>
          <a:bodyPr wrap="square" lIns="0" tIns="0" rIns="0" bIns="0" rtlCol="0" anchor="ctr"/>
          <a:lstStyle/>
          <a:p>
            <a:pPr algn="ctr" indent="0" marL="0">
              <a:buNone/>
            </a:pPr>
            <a:r>
              <a:rPr lang="en-US" sz="9600" i="1" dirty="0">
                <a:solidFill>
                  <a:srgbClr val="A93F63"/>
                </a:solidFill>
                <a:latin typeface="Fraunces" pitchFamily="34" charset="0"/>
                <a:ea typeface="Fraunces" pitchFamily="34" charset="-122"/>
                <a:cs typeface="Fraunces" pitchFamily="34" charset="-120"/>
              </a:rPr>
              <a:t>3</a:t>
            </a:r>
            <a:endParaRPr lang="en-US" sz="9600" dirty="0"/>
          </a:p>
        </p:txBody>
      </p:sp>
      <p:sp>
        <p:nvSpPr>
          <p:cNvPr id="4" name="Text 2"/>
          <p:cNvSpPr/>
          <p:nvPr/>
        </p:nvSpPr>
        <p:spPr>
          <a:xfrm>
            <a:off x="1097280" y="3611880"/>
            <a:ext cx="9966960" cy="365760"/>
          </a:xfrm>
          <a:prstGeom prst="rect">
            <a:avLst/>
          </a:prstGeom>
          <a:noFill/>
          <a:ln/>
        </p:spPr>
        <p:txBody>
          <a:bodyPr wrap="square" lIns="0" tIns="0" rIns="0" bIns="0" rtlCol="0" anchor="ctr"/>
          <a:lstStyle/>
          <a:p>
            <a:pPr algn="ctr" indent="0" marL="0">
              <a:buNone/>
            </a:pPr>
            <a:r>
              <a:rPr lang="en-US" sz="1300" b="1" spc="400" kern="0" dirty="0">
                <a:solidFill>
                  <a:srgbClr val="7C2B48"/>
                </a:solidFill>
                <a:latin typeface="Karla" pitchFamily="34" charset="0"/>
                <a:ea typeface="Karla" pitchFamily="34" charset="-122"/>
                <a:cs typeface="Karla" pitchFamily="34" charset="-120"/>
              </a:rPr>
              <a:t>CLIENTS AT A TIME IS A REAL BUSINESS</a:t>
            </a:r>
            <a:endParaRPr lang="en-US" sz="1300" dirty="0"/>
          </a:p>
        </p:txBody>
      </p:sp>
      <p:sp>
        <p:nvSpPr>
          <p:cNvPr id="5" name="Text 3"/>
          <p:cNvSpPr/>
          <p:nvPr/>
        </p:nvSpPr>
        <p:spPr>
          <a:xfrm>
            <a:off x="2377440" y="4206240"/>
            <a:ext cx="7406640" cy="914400"/>
          </a:xfrm>
          <a:prstGeom prst="rect">
            <a:avLst/>
          </a:prstGeom>
          <a:noFill/>
          <a:ln/>
        </p:spPr>
        <p:txBody>
          <a:bodyPr wrap="square" lIns="0" tIns="0" rIns="0" bIns="0" rtlCol="0" anchor="ctr"/>
          <a:lstStyle/>
          <a:p>
            <a:pPr algn="ctr" indent="0" marL="0">
              <a:lnSpc>
                <a:spcPts val="2200"/>
              </a:lnSpc>
              <a:buNone/>
            </a:pPr>
            <a:r>
              <a:rPr lang="en-US" sz="1400" dirty="0">
                <a:solidFill>
                  <a:srgbClr val="6E5C63"/>
                </a:solidFill>
                <a:latin typeface="Karla" pitchFamily="34" charset="0"/>
                <a:ea typeface="Karla" pitchFamily="34" charset="-122"/>
                <a:cs typeface="Karla" pitchFamily="34" charset="-120"/>
              </a:rPr>
              <a:t>You do not need a huge audience. You need a clear offer and enough people who need it.</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41</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OFFER VALIDATION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Before you build anything around it.</a:t>
            </a:r>
            <a:endParaRPr lang="en-US" sz="3200" dirty="0"/>
          </a:p>
        </p:txBody>
      </p:sp>
      <p:sp>
        <p:nvSpPr>
          <p:cNvPr id="5" name="Shape 3"/>
          <p:cNvSpPr/>
          <p:nvPr/>
        </p:nvSpPr>
        <p:spPr>
          <a:xfrm>
            <a:off x="777240" y="2377440"/>
            <a:ext cx="310896" cy="310896"/>
          </a:xfrm>
          <a:prstGeom prst="roundRect">
            <a:avLst>
              <a:gd name="adj" fmla="val 17647"/>
            </a:avLst>
          </a:prstGeom>
          <a:solidFill>
            <a:srgbClr val="FFFFFF"/>
          </a:solidFill>
          <a:ln w="15875">
            <a:solidFill>
              <a:srgbClr val="A93F63"/>
            </a:solidFill>
            <a:prstDash val="solid"/>
          </a:ln>
        </p:spPr>
      </p:sp>
      <p:sp>
        <p:nvSpPr>
          <p:cNvPr id="6" name="Text 4"/>
          <p:cNvSpPr/>
          <p:nvPr/>
        </p:nvSpPr>
        <p:spPr>
          <a:xfrm>
            <a:off x="1280160" y="234086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 can say it in one sentence without hedging</a:t>
            </a:r>
            <a:endParaRPr lang="en-US" sz="1400" dirty="0"/>
          </a:p>
        </p:txBody>
      </p:sp>
      <p:sp>
        <p:nvSpPr>
          <p:cNvPr id="7" name="Shape 5"/>
          <p:cNvSpPr/>
          <p:nvPr/>
        </p:nvSpPr>
        <p:spPr>
          <a:xfrm>
            <a:off x="777240" y="3108960"/>
            <a:ext cx="310896" cy="310896"/>
          </a:xfrm>
          <a:prstGeom prst="roundRect">
            <a:avLst>
              <a:gd name="adj" fmla="val 17647"/>
            </a:avLst>
          </a:prstGeom>
          <a:solidFill>
            <a:srgbClr val="FFFFFF"/>
          </a:solidFill>
          <a:ln w="15875">
            <a:solidFill>
              <a:srgbClr val="A93F63"/>
            </a:solidFill>
            <a:prstDash val="solid"/>
          </a:ln>
        </p:spPr>
      </p:sp>
      <p:sp>
        <p:nvSpPr>
          <p:cNvPr id="8" name="Text 6"/>
          <p:cNvSpPr/>
          <p:nvPr/>
        </p:nvSpPr>
        <p:spPr>
          <a:xfrm>
            <a:off x="1280160" y="307238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 know exactly who it is for and who it is not for</a:t>
            </a:r>
            <a:endParaRPr lang="en-US" sz="1400" dirty="0"/>
          </a:p>
        </p:txBody>
      </p:sp>
      <p:sp>
        <p:nvSpPr>
          <p:cNvPr id="9" name="Shape 7"/>
          <p:cNvSpPr/>
          <p:nvPr/>
        </p:nvSpPr>
        <p:spPr>
          <a:xfrm>
            <a:off x="777240" y="3840480"/>
            <a:ext cx="310896" cy="310896"/>
          </a:xfrm>
          <a:prstGeom prst="roundRect">
            <a:avLst>
              <a:gd name="adj" fmla="val 17647"/>
            </a:avLst>
          </a:prstGeom>
          <a:solidFill>
            <a:srgbClr val="FFFFFF"/>
          </a:solidFill>
          <a:ln w="15875">
            <a:solidFill>
              <a:srgbClr val="A93F63"/>
            </a:solidFill>
            <a:prstDash val="solid"/>
          </a:ln>
        </p:spPr>
      </p:sp>
      <p:sp>
        <p:nvSpPr>
          <p:cNvPr id="10" name="Text 8"/>
          <p:cNvSpPr/>
          <p:nvPr/>
        </p:nvSpPr>
        <p:spPr>
          <a:xfrm>
            <a:off x="1280160" y="380390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 outcome is something she can picture</a:t>
            </a:r>
            <a:endParaRPr lang="en-US" sz="1400" dirty="0"/>
          </a:p>
        </p:txBody>
      </p:sp>
      <p:sp>
        <p:nvSpPr>
          <p:cNvPr id="11" name="Shape 9"/>
          <p:cNvSpPr/>
          <p:nvPr/>
        </p:nvSpPr>
        <p:spPr>
          <a:xfrm>
            <a:off x="777240" y="4572000"/>
            <a:ext cx="310896" cy="310896"/>
          </a:xfrm>
          <a:prstGeom prst="roundRect">
            <a:avLst>
              <a:gd name="adj" fmla="val 17647"/>
            </a:avLst>
          </a:prstGeom>
          <a:solidFill>
            <a:srgbClr val="FFFFFF"/>
          </a:solidFill>
          <a:ln w="15875">
            <a:solidFill>
              <a:srgbClr val="A93F63"/>
            </a:solidFill>
            <a:prstDash val="solid"/>
          </a:ln>
        </p:spPr>
      </p:sp>
      <p:sp>
        <p:nvSpPr>
          <p:cNvPr id="12" name="Text 10"/>
          <p:cNvSpPr/>
          <p:nvPr/>
        </p:nvSpPr>
        <p:spPr>
          <a:xfrm>
            <a:off x="1280160" y="453542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 price is written down and I can say it out loud</a:t>
            </a:r>
            <a:endParaRPr lang="en-US" sz="1400" dirty="0"/>
          </a:p>
        </p:txBody>
      </p:sp>
      <p:sp>
        <p:nvSpPr>
          <p:cNvPr id="13" name="Shape 11"/>
          <p:cNvSpPr/>
          <p:nvPr/>
        </p:nvSpPr>
        <p:spPr>
          <a:xfrm>
            <a:off x="777240" y="5303520"/>
            <a:ext cx="310896" cy="310896"/>
          </a:xfrm>
          <a:prstGeom prst="roundRect">
            <a:avLst>
              <a:gd name="adj" fmla="val 17647"/>
            </a:avLst>
          </a:prstGeom>
          <a:solidFill>
            <a:srgbClr val="FFFFFF"/>
          </a:solidFill>
          <a:ln w="15875">
            <a:solidFill>
              <a:srgbClr val="A93F63"/>
            </a:solidFill>
            <a:prstDash val="solid"/>
          </a:ln>
        </p:spPr>
      </p:sp>
      <p:sp>
        <p:nvSpPr>
          <p:cNvPr id="14" name="Text 12"/>
          <p:cNvSpPr/>
          <p:nvPr/>
        </p:nvSpPr>
        <p:spPr>
          <a:xfrm>
            <a:off x="1280160" y="526694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At least one real person has said yes to it</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42</a:t>
            </a:r>
            <a:endParaRPr lang="en-US" sz="1000" dirty="0"/>
          </a:p>
        </p:txBody>
      </p:sp>
      <p:sp>
        <p:nvSpPr>
          <p:cNvPr id="3" name="Text 1"/>
          <p:cNvSpPr/>
          <p:nvPr/>
        </p:nvSpPr>
        <p:spPr>
          <a:xfrm>
            <a:off x="914400" y="914400"/>
            <a:ext cx="1371600" cy="1371600"/>
          </a:xfrm>
          <a:prstGeom prst="rect">
            <a:avLst/>
          </a:prstGeom>
          <a:noFill/>
          <a:ln/>
        </p:spPr>
        <p:txBody>
          <a:bodyPr wrap="square" lIns="0" tIns="0" rIns="0" bIns="0" rtlCol="0" anchor="ctr"/>
          <a:lstStyle/>
          <a:p>
            <a:pPr indent="0" marL="0">
              <a:buNone/>
            </a:pPr>
            <a:r>
              <a:rPr lang="en-US" sz="11000" i="1" dirty="0">
                <a:solidFill>
                  <a:srgbClr val="A93F63"/>
                </a:solidFill>
                <a:latin typeface="Fraunces" pitchFamily="34" charset="0"/>
                <a:ea typeface="Fraunces" pitchFamily="34" charset="-122"/>
                <a:cs typeface="Fraunces" pitchFamily="34" charset="-120"/>
              </a:rPr>
              <a:t>“</a:t>
            </a:r>
            <a:endParaRPr lang="en-US" sz="11000" dirty="0"/>
          </a:p>
        </p:txBody>
      </p:sp>
      <p:sp>
        <p:nvSpPr>
          <p:cNvPr id="4" name="Text 2"/>
          <p:cNvSpPr/>
          <p:nvPr/>
        </p:nvSpPr>
        <p:spPr>
          <a:xfrm>
            <a:off x="1691640" y="1965960"/>
            <a:ext cx="8778240" cy="2377440"/>
          </a:xfrm>
          <a:prstGeom prst="rect">
            <a:avLst/>
          </a:prstGeom>
          <a:noFill/>
          <a:ln/>
        </p:spPr>
        <p:txBody>
          <a:bodyPr wrap="square" lIns="0" tIns="0" rIns="0" bIns="0" rtlCol="0" anchor="ctr"/>
          <a:lstStyle/>
          <a:p>
            <a:pPr algn="ctr" indent="0" marL="0">
              <a:lnSpc>
                <a:spcPts val="3800"/>
              </a:lnSpc>
              <a:buNone/>
            </a:pPr>
            <a:r>
              <a:rPr lang="en-US" sz="3000" i="1" dirty="0">
                <a:solidFill>
                  <a:srgbClr val="2E1F27"/>
                </a:solidFill>
                <a:latin typeface="Fraunces" pitchFamily="34" charset="0"/>
                <a:ea typeface="Fraunces" pitchFamily="34" charset="-122"/>
                <a:cs typeface="Fraunces" pitchFamily="34" charset="-120"/>
              </a:rPr>
              <a:t>Nobody buys twelve hours of your time. They buy the thing that exists afterward.</a:t>
            </a:r>
            <a:endParaRPr lang="en-US" sz="3000" dirty="0"/>
          </a:p>
        </p:txBody>
      </p:sp>
      <p:sp>
        <p:nvSpPr>
          <p:cNvPr id="5" name="Text 3"/>
          <p:cNvSpPr/>
          <p:nvPr/>
        </p:nvSpPr>
        <p:spPr>
          <a:xfrm>
            <a:off x="2377440" y="4572000"/>
            <a:ext cx="7406640" cy="365760"/>
          </a:xfrm>
          <a:prstGeom prst="rect">
            <a:avLst/>
          </a:prstGeom>
          <a:noFill/>
          <a:ln/>
        </p:spPr>
        <p:txBody>
          <a:bodyPr wrap="square" lIns="0" tIns="0" rIns="0" bIns="0" rtlCol="0" anchor="ctr"/>
          <a:lstStyle/>
          <a:p>
            <a:pPr algn="ctr" indent="0" marL="0">
              <a:buNone/>
            </a:pPr>
            <a:r>
              <a:rPr lang="en-US" sz="1100" b="1" spc="400" kern="0" dirty="0">
                <a:solidFill>
                  <a:srgbClr val="7C2B48"/>
                </a:solidFill>
                <a:latin typeface="Karla" pitchFamily="34" charset="0"/>
                <a:ea typeface="Karla" pitchFamily="34" charset="-122"/>
                <a:cs typeface="Karla" pitchFamily="34" charset="-120"/>
              </a:rPr>
              <a:t>THE PRICING RULE</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43</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YOUR TURN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Put a number on it.</a:t>
            </a:r>
            <a:endParaRPr lang="en-US" sz="3200" dirty="0"/>
          </a:p>
        </p:txBody>
      </p:sp>
      <p:sp>
        <p:nvSpPr>
          <p:cNvPr id="5" name="Shape 3"/>
          <p:cNvSpPr/>
          <p:nvPr/>
        </p:nvSpPr>
        <p:spPr>
          <a:xfrm>
            <a:off x="777240" y="2148840"/>
            <a:ext cx="10607040" cy="3703320"/>
          </a:xfrm>
          <a:prstGeom prst="roundRect">
            <a:avLst>
              <a:gd name="adj" fmla="val 2963"/>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234440" y="2487168"/>
            <a:ext cx="9692640" cy="731520"/>
          </a:xfrm>
          <a:prstGeom prst="rect">
            <a:avLst/>
          </a:prstGeom>
          <a:noFill/>
          <a:ln/>
        </p:spPr>
        <p:txBody>
          <a:bodyPr wrap="square" lIns="0" tIns="0" rIns="0" bIns="0" rtlCol="0" anchor="ctr"/>
          <a:lstStyle/>
          <a:p>
            <a:pPr indent="0" marL="0">
              <a:lnSpc>
                <a:spcPts val="2400"/>
              </a:lnSpc>
              <a:buNone/>
            </a:pPr>
            <a:r>
              <a:rPr lang="en-US" sz="2000" i="1" dirty="0">
                <a:solidFill>
                  <a:srgbClr val="A93F63"/>
                </a:solidFill>
                <a:latin typeface="Fraunces" pitchFamily="34" charset="0"/>
                <a:ea typeface="Fraunces" pitchFamily="34" charset="-122"/>
                <a:cs typeface="Fraunces" pitchFamily="34" charset="-120"/>
              </a:rPr>
              <a:t>What does your main offer cost, and what makes it worth that? Write the price first, then the defense.</a:t>
            </a:r>
            <a:endParaRPr lang="en-US" sz="2000" dirty="0"/>
          </a:p>
        </p:txBody>
      </p:sp>
      <p:sp>
        <p:nvSpPr>
          <p:cNvPr id="7" name="Shape 5"/>
          <p:cNvSpPr/>
          <p:nvPr/>
        </p:nvSpPr>
        <p:spPr>
          <a:xfrm>
            <a:off x="1234440" y="3429000"/>
            <a:ext cx="9692640" cy="0"/>
          </a:xfrm>
          <a:prstGeom prst="line">
            <a:avLst/>
          </a:prstGeom>
          <a:noFill/>
          <a:ln w="12700">
            <a:solidFill>
              <a:srgbClr val="DCD2C7"/>
            </a:solidFill>
            <a:prstDash val="dash"/>
          </a:ln>
        </p:spPr>
      </p:sp>
      <p:sp>
        <p:nvSpPr>
          <p:cNvPr id="8" name="Shape 6"/>
          <p:cNvSpPr/>
          <p:nvPr/>
        </p:nvSpPr>
        <p:spPr>
          <a:xfrm>
            <a:off x="1234440" y="3995928"/>
            <a:ext cx="9692640" cy="0"/>
          </a:xfrm>
          <a:prstGeom prst="line">
            <a:avLst/>
          </a:prstGeom>
          <a:noFill/>
          <a:ln w="12700">
            <a:solidFill>
              <a:srgbClr val="DCD2C7"/>
            </a:solidFill>
            <a:prstDash val="dash"/>
          </a:ln>
        </p:spPr>
      </p:sp>
      <p:sp>
        <p:nvSpPr>
          <p:cNvPr id="9" name="Shape 7"/>
          <p:cNvSpPr/>
          <p:nvPr/>
        </p:nvSpPr>
        <p:spPr>
          <a:xfrm>
            <a:off x="1234440" y="4562856"/>
            <a:ext cx="9692640" cy="0"/>
          </a:xfrm>
          <a:prstGeom prst="line">
            <a:avLst/>
          </a:prstGeom>
          <a:noFill/>
          <a:ln w="12700">
            <a:solidFill>
              <a:srgbClr val="DCD2C7"/>
            </a:solidFill>
            <a:prstDash val="dash"/>
          </a:ln>
        </p:spPr>
      </p:sp>
      <p:sp>
        <p:nvSpPr>
          <p:cNvPr id="10" name="Shape 8"/>
          <p:cNvSpPr/>
          <p:nvPr/>
        </p:nvSpPr>
        <p:spPr>
          <a:xfrm>
            <a:off x="1234440" y="5129784"/>
            <a:ext cx="9692640" cy="0"/>
          </a:xfrm>
          <a:prstGeom prst="line">
            <a:avLst/>
          </a:prstGeom>
          <a:noFill/>
          <a:ln w="12700">
            <a:solidFill>
              <a:srgbClr val="DCD2C7"/>
            </a:solidFill>
            <a:prstDash val="dash"/>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44</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MODULE TWO</a:t>
            </a:r>
            <a:endParaRPr lang="en-US" sz="1100" dirty="0"/>
          </a:p>
        </p:txBody>
      </p:sp>
      <p:sp>
        <p:nvSpPr>
          <p:cNvPr id="4" name="Text 2"/>
          <p:cNvSpPr/>
          <p:nvPr/>
        </p:nvSpPr>
        <p:spPr>
          <a:xfrm>
            <a:off x="777240" y="932688"/>
            <a:ext cx="106070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Shape 3"/>
          <p:cNvSpPr/>
          <p:nvPr/>
        </p:nvSpPr>
        <p:spPr>
          <a:xfrm>
            <a:off x="777240" y="2423160"/>
            <a:ext cx="457200" cy="457200"/>
          </a:xfrm>
          <a:prstGeom prst="ellipse">
            <a:avLst/>
          </a:prstGeom>
          <a:solidFill>
            <a:srgbClr val="A93F63"/>
          </a:solidFill>
          <a:ln w="12700">
            <a:solidFill>
              <a:srgbClr val="A93F63"/>
            </a:solidFill>
            <a:prstDash val="solid"/>
          </a:ln>
        </p:spPr>
      </p:sp>
      <p:sp>
        <p:nvSpPr>
          <p:cNvPr id="6" name="Text 4"/>
          <p:cNvSpPr/>
          <p:nvPr/>
        </p:nvSpPr>
        <p:spPr>
          <a:xfrm>
            <a:off x="777240" y="24231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7" name="Text 5"/>
          <p:cNvSpPr/>
          <p:nvPr/>
        </p:nvSpPr>
        <p:spPr>
          <a:xfrm>
            <a:off x="1463040" y="240487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An offer is a specific outcome, for a specific person, at a specific price.</a:t>
            </a:r>
            <a:endParaRPr lang="en-US" sz="1450" dirty="0"/>
          </a:p>
        </p:txBody>
      </p:sp>
      <p:sp>
        <p:nvSpPr>
          <p:cNvPr id="8" name="Shape 6"/>
          <p:cNvSpPr/>
          <p:nvPr/>
        </p:nvSpPr>
        <p:spPr>
          <a:xfrm>
            <a:off x="777240" y="3291840"/>
            <a:ext cx="457200" cy="457200"/>
          </a:xfrm>
          <a:prstGeom prst="ellipse">
            <a:avLst/>
          </a:prstGeom>
          <a:solidFill>
            <a:srgbClr val="A93F63"/>
          </a:solidFill>
          <a:ln w="12700">
            <a:solidFill>
              <a:srgbClr val="A93F63"/>
            </a:solidFill>
            <a:prstDash val="solid"/>
          </a:ln>
        </p:spPr>
      </p:sp>
      <p:sp>
        <p:nvSpPr>
          <p:cNvPr id="9" name="Text 7"/>
          <p:cNvSpPr/>
          <p:nvPr/>
        </p:nvSpPr>
        <p:spPr>
          <a:xfrm>
            <a:off x="777240" y="32918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0" name="Text 8"/>
          <p:cNvSpPr/>
          <p:nvPr/>
        </p:nvSpPr>
        <p:spPr>
          <a:xfrm>
            <a:off x="1463040" y="327355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You almost certainly already have one. Name it.</a:t>
            </a:r>
            <a:endParaRPr lang="en-US" sz="1450" dirty="0"/>
          </a:p>
        </p:txBody>
      </p:sp>
      <p:sp>
        <p:nvSpPr>
          <p:cNvPr id="11" name="Shape 9"/>
          <p:cNvSpPr/>
          <p:nvPr/>
        </p:nvSpPr>
        <p:spPr>
          <a:xfrm>
            <a:off x="777240" y="4160520"/>
            <a:ext cx="457200" cy="457200"/>
          </a:xfrm>
          <a:prstGeom prst="ellipse">
            <a:avLst/>
          </a:prstGeom>
          <a:solidFill>
            <a:srgbClr val="A93F63"/>
          </a:solidFill>
          <a:ln w="12700">
            <a:solidFill>
              <a:srgbClr val="A93F63"/>
            </a:solidFill>
            <a:prstDash val="solid"/>
          </a:ln>
        </p:spPr>
      </p:sp>
      <p:sp>
        <p:nvSpPr>
          <p:cNvPr id="12" name="Text 10"/>
          <p:cNvSpPr/>
          <p:nvPr/>
        </p:nvSpPr>
        <p:spPr>
          <a:xfrm>
            <a:off x="777240" y="4160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3" name="Text 11"/>
          <p:cNvSpPr/>
          <p:nvPr/>
        </p:nvSpPr>
        <p:spPr>
          <a:xfrm>
            <a:off x="1463040" y="414223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Price for the result, never for the hours.</a:t>
            </a:r>
            <a:endParaRPr lang="en-US" sz="1450" dirty="0"/>
          </a:p>
        </p:txBody>
      </p:sp>
      <p:sp>
        <p:nvSpPr>
          <p:cNvPr id="14" name="Shape 12"/>
          <p:cNvSpPr/>
          <p:nvPr/>
        </p:nvSpPr>
        <p:spPr>
          <a:xfrm>
            <a:off x="777240" y="5029200"/>
            <a:ext cx="457200" cy="457200"/>
          </a:xfrm>
          <a:prstGeom prst="ellipse">
            <a:avLst/>
          </a:prstGeom>
          <a:solidFill>
            <a:srgbClr val="A93F63"/>
          </a:solidFill>
          <a:ln w="12700">
            <a:solidFill>
              <a:srgbClr val="A93F63"/>
            </a:solidFill>
            <a:prstDash val="solid"/>
          </a:ln>
        </p:spPr>
      </p:sp>
      <p:sp>
        <p:nvSpPr>
          <p:cNvPr id="15" name="Text 13"/>
          <p:cNvSpPr/>
          <p:nvPr/>
        </p:nvSpPr>
        <p:spPr>
          <a:xfrm>
            <a:off x="777240" y="50292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16" name="Text 14"/>
          <p:cNvSpPr/>
          <p:nvPr/>
        </p:nvSpPr>
        <p:spPr>
          <a:xfrm>
            <a:off x="1463040" y="501091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One sentence someone can say yes to beats a beautiful list of services.</a:t>
            </a:r>
            <a:endParaRPr lang="en-US" sz="14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45</a:t>
            </a:r>
            <a:endParaRPr lang="en-US" sz="1000" dirty="0"/>
          </a:p>
        </p:txBody>
      </p:sp>
      <p:sp>
        <p:nvSpPr>
          <p:cNvPr id="3" name="Shape 1"/>
          <p:cNvSpPr/>
          <p:nvPr/>
        </p:nvSpPr>
        <p:spPr>
          <a:xfrm>
            <a:off x="9509760" y="4389120"/>
            <a:ext cx="4206240" cy="4206240"/>
          </a:xfrm>
          <a:prstGeom prst="ellipse">
            <a:avLst/>
          </a:prstGeom>
          <a:solidFill>
            <a:srgbClr val="A93F63">
              <a:alpha val="26000"/>
            </a:srgbClr>
          </a:solidFill>
          <a:ln w="12700">
            <a:solidFill>
              <a:srgbClr val="333333"/>
            </a:solidFill>
            <a:prstDash val="solid"/>
          </a:ln>
        </p:spPr>
      </p:sp>
      <p:sp>
        <p:nvSpPr>
          <p:cNvPr id="4" name="Text 2"/>
          <p:cNvSpPr/>
          <p:nvPr/>
        </p:nvSpPr>
        <p:spPr>
          <a:xfrm>
            <a:off x="777240" y="914400"/>
            <a:ext cx="3657600" cy="2194560"/>
          </a:xfrm>
          <a:prstGeom prst="rect">
            <a:avLst/>
          </a:prstGeom>
          <a:noFill/>
          <a:ln/>
        </p:spPr>
        <p:txBody>
          <a:bodyPr wrap="square" lIns="0" tIns="0" rIns="0" bIns="0" rtlCol="0" anchor="ctr"/>
          <a:lstStyle/>
          <a:p>
            <a:pPr indent="0" marL="0">
              <a:buNone/>
            </a:pPr>
            <a:r>
              <a:rPr lang="en-US" sz="9600" i="1" dirty="0">
                <a:solidFill>
                  <a:srgbClr val="A93F63"/>
                </a:solidFill>
                <a:latin typeface="Fraunces" pitchFamily="34" charset="0"/>
                <a:ea typeface="Fraunces" pitchFamily="34" charset="-122"/>
                <a:cs typeface="Fraunces" pitchFamily="34" charset="-120"/>
              </a:rPr>
              <a:t>03</a:t>
            </a:r>
            <a:endParaRPr lang="en-US" sz="9600" dirty="0"/>
          </a:p>
        </p:txBody>
      </p:sp>
      <p:sp>
        <p:nvSpPr>
          <p:cNvPr id="5" name="Text 3"/>
          <p:cNvSpPr/>
          <p:nvPr/>
        </p:nvSpPr>
        <p:spPr>
          <a:xfrm>
            <a:off x="777240" y="3017520"/>
            <a:ext cx="8229600" cy="1371600"/>
          </a:xfrm>
          <a:prstGeom prst="rect">
            <a:avLst/>
          </a:prstGeom>
          <a:noFill/>
          <a:ln/>
        </p:spPr>
        <p:txBody>
          <a:bodyPr wrap="square" lIns="0" tIns="0" rIns="0" bIns="0" rtlCol="0" anchor="ctr"/>
          <a:lstStyle/>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Copy that sells</a:t>
            </a:r>
            <a:endParaRPr lang="en-US" sz="4000" dirty="0"/>
          </a:p>
        </p:txBody>
      </p:sp>
      <p:sp>
        <p:nvSpPr>
          <p:cNvPr id="6" name="Text 4"/>
          <p:cNvSpPr/>
          <p:nvPr/>
        </p:nvSpPr>
        <p:spPr>
          <a:xfrm>
            <a:off x="777240" y="4434840"/>
            <a:ext cx="7863840" cy="502920"/>
          </a:xfrm>
          <a:prstGeom prst="rect">
            <a:avLst/>
          </a:prstGeom>
          <a:noFill/>
          <a:ln/>
        </p:spPr>
        <p:txBody>
          <a:bodyPr wrap="square" lIns="0" tIns="0" rIns="0" bIns="0" rtlCol="0" anchor="ctr"/>
          <a:lstStyle/>
          <a:p>
            <a:pPr indent="0" marL="0">
              <a:buNone/>
            </a:pPr>
            <a:r>
              <a:rPr lang="en-US" sz="2400" dirty="0">
                <a:solidFill>
                  <a:srgbClr val="BC8A47"/>
                </a:solidFill>
                <a:latin typeface="Ephesis" pitchFamily="34" charset="0"/>
                <a:ea typeface="Ephesis" pitchFamily="34" charset="-122"/>
                <a:cs typeface="Ephesis" pitchFamily="34" charset="-120"/>
              </a:rPr>
              <a:t>the words doing the actual work</a:t>
            </a:r>
            <a:endParaRPr lang="en-US" sz="2400" dirty="0"/>
          </a:p>
        </p:txBody>
      </p:sp>
      <p:sp>
        <p:nvSpPr>
          <p:cNvPr id="7" name="Text 5"/>
          <p:cNvSpPr/>
          <p:nvPr/>
        </p:nvSpPr>
        <p:spPr>
          <a:xfrm>
            <a:off x="777240" y="5029200"/>
            <a:ext cx="786384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The structure every page that sells uses</a:t>
            </a:r>
            <a:endParaRPr lang="en-US" sz="1300" dirty="0"/>
          </a:p>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Headlines, proof, and the button</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46</a:t>
            </a:r>
            <a:endParaRPr lang="en-US" sz="1000" dirty="0"/>
          </a:p>
        </p:txBody>
      </p:sp>
      <p:sp>
        <p:nvSpPr>
          <p:cNvPr id="3" name="Text 1"/>
          <p:cNvSpPr/>
          <p:nvPr/>
        </p:nvSpPr>
        <p:spPr>
          <a:xfrm>
            <a:off x="1188720" y="1920240"/>
            <a:ext cx="9784080" cy="2377440"/>
          </a:xfrm>
          <a:prstGeom prst="rect">
            <a:avLst/>
          </a:prstGeom>
          <a:noFill/>
          <a:ln/>
        </p:spPr>
        <p:txBody>
          <a:bodyPr wrap="square" lIns="0" tIns="0" rIns="0" bIns="0" rtlCol="0" anchor="ctr"/>
          <a:lstStyle/>
          <a:p>
            <a:pPr algn="ctr" indent="0" marL="0">
              <a:lnSpc>
                <a:spcPts val="5000"/>
              </a:lnSpc>
              <a:buNone/>
            </a:pPr>
            <a:r>
              <a:rPr lang="en-US" sz="4400" dirty="0">
                <a:solidFill>
                  <a:srgbClr val="2E1F27"/>
                </a:solidFill>
                <a:latin typeface="Fraunces" pitchFamily="34" charset="0"/>
                <a:ea typeface="Fraunces" pitchFamily="34" charset="-122"/>
                <a:cs typeface="Fraunces" pitchFamily="34" charset="-120"/>
              </a:rPr>
              <a:t>Design gets noticed.
</a:t>
            </a:r>
            <a:pPr algn="ctr" indent="0" marL="0">
              <a:lnSpc>
                <a:spcPts val="5000"/>
              </a:lnSpc>
              <a:buNone/>
            </a:pPr>
            <a:r>
              <a:rPr lang="en-US" sz="4400" i="1" dirty="0">
                <a:solidFill>
                  <a:srgbClr val="A93F63"/>
                </a:solidFill>
                <a:latin typeface="Fraunces" pitchFamily="34" charset="0"/>
                <a:ea typeface="Fraunces" pitchFamily="34" charset="-122"/>
                <a:cs typeface="Fraunces" pitchFamily="34" charset="-120"/>
              </a:rPr>
              <a:t>Copy gets paid.</a:t>
            </a:r>
            <a:endParaRPr lang="en-US" sz="4400" dirty="0"/>
          </a:p>
        </p:txBody>
      </p:sp>
      <p:sp>
        <p:nvSpPr>
          <p:cNvPr id="4" name="Text 2"/>
          <p:cNvSpPr/>
          <p:nvPr/>
        </p:nvSpPr>
        <p:spPr>
          <a:xfrm>
            <a:off x="2011680" y="4480560"/>
            <a:ext cx="8138160" cy="548640"/>
          </a:xfrm>
          <a:prstGeom prst="rect">
            <a:avLst/>
          </a:prstGeom>
          <a:noFill/>
          <a:ln/>
        </p:spPr>
        <p:txBody>
          <a:bodyPr wrap="square" lIns="0" tIns="0" rIns="0" bIns="0" rtlCol="0" anchor="ctr"/>
          <a:lstStyle/>
          <a:p>
            <a:pPr algn="ctr" indent="0" marL="0">
              <a:buNone/>
            </a:pPr>
            <a:r>
              <a:rPr lang="en-US" sz="1400" dirty="0">
                <a:solidFill>
                  <a:srgbClr val="6E5C63"/>
                </a:solidFill>
                <a:latin typeface="Karla" pitchFamily="34" charset="0"/>
                <a:ea typeface="Karla" pitchFamily="34" charset="-122"/>
                <a:cs typeface="Karla" pitchFamily="34" charset="-120"/>
              </a:rPr>
              <a:t>If you have to choose which to fix first, it is never the design.</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47</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COPY IS NOT CONTENT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Two different jobs, two different rules.</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Content is generous. It teaches, entertains, and builds the relationship. Your blog posts are content.</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Copy is directive. It moves someone toward a decision. Your homepage, your offer page, your buttons are copy.</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Most bloggers write content everywhere and wonder why nothing sells. Content earns the trust. Copy collects on it.</a:t>
            </a:r>
            <a:endParaRPr lang="en-US" sz="15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48</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STRUCTURE</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Every page that sells uses this order.</a:t>
            </a:r>
            <a:endParaRPr lang="en-US" sz="3200" dirty="0"/>
          </a:p>
        </p:txBody>
      </p:sp>
      <p:sp>
        <p:nvSpPr>
          <p:cNvPr id="5" name="Shape 3"/>
          <p:cNvSpPr/>
          <p:nvPr/>
        </p:nvSpPr>
        <p:spPr>
          <a:xfrm>
            <a:off x="777240" y="2377440"/>
            <a:ext cx="566928" cy="566928"/>
          </a:xfrm>
          <a:prstGeom prst="ellipse">
            <a:avLst/>
          </a:prstGeom>
          <a:solidFill>
            <a:srgbClr val="A93F63"/>
          </a:solidFill>
          <a:ln w="12700">
            <a:solidFill>
              <a:srgbClr val="A93F63"/>
            </a:solidFill>
            <a:prstDash val="solid"/>
          </a:ln>
        </p:spPr>
      </p:sp>
      <p:sp>
        <p:nvSpPr>
          <p:cNvPr id="6" name="Text 4"/>
          <p:cNvSpPr/>
          <p:nvPr/>
        </p:nvSpPr>
        <p:spPr>
          <a:xfrm>
            <a:off x="77724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7" name="Text 5"/>
          <p:cNvSpPr/>
          <p:nvPr/>
        </p:nvSpPr>
        <p:spPr>
          <a:xfrm>
            <a:off x="77724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The hook</a:t>
            </a:r>
            <a:endParaRPr lang="en-US" sz="1900" dirty="0"/>
          </a:p>
        </p:txBody>
      </p:sp>
      <p:sp>
        <p:nvSpPr>
          <p:cNvPr id="8" name="Text 6"/>
          <p:cNvSpPr/>
          <p:nvPr/>
        </p:nvSpPr>
        <p:spPr>
          <a:xfrm>
            <a:off x="77724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Name her problem or her dream in her own words, in the first line she reads.</a:t>
            </a:r>
            <a:endParaRPr lang="en-US" sz="1300" dirty="0"/>
          </a:p>
        </p:txBody>
      </p:sp>
      <p:sp>
        <p:nvSpPr>
          <p:cNvPr id="9" name="Shape 7"/>
          <p:cNvSpPr/>
          <p:nvPr/>
        </p:nvSpPr>
        <p:spPr>
          <a:xfrm>
            <a:off x="3497580" y="2377440"/>
            <a:ext cx="566928" cy="566928"/>
          </a:xfrm>
          <a:prstGeom prst="ellipse">
            <a:avLst/>
          </a:prstGeom>
          <a:solidFill>
            <a:srgbClr val="A93F63"/>
          </a:solidFill>
          <a:ln w="12700">
            <a:solidFill>
              <a:srgbClr val="A93F63"/>
            </a:solidFill>
            <a:prstDash val="solid"/>
          </a:ln>
        </p:spPr>
      </p:sp>
      <p:sp>
        <p:nvSpPr>
          <p:cNvPr id="10" name="Text 8"/>
          <p:cNvSpPr/>
          <p:nvPr/>
        </p:nvSpPr>
        <p:spPr>
          <a:xfrm>
            <a:off x="349758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1" name="Text 9"/>
          <p:cNvSpPr/>
          <p:nvPr/>
        </p:nvSpPr>
        <p:spPr>
          <a:xfrm>
            <a:off x="349758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The proof</a:t>
            </a:r>
            <a:endParaRPr lang="en-US" sz="1900" dirty="0"/>
          </a:p>
        </p:txBody>
      </p:sp>
      <p:sp>
        <p:nvSpPr>
          <p:cNvPr id="12" name="Text 10"/>
          <p:cNvSpPr/>
          <p:nvPr/>
        </p:nvSpPr>
        <p:spPr>
          <a:xfrm>
            <a:off x="349758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Show that you can do it. Results, testimonials, the work itself.</a:t>
            </a:r>
            <a:endParaRPr lang="en-US" sz="1300" dirty="0"/>
          </a:p>
        </p:txBody>
      </p:sp>
      <p:sp>
        <p:nvSpPr>
          <p:cNvPr id="13" name="Shape 11"/>
          <p:cNvSpPr/>
          <p:nvPr/>
        </p:nvSpPr>
        <p:spPr>
          <a:xfrm>
            <a:off x="6217920" y="2377440"/>
            <a:ext cx="566928" cy="566928"/>
          </a:xfrm>
          <a:prstGeom prst="ellipse">
            <a:avLst/>
          </a:prstGeom>
          <a:solidFill>
            <a:srgbClr val="A93F63"/>
          </a:solidFill>
          <a:ln w="12700">
            <a:solidFill>
              <a:srgbClr val="A93F63"/>
            </a:solidFill>
            <a:prstDash val="solid"/>
          </a:ln>
        </p:spPr>
      </p:sp>
      <p:sp>
        <p:nvSpPr>
          <p:cNvPr id="14" name="Text 12"/>
          <p:cNvSpPr/>
          <p:nvPr/>
        </p:nvSpPr>
        <p:spPr>
          <a:xfrm>
            <a:off x="621792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5" name="Text 13"/>
          <p:cNvSpPr/>
          <p:nvPr/>
        </p:nvSpPr>
        <p:spPr>
          <a:xfrm>
            <a:off x="621792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The offer</a:t>
            </a:r>
            <a:endParaRPr lang="en-US" sz="1900" dirty="0"/>
          </a:p>
        </p:txBody>
      </p:sp>
      <p:sp>
        <p:nvSpPr>
          <p:cNvPr id="16" name="Text 14"/>
          <p:cNvSpPr/>
          <p:nvPr/>
        </p:nvSpPr>
        <p:spPr>
          <a:xfrm>
            <a:off x="621792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What you do, what it costs, what happens when.</a:t>
            </a:r>
            <a:endParaRPr lang="en-US" sz="1300" dirty="0"/>
          </a:p>
        </p:txBody>
      </p:sp>
      <p:sp>
        <p:nvSpPr>
          <p:cNvPr id="17" name="Shape 15"/>
          <p:cNvSpPr/>
          <p:nvPr/>
        </p:nvSpPr>
        <p:spPr>
          <a:xfrm>
            <a:off x="8938260" y="2377440"/>
            <a:ext cx="566928" cy="566928"/>
          </a:xfrm>
          <a:prstGeom prst="ellipse">
            <a:avLst/>
          </a:prstGeom>
          <a:solidFill>
            <a:srgbClr val="A93F63"/>
          </a:solidFill>
          <a:ln w="12700">
            <a:solidFill>
              <a:srgbClr val="A93F63"/>
            </a:solidFill>
            <a:prstDash val="solid"/>
          </a:ln>
        </p:spPr>
      </p:sp>
      <p:sp>
        <p:nvSpPr>
          <p:cNvPr id="18" name="Text 16"/>
          <p:cNvSpPr/>
          <p:nvPr/>
        </p:nvSpPr>
        <p:spPr>
          <a:xfrm>
            <a:off x="893826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4</a:t>
            </a:r>
            <a:endParaRPr lang="en-US" sz="1500" dirty="0"/>
          </a:p>
        </p:txBody>
      </p:sp>
      <p:sp>
        <p:nvSpPr>
          <p:cNvPr id="19" name="Text 17"/>
          <p:cNvSpPr/>
          <p:nvPr/>
        </p:nvSpPr>
        <p:spPr>
          <a:xfrm>
            <a:off x="893826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The step</a:t>
            </a:r>
            <a:endParaRPr lang="en-US" sz="1900" dirty="0"/>
          </a:p>
        </p:txBody>
      </p:sp>
      <p:sp>
        <p:nvSpPr>
          <p:cNvPr id="20" name="Text 18"/>
          <p:cNvSpPr/>
          <p:nvPr/>
        </p:nvSpPr>
        <p:spPr>
          <a:xfrm>
            <a:off x="893826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One clear action. Not four options, one.</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49</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THREE THAT MATTER MOST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If you only fix three things.</a:t>
            </a:r>
            <a:endParaRPr lang="en-US" sz="3200" dirty="0"/>
          </a:p>
        </p:txBody>
      </p:sp>
      <p:sp>
        <p:nvSpPr>
          <p:cNvPr id="5" name="Shape 3"/>
          <p:cNvSpPr/>
          <p:nvPr/>
        </p:nvSpPr>
        <p:spPr>
          <a:xfrm>
            <a:off x="777240"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Shape 4"/>
          <p:cNvSpPr/>
          <p:nvPr/>
        </p:nvSpPr>
        <p:spPr>
          <a:xfrm>
            <a:off x="1124712" y="2624328"/>
            <a:ext cx="530352" cy="530352"/>
          </a:xfrm>
          <a:prstGeom prst="ellipse">
            <a:avLst/>
          </a:prstGeom>
          <a:solidFill>
            <a:srgbClr val="A93F63"/>
          </a:solidFill>
          <a:ln w="12700">
            <a:solidFill>
              <a:srgbClr val="A93F63"/>
            </a:solidFill>
            <a:prstDash val="solid"/>
          </a:ln>
        </p:spPr>
      </p:sp>
      <p:sp>
        <p:nvSpPr>
          <p:cNvPr id="7" name="Text 5"/>
          <p:cNvSpPr/>
          <p:nvPr/>
        </p:nvSpPr>
        <p:spPr>
          <a:xfrm>
            <a:off x="1124712"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124712"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headline</a:t>
            </a:r>
            <a:endParaRPr lang="en-US" sz="2000" dirty="0"/>
          </a:p>
        </p:txBody>
      </p:sp>
      <p:sp>
        <p:nvSpPr>
          <p:cNvPr id="9" name="Text 7"/>
          <p:cNvSpPr/>
          <p:nvPr/>
        </p:nvSpPr>
        <p:spPr>
          <a:xfrm>
            <a:off x="1124712"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Eighty percent of visitors read this and nothing else. It has to say the outcome, not your brand name.</a:t>
            </a:r>
            <a:endParaRPr lang="en-US" sz="1300" dirty="0"/>
          </a:p>
        </p:txBody>
      </p:sp>
      <p:sp>
        <p:nvSpPr>
          <p:cNvPr id="10" name="Shape 8"/>
          <p:cNvSpPr/>
          <p:nvPr/>
        </p:nvSpPr>
        <p:spPr>
          <a:xfrm>
            <a:off x="4416552"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1" name="Shape 9"/>
          <p:cNvSpPr/>
          <p:nvPr/>
        </p:nvSpPr>
        <p:spPr>
          <a:xfrm>
            <a:off x="4764024" y="2624328"/>
            <a:ext cx="530352" cy="530352"/>
          </a:xfrm>
          <a:prstGeom prst="ellipse">
            <a:avLst/>
          </a:prstGeom>
          <a:solidFill>
            <a:srgbClr val="A93F63"/>
          </a:solidFill>
          <a:ln w="12700">
            <a:solidFill>
              <a:srgbClr val="A93F63"/>
            </a:solidFill>
            <a:prstDash val="solid"/>
          </a:ln>
        </p:spPr>
      </p:sp>
      <p:sp>
        <p:nvSpPr>
          <p:cNvPr id="12" name="Text 10"/>
          <p:cNvSpPr/>
          <p:nvPr/>
        </p:nvSpPr>
        <p:spPr>
          <a:xfrm>
            <a:off x="4764024"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3" name="Text 11"/>
          <p:cNvSpPr/>
          <p:nvPr/>
        </p:nvSpPr>
        <p:spPr>
          <a:xfrm>
            <a:off x="4764024"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proof</a:t>
            </a:r>
            <a:endParaRPr lang="en-US" sz="2000" dirty="0"/>
          </a:p>
        </p:txBody>
      </p:sp>
      <p:sp>
        <p:nvSpPr>
          <p:cNvPr id="14" name="Text 12"/>
          <p:cNvSpPr/>
          <p:nvPr/>
        </p:nvSpPr>
        <p:spPr>
          <a:xfrm>
            <a:off x="4764024"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People believe other people. Screenshots, quotes, numbers, before and after.</a:t>
            </a:r>
            <a:endParaRPr lang="en-US" sz="1300" dirty="0"/>
          </a:p>
        </p:txBody>
      </p:sp>
      <p:sp>
        <p:nvSpPr>
          <p:cNvPr id="15" name="Shape 13"/>
          <p:cNvSpPr/>
          <p:nvPr/>
        </p:nvSpPr>
        <p:spPr>
          <a:xfrm>
            <a:off x="8055864"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6" name="Shape 14"/>
          <p:cNvSpPr/>
          <p:nvPr/>
        </p:nvSpPr>
        <p:spPr>
          <a:xfrm>
            <a:off x="8403336" y="2624328"/>
            <a:ext cx="530352" cy="530352"/>
          </a:xfrm>
          <a:prstGeom prst="ellipse">
            <a:avLst/>
          </a:prstGeom>
          <a:solidFill>
            <a:srgbClr val="A93F63"/>
          </a:solidFill>
          <a:ln w="12700">
            <a:solidFill>
              <a:srgbClr val="A93F63"/>
            </a:solidFill>
            <a:prstDash val="solid"/>
          </a:ln>
        </p:spPr>
      </p:sp>
      <p:sp>
        <p:nvSpPr>
          <p:cNvPr id="17" name="Text 15"/>
          <p:cNvSpPr/>
          <p:nvPr/>
        </p:nvSpPr>
        <p:spPr>
          <a:xfrm>
            <a:off x="8403336"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8" name="Text 16"/>
          <p:cNvSpPr/>
          <p:nvPr/>
        </p:nvSpPr>
        <p:spPr>
          <a:xfrm>
            <a:off x="8403336"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button</a:t>
            </a:r>
            <a:endParaRPr lang="en-US" sz="2000" dirty="0"/>
          </a:p>
        </p:txBody>
      </p:sp>
      <p:sp>
        <p:nvSpPr>
          <p:cNvPr id="19" name="Text 17"/>
          <p:cNvSpPr/>
          <p:nvPr/>
        </p:nvSpPr>
        <p:spPr>
          <a:xfrm>
            <a:off x="8403336"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Say what happens when they click. "Book your call" beats "Submit" every single time.</a:t>
            </a:r>
            <a:endParaRPr lang="en-US" sz="13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50</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WRITE THE HEADLINE LAST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Even though it goes first.</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You cannot write a good headline until you know what the page is arguing. Write the body, then come back up.</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The headline has one job: make the right person feel seen and keep reading. Not to be clever, not to be pretty.</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If it could sit on somebody else's site with the name swapped out, it is not finished yet.</a:t>
            </a:r>
            <a:endParaRPr lang="en-US" sz="15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51</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HEADLINE PATTERNS THAT WORK</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Steal these shapes, fill them with your own words.</a:t>
            </a:r>
            <a:endParaRPr lang="en-US" sz="3200" dirty="0"/>
          </a:p>
        </p:txBody>
      </p:sp>
      <p:sp>
        <p:nvSpPr>
          <p:cNvPr id="5" name="Text 3"/>
          <p:cNvSpPr/>
          <p:nvPr/>
        </p:nvSpPr>
        <p:spPr>
          <a:xfrm>
            <a:off x="822960" y="2331720"/>
            <a:ext cx="9875520" cy="3840480"/>
          </a:xfrm>
          <a:prstGeom prst="rect">
            <a:avLst/>
          </a:prstGeom>
          <a:noFill/>
          <a:ln/>
        </p:spPr>
        <p:txBody>
          <a:bodyPr wrap="square" lIns="0" tIns="0" rIns="0" bIns="0" rtlCol="0" anchor="ctr"/>
          <a:lstStyle/>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outcome plus the timeframe: "Your blog launched and selling in 21 days"</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objection answered: "You do not need more traffic. You need something to sell."</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before and after: "From a blog that made nothing to a business that pays for itself"</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named person: "For the woman who has bought three courses and still feels stuck"</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52</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WEAK VERSUS STRONG</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Same offer, two different results.</a:t>
            </a:r>
            <a:endParaRPr lang="en-US" sz="3200" dirty="0"/>
          </a:p>
        </p:txBody>
      </p:sp>
      <p:sp>
        <p:nvSpPr>
          <p:cNvPr id="5" name="Shape 3"/>
          <p:cNvSpPr/>
          <p:nvPr/>
        </p:nvSpPr>
        <p:spPr>
          <a:xfrm>
            <a:off x="777240" y="2194560"/>
            <a:ext cx="5120640" cy="3840480"/>
          </a:xfrm>
          <a:prstGeom prst="roundRect">
            <a:avLst>
              <a:gd name="adj" fmla="val 2857"/>
            </a:avLst>
          </a:prstGeom>
          <a:solidFill>
            <a:srgbClr val="FBF6EE"/>
          </a:solidFill>
          <a:ln w="9525">
            <a:solidFill>
              <a:srgbClr val="D8CCC0"/>
            </a:solidFill>
            <a:prstDash val="solid"/>
          </a:ln>
        </p:spPr>
      </p:sp>
      <p:sp>
        <p:nvSpPr>
          <p:cNvPr id="6" name="Text 4"/>
          <p:cNvSpPr/>
          <p:nvPr/>
        </p:nvSpPr>
        <p:spPr>
          <a:xfrm>
            <a:off x="11430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WEAK HEADLINES</a:t>
            </a:r>
            <a:endParaRPr lang="en-US" sz="1100" dirty="0"/>
          </a:p>
        </p:txBody>
      </p:sp>
      <p:sp>
        <p:nvSpPr>
          <p:cNvPr id="7" name="Text 5"/>
          <p:cNvSpPr/>
          <p:nvPr/>
        </p:nvSpPr>
        <p:spPr>
          <a:xfrm>
            <a:off x="11430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Welcome to my blog</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Helping women thrive online</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Services</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Let's work together</a:t>
            </a:r>
            <a:endParaRPr lang="en-US" sz="1300" dirty="0"/>
          </a:p>
        </p:txBody>
      </p:sp>
      <p:sp>
        <p:nvSpPr>
          <p:cNvPr id="8" name="Shape 6"/>
          <p:cNvSpPr/>
          <p:nvPr/>
        </p:nvSpPr>
        <p:spPr>
          <a:xfrm>
            <a:off x="6263640" y="2194560"/>
            <a:ext cx="5120640" cy="3840480"/>
          </a:xfrm>
          <a:prstGeom prst="roundRect">
            <a:avLst>
              <a:gd name="adj" fmla="val 2857"/>
            </a:avLst>
          </a:prstGeom>
          <a:solidFill>
            <a:srgbClr val="2E1F27"/>
          </a:solidFill>
          <a:ln w="9525">
            <a:solidFill>
              <a:srgbClr val="2E1F27"/>
            </a:solidFill>
            <a:prstDash val="solid"/>
          </a:ln>
          <a:effectLst>
            <a:outerShdw sx="100000" sy="100000" kx="0" ky="0" algn="bl" rotWithShape="0" blurRad="177800" dist="50800" dir="5400000">
              <a:srgbClr val="2E1F27">
                <a:alpha val="13000"/>
              </a:srgbClr>
            </a:outerShdw>
          </a:effectLst>
        </p:spPr>
      </p:sp>
      <p:sp>
        <p:nvSpPr>
          <p:cNvPr id="9" name="Text 7"/>
          <p:cNvSpPr/>
          <p:nvPr/>
        </p:nvSpPr>
        <p:spPr>
          <a:xfrm>
            <a:off x="66294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STRONG HEADLINES</a:t>
            </a:r>
            <a:endParaRPr lang="en-US" sz="1100" dirty="0"/>
          </a:p>
        </p:txBody>
      </p:sp>
      <p:sp>
        <p:nvSpPr>
          <p:cNvPr id="10" name="Text 8"/>
          <p:cNvSpPr/>
          <p:nvPr/>
        </p:nvSpPr>
        <p:spPr>
          <a:xfrm>
            <a:off x="66294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Your blog, built to sell, in 21 days</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You do not need more traffic</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Three ways to work with me</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Book the call, leave with a plan</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53</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READ IT OUT LOUD</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fastest copy test there is.</a:t>
            </a:r>
            <a:endParaRPr lang="en-US" sz="3200" dirty="0"/>
          </a:p>
        </p:txBody>
      </p:sp>
      <p:sp>
        <p:nvSpPr>
          <p:cNvPr id="5" name="Shape 3"/>
          <p:cNvSpPr/>
          <p:nvPr/>
        </p:nvSpPr>
        <p:spPr>
          <a:xfrm>
            <a:off x="777240" y="2194560"/>
            <a:ext cx="6576365" cy="3657600"/>
          </a:xfrm>
          <a:prstGeom prst="roundRect">
            <a:avLst>
              <a:gd name="adj" fmla="val 3000"/>
            </a:avLst>
          </a:prstGeom>
          <a:solidFill>
            <a:srgbClr val="F4EBDE"/>
          </a:solidFill>
          <a:ln w="9525">
            <a:solidFill>
              <a:srgbClr val="DCD2C7"/>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777240" y="3794760"/>
            <a:ext cx="6576365" cy="457200"/>
          </a:xfrm>
          <a:prstGeom prst="rect">
            <a:avLst/>
          </a:prstGeom>
          <a:noFill/>
          <a:ln/>
        </p:spPr>
        <p:txBody>
          <a:bodyPr wrap="square" lIns="0" tIns="0" rIns="0" bIns="0" rtlCol="0" anchor="ctr"/>
          <a:lstStyle/>
          <a:p>
            <a:pPr algn="ctr" indent="0" marL="0">
              <a:buNone/>
            </a:pPr>
            <a:r>
              <a:rPr lang="en-US" sz="1100" b="1" spc="300" kern="0" dirty="0">
                <a:solidFill>
                  <a:srgbClr val="B7A99F"/>
                </a:solidFill>
                <a:latin typeface="Karla" pitchFamily="34" charset="0"/>
                <a:ea typeface="Karla" pitchFamily="34" charset="-122"/>
                <a:cs typeface="Karla" pitchFamily="34" charset="-120"/>
              </a:rPr>
              <a:t>DROP YOUR SCREENSHOT HERE</a:t>
            </a:r>
            <a:endParaRPr lang="en-US" sz="1100" dirty="0"/>
          </a:p>
        </p:txBody>
      </p:sp>
      <p:sp>
        <p:nvSpPr>
          <p:cNvPr id="7" name="Text 5"/>
          <p:cNvSpPr/>
          <p:nvPr/>
        </p:nvSpPr>
        <p:spPr>
          <a:xfrm>
            <a:off x="7810805" y="2377440"/>
            <a:ext cx="3573475" cy="128016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If you would not say it, do not write it.</a:t>
            </a:r>
            <a:endParaRPr lang="en-US" sz="2000" dirty="0"/>
          </a:p>
        </p:txBody>
      </p:sp>
      <p:sp>
        <p:nvSpPr>
          <p:cNvPr id="8" name="Text 6"/>
          <p:cNvSpPr/>
          <p:nvPr/>
        </p:nvSpPr>
        <p:spPr>
          <a:xfrm>
            <a:off x="7810805" y="3703320"/>
            <a:ext cx="3573475" cy="201168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Read your homepage aloud. Anywhere you stumble, cringe, or sound like a brochure is a line to rewrite. Copy that sells sounds like a person who knows what she is talking about, not like a company trying to sound impressive.</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54</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WRITE TO ONE WOMAN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Not to an audience.</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Picture one specific person. Give her a name if it helps. Write the page as if she is the only one who will read it.</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Use the words she uses. If she says "I feel like I am shouting into the void," write that, not "audience engagement challenges."</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Everyone else who fits will recognize themselves in it. Writing for everybody is how you land on nobody.</a:t>
            </a:r>
            <a:endParaRPr lang="en-US" sz="1550" dirty="0"/>
          </a:p>
        </p:txBody>
      </p:sp>
      <p:sp>
        <p:nvSpPr>
          <p:cNvPr id="6" name="Text 4"/>
          <p:cNvSpPr/>
          <p:nvPr/>
        </p:nvSpPr>
        <p:spPr>
          <a:xfrm>
            <a:off x="777240" y="5806440"/>
            <a:ext cx="10607040" cy="457200"/>
          </a:xfrm>
          <a:prstGeom prst="rect">
            <a:avLst/>
          </a:prstGeom>
          <a:noFill/>
          <a:ln/>
        </p:spPr>
        <p:txBody>
          <a:bodyPr wrap="square" lIns="0" tIns="0" rIns="0" bIns="0" rtlCol="0" anchor="ctr"/>
          <a:lstStyle/>
          <a:p>
            <a:pPr algn="l" indent="0" marL="0">
              <a:buNone/>
            </a:pPr>
            <a:r>
              <a:rPr lang="en-US" sz="2200" dirty="0">
                <a:solidFill>
                  <a:srgbClr val="BC8A47"/>
                </a:solidFill>
                <a:latin typeface="Ephesis" pitchFamily="34" charset="0"/>
                <a:ea typeface="Ephesis" pitchFamily="34" charset="-122"/>
                <a:cs typeface="Ephesis" pitchFamily="34" charset="-120"/>
              </a:rPr>
              <a:t>specific is magnetic, general is invisible</a:t>
            </a:r>
            <a:endParaRPr lang="en-US" sz="22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55</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COPY RULES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habits that separate selling from describing.</a:t>
            </a:r>
            <a:endParaRPr lang="en-US" sz="3200" dirty="0"/>
          </a:p>
        </p:txBody>
      </p:sp>
      <p:sp>
        <p:nvSpPr>
          <p:cNvPr id="5" name="Shape 3"/>
          <p:cNvSpPr/>
          <p:nvPr/>
        </p:nvSpPr>
        <p:spPr>
          <a:xfrm>
            <a:off x="777240" y="2240280"/>
            <a:ext cx="5120640" cy="3291840"/>
          </a:xfrm>
          <a:prstGeom prst="roundRect">
            <a:avLst>
              <a:gd name="adj" fmla="val 3333"/>
            </a:avLst>
          </a:prstGeom>
          <a:solidFill>
            <a:srgbClr val="F0DCE2"/>
          </a:solidFill>
          <a:ln w="9525">
            <a:solidFill>
              <a:srgbClr val="E3C9D2"/>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143000" y="2587752"/>
            <a:ext cx="438912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DO THIS</a:t>
            </a:r>
            <a:endParaRPr lang="en-US" sz="1100" dirty="0"/>
          </a:p>
        </p:txBody>
      </p:sp>
      <p:sp>
        <p:nvSpPr>
          <p:cNvPr id="7" name="Text 5"/>
          <p:cNvSpPr/>
          <p:nvPr/>
        </p:nvSpPr>
        <p:spPr>
          <a:xfrm>
            <a:off x="1143000" y="3081528"/>
            <a:ext cx="4389120" cy="210312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Lead with the outcome</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Use her exact words</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Name the objection first</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One idea per paragraph</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Say what the button does</a:t>
            </a:r>
            <a:endParaRPr lang="en-US" sz="1300" dirty="0"/>
          </a:p>
        </p:txBody>
      </p:sp>
      <p:sp>
        <p:nvSpPr>
          <p:cNvPr id="8" name="Shape 6"/>
          <p:cNvSpPr/>
          <p:nvPr/>
        </p:nvSpPr>
        <p:spPr>
          <a:xfrm>
            <a:off x="6263640" y="2240280"/>
            <a:ext cx="5120640" cy="3291840"/>
          </a:xfrm>
          <a:prstGeom prst="roundRect">
            <a:avLst>
              <a:gd name="adj" fmla="val 3333"/>
            </a:avLst>
          </a:prstGeom>
          <a:solidFill>
            <a:srgbClr val="FBF6EE"/>
          </a:solidFill>
          <a:ln w="9525">
            <a:solidFill>
              <a:srgbClr val="D8CCC0"/>
            </a:solidFill>
            <a:prstDash val="solid"/>
          </a:ln>
        </p:spPr>
      </p:sp>
      <p:sp>
        <p:nvSpPr>
          <p:cNvPr id="9" name="Text 7"/>
          <p:cNvSpPr/>
          <p:nvPr/>
        </p:nvSpPr>
        <p:spPr>
          <a:xfrm>
            <a:off x="6629400" y="2587752"/>
            <a:ext cx="438912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NOT THIS</a:t>
            </a:r>
            <a:endParaRPr lang="en-US" sz="1100" dirty="0"/>
          </a:p>
        </p:txBody>
      </p:sp>
      <p:sp>
        <p:nvSpPr>
          <p:cNvPr id="10" name="Text 8"/>
          <p:cNvSpPr/>
          <p:nvPr/>
        </p:nvSpPr>
        <p:spPr>
          <a:xfrm>
            <a:off x="6629400" y="3081528"/>
            <a:ext cx="4389120" cy="210312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Lead with your credentials</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Use industry language</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Hope she does not notice</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Three ideas in one long block</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Label the button "Submit"</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56</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COPY AUDIT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Run every important page through this.</a:t>
            </a:r>
            <a:endParaRPr lang="en-US" sz="3200" dirty="0"/>
          </a:p>
        </p:txBody>
      </p:sp>
      <p:sp>
        <p:nvSpPr>
          <p:cNvPr id="5" name="Shape 3"/>
          <p:cNvSpPr/>
          <p:nvPr/>
        </p:nvSpPr>
        <p:spPr>
          <a:xfrm>
            <a:off x="777240" y="2377440"/>
            <a:ext cx="310896" cy="310896"/>
          </a:xfrm>
          <a:prstGeom prst="roundRect">
            <a:avLst>
              <a:gd name="adj" fmla="val 17647"/>
            </a:avLst>
          </a:prstGeom>
          <a:solidFill>
            <a:srgbClr val="FFFFFF"/>
          </a:solidFill>
          <a:ln w="15875">
            <a:solidFill>
              <a:srgbClr val="A93F63"/>
            </a:solidFill>
            <a:prstDash val="solid"/>
          </a:ln>
        </p:spPr>
      </p:sp>
      <p:sp>
        <p:nvSpPr>
          <p:cNvPr id="6" name="Text 4"/>
          <p:cNvSpPr/>
          <p:nvPr/>
        </p:nvSpPr>
        <p:spPr>
          <a:xfrm>
            <a:off x="1280160" y="234086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 headline names an outcome, not my brand</a:t>
            </a:r>
            <a:endParaRPr lang="en-US" sz="1400" dirty="0"/>
          </a:p>
        </p:txBody>
      </p:sp>
      <p:sp>
        <p:nvSpPr>
          <p:cNvPr id="7" name="Shape 5"/>
          <p:cNvSpPr/>
          <p:nvPr/>
        </p:nvSpPr>
        <p:spPr>
          <a:xfrm>
            <a:off x="777240" y="3108960"/>
            <a:ext cx="310896" cy="310896"/>
          </a:xfrm>
          <a:prstGeom prst="roundRect">
            <a:avLst>
              <a:gd name="adj" fmla="val 17647"/>
            </a:avLst>
          </a:prstGeom>
          <a:solidFill>
            <a:srgbClr val="FFFFFF"/>
          </a:solidFill>
          <a:ln w="15875">
            <a:solidFill>
              <a:srgbClr val="A93F63"/>
            </a:solidFill>
            <a:prstDash val="solid"/>
          </a:ln>
        </p:spPr>
      </p:sp>
      <p:sp>
        <p:nvSpPr>
          <p:cNvPr id="8" name="Text 6"/>
          <p:cNvSpPr/>
          <p:nvPr/>
        </p:nvSpPr>
        <p:spPr>
          <a:xfrm>
            <a:off x="1280160" y="307238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 first paragraph is about her, not about me</a:t>
            </a:r>
            <a:endParaRPr lang="en-US" sz="1400" dirty="0"/>
          </a:p>
        </p:txBody>
      </p:sp>
      <p:sp>
        <p:nvSpPr>
          <p:cNvPr id="9" name="Shape 7"/>
          <p:cNvSpPr/>
          <p:nvPr/>
        </p:nvSpPr>
        <p:spPr>
          <a:xfrm>
            <a:off x="777240" y="3840480"/>
            <a:ext cx="310896" cy="310896"/>
          </a:xfrm>
          <a:prstGeom prst="roundRect">
            <a:avLst>
              <a:gd name="adj" fmla="val 17647"/>
            </a:avLst>
          </a:prstGeom>
          <a:solidFill>
            <a:srgbClr val="FFFFFF"/>
          </a:solidFill>
          <a:ln w="15875">
            <a:solidFill>
              <a:srgbClr val="A93F63"/>
            </a:solidFill>
            <a:prstDash val="solid"/>
          </a:ln>
        </p:spPr>
      </p:sp>
      <p:sp>
        <p:nvSpPr>
          <p:cNvPr id="10" name="Text 8"/>
          <p:cNvSpPr/>
          <p:nvPr/>
        </p:nvSpPr>
        <p:spPr>
          <a:xfrm>
            <a:off x="1280160" y="380390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There is proof above the fold</a:t>
            </a:r>
            <a:endParaRPr lang="en-US" sz="1400" dirty="0"/>
          </a:p>
        </p:txBody>
      </p:sp>
      <p:sp>
        <p:nvSpPr>
          <p:cNvPr id="11" name="Shape 9"/>
          <p:cNvSpPr/>
          <p:nvPr/>
        </p:nvSpPr>
        <p:spPr>
          <a:xfrm>
            <a:off x="777240" y="4572000"/>
            <a:ext cx="310896" cy="310896"/>
          </a:xfrm>
          <a:prstGeom prst="roundRect">
            <a:avLst>
              <a:gd name="adj" fmla="val 17647"/>
            </a:avLst>
          </a:prstGeom>
          <a:solidFill>
            <a:srgbClr val="FFFFFF"/>
          </a:solidFill>
          <a:ln w="15875">
            <a:solidFill>
              <a:srgbClr val="A93F63"/>
            </a:solidFill>
            <a:prstDash val="solid"/>
          </a:ln>
        </p:spPr>
      </p:sp>
      <p:sp>
        <p:nvSpPr>
          <p:cNvPr id="12" name="Text 10"/>
          <p:cNvSpPr/>
          <p:nvPr/>
        </p:nvSpPr>
        <p:spPr>
          <a:xfrm>
            <a:off x="1280160" y="453542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 price is on the page</a:t>
            </a:r>
            <a:endParaRPr lang="en-US" sz="1400" dirty="0"/>
          </a:p>
        </p:txBody>
      </p:sp>
      <p:sp>
        <p:nvSpPr>
          <p:cNvPr id="13" name="Shape 11"/>
          <p:cNvSpPr/>
          <p:nvPr/>
        </p:nvSpPr>
        <p:spPr>
          <a:xfrm>
            <a:off x="777240" y="5303520"/>
            <a:ext cx="310896" cy="310896"/>
          </a:xfrm>
          <a:prstGeom prst="roundRect">
            <a:avLst>
              <a:gd name="adj" fmla="val 17647"/>
            </a:avLst>
          </a:prstGeom>
          <a:solidFill>
            <a:srgbClr val="FFFFFF"/>
          </a:solidFill>
          <a:ln w="15875">
            <a:solidFill>
              <a:srgbClr val="A93F63"/>
            </a:solidFill>
            <a:prstDash val="solid"/>
          </a:ln>
        </p:spPr>
      </p:sp>
      <p:sp>
        <p:nvSpPr>
          <p:cNvPr id="14" name="Text 12"/>
          <p:cNvSpPr/>
          <p:nvPr/>
        </p:nvSpPr>
        <p:spPr>
          <a:xfrm>
            <a:off x="1280160" y="526694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There is exactly one thing to do next</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57</a:t>
            </a:r>
            <a:endParaRPr lang="en-US" sz="1000" dirty="0"/>
          </a:p>
        </p:txBody>
      </p:sp>
      <p:sp>
        <p:nvSpPr>
          <p:cNvPr id="3" name="Text 1"/>
          <p:cNvSpPr/>
          <p:nvPr/>
        </p:nvSpPr>
        <p:spPr>
          <a:xfrm>
            <a:off x="1097280" y="1600200"/>
            <a:ext cx="9966960" cy="2011680"/>
          </a:xfrm>
          <a:prstGeom prst="rect">
            <a:avLst/>
          </a:prstGeom>
          <a:noFill/>
          <a:ln/>
        </p:spPr>
        <p:txBody>
          <a:bodyPr wrap="square" lIns="0" tIns="0" rIns="0" bIns="0" rtlCol="0" anchor="ctr"/>
          <a:lstStyle/>
          <a:p>
            <a:pPr algn="ctr" indent="0" marL="0">
              <a:buNone/>
            </a:pPr>
            <a:r>
              <a:rPr lang="en-US" sz="9600" i="1" dirty="0">
                <a:solidFill>
                  <a:srgbClr val="A93F63"/>
                </a:solidFill>
                <a:latin typeface="Fraunces" pitchFamily="34" charset="0"/>
                <a:ea typeface="Fraunces" pitchFamily="34" charset="-122"/>
                <a:cs typeface="Fraunces" pitchFamily="34" charset="-120"/>
              </a:rPr>
              <a:t>80%</a:t>
            </a:r>
            <a:endParaRPr lang="en-US" sz="9600" dirty="0"/>
          </a:p>
        </p:txBody>
      </p:sp>
      <p:sp>
        <p:nvSpPr>
          <p:cNvPr id="4" name="Text 2"/>
          <p:cNvSpPr/>
          <p:nvPr/>
        </p:nvSpPr>
        <p:spPr>
          <a:xfrm>
            <a:off x="1097280" y="3611880"/>
            <a:ext cx="9966960" cy="365760"/>
          </a:xfrm>
          <a:prstGeom prst="rect">
            <a:avLst/>
          </a:prstGeom>
          <a:noFill/>
          <a:ln/>
        </p:spPr>
        <p:txBody>
          <a:bodyPr wrap="square" lIns="0" tIns="0" rIns="0" bIns="0" rtlCol="0" anchor="ctr"/>
          <a:lstStyle/>
          <a:p>
            <a:pPr algn="ctr" indent="0" marL="0">
              <a:buNone/>
            </a:pPr>
            <a:r>
              <a:rPr lang="en-US" sz="1300" b="1" spc="400" kern="0" dirty="0">
                <a:solidFill>
                  <a:srgbClr val="7C2B48"/>
                </a:solidFill>
                <a:latin typeface="Karla" pitchFamily="34" charset="0"/>
                <a:ea typeface="Karla" pitchFamily="34" charset="-122"/>
                <a:cs typeface="Karla" pitchFamily="34" charset="-120"/>
              </a:rPr>
              <a:t>OF VISITORS READ THE HEADLINE AND NOTHING ELSE</a:t>
            </a:r>
            <a:endParaRPr lang="en-US" sz="1300" dirty="0"/>
          </a:p>
        </p:txBody>
      </p:sp>
      <p:sp>
        <p:nvSpPr>
          <p:cNvPr id="5" name="Text 3"/>
          <p:cNvSpPr/>
          <p:nvPr/>
        </p:nvSpPr>
        <p:spPr>
          <a:xfrm>
            <a:off x="2377440" y="4206240"/>
            <a:ext cx="7406640" cy="914400"/>
          </a:xfrm>
          <a:prstGeom prst="rect">
            <a:avLst/>
          </a:prstGeom>
          <a:noFill/>
          <a:ln/>
        </p:spPr>
        <p:txBody>
          <a:bodyPr wrap="square" lIns="0" tIns="0" rIns="0" bIns="0" rtlCol="0" anchor="ctr"/>
          <a:lstStyle/>
          <a:p>
            <a:pPr algn="ctr" indent="0" marL="0">
              <a:lnSpc>
                <a:spcPts val="2200"/>
              </a:lnSpc>
              <a:buNone/>
            </a:pPr>
            <a:r>
              <a:rPr lang="en-US" sz="1400" dirty="0">
                <a:solidFill>
                  <a:srgbClr val="6E5C63"/>
                </a:solidFill>
                <a:latin typeface="Karla" pitchFamily="34" charset="0"/>
                <a:ea typeface="Karla" pitchFamily="34" charset="-122"/>
                <a:cs typeface="Karla" pitchFamily="34" charset="-120"/>
              </a:rPr>
              <a:t>Which is why you write it last, and rewrite it more than anything else on the page.</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58</a:t>
            </a:r>
            <a:endParaRPr lang="en-US" sz="1000" dirty="0"/>
          </a:p>
        </p:txBody>
      </p:sp>
      <p:sp>
        <p:nvSpPr>
          <p:cNvPr id="3" name="Text 1"/>
          <p:cNvSpPr/>
          <p:nvPr/>
        </p:nvSpPr>
        <p:spPr>
          <a:xfrm>
            <a:off x="914400" y="914400"/>
            <a:ext cx="1371600" cy="1371600"/>
          </a:xfrm>
          <a:prstGeom prst="rect">
            <a:avLst/>
          </a:prstGeom>
          <a:noFill/>
          <a:ln/>
        </p:spPr>
        <p:txBody>
          <a:bodyPr wrap="square" lIns="0" tIns="0" rIns="0" bIns="0" rtlCol="0" anchor="ctr"/>
          <a:lstStyle/>
          <a:p>
            <a:pPr indent="0" marL="0">
              <a:buNone/>
            </a:pPr>
            <a:r>
              <a:rPr lang="en-US" sz="11000" i="1" dirty="0">
                <a:solidFill>
                  <a:srgbClr val="A93F63"/>
                </a:solidFill>
                <a:latin typeface="Fraunces" pitchFamily="34" charset="0"/>
                <a:ea typeface="Fraunces" pitchFamily="34" charset="-122"/>
                <a:cs typeface="Fraunces" pitchFamily="34" charset="-120"/>
              </a:rPr>
              <a:t>“</a:t>
            </a:r>
            <a:endParaRPr lang="en-US" sz="11000" dirty="0"/>
          </a:p>
        </p:txBody>
      </p:sp>
      <p:sp>
        <p:nvSpPr>
          <p:cNvPr id="4" name="Text 2"/>
          <p:cNvSpPr/>
          <p:nvPr/>
        </p:nvSpPr>
        <p:spPr>
          <a:xfrm>
            <a:off x="1691640" y="1965960"/>
            <a:ext cx="8778240" cy="2377440"/>
          </a:xfrm>
          <a:prstGeom prst="rect">
            <a:avLst/>
          </a:prstGeom>
          <a:noFill/>
          <a:ln/>
        </p:spPr>
        <p:txBody>
          <a:bodyPr wrap="square" lIns="0" tIns="0" rIns="0" bIns="0" rtlCol="0" anchor="ctr"/>
          <a:lstStyle/>
          <a:p>
            <a:pPr algn="ctr" indent="0" marL="0">
              <a:lnSpc>
                <a:spcPts val="3800"/>
              </a:lnSpc>
              <a:buNone/>
            </a:pPr>
            <a:r>
              <a:rPr lang="en-US" sz="3000" i="1" dirty="0">
                <a:solidFill>
                  <a:srgbClr val="2E1F27"/>
                </a:solidFill>
                <a:latin typeface="Fraunces" pitchFamily="34" charset="0"/>
                <a:ea typeface="Fraunces" pitchFamily="34" charset="-122"/>
                <a:cs typeface="Fraunces" pitchFamily="34" charset="-120"/>
              </a:rPr>
              <a:t>If it could sit on somebody else's website with the name swapped out, it is not finished yet.</a:t>
            </a:r>
            <a:endParaRPr lang="en-US" sz="3000" dirty="0"/>
          </a:p>
        </p:txBody>
      </p:sp>
      <p:sp>
        <p:nvSpPr>
          <p:cNvPr id="5" name="Text 3"/>
          <p:cNvSpPr/>
          <p:nvPr/>
        </p:nvSpPr>
        <p:spPr>
          <a:xfrm>
            <a:off x="2377440" y="4572000"/>
            <a:ext cx="7406640" cy="365760"/>
          </a:xfrm>
          <a:prstGeom prst="rect">
            <a:avLst/>
          </a:prstGeom>
          <a:noFill/>
          <a:ln/>
        </p:spPr>
        <p:txBody>
          <a:bodyPr wrap="square" lIns="0" tIns="0" rIns="0" bIns="0" rtlCol="0" anchor="ctr"/>
          <a:lstStyle/>
          <a:p>
            <a:pPr algn="ctr" indent="0" marL="0">
              <a:buNone/>
            </a:pPr>
            <a:r>
              <a:rPr lang="en-US" sz="1100" b="1" spc="400" kern="0" dirty="0">
                <a:solidFill>
                  <a:srgbClr val="7C2B48"/>
                </a:solidFill>
                <a:latin typeface="Karla" pitchFamily="34" charset="0"/>
                <a:ea typeface="Karla" pitchFamily="34" charset="-122"/>
                <a:cs typeface="Karla" pitchFamily="34" charset="-120"/>
              </a:rPr>
              <a:t>THE COPY TEST</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59</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YOUR TURN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Write three headlines.</a:t>
            </a:r>
            <a:endParaRPr lang="en-US" sz="3200" dirty="0"/>
          </a:p>
        </p:txBody>
      </p:sp>
      <p:sp>
        <p:nvSpPr>
          <p:cNvPr id="5" name="Shape 3"/>
          <p:cNvSpPr/>
          <p:nvPr/>
        </p:nvSpPr>
        <p:spPr>
          <a:xfrm>
            <a:off x="777240" y="2148840"/>
            <a:ext cx="10607040" cy="3703320"/>
          </a:xfrm>
          <a:prstGeom prst="roundRect">
            <a:avLst>
              <a:gd name="adj" fmla="val 2963"/>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234440" y="2487168"/>
            <a:ext cx="9692640" cy="731520"/>
          </a:xfrm>
          <a:prstGeom prst="rect">
            <a:avLst/>
          </a:prstGeom>
          <a:noFill/>
          <a:ln/>
        </p:spPr>
        <p:txBody>
          <a:bodyPr wrap="square" lIns="0" tIns="0" rIns="0" bIns="0" rtlCol="0" anchor="ctr"/>
          <a:lstStyle/>
          <a:p>
            <a:pPr indent="0" marL="0">
              <a:lnSpc>
                <a:spcPts val="2400"/>
              </a:lnSpc>
              <a:buNone/>
            </a:pPr>
            <a:r>
              <a:rPr lang="en-US" sz="2000" i="1" dirty="0">
                <a:solidFill>
                  <a:srgbClr val="A93F63"/>
                </a:solidFill>
                <a:latin typeface="Fraunces" pitchFamily="34" charset="0"/>
                <a:ea typeface="Fraunces" pitchFamily="34" charset="-122"/>
                <a:cs typeface="Fraunces" pitchFamily="34" charset="-120"/>
              </a:rPr>
              <a:t>Use three different patterns from this module. Bad ones count. You are looking for the one that makes you slightly nervous.</a:t>
            </a:r>
            <a:endParaRPr lang="en-US" sz="2000" dirty="0"/>
          </a:p>
        </p:txBody>
      </p:sp>
      <p:sp>
        <p:nvSpPr>
          <p:cNvPr id="7" name="Shape 5"/>
          <p:cNvSpPr/>
          <p:nvPr/>
        </p:nvSpPr>
        <p:spPr>
          <a:xfrm>
            <a:off x="1234440" y="3429000"/>
            <a:ext cx="9692640" cy="0"/>
          </a:xfrm>
          <a:prstGeom prst="line">
            <a:avLst/>
          </a:prstGeom>
          <a:noFill/>
          <a:ln w="12700">
            <a:solidFill>
              <a:srgbClr val="DCD2C7"/>
            </a:solidFill>
            <a:prstDash val="dash"/>
          </a:ln>
        </p:spPr>
      </p:sp>
      <p:sp>
        <p:nvSpPr>
          <p:cNvPr id="8" name="Shape 6"/>
          <p:cNvSpPr/>
          <p:nvPr/>
        </p:nvSpPr>
        <p:spPr>
          <a:xfrm>
            <a:off x="1234440" y="3995928"/>
            <a:ext cx="9692640" cy="0"/>
          </a:xfrm>
          <a:prstGeom prst="line">
            <a:avLst/>
          </a:prstGeom>
          <a:noFill/>
          <a:ln w="12700">
            <a:solidFill>
              <a:srgbClr val="DCD2C7"/>
            </a:solidFill>
            <a:prstDash val="dash"/>
          </a:ln>
        </p:spPr>
      </p:sp>
      <p:sp>
        <p:nvSpPr>
          <p:cNvPr id="9" name="Shape 7"/>
          <p:cNvSpPr/>
          <p:nvPr/>
        </p:nvSpPr>
        <p:spPr>
          <a:xfrm>
            <a:off x="1234440" y="4562856"/>
            <a:ext cx="9692640" cy="0"/>
          </a:xfrm>
          <a:prstGeom prst="line">
            <a:avLst/>
          </a:prstGeom>
          <a:noFill/>
          <a:ln w="12700">
            <a:solidFill>
              <a:srgbClr val="DCD2C7"/>
            </a:solidFill>
            <a:prstDash val="dash"/>
          </a:ln>
        </p:spPr>
      </p:sp>
      <p:sp>
        <p:nvSpPr>
          <p:cNvPr id="10" name="Shape 8"/>
          <p:cNvSpPr/>
          <p:nvPr/>
        </p:nvSpPr>
        <p:spPr>
          <a:xfrm>
            <a:off x="1234440" y="5129784"/>
            <a:ext cx="9692640" cy="0"/>
          </a:xfrm>
          <a:prstGeom prst="line">
            <a:avLst/>
          </a:prstGeom>
          <a:noFill/>
          <a:ln w="12700">
            <a:solidFill>
              <a:srgbClr val="DCD2C7"/>
            </a:solidFill>
            <a:prstDash val="dash"/>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60</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BUTTON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smallest copy on the page, and the most skipped.</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A button should describe what happens next, in the reader's own voice. "Book my free call" beats "Contact us."</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One primary button per page section. If everything is a call to action, nothing is.</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And repeat it. A long page needs the same button three or four times, because people decide at different moments.</a:t>
            </a:r>
            <a:endParaRPr lang="en-US" sz="15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61</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MODULE THREE</a:t>
            </a:r>
            <a:endParaRPr lang="en-US" sz="1100" dirty="0"/>
          </a:p>
        </p:txBody>
      </p:sp>
      <p:sp>
        <p:nvSpPr>
          <p:cNvPr id="4" name="Text 2"/>
          <p:cNvSpPr/>
          <p:nvPr/>
        </p:nvSpPr>
        <p:spPr>
          <a:xfrm>
            <a:off x="777240" y="932688"/>
            <a:ext cx="106070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Shape 3"/>
          <p:cNvSpPr/>
          <p:nvPr/>
        </p:nvSpPr>
        <p:spPr>
          <a:xfrm>
            <a:off x="777240" y="2423160"/>
            <a:ext cx="457200" cy="457200"/>
          </a:xfrm>
          <a:prstGeom prst="ellipse">
            <a:avLst/>
          </a:prstGeom>
          <a:solidFill>
            <a:srgbClr val="A93F63"/>
          </a:solidFill>
          <a:ln w="12700">
            <a:solidFill>
              <a:srgbClr val="A93F63"/>
            </a:solidFill>
            <a:prstDash val="solid"/>
          </a:ln>
        </p:spPr>
      </p:sp>
      <p:sp>
        <p:nvSpPr>
          <p:cNvPr id="6" name="Text 4"/>
          <p:cNvSpPr/>
          <p:nvPr/>
        </p:nvSpPr>
        <p:spPr>
          <a:xfrm>
            <a:off x="777240" y="24231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7" name="Text 5"/>
          <p:cNvSpPr/>
          <p:nvPr/>
        </p:nvSpPr>
        <p:spPr>
          <a:xfrm>
            <a:off x="1463040" y="240487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Content earns trust. Copy collects on it.</a:t>
            </a:r>
            <a:endParaRPr lang="en-US" sz="1450" dirty="0"/>
          </a:p>
        </p:txBody>
      </p:sp>
      <p:sp>
        <p:nvSpPr>
          <p:cNvPr id="8" name="Shape 6"/>
          <p:cNvSpPr/>
          <p:nvPr/>
        </p:nvSpPr>
        <p:spPr>
          <a:xfrm>
            <a:off x="777240" y="3291840"/>
            <a:ext cx="457200" cy="457200"/>
          </a:xfrm>
          <a:prstGeom prst="ellipse">
            <a:avLst/>
          </a:prstGeom>
          <a:solidFill>
            <a:srgbClr val="A93F63"/>
          </a:solidFill>
          <a:ln w="12700">
            <a:solidFill>
              <a:srgbClr val="A93F63"/>
            </a:solidFill>
            <a:prstDash val="solid"/>
          </a:ln>
        </p:spPr>
      </p:sp>
      <p:sp>
        <p:nvSpPr>
          <p:cNvPr id="9" name="Text 7"/>
          <p:cNvSpPr/>
          <p:nvPr/>
        </p:nvSpPr>
        <p:spPr>
          <a:xfrm>
            <a:off x="777240" y="32918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0" name="Text 8"/>
          <p:cNvSpPr/>
          <p:nvPr/>
        </p:nvSpPr>
        <p:spPr>
          <a:xfrm>
            <a:off x="1463040" y="327355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Hook, proof, offer, step. That order, every page.</a:t>
            </a:r>
            <a:endParaRPr lang="en-US" sz="1450" dirty="0"/>
          </a:p>
        </p:txBody>
      </p:sp>
      <p:sp>
        <p:nvSpPr>
          <p:cNvPr id="11" name="Shape 9"/>
          <p:cNvSpPr/>
          <p:nvPr/>
        </p:nvSpPr>
        <p:spPr>
          <a:xfrm>
            <a:off x="777240" y="4160520"/>
            <a:ext cx="457200" cy="457200"/>
          </a:xfrm>
          <a:prstGeom prst="ellipse">
            <a:avLst/>
          </a:prstGeom>
          <a:solidFill>
            <a:srgbClr val="A93F63"/>
          </a:solidFill>
          <a:ln w="12700">
            <a:solidFill>
              <a:srgbClr val="A93F63"/>
            </a:solidFill>
            <a:prstDash val="solid"/>
          </a:ln>
        </p:spPr>
      </p:sp>
      <p:sp>
        <p:nvSpPr>
          <p:cNvPr id="12" name="Text 10"/>
          <p:cNvSpPr/>
          <p:nvPr/>
        </p:nvSpPr>
        <p:spPr>
          <a:xfrm>
            <a:off x="777240" y="4160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3" name="Text 11"/>
          <p:cNvSpPr/>
          <p:nvPr/>
        </p:nvSpPr>
        <p:spPr>
          <a:xfrm>
            <a:off x="1463040" y="414223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Write to one woman in her own words.</a:t>
            </a:r>
            <a:endParaRPr lang="en-US" sz="1450" dirty="0"/>
          </a:p>
        </p:txBody>
      </p:sp>
      <p:sp>
        <p:nvSpPr>
          <p:cNvPr id="14" name="Shape 12"/>
          <p:cNvSpPr/>
          <p:nvPr/>
        </p:nvSpPr>
        <p:spPr>
          <a:xfrm>
            <a:off x="777240" y="5029200"/>
            <a:ext cx="457200" cy="457200"/>
          </a:xfrm>
          <a:prstGeom prst="ellipse">
            <a:avLst/>
          </a:prstGeom>
          <a:solidFill>
            <a:srgbClr val="A93F63"/>
          </a:solidFill>
          <a:ln w="12700">
            <a:solidFill>
              <a:srgbClr val="A93F63"/>
            </a:solidFill>
            <a:prstDash val="solid"/>
          </a:ln>
        </p:spPr>
      </p:sp>
      <p:sp>
        <p:nvSpPr>
          <p:cNvPr id="15" name="Text 13"/>
          <p:cNvSpPr/>
          <p:nvPr/>
        </p:nvSpPr>
        <p:spPr>
          <a:xfrm>
            <a:off x="777240" y="50292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16" name="Text 14"/>
          <p:cNvSpPr/>
          <p:nvPr/>
        </p:nvSpPr>
        <p:spPr>
          <a:xfrm>
            <a:off x="1463040" y="501091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Say what the button does. Then say it again lower down.</a:t>
            </a:r>
            <a:endParaRPr lang="en-US" sz="14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62</a:t>
            </a:r>
            <a:endParaRPr lang="en-US" sz="1000" dirty="0"/>
          </a:p>
        </p:txBody>
      </p:sp>
      <p:sp>
        <p:nvSpPr>
          <p:cNvPr id="3" name="Text 1"/>
          <p:cNvSpPr/>
          <p:nvPr/>
        </p:nvSpPr>
        <p:spPr>
          <a:xfrm>
            <a:off x="1371600" y="2377440"/>
            <a:ext cx="9418320" cy="1280160"/>
          </a:xfrm>
          <a:prstGeom prst="rect">
            <a:avLst/>
          </a:prstGeom>
          <a:noFill/>
          <a:ln/>
        </p:spPr>
        <p:txBody>
          <a:bodyPr wrap="square" lIns="0" tIns="0" rIns="0" bIns="0" rtlCol="0" anchor="ctr"/>
          <a:lstStyle/>
          <a:p>
            <a:pPr algn="ctr" indent="0" marL="0">
              <a:buNone/>
            </a:pPr>
            <a:r>
              <a:rPr lang="en-US" sz="5400" dirty="0">
                <a:solidFill>
                  <a:srgbClr val="A93F63"/>
                </a:solidFill>
                <a:latin typeface="Ephesis" pitchFamily="34" charset="0"/>
                <a:ea typeface="Ephesis" pitchFamily="34" charset="-122"/>
                <a:cs typeface="Ephesis" pitchFamily="34" charset="-120"/>
              </a:rPr>
              <a:t>halfway, and the hard part is done</a:t>
            </a:r>
            <a:endParaRPr lang="en-US" sz="5400" dirty="0"/>
          </a:p>
        </p:txBody>
      </p:sp>
      <p:sp>
        <p:nvSpPr>
          <p:cNvPr id="4" name="Text 2"/>
          <p:cNvSpPr/>
          <p:nvPr/>
        </p:nvSpPr>
        <p:spPr>
          <a:xfrm>
            <a:off x="2286000" y="3794760"/>
            <a:ext cx="7589520" cy="548640"/>
          </a:xfrm>
          <a:prstGeom prst="rect">
            <a:avLst/>
          </a:prstGeom>
          <a:noFill/>
          <a:ln/>
        </p:spPr>
        <p:txBody>
          <a:bodyPr wrap="square" lIns="0" tIns="0" rIns="0" bIns="0" rtlCol="0" anchor="ctr"/>
          <a:lstStyle/>
          <a:p>
            <a:pPr algn="ctr" indent="0" marL="0">
              <a:buNone/>
            </a:pPr>
            <a:r>
              <a:rPr lang="en-US" sz="1300" spc="200" kern="0" dirty="0">
                <a:solidFill>
                  <a:srgbClr val="6E5C63"/>
                </a:solidFill>
                <a:latin typeface="Karla" pitchFamily="34" charset="0"/>
                <a:ea typeface="Karla" pitchFamily="34" charset="-122"/>
                <a:cs typeface="Karla" pitchFamily="34" charset="-120"/>
              </a:rPr>
              <a:t>MODULE FOUR: DESIGN</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63</a:t>
            </a:r>
            <a:endParaRPr lang="en-US" sz="1000" dirty="0"/>
          </a:p>
        </p:txBody>
      </p:sp>
      <p:sp>
        <p:nvSpPr>
          <p:cNvPr id="3" name="Shape 1"/>
          <p:cNvSpPr/>
          <p:nvPr/>
        </p:nvSpPr>
        <p:spPr>
          <a:xfrm>
            <a:off x="9509760" y="4389120"/>
            <a:ext cx="4206240" cy="4206240"/>
          </a:xfrm>
          <a:prstGeom prst="ellipse">
            <a:avLst/>
          </a:prstGeom>
          <a:solidFill>
            <a:srgbClr val="A93F63">
              <a:alpha val="26000"/>
            </a:srgbClr>
          </a:solidFill>
          <a:ln w="12700">
            <a:solidFill>
              <a:srgbClr val="333333"/>
            </a:solidFill>
            <a:prstDash val="solid"/>
          </a:ln>
        </p:spPr>
      </p:sp>
      <p:sp>
        <p:nvSpPr>
          <p:cNvPr id="4" name="Text 2"/>
          <p:cNvSpPr/>
          <p:nvPr/>
        </p:nvSpPr>
        <p:spPr>
          <a:xfrm>
            <a:off x="777240" y="914400"/>
            <a:ext cx="3657600" cy="2194560"/>
          </a:xfrm>
          <a:prstGeom prst="rect">
            <a:avLst/>
          </a:prstGeom>
          <a:noFill/>
          <a:ln/>
        </p:spPr>
        <p:txBody>
          <a:bodyPr wrap="square" lIns="0" tIns="0" rIns="0" bIns="0" rtlCol="0" anchor="ctr"/>
          <a:lstStyle/>
          <a:p>
            <a:pPr indent="0" marL="0">
              <a:buNone/>
            </a:pPr>
            <a:r>
              <a:rPr lang="en-US" sz="9600" i="1" dirty="0">
                <a:solidFill>
                  <a:srgbClr val="A93F63"/>
                </a:solidFill>
                <a:latin typeface="Fraunces" pitchFamily="34" charset="0"/>
                <a:ea typeface="Fraunces" pitchFamily="34" charset="-122"/>
                <a:cs typeface="Fraunces" pitchFamily="34" charset="-120"/>
              </a:rPr>
              <a:t>04</a:t>
            </a:r>
            <a:endParaRPr lang="en-US" sz="9600" dirty="0"/>
          </a:p>
        </p:txBody>
      </p:sp>
      <p:sp>
        <p:nvSpPr>
          <p:cNvPr id="5" name="Text 3"/>
          <p:cNvSpPr/>
          <p:nvPr/>
        </p:nvSpPr>
        <p:spPr>
          <a:xfrm>
            <a:off x="777240" y="3017520"/>
            <a:ext cx="8229600" cy="1371600"/>
          </a:xfrm>
          <a:prstGeom prst="rect">
            <a:avLst/>
          </a:prstGeom>
          <a:noFill/>
          <a:ln/>
        </p:spPr>
        <p:txBody>
          <a:bodyPr wrap="square" lIns="0" tIns="0" rIns="0" bIns="0" rtlCol="0" anchor="ctr"/>
          <a:lstStyle/>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Design built</a:t>
            </a:r>
            <a:endParaRPr lang="en-US" sz="4000" dirty="0"/>
          </a:p>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around the offer</a:t>
            </a:r>
            <a:endParaRPr lang="en-US" sz="4000" dirty="0"/>
          </a:p>
        </p:txBody>
      </p:sp>
      <p:sp>
        <p:nvSpPr>
          <p:cNvPr id="6" name="Text 4"/>
          <p:cNvSpPr/>
          <p:nvPr/>
        </p:nvSpPr>
        <p:spPr>
          <a:xfrm>
            <a:off x="777240" y="4434840"/>
            <a:ext cx="7863840" cy="502920"/>
          </a:xfrm>
          <a:prstGeom prst="rect">
            <a:avLst/>
          </a:prstGeom>
          <a:noFill/>
          <a:ln/>
        </p:spPr>
        <p:txBody>
          <a:bodyPr wrap="square" lIns="0" tIns="0" rIns="0" bIns="0" rtlCol="0" anchor="ctr"/>
          <a:lstStyle/>
          <a:p>
            <a:pPr indent="0" marL="0">
              <a:buNone/>
            </a:pPr>
            <a:r>
              <a:rPr lang="en-US" sz="2400" dirty="0">
                <a:solidFill>
                  <a:srgbClr val="BC8A47"/>
                </a:solidFill>
                <a:latin typeface="Ephesis" pitchFamily="34" charset="0"/>
                <a:ea typeface="Ephesis" pitchFamily="34" charset="-122"/>
                <a:cs typeface="Ephesis" pitchFamily="34" charset="-120"/>
              </a:rPr>
              <a:t>now, and only now, we make it pretty</a:t>
            </a:r>
            <a:endParaRPr lang="en-US" sz="2400" dirty="0"/>
          </a:p>
        </p:txBody>
      </p:sp>
      <p:sp>
        <p:nvSpPr>
          <p:cNvPr id="7" name="Text 5"/>
          <p:cNvSpPr/>
          <p:nvPr/>
        </p:nvSpPr>
        <p:spPr>
          <a:xfrm>
            <a:off x="777240" y="5029200"/>
            <a:ext cx="786384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Building the page in the order a buyer reads</a:t>
            </a:r>
            <a:endParaRPr lang="en-US" sz="1300" dirty="0"/>
          </a:p>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The brand basics that do the heavy lifting</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64</a:t>
            </a:r>
            <a:endParaRPr lang="en-US" sz="1000" dirty="0"/>
          </a:p>
        </p:txBody>
      </p:sp>
      <p:sp>
        <p:nvSpPr>
          <p:cNvPr id="3" name="Text 1"/>
          <p:cNvSpPr/>
          <p:nvPr/>
        </p:nvSpPr>
        <p:spPr>
          <a:xfrm>
            <a:off x="1188720" y="1920240"/>
            <a:ext cx="9784080" cy="2377440"/>
          </a:xfrm>
          <a:prstGeom prst="rect">
            <a:avLst/>
          </a:prstGeom>
          <a:noFill/>
          <a:ln/>
        </p:spPr>
        <p:txBody>
          <a:bodyPr wrap="square" lIns="0" tIns="0" rIns="0" bIns="0" rtlCol="0" anchor="ctr"/>
          <a:lstStyle/>
          <a:p>
            <a:pPr algn="ctr" indent="0" marL="0">
              <a:lnSpc>
                <a:spcPts val="5000"/>
              </a:lnSpc>
              <a:buNone/>
            </a:pPr>
            <a:r>
              <a:rPr lang="en-US" sz="4400" dirty="0">
                <a:solidFill>
                  <a:srgbClr val="2E1F27"/>
                </a:solidFill>
                <a:latin typeface="Fraunces" pitchFamily="34" charset="0"/>
                <a:ea typeface="Fraunces" pitchFamily="34" charset="-122"/>
                <a:cs typeface="Fraunces" pitchFamily="34" charset="-120"/>
              </a:rPr>
              <a:t>Your website is a </a:t>
            </a:r>
            <a:pPr algn="ctr" indent="0" marL="0">
              <a:lnSpc>
                <a:spcPts val="5000"/>
              </a:lnSpc>
              <a:buNone/>
            </a:pPr>
            <a:r>
              <a:rPr lang="en-US" sz="4400" i="1" dirty="0">
                <a:solidFill>
                  <a:srgbClr val="A93F63"/>
                </a:solidFill>
                <a:latin typeface="Fraunces" pitchFamily="34" charset="0"/>
                <a:ea typeface="Fraunces" pitchFamily="34" charset="-122"/>
                <a:cs typeface="Fraunces" pitchFamily="34" charset="-120"/>
              </a:rPr>
              <a:t>salesperson.</a:t>
            </a:r>
            <a:endParaRPr lang="en-US" sz="4400" dirty="0"/>
          </a:p>
        </p:txBody>
      </p:sp>
      <p:sp>
        <p:nvSpPr>
          <p:cNvPr id="4" name="Text 2"/>
          <p:cNvSpPr/>
          <p:nvPr/>
        </p:nvSpPr>
        <p:spPr>
          <a:xfrm>
            <a:off x="2011680" y="4480560"/>
            <a:ext cx="8138160" cy="548640"/>
          </a:xfrm>
          <a:prstGeom prst="rect">
            <a:avLst/>
          </a:prstGeom>
          <a:noFill/>
          <a:ln/>
        </p:spPr>
        <p:txBody>
          <a:bodyPr wrap="square" lIns="0" tIns="0" rIns="0" bIns="0" rtlCol="0" anchor="ctr"/>
          <a:lstStyle/>
          <a:p>
            <a:pPr algn="ctr" indent="0" marL="0">
              <a:buNone/>
            </a:pPr>
            <a:r>
              <a:rPr lang="en-US" sz="1400" dirty="0">
                <a:solidFill>
                  <a:srgbClr val="6E5C63"/>
                </a:solidFill>
                <a:latin typeface="Karla" pitchFamily="34" charset="0"/>
                <a:ea typeface="Karla" pitchFamily="34" charset="-122"/>
                <a:cs typeface="Karla" pitchFamily="34" charset="-120"/>
              </a:rPr>
              <a:t>Design is how you dress her. It is not what she says.</a:t>
            </a:r>
            <a:endParaRPr lang="en-US" sz="1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65</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DESIGN SERVES THE OFFER</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Not the other way around.</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By now you know what you sell, who it is for, and what the page needs to say. Only now does the design have anything to serve.</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This is why templates disappoint people. A template is a set of decisions made by someone who has never met your offer.</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The layout should come from the argument the page is making. Every section earns its place by moving her one step closer to yes.</a:t>
            </a:r>
            <a:endParaRPr lang="en-US" sz="15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66</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BUILD IN READING ORDER</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order a buyer actually goes through.</a:t>
            </a:r>
            <a:endParaRPr lang="en-US" sz="3200" dirty="0"/>
          </a:p>
        </p:txBody>
      </p:sp>
      <p:sp>
        <p:nvSpPr>
          <p:cNvPr id="5" name="Shape 3"/>
          <p:cNvSpPr/>
          <p:nvPr/>
        </p:nvSpPr>
        <p:spPr>
          <a:xfrm>
            <a:off x="777240" y="2377440"/>
            <a:ext cx="566928" cy="566928"/>
          </a:xfrm>
          <a:prstGeom prst="ellipse">
            <a:avLst/>
          </a:prstGeom>
          <a:solidFill>
            <a:srgbClr val="A93F63"/>
          </a:solidFill>
          <a:ln w="12700">
            <a:solidFill>
              <a:srgbClr val="A93F63"/>
            </a:solidFill>
            <a:prstDash val="solid"/>
          </a:ln>
        </p:spPr>
      </p:sp>
      <p:sp>
        <p:nvSpPr>
          <p:cNvPr id="6" name="Text 4"/>
          <p:cNvSpPr/>
          <p:nvPr/>
        </p:nvSpPr>
        <p:spPr>
          <a:xfrm>
            <a:off x="77724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7" name="Text 5"/>
          <p:cNvSpPr/>
          <p:nvPr/>
        </p:nvSpPr>
        <p:spPr>
          <a:xfrm>
            <a:off x="77724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Who and what</a:t>
            </a:r>
            <a:endParaRPr lang="en-US" sz="1900" dirty="0"/>
          </a:p>
        </p:txBody>
      </p:sp>
      <p:sp>
        <p:nvSpPr>
          <p:cNvPr id="8" name="Text 6"/>
          <p:cNvSpPr/>
          <p:nvPr/>
        </p:nvSpPr>
        <p:spPr>
          <a:xfrm>
            <a:off x="77724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Above the fold: who it is for, what she gets, one button.</a:t>
            </a:r>
            <a:endParaRPr lang="en-US" sz="1300" dirty="0"/>
          </a:p>
        </p:txBody>
      </p:sp>
      <p:sp>
        <p:nvSpPr>
          <p:cNvPr id="9" name="Shape 7"/>
          <p:cNvSpPr/>
          <p:nvPr/>
        </p:nvSpPr>
        <p:spPr>
          <a:xfrm>
            <a:off x="3497580" y="2377440"/>
            <a:ext cx="566928" cy="566928"/>
          </a:xfrm>
          <a:prstGeom prst="ellipse">
            <a:avLst/>
          </a:prstGeom>
          <a:solidFill>
            <a:srgbClr val="A93F63"/>
          </a:solidFill>
          <a:ln w="12700">
            <a:solidFill>
              <a:srgbClr val="A93F63"/>
            </a:solidFill>
            <a:prstDash val="solid"/>
          </a:ln>
        </p:spPr>
      </p:sp>
      <p:sp>
        <p:nvSpPr>
          <p:cNvPr id="10" name="Text 8"/>
          <p:cNvSpPr/>
          <p:nvPr/>
        </p:nvSpPr>
        <p:spPr>
          <a:xfrm>
            <a:off x="349758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1" name="Text 9"/>
          <p:cNvSpPr/>
          <p:nvPr/>
        </p:nvSpPr>
        <p:spPr>
          <a:xfrm>
            <a:off x="349758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Why you</a:t>
            </a:r>
            <a:endParaRPr lang="en-US" sz="1900" dirty="0"/>
          </a:p>
        </p:txBody>
      </p:sp>
      <p:sp>
        <p:nvSpPr>
          <p:cNvPr id="12" name="Text 10"/>
          <p:cNvSpPr/>
          <p:nvPr/>
        </p:nvSpPr>
        <p:spPr>
          <a:xfrm>
            <a:off x="349758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Proof. Results, testimonials, the work itself, your story if it earns its place.</a:t>
            </a:r>
            <a:endParaRPr lang="en-US" sz="1300" dirty="0"/>
          </a:p>
        </p:txBody>
      </p:sp>
      <p:sp>
        <p:nvSpPr>
          <p:cNvPr id="13" name="Shape 11"/>
          <p:cNvSpPr/>
          <p:nvPr/>
        </p:nvSpPr>
        <p:spPr>
          <a:xfrm>
            <a:off x="6217920" y="2377440"/>
            <a:ext cx="566928" cy="566928"/>
          </a:xfrm>
          <a:prstGeom prst="ellipse">
            <a:avLst/>
          </a:prstGeom>
          <a:solidFill>
            <a:srgbClr val="A93F63"/>
          </a:solidFill>
          <a:ln w="12700">
            <a:solidFill>
              <a:srgbClr val="A93F63"/>
            </a:solidFill>
            <a:prstDash val="solid"/>
          </a:ln>
        </p:spPr>
      </p:sp>
      <p:sp>
        <p:nvSpPr>
          <p:cNvPr id="14" name="Text 12"/>
          <p:cNvSpPr/>
          <p:nvPr/>
        </p:nvSpPr>
        <p:spPr>
          <a:xfrm>
            <a:off x="621792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5" name="Text 13"/>
          <p:cNvSpPr/>
          <p:nvPr/>
        </p:nvSpPr>
        <p:spPr>
          <a:xfrm>
            <a:off x="621792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What it is</a:t>
            </a:r>
            <a:endParaRPr lang="en-US" sz="1900" dirty="0"/>
          </a:p>
        </p:txBody>
      </p:sp>
      <p:sp>
        <p:nvSpPr>
          <p:cNvPr id="16" name="Text 14"/>
          <p:cNvSpPr/>
          <p:nvPr/>
        </p:nvSpPr>
        <p:spPr>
          <a:xfrm>
            <a:off x="621792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offer in detail. What is included, what it costs, what happens when.</a:t>
            </a:r>
            <a:endParaRPr lang="en-US" sz="1300" dirty="0"/>
          </a:p>
        </p:txBody>
      </p:sp>
      <p:sp>
        <p:nvSpPr>
          <p:cNvPr id="17" name="Shape 15"/>
          <p:cNvSpPr/>
          <p:nvPr/>
        </p:nvSpPr>
        <p:spPr>
          <a:xfrm>
            <a:off x="8938260" y="2377440"/>
            <a:ext cx="566928" cy="566928"/>
          </a:xfrm>
          <a:prstGeom prst="ellipse">
            <a:avLst/>
          </a:prstGeom>
          <a:solidFill>
            <a:srgbClr val="A93F63"/>
          </a:solidFill>
          <a:ln w="12700">
            <a:solidFill>
              <a:srgbClr val="A93F63"/>
            </a:solidFill>
            <a:prstDash val="solid"/>
          </a:ln>
        </p:spPr>
      </p:sp>
      <p:sp>
        <p:nvSpPr>
          <p:cNvPr id="18" name="Text 16"/>
          <p:cNvSpPr/>
          <p:nvPr/>
        </p:nvSpPr>
        <p:spPr>
          <a:xfrm>
            <a:off x="893826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4</a:t>
            </a:r>
            <a:endParaRPr lang="en-US" sz="1500" dirty="0"/>
          </a:p>
        </p:txBody>
      </p:sp>
      <p:sp>
        <p:nvSpPr>
          <p:cNvPr id="19" name="Text 17"/>
          <p:cNvSpPr/>
          <p:nvPr/>
        </p:nvSpPr>
        <p:spPr>
          <a:xfrm>
            <a:off x="893826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What now</a:t>
            </a:r>
            <a:endParaRPr lang="en-US" sz="1900" dirty="0"/>
          </a:p>
        </p:txBody>
      </p:sp>
      <p:sp>
        <p:nvSpPr>
          <p:cNvPr id="20" name="Text 18"/>
          <p:cNvSpPr/>
          <p:nvPr/>
        </p:nvSpPr>
        <p:spPr>
          <a:xfrm>
            <a:off x="893826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clear next step, and the answers to whatever is still stopping her.</a:t>
            </a:r>
            <a:endParaRPr lang="en-US" sz="13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67</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THREE SECTIONS THAT DO MOST OF THE WORK</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Get these right and the rest is decoration.</a:t>
            </a:r>
            <a:endParaRPr lang="en-US" sz="3200" dirty="0"/>
          </a:p>
        </p:txBody>
      </p:sp>
      <p:sp>
        <p:nvSpPr>
          <p:cNvPr id="5" name="Shape 3"/>
          <p:cNvSpPr/>
          <p:nvPr/>
        </p:nvSpPr>
        <p:spPr>
          <a:xfrm>
            <a:off x="777240"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Shape 4"/>
          <p:cNvSpPr/>
          <p:nvPr/>
        </p:nvSpPr>
        <p:spPr>
          <a:xfrm>
            <a:off x="1124712" y="2624328"/>
            <a:ext cx="530352" cy="530352"/>
          </a:xfrm>
          <a:prstGeom prst="ellipse">
            <a:avLst/>
          </a:prstGeom>
          <a:solidFill>
            <a:srgbClr val="A93F63"/>
          </a:solidFill>
          <a:ln w="12700">
            <a:solidFill>
              <a:srgbClr val="A93F63"/>
            </a:solidFill>
            <a:prstDash val="solid"/>
          </a:ln>
        </p:spPr>
      </p:sp>
      <p:sp>
        <p:nvSpPr>
          <p:cNvPr id="7" name="Text 5"/>
          <p:cNvSpPr/>
          <p:nvPr/>
        </p:nvSpPr>
        <p:spPr>
          <a:xfrm>
            <a:off x="1124712"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124712"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hero</a:t>
            </a:r>
            <a:endParaRPr lang="en-US" sz="2000" dirty="0"/>
          </a:p>
        </p:txBody>
      </p:sp>
      <p:sp>
        <p:nvSpPr>
          <p:cNvPr id="9" name="Text 7"/>
          <p:cNvSpPr/>
          <p:nvPr/>
        </p:nvSpPr>
        <p:spPr>
          <a:xfrm>
            <a:off x="1124712"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Three seconds to answer who you are for and what you do. Most sites waste it on a greeting.</a:t>
            </a:r>
            <a:endParaRPr lang="en-US" sz="1300" dirty="0"/>
          </a:p>
        </p:txBody>
      </p:sp>
      <p:sp>
        <p:nvSpPr>
          <p:cNvPr id="10" name="Shape 8"/>
          <p:cNvSpPr/>
          <p:nvPr/>
        </p:nvSpPr>
        <p:spPr>
          <a:xfrm>
            <a:off x="4416552"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1" name="Shape 9"/>
          <p:cNvSpPr/>
          <p:nvPr/>
        </p:nvSpPr>
        <p:spPr>
          <a:xfrm>
            <a:off x="4764024" y="2624328"/>
            <a:ext cx="530352" cy="530352"/>
          </a:xfrm>
          <a:prstGeom prst="ellipse">
            <a:avLst/>
          </a:prstGeom>
          <a:solidFill>
            <a:srgbClr val="A93F63"/>
          </a:solidFill>
          <a:ln w="12700">
            <a:solidFill>
              <a:srgbClr val="A93F63"/>
            </a:solidFill>
            <a:prstDash val="solid"/>
          </a:ln>
        </p:spPr>
      </p:sp>
      <p:sp>
        <p:nvSpPr>
          <p:cNvPr id="12" name="Text 10"/>
          <p:cNvSpPr/>
          <p:nvPr/>
        </p:nvSpPr>
        <p:spPr>
          <a:xfrm>
            <a:off x="4764024"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3" name="Text 11"/>
          <p:cNvSpPr/>
          <p:nvPr/>
        </p:nvSpPr>
        <p:spPr>
          <a:xfrm>
            <a:off x="4764024"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proof band</a:t>
            </a:r>
            <a:endParaRPr lang="en-US" sz="2000" dirty="0"/>
          </a:p>
        </p:txBody>
      </p:sp>
      <p:sp>
        <p:nvSpPr>
          <p:cNvPr id="14" name="Text 12"/>
          <p:cNvSpPr/>
          <p:nvPr/>
        </p:nvSpPr>
        <p:spPr>
          <a:xfrm>
            <a:off x="4764024"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Faces, quotes, and numbers. This is where believing happens.</a:t>
            </a:r>
            <a:endParaRPr lang="en-US" sz="1300" dirty="0"/>
          </a:p>
        </p:txBody>
      </p:sp>
      <p:sp>
        <p:nvSpPr>
          <p:cNvPr id="15" name="Shape 13"/>
          <p:cNvSpPr/>
          <p:nvPr/>
        </p:nvSpPr>
        <p:spPr>
          <a:xfrm>
            <a:off x="8055864"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6" name="Shape 14"/>
          <p:cNvSpPr/>
          <p:nvPr/>
        </p:nvSpPr>
        <p:spPr>
          <a:xfrm>
            <a:off x="8403336" y="2624328"/>
            <a:ext cx="530352" cy="530352"/>
          </a:xfrm>
          <a:prstGeom prst="ellipse">
            <a:avLst/>
          </a:prstGeom>
          <a:solidFill>
            <a:srgbClr val="A93F63"/>
          </a:solidFill>
          <a:ln w="12700">
            <a:solidFill>
              <a:srgbClr val="A93F63"/>
            </a:solidFill>
            <a:prstDash val="solid"/>
          </a:ln>
        </p:spPr>
      </p:sp>
      <p:sp>
        <p:nvSpPr>
          <p:cNvPr id="17" name="Text 15"/>
          <p:cNvSpPr/>
          <p:nvPr/>
        </p:nvSpPr>
        <p:spPr>
          <a:xfrm>
            <a:off x="8403336"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8" name="Text 16"/>
          <p:cNvSpPr/>
          <p:nvPr/>
        </p:nvSpPr>
        <p:spPr>
          <a:xfrm>
            <a:off x="8403336"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The offer block</a:t>
            </a:r>
            <a:endParaRPr lang="en-US" sz="2000" dirty="0"/>
          </a:p>
        </p:txBody>
      </p:sp>
      <p:sp>
        <p:nvSpPr>
          <p:cNvPr id="19" name="Text 17"/>
          <p:cNvSpPr/>
          <p:nvPr/>
        </p:nvSpPr>
        <p:spPr>
          <a:xfrm>
            <a:off x="8403336"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Price, inclusions, and the button. Do not make her hunt for what it costs.</a:t>
            </a:r>
            <a:endParaRPr lang="en-US" sz="13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68</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WHAT THE HERO NEEDS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Five things, above the fold, every time.</a:t>
            </a:r>
            <a:endParaRPr lang="en-US" sz="3200" dirty="0"/>
          </a:p>
        </p:txBody>
      </p:sp>
      <p:sp>
        <p:nvSpPr>
          <p:cNvPr id="5" name="Text 3"/>
          <p:cNvSpPr/>
          <p:nvPr/>
        </p:nvSpPr>
        <p:spPr>
          <a:xfrm>
            <a:off x="822960" y="2331720"/>
            <a:ext cx="9875520" cy="3840480"/>
          </a:xfrm>
          <a:prstGeom prst="rect">
            <a:avLst/>
          </a:prstGeom>
          <a:noFill/>
          <a:ln/>
        </p:spPr>
        <p:txBody>
          <a:bodyPr wrap="square" lIns="0" tIns="0" rIns="0" bIns="0" rtlCol="0" anchor="ctr"/>
          <a:lstStyle/>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A headline that names the outcome</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One line of support that says who it is for</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A photo of you, or of the work, so it feels like a person</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One button, saying what happens when she clicks it</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A quiet piece of proof: a number, a logo row, a one-line quote</a:t>
            </a:r>
            <a:endParaRPr lang="en-US" sz="15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69</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PRETTY VERSUS CONVERTING</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A site can be both. Most are only one.</a:t>
            </a:r>
            <a:endParaRPr lang="en-US" sz="3200" dirty="0"/>
          </a:p>
        </p:txBody>
      </p:sp>
      <p:sp>
        <p:nvSpPr>
          <p:cNvPr id="5" name="Shape 3"/>
          <p:cNvSpPr/>
          <p:nvPr/>
        </p:nvSpPr>
        <p:spPr>
          <a:xfrm>
            <a:off x="777240" y="2194560"/>
            <a:ext cx="5120640" cy="3840480"/>
          </a:xfrm>
          <a:prstGeom prst="roundRect">
            <a:avLst>
              <a:gd name="adj" fmla="val 2857"/>
            </a:avLst>
          </a:prstGeom>
          <a:solidFill>
            <a:srgbClr val="FBF6EE"/>
          </a:solidFill>
          <a:ln w="9525">
            <a:solidFill>
              <a:srgbClr val="D8CCC0"/>
            </a:solidFill>
            <a:prstDash val="solid"/>
          </a:ln>
        </p:spPr>
      </p:sp>
      <p:sp>
        <p:nvSpPr>
          <p:cNvPr id="6" name="Text 4"/>
          <p:cNvSpPr/>
          <p:nvPr/>
        </p:nvSpPr>
        <p:spPr>
          <a:xfrm>
            <a:off x="11430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PRETTY BUT SILENT</a:t>
            </a:r>
            <a:endParaRPr lang="en-US" sz="1100" dirty="0"/>
          </a:p>
        </p:txBody>
      </p:sp>
      <p:sp>
        <p:nvSpPr>
          <p:cNvPr id="7" name="Text 5"/>
          <p:cNvSpPr/>
          <p:nvPr/>
        </p:nvSpPr>
        <p:spPr>
          <a:xfrm>
            <a:off x="11430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A greeting as the headline</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Beautiful photos, no clear offer</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The price hidden or absent</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Five equally weighted buttons</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A menu with nine items</a:t>
            </a:r>
            <a:endParaRPr lang="en-US" sz="1300" dirty="0"/>
          </a:p>
        </p:txBody>
      </p:sp>
      <p:sp>
        <p:nvSpPr>
          <p:cNvPr id="8" name="Shape 6"/>
          <p:cNvSpPr/>
          <p:nvPr/>
        </p:nvSpPr>
        <p:spPr>
          <a:xfrm>
            <a:off x="6263640" y="2194560"/>
            <a:ext cx="5120640" cy="3840480"/>
          </a:xfrm>
          <a:prstGeom prst="roundRect">
            <a:avLst>
              <a:gd name="adj" fmla="val 2857"/>
            </a:avLst>
          </a:prstGeom>
          <a:solidFill>
            <a:srgbClr val="2E1F27"/>
          </a:solidFill>
          <a:ln w="9525">
            <a:solidFill>
              <a:srgbClr val="2E1F27"/>
            </a:solidFill>
            <a:prstDash val="solid"/>
          </a:ln>
          <a:effectLst>
            <a:outerShdw sx="100000" sy="100000" kx="0" ky="0" algn="bl" rotWithShape="0" blurRad="177800" dist="50800" dir="5400000">
              <a:srgbClr val="2E1F27">
                <a:alpha val="13000"/>
              </a:srgbClr>
            </a:outerShdw>
          </a:effectLst>
        </p:spPr>
      </p:sp>
      <p:sp>
        <p:nvSpPr>
          <p:cNvPr id="9" name="Text 7"/>
          <p:cNvSpPr/>
          <p:nvPr/>
        </p:nvSpPr>
        <p:spPr>
          <a:xfrm>
            <a:off x="66294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PRETTY AND SELLING</a:t>
            </a:r>
            <a:endParaRPr lang="en-US" sz="1100" dirty="0"/>
          </a:p>
        </p:txBody>
      </p:sp>
      <p:sp>
        <p:nvSpPr>
          <p:cNvPr id="10" name="Text 8"/>
          <p:cNvSpPr/>
          <p:nvPr/>
        </p:nvSpPr>
        <p:spPr>
          <a:xfrm>
            <a:off x="66294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The outcome as the headline</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Photos that support the offer</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Price on the page</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One primary button per section</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A menu that guides, not lists</a:t>
            </a:r>
            <a:endParaRPr lang="en-US" sz="13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70</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ABOVE THE FOLD</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three second test.</a:t>
            </a:r>
            <a:endParaRPr lang="en-US" sz="3200" dirty="0"/>
          </a:p>
        </p:txBody>
      </p:sp>
      <p:sp>
        <p:nvSpPr>
          <p:cNvPr id="5" name="Shape 3"/>
          <p:cNvSpPr/>
          <p:nvPr/>
        </p:nvSpPr>
        <p:spPr>
          <a:xfrm>
            <a:off x="777240" y="2194560"/>
            <a:ext cx="6576365" cy="3657600"/>
          </a:xfrm>
          <a:prstGeom prst="roundRect">
            <a:avLst>
              <a:gd name="adj" fmla="val 3000"/>
            </a:avLst>
          </a:prstGeom>
          <a:solidFill>
            <a:srgbClr val="F4EBDE"/>
          </a:solidFill>
          <a:ln w="9525">
            <a:solidFill>
              <a:srgbClr val="DCD2C7"/>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777240" y="3794760"/>
            <a:ext cx="6576365" cy="457200"/>
          </a:xfrm>
          <a:prstGeom prst="rect">
            <a:avLst/>
          </a:prstGeom>
          <a:noFill/>
          <a:ln/>
        </p:spPr>
        <p:txBody>
          <a:bodyPr wrap="square" lIns="0" tIns="0" rIns="0" bIns="0" rtlCol="0" anchor="ctr"/>
          <a:lstStyle/>
          <a:p>
            <a:pPr algn="ctr" indent="0" marL="0">
              <a:buNone/>
            </a:pPr>
            <a:r>
              <a:rPr lang="en-US" sz="1100" b="1" spc="300" kern="0" dirty="0">
                <a:solidFill>
                  <a:srgbClr val="B7A99F"/>
                </a:solidFill>
                <a:latin typeface="Karla" pitchFamily="34" charset="0"/>
                <a:ea typeface="Karla" pitchFamily="34" charset="-122"/>
                <a:cs typeface="Karla" pitchFamily="34" charset="-120"/>
              </a:rPr>
              <a:t>DROP YOUR SCREENSHOT HERE</a:t>
            </a:r>
            <a:endParaRPr lang="en-US" sz="1100" dirty="0"/>
          </a:p>
        </p:txBody>
      </p:sp>
      <p:sp>
        <p:nvSpPr>
          <p:cNvPr id="7" name="Text 5"/>
          <p:cNvSpPr/>
          <p:nvPr/>
        </p:nvSpPr>
        <p:spPr>
          <a:xfrm>
            <a:off x="7810805" y="2377440"/>
            <a:ext cx="3573475" cy="128016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Show it to someone for three seconds, then hide it.</a:t>
            </a:r>
            <a:endParaRPr lang="en-US" sz="2000" dirty="0"/>
          </a:p>
        </p:txBody>
      </p:sp>
      <p:sp>
        <p:nvSpPr>
          <p:cNvPr id="8" name="Text 6"/>
          <p:cNvSpPr/>
          <p:nvPr/>
        </p:nvSpPr>
        <p:spPr>
          <a:xfrm>
            <a:off x="7810805" y="3703320"/>
            <a:ext cx="3573475" cy="201168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Ask them: who is this for, and what does she sell? If they cannot answer both, the hero is not doing its job. This test is brutal, free, and worth more than any redesign you can buy.</a:t>
            </a:r>
            <a:endParaRPr lang="en-US" sz="13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71</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VISUAL HIERARCHY</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Teaching the eye where to go.</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Size, weight, color, and space tell the reader what matters in what order. If everything is emphasized, nothing is.</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One dominant headline per section. One primary button. One accent color doing the pointing.</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And give things room. Crowded pages feel cheap because crowding is what you do when you are not sure what to cut.</a:t>
            </a:r>
            <a:endParaRPr lang="en-US" sz="15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72</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BRAND BASICS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Three decisions carry almost all of the look.</a:t>
            </a:r>
            <a:endParaRPr lang="en-US" sz="3200" dirty="0"/>
          </a:p>
        </p:txBody>
      </p:sp>
      <p:sp>
        <p:nvSpPr>
          <p:cNvPr id="5" name="Shape 3"/>
          <p:cNvSpPr/>
          <p:nvPr/>
        </p:nvSpPr>
        <p:spPr>
          <a:xfrm>
            <a:off x="777240"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Shape 4"/>
          <p:cNvSpPr/>
          <p:nvPr/>
        </p:nvSpPr>
        <p:spPr>
          <a:xfrm>
            <a:off x="1124712" y="2624328"/>
            <a:ext cx="530352" cy="530352"/>
          </a:xfrm>
          <a:prstGeom prst="ellipse">
            <a:avLst/>
          </a:prstGeom>
          <a:solidFill>
            <a:srgbClr val="A93F63"/>
          </a:solidFill>
          <a:ln w="12700">
            <a:solidFill>
              <a:srgbClr val="A93F63"/>
            </a:solidFill>
            <a:prstDash val="solid"/>
          </a:ln>
        </p:spPr>
      </p:sp>
      <p:sp>
        <p:nvSpPr>
          <p:cNvPr id="7" name="Text 5"/>
          <p:cNvSpPr/>
          <p:nvPr/>
        </p:nvSpPr>
        <p:spPr>
          <a:xfrm>
            <a:off x="1124712"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124712"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Color</a:t>
            </a:r>
            <a:endParaRPr lang="en-US" sz="2000" dirty="0"/>
          </a:p>
        </p:txBody>
      </p:sp>
      <p:sp>
        <p:nvSpPr>
          <p:cNvPr id="9" name="Text 7"/>
          <p:cNvSpPr/>
          <p:nvPr/>
        </p:nvSpPr>
        <p:spPr>
          <a:xfrm>
            <a:off x="1124712"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One background, one text color, one action color. The action color appears only on things you want clicked.</a:t>
            </a:r>
            <a:endParaRPr lang="en-US" sz="1300" dirty="0"/>
          </a:p>
        </p:txBody>
      </p:sp>
      <p:sp>
        <p:nvSpPr>
          <p:cNvPr id="10" name="Shape 8"/>
          <p:cNvSpPr/>
          <p:nvPr/>
        </p:nvSpPr>
        <p:spPr>
          <a:xfrm>
            <a:off x="4416552"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1" name="Shape 9"/>
          <p:cNvSpPr/>
          <p:nvPr/>
        </p:nvSpPr>
        <p:spPr>
          <a:xfrm>
            <a:off x="4764024" y="2624328"/>
            <a:ext cx="530352" cy="530352"/>
          </a:xfrm>
          <a:prstGeom prst="ellipse">
            <a:avLst/>
          </a:prstGeom>
          <a:solidFill>
            <a:srgbClr val="A93F63"/>
          </a:solidFill>
          <a:ln w="12700">
            <a:solidFill>
              <a:srgbClr val="A93F63"/>
            </a:solidFill>
            <a:prstDash val="solid"/>
          </a:ln>
        </p:spPr>
      </p:sp>
      <p:sp>
        <p:nvSpPr>
          <p:cNvPr id="12" name="Text 10"/>
          <p:cNvSpPr/>
          <p:nvPr/>
        </p:nvSpPr>
        <p:spPr>
          <a:xfrm>
            <a:off x="4764024"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3" name="Text 11"/>
          <p:cNvSpPr/>
          <p:nvPr/>
        </p:nvSpPr>
        <p:spPr>
          <a:xfrm>
            <a:off x="4764024"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Type</a:t>
            </a:r>
            <a:endParaRPr lang="en-US" sz="2000" dirty="0"/>
          </a:p>
        </p:txBody>
      </p:sp>
      <p:sp>
        <p:nvSpPr>
          <p:cNvPr id="14" name="Text 12"/>
          <p:cNvSpPr/>
          <p:nvPr/>
        </p:nvSpPr>
        <p:spPr>
          <a:xfrm>
            <a:off x="4764024"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One display font for headlines, one workhorse for everything else. A script if the brand wants warmth.</a:t>
            </a:r>
            <a:endParaRPr lang="en-US" sz="1300" dirty="0"/>
          </a:p>
        </p:txBody>
      </p:sp>
      <p:sp>
        <p:nvSpPr>
          <p:cNvPr id="15" name="Shape 13"/>
          <p:cNvSpPr/>
          <p:nvPr/>
        </p:nvSpPr>
        <p:spPr>
          <a:xfrm>
            <a:off x="8055864"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6" name="Shape 14"/>
          <p:cNvSpPr/>
          <p:nvPr/>
        </p:nvSpPr>
        <p:spPr>
          <a:xfrm>
            <a:off x="8403336" y="2624328"/>
            <a:ext cx="530352" cy="530352"/>
          </a:xfrm>
          <a:prstGeom prst="ellipse">
            <a:avLst/>
          </a:prstGeom>
          <a:solidFill>
            <a:srgbClr val="A93F63"/>
          </a:solidFill>
          <a:ln w="12700">
            <a:solidFill>
              <a:srgbClr val="A93F63"/>
            </a:solidFill>
            <a:prstDash val="solid"/>
          </a:ln>
        </p:spPr>
      </p:sp>
      <p:sp>
        <p:nvSpPr>
          <p:cNvPr id="17" name="Text 15"/>
          <p:cNvSpPr/>
          <p:nvPr/>
        </p:nvSpPr>
        <p:spPr>
          <a:xfrm>
            <a:off x="8403336"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8" name="Text 16"/>
          <p:cNvSpPr/>
          <p:nvPr/>
        </p:nvSpPr>
        <p:spPr>
          <a:xfrm>
            <a:off x="8403336"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Photos</a:t>
            </a:r>
            <a:endParaRPr lang="en-US" sz="2000" dirty="0"/>
          </a:p>
        </p:txBody>
      </p:sp>
      <p:sp>
        <p:nvSpPr>
          <p:cNvPr id="19" name="Text 17"/>
          <p:cNvSpPr/>
          <p:nvPr/>
        </p:nvSpPr>
        <p:spPr>
          <a:xfrm>
            <a:off x="8403336"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Consistent light and tone. Five great on-brand photos beat fifty that do not match.</a:t>
            </a:r>
            <a:endParaRPr lang="en-US" sz="13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73</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TWO WAYS TO GET THE LOOK</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Both are legitimate. Pick with your eyes open.</a:t>
            </a:r>
            <a:endParaRPr lang="en-US" sz="3200" dirty="0"/>
          </a:p>
        </p:txBody>
      </p:sp>
      <p:sp>
        <p:nvSpPr>
          <p:cNvPr id="5" name="Shape 3"/>
          <p:cNvSpPr/>
          <p:nvPr/>
        </p:nvSpPr>
        <p:spPr>
          <a:xfrm>
            <a:off x="777240" y="2240280"/>
            <a:ext cx="5120640" cy="3794760"/>
          </a:xfrm>
          <a:prstGeom prst="roundRect">
            <a:avLst>
              <a:gd name="adj" fmla="val 2892"/>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161288" y="2624328"/>
            <a:ext cx="4352544"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START FROM A TEMPLATE</a:t>
            </a:r>
            <a:endParaRPr lang="en-US" sz="1100" dirty="0"/>
          </a:p>
        </p:txBody>
      </p:sp>
      <p:sp>
        <p:nvSpPr>
          <p:cNvPr id="7" name="Text 5"/>
          <p:cNvSpPr/>
          <p:nvPr/>
        </p:nvSpPr>
        <p:spPr>
          <a:xfrm>
            <a:off x="1161288" y="3108960"/>
            <a:ext cx="4352544" cy="914400"/>
          </a:xfrm>
          <a:prstGeom prst="rect">
            <a:avLst/>
          </a:prstGeom>
          <a:noFill/>
          <a:ln/>
        </p:spPr>
        <p:txBody>
          <a:bodyPr wrap="square" lIns="0" tIns="0" rIns="0" bIns="0" rtlCol="0" anchor="ctr"/>
          <a:lstStyle/>
          <a:p>
            <a:pPr indent="0" marL="0">
              <a:lnSpc>
                <a:spcPts val="2700"/>
              </a:lnSpc>
              <a:buNone/>
            </a:pPr>
            <a:r>
              <a:rPr lang="en-US" sz="2300" dirty="0">
                <a:solidFill>
                  <a:srgbClr val="2E1F27"/>
                </a:solidFill>
                <a:latin typeface="Fraunces" pitchFamily="34" charset="0"/>
                <a:ea typeface="Fraunces" pitchFamily="34" charset="-122"/>
                <a:cs typeface="Fraunces" pitchFamily="34" charset="-120"/>
              </a:rPr>
              <a:t>Faster and cheaper</a:t>
            </a:r>
            <a:endParaRPr lang="en-US" sz="2300" dirty="0"/>
          </a:p>
        </p:txBody>
      </p:sp>
      <p:sp>
        <p:nvSpPr>
          <p:cNvPr id="8" name="Text 6"/>
          <p:cNvSpPr/>
          <p:nvPr/>
        </p:nvSpPr>
        <p:spPr>
          <a:xfrm>
            <a:off x="1161288" y="4251960"/>
            <a:ext cx="4352544" cy="1554480"/>
          </a:xfrm>
          <a:prstGeom prst="rect">
            <a:avLst/>
          </a:prstGeom>
          <a:noFill/>
          <a:ln/>
        </p:spPr>
        <p:txBody>
          <a:bodyPr wrap="square" lIns="0" tIns="0" rIns="0" bIns="0" rtlCol="0" anchor="ctr"/>
          <a:lstStyle/>
          <a:p>
            <a:pPr indent="0" marL="0">
              <a:lnSpc>
                <a:spcPts val="2100"/>
              </a:lnSpc>
              <a:buNone/>
            </a:pPr>
            <a:r>
              <a:rPr lang="en-US" sz="1350" dirty="0">
                <a:solidFill>
                  <a:srgbClr val="6E5C63"/>
                </a:solidFill>
                <a:latin typeface="Karla" pitchFamily="34" charset="0"/>
                <a:ea typeface="Karla" pitchFamily="34" charset="-122"/>
                <a:cs typeface="Karla" pitchFamily="34" charset="-120"/>
              </a:rPr>
              <a:t>You get a working structure on day one. The tradeoff is that you are fitting your offer into decisions someone else already made.</a:t>
            </a:r>
            <a:endParaRPr lang="en-US" sz="1350" dirty="0"/>
          </a:p>
        </p:txBody>
      </p:sp>
      <p:sp>
        <p:nvSpPr>
          <p:cNvPr id="9" name="Shape 7"/>
          <p:cNvSpPr/>
          <p:nvPr/>
        </p:nvSpPr>
        <p:spPr>
          <a:xfrm>
            <a:off x="6263640" y="2240280"/>
            <a:ext cx="5120640" cy="3794760"/>
          </a:xfrm>
          <a:prstGeom prst="roundRect">
            <a:avLst>
              <a:gd name="adj" fmla="val 2892"/>
            </a:avLst>
          </a:prstGeom>
          <a:solidFill>
            <a:srgbClr val="F0DCE2"/>
          </a:solidFill>
          <a:ln w="9525">
            <a:solidFill>
              <a:srgbClr val="E3C9D2"/>
            </a:solidFill>
            <a:prstDash val="solid"/>
          </a:ln>
          <a:effectLst>
            <a:outerShdw sx="100000" sy="100000" kx="0" ky="0" algn="bl" rotWithShape="0" blurRad="177800" dist="50800" dir="5400000">
              <a:srgbClr val="2E1F27">
                <a:alpha val="13000"/>
              </a:srgbClr>
            </a:outerShdw>
          </a:effectLst>
        </p:spPr>
      </p:sp>
      <p:sp>
        <p:nvSpPr>
          <p:cNvPr id="10" name="Text 8"/>
          <p:cNvSpPr/>
          <p:nvPr/>
        </p:nvSpPr>
        <p:spPr>
          <a:xfrm>
            <a:off x="6647688" y="2624328"/>
            <a:ext cx="4352544"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BUILD IT AROUND THE OFFER</a:t>
            </a:r>
            <a:endParaRPr lang="en-US" sz="1100" dirty="0"/>
          </a:p>
        </p:txBody>
      </p:sp>
      <p:sp>
        <p:nvSpPr>
          <p:cNvPr id="11" name="Text 9"/>
          <p:cNvSpPr/>
          <p:nvPr/>
        </p:nvSpPr>
        <p:spPr>
          <a:xfrm>
            <a:off x="6647688" y="3108960"/>
            <a:ext cx="4352544" cy="914400"/>
          </a:xfrm>
          <a:prstGeom prst="rect">
            <a:avLst/>
          </a:prstGeom>
          <a:noFill/>
          <a:ln/>
        </p:spPr>
        <p:txBody>
          <a:bodyPr wrap="square" lIns="0" tIns="0" rIns="0" bIns="0" rtlCol="0" anchor="ctr"/>
          <a:lstStyle/>
          <a:p>
            <a:pPr indent="0" marL="0">
              <a:lnSpc>
                <a:spcPts val="2700"/>
              </a:lnSpc>
              <a:buNone/>
            </a:pPr>
            <a:r>
              <a:rPr lang="en-US" sz="2300" dirty="0">
                <a:solidFill>
                  <a:srgbClr val="2E1F27"/>
                </a:solidFill>
                <a:latin typeface="Fraunces" pitchFamily="34" charset="0"/>
                <a:ea typeface="Fraunces" pitchFamily="34" charset="-122"/>
                <a:cs typeface="Fraunces" pitchFamily="34" charset="-120"/>
              </a:rPr>
              <a:t>Slower and it sells</a:t>
            </a:r>
            <a:endParaRPr lang="en-US" sz="2300" dirty="0"/>
          </a:p>
        </p:txBody>
      </p:sp>
      <p:sp>
        <p:nvSpPr>
          <p:cNvPr id="12" name="Text 10"/>
          <p:cNvSpPr/>
          <p:nvPr/>
        </p:nvSpPr>
        <p:spPr>
          <a:xfrm>
            <a:off x="6647688" y="4251960"/>
            <a:ext cx="4352544" cy="1554480"/>
          </a:xfrm>
          <a:prstGeom prst="rect">
            <a:avLst/>
          </a:prstGeom>
          <a:noFill/>
          <a:ln/>
        </p:spPr>
        <p:txBody>
          <a:bodyPr wrap="square" lIns="0" tIns="0" rIns="0" bIns="0" rtlCol="0" anchor="ctr"/>
          <a:lstStyle/>
          <a:p>
            <a:pPr indent="0" marL="0">
              <a:lnSpc>
                <a:spcPts val="2100"/>
              </a:lnSpc>
              <a:buNone/>
            </a:pPr>
            <a:r>
              <a:rPr lang="en-US" sz="1350" dirty="0">
                <a:solidFill>
                  <a:srgbClr val="7C2B48"/>
                </a:solidFill>
                <a:latin typeface="Karla" pitchFamily="34" charset="0"/>
                <a:ea typeface="Karla" pitchFamily="34" charset="-122"/>
                <a:cs typeface="Karla" pitchFamily="34" charset="-120"/>
              </a:rPr>
              <a:t>Every section exists because your offer needed it. This is what custom actually means, and it is why it converts better.</a:t>
            </a:r>
            <a:endParaRPr lang="en-US" sz="13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74</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DESIGN RULES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What separates a designed site from a decorated one.</a:t>
            </a:r>
            <a:endParaRPr lang="en-US" sz="3200" dirty="0"/>
          </a:p>
        </p:txBody>
      </p:sp>
      <p:sp>
        <p:nvSpPr>
          <p:cNvPr id="5" name="Shape 3"/>
          <p:cNvSpPr/>
          <p:nvPr/>
        </p:nvSpPr>
        <p:spPr>
          <a:xfrm>
            <a:off x="777240" y="2240280"/>
            <a:ext cx="5120640" cy="3291840"/>
          </a:xfrm>
          <a:prstGeom prst="roundRect">
            <a:avLst>
              <a:gd name="adj" fmla="val 3333"/>
            </a:avLst>
          </a:prstGeom>
          <a:solidFill>
            <a:srgbClr val="F0DCE2"/>
          </a:solidFill>
          <a:ln w="9525">
            <a:solidFill>
              <a:srgbClr val="E3C9D2"/>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143000" y="2587752"/>
            <a:ext cx="4389120" cy="274320"/>
          </a:xfrm>
          <a:prstGeom prst="rect">
            <a:avLst/>
          </a:prstGeom>
          <a:noFill/>
          <a:ln/>
        </p:spPr>
        <p:txBody>
          <a:bodyPr wrap="square" lIns="0" tIns="0" rIns="0" bIns="0" rtlCol="0" anchor="ctr"/>
          <a:lstStyle/>
          <a:p>
            <a:pPr indent="0" marL="0">
              <a:buNone/>
            </a:pPr>
            <a:r>
              <a:rPr lang="en-US" sz="1100" b="1" spc="300" kern="0" dirty="0">
                <a:solidFill>
                  <a:srgbClr val="7C2B48"/>
                </a:solidFill>
                <a:latin typeface="Karla" pitchFamily="34" charset="0"/>
                <a:ea typeface="Karla" pitchFamily="34" charset="-122"/>
                <a:cs typeface="Karla" pitchFamily="34" charset="-120"/>
              </a:rPr>
              <a:t>DO THIS</a:t>
            </a:r>
            <a:endParaRPr lang="en-US" sz="1100" dirty="0"/>
          </a:p>
        </p:txBody>
      </p:sp>
      <p:sp>
        <p:nvSpPr>
          <p:cNvPr id="7" name="Text 5"/>
          <p:cNvSpPr/>
          <p:nvPr/>
        </p:nvSpPr>
        <p:spPr>
          <a:xfrm>
            <a:off x="1143000" y="3081528"/>
            <a:ext cx="4389120" cy="210312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One action color, used sparingly</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Two fonts, three at the very most</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Generous space around what matters</a:t>
            </a:r>
            <a:endParaRPr lang="en-US" sz="1300" dirty="0"/>
          </a:p>
          <a:p>
            <a:pPr marL="342900" indent="-342900">
              <a:lnSpc>
                <a:spcPts val="1900"/>
              </a:lnSpc>
              <a:spcAft>
                <a:spcPts val="1000"/>
              </a:spcAft>
              <a:buSzPct val="100000"/>
              <a:buChar char="✓"/>
            </a:pPr>
            <a:r>
              <a:rPr lang="en-US" sz="1300" dirty="0">
                <a:solidFill>
                  <a:srgbClr val="2E1F27"/>
                </a:solidFill>
                <a:latin typeface="Karla" pitchFamily="34" charset="0"/>
                <a:ea typeface="Karla" pitchFamily="34" charset="-122"/>
                <a:cs typeface="Karla" pitchFamily="34" charset="-120"/>
              </a:rPr>
              <a:t>Sections that each look different</a:t>
            </a:r>
            <a:endParaRPr lang="en-US" sz="1300" dirty="0"/>
          </a:p>
        </p:txBody>
      </p:sp>
      <p:sp>
        <p:nvSpPr>
          <p:cNvPr id="8" name="Shape 6"/>
          <p:cNvSpPr/>
          <p:nvPr/>
        </p:nvSpPr>
        <p:spPr>
          <a:xfrm>
            <a:off x="6263640" y="2240280"/>
            <a:ext cx="5120640" cy="3291840"/>
          </a:xfrm>
          <a:prstGeom prst="roundRect">
            <a:avLst>
              <a:gd name="adj" fmla="val 3333"/>
            </a:avLst>
          </a:prstGeom>
          <a:solidFill>
            <a:srgbClr val="FBF6EE"/>
          </a:solidFill>
          <a:ln w="9525">
            <a:solidFill>
              <a:srgbClr val="D8CCC0"/>
            </a:solidFill>
            <a:prstDash val="solid"/>
          </a:ln>
        </p:spPr>
      </p:sp>
      <p:sp>
        <p:nvSpPr>
          <p:cNvPr id="9" name="Text 7"/>
          <p:cNvSpPr/>
          <p:nvPr/>
        </p:nvSpPr>
        <p:spPr>
          <a:xfrm>
            <a:off x="6629400" y="2587752"/>
            <a:ext cx="438912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NOT THIS</a:t>
            </a:r>
            <a:endParaRPr lang="en-US" sz="1100" dirty="0"/>
          </a:p>
        </p:txBody>
      </p:sp>
      <p:sp>
        <p:nvSpPr>
          <p:cNvPr id="10" name="Text 8"/>
          <p:cNvSpPr/>
          <p:nvPr/>
        </p:nvSpPr>
        <p:spPr>
          <a:xfrm>
            <a:off x="6629400" y="3081528"/>
            <a:ext cx="4389120" cy="210312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A different color for every section</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Five fonts because they were pretty</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Filling every inch of the page</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Six sections that all look the same</a:t>
            </a:r>
            <a:endParaRPr lang="en-US" sz="13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75</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DESIGN AUDIT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Open your site and check honestly.</a:t>
            </a:r>
            <a:endParaRPr lang="en-US" sz="3200" dirty="0"/>
          </a:p>
        </p:txBody>
      </p:sp>
      <p:sp>
        <p:nvSpPr>
          <p:cNvPr id="5" name="Shape 3"/>
          <p:cNvSpPr/>
          <p:nvPr/>
        </p:nvSpPr>
        <p:spPr>
          <a:xfrm>
            <a:off x="777240" y="2377440"/>
            <a:ext cx="310896" cy="310896"/>
          </a:xfrm>
          <a:prstGeom prst="roundRect">
            <a:avLst>
              <a:gd name="adj" fmla="val 17647"/>
            </a:avLst>
          </a:prstGeom>
          <a:solidFill>
            <a:srgbClr val="FFFFFF"/>
          </a:solidFill>
          <a:ln w="15875">
            <a:solidFill>
              <a:srgbClr val="A93F63"/>
            </a:solidFill>
            <a:prstDash val="solid"/>
          </a:ln>
        </p:spPr>
      </p:sp>
      <p:sp>
        <p:nvSpPr>
          <p:cNvPr id="6" name="Text 4"/>
          <p:cNvSpPr/>
          <p:nvPr/>
        </p:nvSpPr>
        <p:spPr>
          <a:xfrm>
            <a:off x="1280160" y="234086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A stranger knows what I sell within three seconds</a:t>
            </a:r>
            <a:endParaRPr lang="en-US" sz="1400" dirty="0"/>
          </a:p>
        </p:txBody>
      </p:sp>
      <p:sp>
        <p:nvSpPr>
          <p:cNvPr id="7" name="Shape 5"/>
          <p:cNvSpPr/>
          <p:nvPr/>
        </p:nvSpPr>
        <p:spPr>
          <a:xfrm>
            <a:off x="777240" y="3108960"/>
            <a:ext cx="310896" cy="310896"/>
          </a:xfrm>
          <a:prstGeom prst="roundRect">
            <a:avLst>
              <a:gd name="adj" fmla="val 17647"/>
            </a:avLst>
          </a:prstGeom>
          <a:solidFill>
            <a:srgbClr val="FFFFFF"/>
          </a:solidFill>
          <a:ln w="15875">
            <a:solidFill>
              <a:srgbClr val="A93F63"/>
            </a:solidFill>
            <a:prstDash val="solid"/>
          </a:ln>
        </p:spPr>
      </p:sp>
      <p:sp>
        <p:nvSpPr>
          <p:cNvPr id="8" name="Text 6"/>
          <p:cNvSpPr/>
          <p:nvPr/>
        </p:nvSpPr>
        <p:spPr>
          <a:xfrm>
            <a:off x="1280160" y="307238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There is one obvious next step above the fold</a:t>
            </a:r>
            <a:endParaRPr lang="en-US" sz="1400" dirty="0"/>
          </a:p>
        </p:txBody>
      </p:sp>
      <p:sp>
        <p:nvSpPr>
          <p:cNvPr id="9" name="Shape 7"/>
          <p:cNvSpPr/>
          <p:nvPr/>
        </p:nvSpPr>
        <p:spPr>
          <a:xfrm>
            <a:off x="777240" y="3840480"/>
            <a:ext cx="310896" cy="310896"/>
          </a:xfrm>
          <a:prstGeom prst="roundRect">
            <a:avLst>
              <a:gd name="adj" fmla="val 17647"/>
            </a:avLst>
          </a:prstGeom>
          <a:solidFill>
            <a:srgbClr val="FFFFFF"/>
          </a:solidFill>
          <a:ln w="15875">
            <a:solidFill>
              <a:srgbClr val="A93F63"/>
            </a:solidFill>
            <a:prstDash val="solid"/>
          </a:ln>
        </p:spPr>
      </p:sp>
      <p:sp>
        <p:nvSpPr>
          <p:cNvPr id="10" name="Text 8"/>
          <p:cNvSpPr/>
          <p:nvPr/>
        </p:nvSpPr>
        <p:spPr>
          <a:xfrm>
            <a:off x="1280160" y="380390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No two sections next to each other look the same</a:t>
            </a:r>
            <a:endParaRPr lang="en-US" sz="1400" dirty="0"/>
          </a:p>
        </p:txBody>
      </p:sp>
      <p:sp>
        <p:nvSpPr>
          <p:cNvPr id="11" name="Shape 9"/>
          <p:cNvSpPr/>
          <p:nvPr/>
        </p:nvSpPr>
        <p:spPr>
          <a:xfrm>
            <a:off x="777240" y="4572000"/>
            <a:ext cx="310896" cy="310896"/>
          </a:xfrm>
          <a:prstGeom prst="roundRect">
            <a:avLst>
              <a:gd name="adj" fmla="val 17647"/>
            </a:avLst>
          </a:prstGeom>
          <a:solidFill>
            <a:srgbClr val="FFFFFF"/>
          </a:solidFill>
          <a:ln w="15875">
            <a:solidFill>
              <a:srgbClr val="A93F63"/>
            </a:solidFill>
            <a:prstDash val="solid"/>
          </a:ln>
        </p:spPr>
      </p:sp>
      <p:sp>
        <p:nvSpPr>
          <p:cNvPr id="12" name="Text 10"/>
          <p:cNvSpPr/>
          <p:nvPr/>
        </p:nvSpPr>
        <p:spPr>
          <a:xfrm>
            <a:off x="1280160" y="453542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 action color only appears on clickable things</a:t>
            </a:r>
            <a:endParaRPr lang="en-US" sz="1400" dirty="0"/>
          </a:p>
        </p:txBody>
      </p:sp>
      <p:sp>
        <p:nvSpPr>
          <p:cNvPr id="13" name="Shape 11"/>
          <p:cNvSpPr/>
          <p:nvPr/>
        </p:nvSpPr>
        <p:spPr>
          <a:xfrm>
            <a:off x="777240" y="5303520"/>
            <a:ext cx="310896" cy="310896"/>
          </a:xfrm>
          <a:prstGeom prst="roundRect">
            <a:avLst>
              <a:gd name="adj" fmla="val 17647"/>
            </a:avLst>
          </a:prstGeom>
          <a:solidFill>
            <a:srgbClr val="FFFFFF"/>
          </a:solidFill>
          <a:ln w="15875">
            <a:solidFill>
              <a:srgbClr val="A93F63"/>
            </a:solidFill>
            <a:prstDash val="solid"/>
          </a:ln>
        </p:spPr>
      </p:sp>
      <p:sp>
        <p:nvSpPr>
          <p:cNvPr id="14" name="Text 12"/>
          <p:cNvSpPr/>
          <p:nvPr/>
        </p:nvSpPr>
        <p:spPr>
          <a:xfrm>
            <a:off x="1280160" y="526694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It looks right on my phone, not just my laptop</a:t>
            </a:r>
            <a:endParaRPr lang="en-US" sz="1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76</a:t>
            </a:r>
            <a:endParaRPr lang="en-US" sz="1000" dirty="0"/>
          </a:p>
        </p:txBody>
      </p:sp>
      <p:sp>
        <p:nvSpPr>
          <p:cNvPr id="3" name="Text 1"/>
          <p:cNvSpPr/>
          <p:nvPr/>
        </p:nvSpPr>
        <p:spPr>
          <a:xfrm>
            <a:off x="1097280" y="1600200"/>
            <a:ext cx="9966960" cy="2011680"/>
          </a:xfrm>
          <a:prstGeom prst="rect">
            <a:avLst/>
          </a:prstGeom>
          <a:noFill/>
          <a:ln/>
        </p:spPr>
        <p:txBody>
          <a:bodyPr wrap="square" lIns="0" tIns="0" rIns="0" bIns="0" rtlCol="0" anchor="ctr"/>
          <a:lstStyle/>
          <a:p>
            <a:pPr algn="ctr" indent="0" marL="0">
              <a:buNone/>
            </a:pPr>
            <a:r>
              <a:rPr lang="en-US" sz="9600" i="1" dirty="0">
                <a:solidFill>
                  <a:srgbClr val="A93F63"/>
                </a:solidFill>
                <a:latin typeface="Fraunces" pitchFamily="34" charset="0"/>
                <a:ea typeface="Fraunces" pitchFamily="34" charset="-122"/>
                <a:cs typeface="Fraunces" pitchFamily="34" charset="-120"/>
              </a:rPr>
              <a:t>3</a:t>
            </a:r>
            <a:endParaRPr lang="en-US" sz="9600" dirty="0"/>
          </a:p>
        </p:txBody>
      </p:sp>
      <p:sp>
        <p:nvSpPr>
          <p:cNvPr id="4" name="Text 2"/>
          <p:cNvSpPr/>
          <p:nvPr/>
        </p:nvSpPr>
        <p:spPr>
          <a:xfrm>
            <a:off x="1097280" y="3611880"/>
            <a:ext cx="9966960" cy="365760"/>
          </a:xfrm>
          <a:prstGeom prst="rect">
            <a:avLst/>
          </a:prstGeom>
          <a:noFill/>
          <a:ln/>
        </p:spPr>
        <p:txBody>
          <a:bodyPr wrap="square" lIns="0" tIns="0" rIns="0" bIns="0" rtlCol="0" anchor="ctr"/>
          <a:lstStyle/>
          <a:p>
            <a:pPr algn="ctr" indent="0" marL="0">
              <a:buNone/>
            </a:pPr>
            <a:r>
              <a:rPr lang="en-US" sz="1300" b="1" spc="400" kern="0" dirty="0">
                <a:solidFill>
                  <a:srgbClr val="7C2B48"/>
                </a:solidFill>
                <a:latin typeface="Karla" pitchFamily="34" charset="0"/>
                <a:ea typeface="Karla" pitchFamily="34" charset="-122"/>
                <a:cs typeface="Karla" pitchFamily="34" charset="-120"/>
              </a:rPr>
              <a:t>SECONDS TO ANSWER WHO AND WHAT</a:t>
            </a:r>
            <a:endParaRPr lang="en-US" sz="1300" dirty="0"/>
          </a:p>
        </p:txBody>
      </p:sp>
      <p:sp>
        <p:nvSpPr>
          <p:cNvPr id="5" name="Text 3"/>
          <p:cNvSpPr/>
          <p:nvPr/>
        </p:nvSpPr>
        <p:spPr>
          <a:xfrm>
            <a:off x="2377440" y="4206240"/>
            <a:ext cx="7406640" cy="914400"/>
          </a:xfrm>
          <a:prstGeom prst="rect">
            <a:avLst/>
          </a:prstGeom>
          <a:noFill/>
          <a:ln/>
        </p:spPr>
        <p:txBody>
          <a:bodyPr wrap="square" lIns="0" tIns="0" rIns="0" bIns="0" rtlCol="0" anchor="ctr"/>
          <a:lstStyle/>
          <a:p>
            <a:pPr algn="ctr" indent="0" marL="0">
              <a:lnSpc>
                <a:spcPts val="2200"/>
              </a:lnSpc>
              <a:buNone/>
            </a:pPr>
            <a:r>
              <a:rPr lang="en-US" sz="1400" dirty="0">
                <a:solidFill>
                  <a:srgbClr val="6E5C63"/>
                </a:solidFill>
                <a:latin typeface="Karla" pitchFamily="34" charset="0"/>
                <a:ea typeface="Karla" pitchFamily="34" charset="-122"/>
                <a:cs typeface="Karla" pitchFamily="34" charset="-120"/>
              </a:rPr>
              <a:t>That is the entire budget your homepage gets before she decides whether to keep scrolling.</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77</a:t>
            </a:r>
            <a:endParaRPr lang="en-US" sz="1000" dirty="0"/>
          </a:p>
        </p:txBody>
      </p:sp>
      <p:sp>
        <p:nvSpPr>
          <p:cNvPr id="3" name="Text 1"/>
          <p:cNvSpPr/>
          <p:nvPr/>
        </p:nvSpPr>
        <p:spPr>
          <a:xfrm>
            <a:off x="914400" y="914400"/>
            <a:ext cx="1371600" cy="1371600"/>
          </a:xfrm>
          <a:prstGeom prst="rect">
            <a:avLst/>
          </a:prstGeom>
          <a:noFill/>
          <a:ln/>
        </p:spPr>
        <p:txBody>
          <a:bodyPr wrap="square" lIns="0" tIns="0" rIns="0" bIns="0" rtlCol="0" anchor="ctr"/>
          <a:lstStyle/>
          <a:p>
            <a:pPr indent="0" marL="0">
              <a:buNone/>
            </a:pPr>
            <a:r>
              <a:rPr lang="en-US" sz="11000" i="1" dirty="0">
                <a:solidFill>
                  <a:srgbClr val="A93F63"/>
                </a:solidFill>
                <a:latin typeface="Fraunces" pitchFamily="34" charset="0"/>
                <a:ea typeface="Fraunces" pitchFamily="34" charset="-122"/>
                <a:cs typeface="Fraunces" pitchFamily="34" charset="-120"/>
              </a:rPr>
              <a:t>“</a:t>
            </a:r>
            <a:endParaRPr lang="en-US" sz="11000" dirty="0"/>
          </a:p>
        </p:txBody>
      </p:sp>
      <p:sp>
        <p:nvSpPr>
          <p:cNvPr id="4" name="Text 2"/>
          <p:cNvSpPr/>
          <p:nvPr/>
        </p:nvSpPr>
        <p:spPr>
          <a:xfrm>
            <a:off x="1691640" y="1965960"/>
            <a:ext cx="8778240" cy="2377440"/>
          </a:xfrm>
          <a:prstGeom prst="rect">
            <a:avLst/>
          </a:prstGeom>
          <a:noFill/>
          <a:ln/>
        </p:spPr>
        <p:txBody>
          <a:bodyPr wrap="square" lIns="0" tIns="0" rIns="0" bIns="0" rtlCol="0" anchor="ctr"/>
          <a:lstStyle/>
          <a:p>
            <a:pPr algn="ctr" indent="0" marL="0">
              <a:lnSpc>
                <a:spcPts val="3800"/>
              </a:lnSpc>
              <a:buNone/>
            </a:pPr>
            <a:r>
              <a:rPr lang="en-US" sz="3000" i="1" dirty="0">
                <a:solidFill>
                  <a:srgbClr val="2E1F27"/>
                </a:solidFill>
                <a:latin typeface="Fraunces" pitchFamily="34" charset="0"/>
                <a:ea typeface="Fraunces" pitchFamily="34" charset="-122"/>
                <a:cs typeface="Fraunces" pitchFamily="34" charset="-120"/>
              </a:rPr>
              <a:t>A template is a set of decisions made by someone who has never met your offer.</a:t>
            </a:r>
            <a:endParaRPr lang="en-US" sz="3000" dirty="0"/>
          </a:p>
        </p:txBody>
      </p:sp>
      <p:sp>
        <p:nvSpPr>
          <p:cNvPr id="5" name="Text 3"/>
          <p:cNvSpPr/>
          <p:nvPr/>
        </p:nvSpPr>
        <p:spPr>
          <a:xfrm>
            <a:off x="2377440" y="4572000"/>
            <a:ext cx="7406640" cy="365760"/>
          </a:xfrm>
          <a:prstGeom prst="rect">
            <a:avLst/>
          </a:prstGeom>
          <a:noFill/>
          <a:ln/>
        </p:spPr>
        <p:txBody>
          <a:bodyPr wrap="square" lIns="0" tIns="0" rIns="0" bIns="0" rtlCol="0" anchor="ctr"/>
          <a:lstStyle/>
          <a:p>
            <a:pPr algn="ctr" indent="0" marL="0">
              <a:buNone/>
            </a:pPr>
            <a:r>
              <a:rPr lang="en-US" sz="1100" b="1" spc="400" kern="0" dirty="0">
                <a:solidFill>
                  <a:srgbClr val="7C2B48"/>
                </a:solidFill>
                <a:latin typeface="Karla" pitchFamily="34" charset="0"/>
                <a:ea typeface="Karla" pitchFamily="34" charset="-122"/>
                <a:cs typeface="Karla" pitchFamily="34" charset="-120"/>
              </a:rPr>
              <a:t>WHY CUSTOM WINS</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78</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YOUR TURN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Run the three second test.</a:t>
            </a:r>
            <a:endParaRPr lang="en-US" sz="3200" dirty="0"/>
          </a:p>
        </p:txBody>
      </p:sp>
      <p:sp>
        <p:nvSpPr>
          <p:cNvPr id="5" name="Shape 3"/>
          <p:cNvSpPr/>
          <p:nvPr/>
        </p:nvSpPr>
        <p:spPr>
          <a:xfrm>
            <a:off x="777240" y="2148840"/>
            <a:ext cx="10607040" cy="3703320"/>
          </a:xfrm>
          <a:prstGeom prst="roundRect">
            <a:avLst>
              <a:gd name="adj" fmla="val 2963"/>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234440" y="2487168"/>
            <a:ext cx="9692640" cy="731520"/>
          </a:xfrm>
          <a:prstGeom prst="rect">
            <a:avLst/>
          </a:prstGeom>
          <a:noFill/>
          <a:ln/>
        </p:spPr>
        <p:txBody>
          <a:bodyPr wrap="square" lIns="0" tIns="0" rIns="0" bIns="0" rtlCol="0" anchor="ctr"/>
          <a:lstStyle/>
          <a:p>
            <a:pPr indent="0" marL="0">
              <a:lnSpc>
                <a:spcPts val="2400"/>
              </a:lnSpc>
              <a:buNone/>
            </a:pPr>
            <a:r>
              <a:rPr lang="en-US" sz="2000" i="1" dirty="0">
                <a:solidFill>
                  <a:srgbClr val="A93F63"/>
                </a:solidFill>
                <a:latin typeface="Fraunces" pitchFamily="34" charset="0"/>
                <a:ea typeface="Fraunces" pitchFamily="34" charset="-122"/>
                <a:cs typeface="Fraunces" pitchFamily="34" charset="-120"/>
              </a:rPr>
              <a:t>Show your homepage to someone for three seconds. Write down exactly what they said. Then write what you wish they had said.</a:t>
            </a:r>
            <a:endParaRPr lang="en-US" sz="2000" dirty="0"/>
          </a:p>
        </p:txBody>
      </p:sp>
      <p:sp>
        <p:nvSpPr>
          <p:cNvPr id="7" name="Shape 5"/>
          <p:cNvSpPr/>
          <p:nvPr/>
        </p:nvSpPr>
        <p:spPr>
          <a:xfrm>
            <a:off x="1234440" y="3429000"/>
            <a:ext cx="9692640" cy="0"/>
          </a:xfrm>
          <a:prstGeom prst="line">
            <a:avLst/>
          </a:prstGeom>
          <a:noFill/>
          <a:ln w="12700">
            <a:solidFill>
              <a:srgbClr val="DCD2C7"/>
            </a:solidFill>
            <a:prstDash val="dash"/>
          </a:ln>
        </p:spPr>
      </p:sp>
      <p:sp>
        <p:nvSpPr>
          <p:cNvPr id="8" name="Shape 6"/>
          <p:cNvSpPr/>
          <p:nvPr/>
        </p:nvSpPr>
        <p:spPr>
          <a:xfrm>
            <a:off x="1234440" y="3995928"/>
            <a:ext cx="9692640" cy="0"/>
          </a:xfrm>
          <a:prstGeom prst="line">
            <a:avLst/>
          </a:prstGeom>
          <a:noFill/>
          <a:ln w="12700">
            <a:solidFill>
              <a:srgbClr val="DCD2C7"/>
            </a:solidFill>
            <a:prstDash val="dash"/>
          </a:ln>
        </p:spPr>
      </p:sp>
      <p:sp>
        <p:nvSpPr>
          <p:cNvPr id="9" name="Shape 7"/>
          <p:cNvSpPr/>
          <p:nvPr/>
        </p:nvSpPr>
        <p:spPr>
          <a:xfrm>
            <a:off x="1234440" y="4562856"/>
            <a:ext cx="9692640" cy="0"/>
          </a:xfrm>
          <a:prstGeom prst="line">
            <a:avLst/>
          </a:prstGeom>
          <a:noFill/>
          <a:ln w="12700">
            <a:solidFill>
              <a:srgbClr val="DCD2C7"/>
            </a:solidFill>
            <a:prstDash val="dash"/>
          </a:ln>
        </p:spPr>
      </p:sp>
      <p:sp>
        <p:nvSpPr>
          <p:cNvPr id="10" name="Shape 8"/>
          <p:cNvSpPr/>
          <p:nvPr/>
        </p:nvSpPr>
        <p:spPr>
          <a:xfrm>
            <a:off x="1234440" y="5129784"/>
            <a:ext cx="9692640" cy="0"/>
          </a:xfrm>
          <a:prstGeom prst="line">
            <a:avLst/>
          </a:prstGeom>
          <a:noFill/>
          <a:ln w="12700">
            <a:solidFill>
              <a:srgbClr val="DCD2C7"/>
            </a:solidFill>
            <a:prstDash val="dash"/>
          </a:ln>
        </p:spPr>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79</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DESIGN IT ON YOUR PHONE</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Most of them are reading it there.</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The majority of your visitors will meet your site on a phone, usually with one thumb, usually distracted.</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That means bigger text than feels necessary, buttons that stretch full width, and sections that stack cleanly.</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Build the phone version first if you can. A page that works on a small screen almost always works on a big one. The reverse is rarely true.</a:t>
            </a:r>
            <a:endParaRPr lang="en-US" sz="15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80</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MODULE FOUR</a:t>
            </a:r>
            <a:endParaRPr lang="en-US" sz="1100" dirty="0"/>
          </a:p>
        </p:txBody>
      </p:sp>
      <p:sp>
        <p:nvSpPr>
          <p:cNvPr id="4" name="Text 2"/>
          <p:cNvSpPr/>
          <p:nvPr/>
        </p:nvSpPr>
        <p:spPr>
          <a:xfrm>
            <a:off x="777240" y="932688"/>
            <a:ext cx="106070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Shape 3"/>
          <p:cNvSpPr/>
          <p:nvPr/>
        </p:nvSpPr>
        <p:spPr>
          <a:xfrm>
            <a:off x="777240" y="2423160"/>
            <a:ext cx="457200" cy="457200"/>
          </a:xfrm>
          <a:prstGeom prst="ellipse">
            <a:avLst/>
          </a:prstGeom>
          <a:solidFill>
            <a:srgbClr val="A93F63"/>
          </a:solidFill>
          <a:ln w="12700">
            <a:solidFill>
              <a:srgbClr val="A93F63"/>
            </a:solidFill>
            <a:prstDash val="solid"/>
          </a:ln>
        </p:spPr>
      </p:sp>
      <p:sp>
        <p:nvSpPr>
          <p:cNvPr id="6" name="Text 4"/>
          <p:cNvSpPr/>
          <p:nvPr/>
        </p:nvSpPr>
        <p:spPr>
          <a:xfrm>
            <a:off x="777240" y="24231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7" name="Text 5"/>
          <p:cNvSpPr/>
          <p:nvPr/>
        </p:nvSpPr>
        <p:spPr>
          <a:xfrm>
            <a:off x="1463040" y="240487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Design serves the offer, and comes after the copy.</a:t>
            </a:r>
            <a:endParaRPr lang="en-US" sz="1450" dirty="0"/>
          </a:p>
        </p:txBody>
      </p:sp>
      <p:sp>
        <p:nvSpPr>
          <p:cNvPr id="8" name="Shape 6"/>
          <p:cNvSpPr/>
          <p:nvPr/>
        </p:nvSpPr>
        <p:spPr>
          <a:xfrm>
            <a:off x="777240" y="3291840"/>
            <a:ext cx="457200" cy="457200"/>
          </a:xfrm>
          <a:prstGeom prst="ellipse">
            <a:avLst/>
          </a:prstGeom>
          <a:solidFill>
            <a:srgbClr val="A93F63"/>
          </a:solidFill>
          <a:ln w="12700">
            <a:solidFill>
              <a:srgbClr val="A93F63"/>
            </a:solidFill>
            <a:prstDash val="solid"/>
          </a:ln>
        </p:spPr>
      </p:sp>
      <p:sp>
        <p:nvSpPr>
          <p:cNvPr id="9" name="Text 7"/>
          <p:cNvSpPr/>
          <p:nvPr/>
        </p:nvSpPr>
        <p:spPr>
          <a:xfrm>
            <a:off x="777240" y="32918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0" name="Text 8"/>
          <p:cNvSpPr/>
          <p:nvPr/>
        </p:nvSpPr>
        <p:spPr>
          <a:xfrm>
            <a:off x="1463040" y="327355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Build the page in the order a buyer reads it.</a:t>
            </a:r>
            <a:endParaRPr lang="en-US" sz="1450" dirty="0"/>
          </a:p>
        </p:txBody>
      </p:sp>
      <p:sp>
        <p:nvSpPr>
          <p:cNvPr id="11" name="Shape 9"/>
          <p:cNvSpPr/>
          <p:nvPr/>
        </p:nvSpPr>
        <p:spPr>
          <a:xfrm>
            <a:off x="777240" y="4160520"/>
            <a:ext cx="457200" cy="457200"/>
          </a:xfrm>
          <a:prstGeom prst="ellipse">
            <a:avLst/>
          </a:prstGeom>
          <a:solidFill>
            <a:srgbClr val="A93F63"/>
          </a:solidFill>
          <a:ln w="12700">
            <a:solidFill>
              <a:srgbClr val="A93F63"/>
            </a:solidFill>
            <a:prstDash val="solid"/>
          </a:ln>
        </p:spPr>
      </p:sp>
      <p:sp>
        <p:nvSpPr>
          <p:cNvPr id="12" name="Text 10"/>
          <p:cNvSpPr/>
          <p:nvPr/>
        </p:nvSpPr>
        <p:spPr>
          <a:xfrm>
            <a:off x="777240" y="4160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3" name="Text 11"/>
          <p:cNvSpPr/>
          <p:nvPr/>
        </p:nvSpPr>
        <p:spPr>
          <a:xfrm>
            <a:off x="1463040" y="414223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One dominant thing per section, one action color, plenty of space.</a:t>
            </a:r>
            <a:endParaRPr lang="en-US" sz="1450" dirty="0"/>
          </a:p>
        </p:txBody>
      </p:sp>
      <p:sp>
        <p:nvSpPr>
          <p:cNvPr id="14" name="Shape 12"/>
          <p:cNvSpPr/>
          <p:nvPr/>
        </p:nvSpPr>
        <p:spPr>
          <a:xfrm>
            <a:off x="777240" y="5029200"/>
            <a:ext cx="457200" cy="457200"/>
          </a:xfrm>
          <a:prstGeom prst="ellipse">
            <a:avLst/>
          </a:prstGeom>
          <a:solidFill>
            <a:srgbClr val="A93F63"/>
          </a:solidFill>
          <a:ln w="12700">
            <a:solidFill>
              <a:srgbClr val="A93F63"/>
            </a:solidFill>
            <a:prstDash val="solid"/>
          </a:ln>
        </p:spPr>
      </p:sp>
      <p:sp>
        <p:nvSpPr>
          <p:cNvPr id="15" name="Text 13"/>
          <p:cNvSpPr/>
          <p:nvPr/>
        </p:nvSpPr>
        <p:spPr>
          <a:xfrm>
            <a:off x="777240" y="50292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16" name="Text 14"/>
          <p:cNvSpPr/>
          <p:nvPr/>
        </p:nvSpPr>
        <p:spPr>
          <a:xfrm>
            <a:off x="1463040" y="501091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If it fails the three second test, nothing else matters yet.</a:t>
            </a:r>
            <a:endParaRPr lang="en-US" sz="14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81</a:t>
            </a:r>
            <a:endParaRPr lang="en-US" sz="1000" dirty="0"/>
          </a:p>
        </p:txBody>
      </p:sp>
      <p:sp>
        <p:nvSpPr>
          <p:cNvPr id="3" name="Shape 1"/>
          <p:cNvSpPr/>
          <p:nvPr/>
        </p:nvSpPr>
        <p:spPr>
          <a:xfrm>
            <a:off x="9509760" y="4389120"/>
            <a:ext cx="4206240" cy="4206240"/>
          </a:xfrm>
          <a:prstGeom prst="ellipse">
            <a:avLst/>
          </a:prstGeom>
          <a:solidFill>
            <a:srgbClr val="A93F63">
              <a:alpha val="26000"/>
            </a:srgbClr>
          </a:solidFill>
          <a:ln w="12700">
            <a:solidFill>
              <a:srgbClr val="333333"/>
            </a:solidFill>
            <a:prstDash val="solid"/>
          </a:ln>
        </p:spPr>
      </p:sp>
      <p:sp>
        <p:nvSpPr>
          <p:cNvPr id="4" name="Text 2"/>
          <p:cNvSpPr/>
          <p:nvPr/>
        </p:nvSpPr>
        <p:spPr>
          <a:xfrm>
            <a:off x="777240" y="914400"/>
            <a:ext cx="3657600" cy="2194560"/>
          </a:xfrm>
          <a:prstGeom prst="rect">
            <a:avLst/>
          </a:prstGeom>
          <a:noFill/>
          <a:ln/>
        </p:spPr>
        <p:txBody>
          <a:bodyPr wrap="square" lIns="0" tIns="0" rIns="0" bIns="0" rtlCol="0" anchor="ctr"/>
          <a:lstStyle/>
          <a:p>
            <a:pPr indent="0" marL="0">
              <a:buNone/>
            </a:pPr>
            <a:r>
              <a:rPr lang="en-US" sz="9600" i="1" dirty="0">
                <a:solidFill>
                  <a:srgbClr val="A93F63"/>
                </a:solidFill>
                <a:latin typeface="Fraunces" pitchFamily="34" charset="0"/>
                <a:ea typeface="Fraunces" pitchFamily="34" charset="-122"/>
                <a:cs typeface="Fraunces" pitchFamily="34" charset="-120"/>
              </a:rPr>
              <a:t>05</a:t>
            </a:r>
            <a:endParaRPr lang="en-US" sz="9600" dirty="0"/>
          </a:p>
        </p:txBody>
      </p:sp>
      <p:sp>
        <p:nvSpPr>
          <p:cNvPr id="5" name="Text 3"/>
          <p:cNvSpPr/>
          <p:nvPr/>
        </p:nvSpPr>
        <p:spPr>
          <a:xfrm>
            <a:off x="777240" y="3017520"/>
            <a:ext cx="8229600" cy="1371600"/>
          </a:xfrm>
          <a:prstGeom prst="rect">
            <a:avLst/>
          </a:prstGeom>
          <a:noFill/>
          <a:ln/>
        </p:spPr>
        <p:txBody>
          <a:bodyPr wrap="square" lIns="0" tIns="0" rIns="0" bIns="0" rtlCol="0" anchor="ctr"/>
          <a:lstStyle/>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Traffic that</a:t>
            </a:r>
            <a:endParaRPr lang="en-US" sz="4000" dirty="0"/>
          </a:p>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converts</a:t>
            </a:r>
            <a:endParaRPr lang="en-US" sz="4000" dirty="0"/>
          </a:p>
        </p:txBody>
      </p:sp>
      <p:sp>
        <p:nvSpPr>
          <p:cNvPr id="6" name="Text 4"/>
          <p:cNvSpPr/>
          <p:nvPr/>
        </p:nvSpPr>
        <p:spPr>
          <a:xfrm>
            <a:off x="777240" y="4434840"/>
            <a:ext cx="7863840" cy="502920"/>
          </a:xfrm>
          <a:prstGeom prst="rect">
            <a:avLst/>
          </a:prstGeom>
          <a:noFill/>
          <a:ln/>
        </p:spPr>
        <p:txBody>
          <a:bodyPr wrap="square" lIns="0" tIns="0" rIns="0" bIns="0" rtlCol="0" anchor="ctr"/>
          <a:lstStyle/>
          <a:p>
            <a:pPr indent="0" marL="0">
              <a:buNone/>
            </a:pPr>
            <a:r>
              <a:rPr lang="en-US" sz="2400" dirty="0">
                <a:solidFill>
                  <a:srgbClr val="BC8A47"/>
                </a:solidFill>
                <a:latin typeface="Ephesis" pitchFamily="34" charset="0"/>
                <a:ea typeface="Ephesis" pitchFamily="34" charset="-122"/>
                <a:cs typeface="Ephesis" pitchFamily="34" charset="-120"/>
              </a:rPr>
              <a:t>last on purpose, not by accident</a:t>
            </a:r>
            <a:endParaRPr lang="en-US" sz="2400" dirty="0"/>
          </a:p>
        </p:txBody>
      </p:sp>
      <p:sp>
        <p:nvSpPr>
          <p:cNvPr id="7" name="Text 5"/>
          <p:cNvSpPr/>
          <p:nvPr/>
        </p:nvSpPr>
        <p:spPr>
          <a:xfrm>
            <a:off x="777240" y="5029200"/>
            <a:ext cx="786384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Why traffic comes last in this order</a:t>
            </a:r>
            <a:endParaRPr lang="en-US" sz="1300" dirty="0"/>
          </a:p>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The kind worth having, and how to earn it</a:t>
            </a:r>
            <a:endParaRPr lang="en-US" sz="13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82</a:t>
            </a:r>
            <a:endParaRPr lang="en-US" sz="1000" dirty="0"/>
          </a:p>
        </p:txBody>
      </p:sp>
      <p:sp>
        <p:nvSpPr>
          <p:cNvPr id="3" name="Text 1"/>
          <p:cNvSpPr/>
          <p:nvPr/>
        </p:nvSpPr>
        <p:spPr>
          <a:xfrm>
            <a:off x="1188720" y="1920240"/>
            <a:ext cx="9784080" cy="2377440"/>
          </a:xfrm>
          <a:prstGeom prst="rect">
            <a:avLst/>
          </a:prstGeom>
          <a:noFill/>
          <a:ln/>
        </p:spPr>
        <p:txBody>
          <a:bodyPr wrap="square" lIns="0" tIns="0" rIns="0" bIns="0" rtlCol="0" anchor="ctr"/>
          <a:lstStyle/>
          <a:p>
            <a:pPr algn="ctr" indent="0" marL="0">
              <a:lnSpc>
                <a:spcPts val="5000"/>
              </a:lnSpc>
              <a:buNone/>
            </a:pPr>
            <a:r>
              <a:rPr lang="en-US" sz="4400" dirty="0">
                <a:solidFill>
                  <a:srgbClr val="2E1F27"/>
                </a:solidFill>
                <a:latin typeface="Fraunces" pitchFamily="34" charset="0"/>
                <a:ea typeface="Fraunces" pitchFamily="34" charset="-122"/>
                <a:cs typeface="Fraunces" pitchFamily="34" charset="-120"/>
              </a:rPr>
              <a:t>Traffic is the </a:t>
            </a:r>
            <a:pPr algn="ctr" indent="0" marL="0">
              <a:lnSpc>
                <a:spcPts val="5000"/>
              </a:lnSpc>
              <a:buNone/>
            </a:pPr>
            <a:r>
              <a:rPr lang="en-US" sz="4400" i="1" dirty="0">
                <a:solidFill>
                  <a:srgbClr val="A93F63"/>
                </a:solidFill>
                <a:latin typeface="Fraunces" pitchFamily="34" charset="0"/>
                <a:ea typeface="Fraunces" pitchFamily="34" charset="-122"/>
                <a:cs typeface="Fraunces" pitchFamily="34" charset="-120"/>
              </a:rPr>
              <a:t>amplifier.</a:t>
            </a:r>
            <a:endParaRPr lang="en-US" sz="4400" dirty="0"/>
          </a:p>
        </p:txBody>
      </p:sp>
      <p:sp>
        <p:nvSpPr>
          <p:cNvPr id="4" name="Text 2"/>
          <p:cNvSpPr/>
          <p:nvPr/>
        </p:nvSpPr>
        <p:spPr>
          <a:xfrm>
            <a:off x="2011680" y="4480560"/>
            <a:ext cx="8138160" cy="548640"/>
          </a:xfrm>
          <a:prstGeom prst="rect">
            <a:avLst/>
          </a:prstGeom>
          <a:noFill/>
          <a:ln/>
        </p:spPr>
        <p:txBody>
          <a:bodyPr wrap="square" lIns="0" tIns="0" rIns="0" bIns="0" rtlCol="0" anchor="ctr"/>
          <a:lstStyle/>
          <a:p>
            <a:pPr algn="ctr" indent="0" marL="0">
              <a:buNone/>
            </a:pPr>
            <a:r>
              <a:rPr lang="en-US" sz="1400" dirty="0">
                <a:solidFill>
                  <a:srgbClr val="6E5C63"/>
                </a:solidFill>
                <a:latin typeface="Karla" pitchFamily="34" charset="0"/>
                <a:ea typeface="Karla" pitchFamily="34" charset="-122"/>
                <a:cs typeface="Karla" pitchFamily="34" charset="-120"/>
              </a:rPr>
              <a:t>It makes whatever you already have louder. Including nothing.</a:t>
            </a:r>
            <a:endParaRPr lang="en-US" sz="14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83</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WHY THIS MODULE IS LAST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Because now it can actually pay you.</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If you had brought traffic to the site you had four modules ago, it would have arrived, looked around, and left.</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Now there is an offer, copy that sells it, and a page built to convert. The same hundred visitors are worth something entirely different.</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This is the whole argument of the course in one sentence: traffic is worth exactly as much as what it lands on.</a:t>
            </a:r>
            <a:endParaRPr lang="en-US" sz="15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84</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THREE SOURCES WORTH YOUR TIME</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Pick one and get good at it. Not all three.</a:t>
            </a:r>
            <a:endParaRPr lang="en-US" sz="3200" dirty="0"/>
          </a:p>
        </p:txBody>
      </p:sp>
      <p:sp>
        <p:nvSpPr>
          <p:cNvPr id="5" name="Shape 3"/>
          <p:cNvSpPr/>
          <p:nvPr/>
        </p:nvSpPr>
        <p:spPr>
          <a:xfrm>
            <a:off x="777240"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Shape 4"/>
          <p:cNvSpPr/>
          <p:nvPr/>
        </p:nvSpPr>
        <p:spPr>
          <a:xfrm>
            <a:off x="1124712" y="2624328"/>
            <a:ext cx="530352" cy="530352"/>
          </a:xfrm>
          <a:prstGeom prst="ellipse">
            <a:avLst/>
          </a:prstGeom>
          <a:solidFill>
            <a:srgbClr val="A93F63"/>
          </a:solidFill>
          <a:ln w="12700">
            <a:solidFill>
              <a:srgbClr val="A93F63"/>
            </a:solidFill>
            <a:prstDash val="solid"/>
          </a:ln>
        </p:spPr>
      </p:sp>
      <p:sp>
        <p:nvSpPr>
          <p:cNvPr id="7" name="Text 5"/>
          <p:cNvSpPr/>
          <p:nvPr/>
        </p:nvSpPr>
        <p:spPr>
          <a:xfrm>
            <a:off x="1124712"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8" name="Text 6"/>
          <p:cNvSpPr/>
          <p:nvPr/>
        </p:nvSpPr>
        <p:spPr>
          <a:xfrm>
            <a:off x="1124712"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Search</a:t>
            </a:r>
            <a:endParaRPr lang="en-US" sz="2000" dirty="0"/>
          </a:p>
        </p:txBody>
      </p:sp>
      <p:sp>
        <p:nvSpPr>
          <p:cNvPr id="9" name="Text 7"/>
          <p:cNvSpPr/>
          <p:nvPr/>
        </p:nvSpPr>
        <p:spPr>
          <a:xfrm>
            <a:off x="1124712"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Slow to start, compounds forever. Best for problems people already type into Google.</a:t>
            </a:r>
            <a:endParaRPr lang="en-US" sz="1300" dirty="0"/>
          </a:p>
        </p:txBody>
      </p:sp>
      <p:sp>
        <p:nvSpPr>
          <p:cNvPr id="10" name="Shape 8"/>
          <p:cNvSpPr/>
          <p:nvPr/>
        </p:nvSpPr>
        <p:spPr>
          <a:xfrm>
            <a:off x="4416552"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1" name="Shape 9"/>
          <p:cNvSpPr/>
          <p:nvPr/>
        </p:nvSpPr>
        <p:spPr>
          <a:xfrm>
            <a:off x="4764024" y="2624328"/>
            <a:ext cx="530352" cy="530352"/>
          </a:xfrm>
          <a:prstGeom prst="ellipse">
            <a:avLst/>
          </a:prstGeom>
          <a:solidFill>
            <a:srgbClr val="A93F63"/>
          </a:solidFill>
          <a:ln w="12700">
            <a:solidFill>
              <a:srgbClr val="A93F63"/>
            </a:solidFill>
            <a:prstDash val="solid"/>
          </a:ln>
        </p:spPr>
      </p:sp>
      <p:sp>
        <p:nvSpPr>
          <p:cNvPr id="12" name="Text 10"/>
          <p:cNvSpPr/>
          <p:nvPr/>
        </p:nvSpPr>
        <p:spPr>
          <a:xfrm>
            <a:off x="4764024"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3" name="Text 11"/>
          <p:cNvSpPr/>
          <p:nvPr/>
        </p:nvSpPr>
        <p:spPr>
          <a:xfrm>
            <a:off x="4764024"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Social</a:t>
            </a:r>
            <a:endParaRPr lang="en-US" sz="2000" dirty="0"/>
          </a:p>
        </p:txBody>
      </p:sp>
      <p:sp>
        <p:nvSpPr>
          <p:cNvPr id="14" name="Text 12"/>
          <p:cNvSpPr/>
          <p:nvPr/>
        </p:nvSpPr>
        <p:spPr>
          <a:xfrm>
            <a:off x="4764024"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Fast, personal, and it stops when you stop. Best for building trust quickly.</a:t>
            </a:r>
            <a:endParaRPr lang="en-US" sz="1300" dirty="0"/>
          </a:p>
        </p:txBody>
      </p:sp>
      <p:sp>
        <p:nvSpPr>
          <p:cNvPr id="15" name="Shape 13"/>
          <p:cNvSpPr/>
          <p:nvPr/>
        </p:nvSpPr>
        <p:spPr>
          <a:xfrm>
            <a:off x="8055864" y="2240280"/>
            <a:ext cx="3328416" cy="3794760"/>
          </a:xfrm>
          <a:prstGeom prst="roundRect">
            <a:avLst>
              <a:gd name="adj" fmla="val 3297"/>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6" name="Shape 14"/>
          <p:cNvSpPr/>
          <p:nvPr/>
        </p:nvSpPr>
        <p:spPr>
          <a:xfrm>
            <a:off x="8403336" y="2624328"/>
            <a:ext cx="530352" cy="530352"/>
          </a:xfrm>
          <a:prstGeom prst="ellipse">
            <a:avLst/>
          </a:prstGeom>
          <a:solidFill>
            <a:srgbClr val="A93F63"/>
          </a:solidFill>
          <a:ln w="12700">
            <a:solidFill>
              <a:srgbClr val="A93F63"/>
            </a:solidFill>
            <a:prstDash val="solid"/>
          </a:ln>
        </p:spPr>
      </p:sp>
      <p:sp>
        <p:nvSpPr>
          <p:cNvPr id="17" name="Text 15"/>
          <p:cNvSpPr/>
          <p:nvPr/>
        </p:nvSpPr>
        <p:spPr>
          <a:xfrm>
            <a:off x="8403336" y="2624328"/>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8" name="Text 16"/>
          <p:cNvSpPr/>
          <p:nvPr/>
        </p:nvSpPr>
        <p:spPr>
          <a:xfrm>
            <a:off x="8403336" y="3429000"/>
            <a:ext cx="2633472" cy="868680"/>
          </a:xfrm>
          <a:prstGeom prst="rect">
            <a:avLst/>
          </a:prstGeom>
          <a:noFill/>
          <a:ln/>
        </p:spPr>
        <p:txBody>
          <a:bodyPr wrap="square" lIns="0" tIns="0" rIns="0" bIns="0" rtlCol="0" anchor="ctr"/>
          <a:lstStyle/>
          <a:p>
            <a:pPr indent="0" marL="0">
              <a:lnSpc>
                <a:spcPts val="2400"/>
              </a:lnSpc>
              <a:buNone/>
            </a:pPr>
            <a:r>
              <a:rPr lang="en-US" sz="2000" dirty="0">
                <a:solidFill>
                  <a:srgbClr val="2E1F27"/>
                </a:solidFill>
                <a:latin typeface="Fraunces" pitchFamily="34" charset="0"/>
                <a:ea typeface="Fraunces" pitchFamily="34" charset="-122"/>
                <a:cs typeface="Fraunces" pitchFamily="34" charset="-120"/>
              </a:rPr>
              <a:t>Borrowed</a:t>
            </a:r>
            <a:endParaRPr lang="en-US" sz="2000" dirty="0"/>
          </a:p>
        </p:txBody>
      </p:sp>
      <p:sp>
        <p:nvSpPr>
          <p:cNvPr id="19" name="Text 17"/>
          <p:cNvSpPr/>
          <p:nvPr/>
        </p:nvSpPr>
        <p:spPr>
          <a:xfrm>
            <a:off x="8403336" y="4434840"/>
            <a:ext cx="2633472" cy="146304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Podcasts, guest posts, collaborations. Someone else's trust, lent to you for an afternoon.</a:t>
            </a:r>
            <a:endParaRPr lang="en-US" sz="13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85</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PATH</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How a stranger becomes a client.</a:t>
            </a:r>
            <a:endParaRPr lang="en-US" sz="3200" dirty="0"/>
          </a:p>
        </p:txBody>
      </p:sp>
      <p:sp>
        <p:nvSpPr>
          <p:cNvPr id="5" name="Shape 3"/>
          <p:cNvSpPr/>
          <p:nvPr/>
        </p:nvSpPr>
        <p:spPr>
          <a:xfrm>
            <a:off x="777240" y="2377440"/>
            <a:ext cx="566928" cy="566928"/>
          </a:xfrm>
          <a:prstGeom prst="ellipse">
            <a:avLst/>
          </a:prstGeom>
          <a:solidFill>
            <a:srgbClr val="A93F63"/>
          </a:solidFill>
          <a:ln w="12700">
            <a:solidFill>
              <a:srgbClr val="A93F63"/>
            </a:solidFill>
            <a:prstDash val="solid"/>
          </a:ln>
        </p:spPr>
      </p:sp>
      <p:sp>
        <p:nvSpPr>
          <p:cNvPr id="6" name="Text 4"/>
          <p:cNvSpPr/>
          <p:nvPr/>
        </p:nvSpPr>
        <p:spPr>
          <a:xfrm>
            <a:off x="77724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7" name="Text 5"/>
          <p:cNvSpPr/>
          <p:nvPr/>
        </p:nvSpPr>
        <p:spPr>
          <a:xfrm>
            <a:off x="77724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She finds a post</a:t>
            </a:r>
            <a:endParaRPr lang="en-US" sz="1900" dirty="0"/>
          </a:p>
        </p:txBody>
      </p:sp>
      <p:sp>
        <p:nvSpPr>
          <p:cNvPr id="8" name="Text 6"/>
          <p:cNvSpPr/>
          <p:nvPr/>
        </p:nvSpPr>
        <p:spPr>
          <a:xfrm>
            <a:off x="77724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Search or social brings her to something genuinely useful.</a:t>
            </a:r>
            <a:endParaRPr lang="en-US" sz="1300" dirty="0"/>
          </a:p>
        </p:txBody>
      </p:sp>
      <p:sp>
        <p:nvSpPr>
          <p:cNvPr id="9" name="Shape 7"/>
          <p:cNvSpPr/>
          <p:nvPr/>
        </p:nvSpPr>
        <p:spPr>
          <a:xfrm>
            <a:off x="3497580" y="2377440"/>
            <a:ext cx="566928" cy="566928"/>
          </a:xfrm>
          <a:prstGeom prst="ellipse">
            <a:avLst/>
          </a:prstGeom>
          <a:solidFill>
            <a:srgbClr val="A93F63"/>
          </a:solidFill>
          <a:ln w="12700">
            <a:solidFill>
              <a:srgbClr val="A93F63"/>
            </a:solidFill>
            <a:prstDash val="solid"/>
          </a:ln>
        </p:spPr>
      </p:sp>
      <p:sp>
        <p:nvSpPr>
          <p:cNvPr id="10" name="Text 8"/>
          <p:cNvSpPr/>
          <p:nvPr/>
        </p:nvSpPr>
        <p:spPr>
          <a:xfrm>
            <a:off x="349758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1" name="Text 9"/>
          <p:cNvSpPr/>
          <p:nvPr/>
        </p:nvSpPr>
        <p:spPr>
          <a:xfrm>
            <a:off x="349758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She joins the list</a:t>
            </a:r>
            <a:endParaRPr lang="en-US" sz="1900" dirty="0"/>
          </a:p>
        </p:txBody>
      </p:sp>
      <p:sp>
        <p:nvSpPr>
          <p:cNvPr id="12" name="Text 10"/>
          <p:cNvSpPr/>
          <p:nvPr/>
        </p:nvSpPr>
        <p:spPr>
          <a:xfrm>
            <a:off x="349758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post points to a freebie worth her email address.</a:t>
            </a:r>
            <a:endParaRPr lang="en-US" sz="1300" dirty="0"/>
          </a:p>
        </p:txBody>
      </p:sp>
      <p:sp>
        <p:nvSpPr>
          <p:cNvPr id="13" name="Shape 11"/>
          <p:cNvSpPr/>
          <p:nvPr/>
        </p:nvSpPr>
        <p:spPr>
          <a:xfrm>
            <a:off x="6217920" y="2377440"/>
            <a:ext cx="566928" cy="566928"/>
          </a:xfrm>
          <a:prstGeom prst="ellipse">
            <a:avLst/>
          </a:prstGeom>
          <a:solidFill>
            <a:srgbClr val="A93F63"/>
          </a:solidFill>
          <a:ln w="12700">
            <a:solidFill>
              <a:srgbClr val="A93F63"/>
            </a:solidFill>
            <a:prstDash val="solid"/>
          </a:ln>
        </p:spPr>
      </p:sp>
      <p:sp>
        <p:nvSpPr>
          <p:cNvPr id="14" name="Text 12"/>
          <p:cNvSpPr/>
          <p:nvPr/>
        </p:nvSpPr>
        <p:spPr>
          <a:xfrm>
            <a:off x="621792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5" name="Text 13"/>
          <p:cNvSpPr/>
          <p:nvPr/>
        </p:nvSpPr>
        <p:spPr>
          <a:xfrm>
            <a:off x="621792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She gets to know you</a:t>
            </a:r>
            <a:endParaRPr lang="en-US" sz="1900" dirty="0"/>
          </a:p>
        </p:txBody>
      </p:sp>
      <p:sp>
        <p:nvSpPr>
          <p:cNvPr id="16" name="Text 14"/>
          <p:cNvSpPr/>
          <p:nvPr/>
        </p:nvSpPr>
        <p:spPr>
          <a:xfrm>
            <a:off x="621792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A few emails where you are helpful and human, not constantly selling.</a:t>
            </a:r>
            <a:endParaRPr lang="en-US" sz="1300" dirty="0"/>
          </a:p>
        </p:txBody>
      </p:sp>
      <p:sp>
        <p:nvSpPr>
          <p:cNvPr id="17" name="Shape 15"/>
          <p:cNvSpPr/>
          <p:nvPr/>
        </p:nvSpPr>
        <p:spPr>
          <a:xfrm>
            <a:off x="8938260" y="2377440"/>
            <a:ext cx="566928" cy="566928"/>
          </a:xfrm>
          <a:prstGeom prst="ellipse">
            <a:avLst/>
          </a:prstGeom>
          <a:solidFill>
            <a:srgbClr val="A93F63"/>
          </a:solidFill>
          <a:ln w="12700">
            <a:solidFill>
              <a:srgbClr val="A93F63"/>
            </a:solidFill>
            <a:prstDash val="solid"/>
          </a:ln>
        </p:spPr>
      </p:sp>
      <p:sp>
        <p:nvSpPr>
          <p:cNvPr id="18" name="Text 16"/>
          <p:cNvSpPr/>
          <p:nvPr/>
        </p:nvSpPr>
        <p:spPr>
          <a:xfrm>
            <a:off x="893826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4</a:t>
            </a:r>
            <a:endParaRPr lang="en-US" sz="1500" dirty="0"/>
          </a:p>
        </p:txBody>
      </p:sp>
      <p:sp>
        <p:nvSpPr>
          <p:cNvPr id="19" name="Text 17"/>
          <p:cNvSpPr/>
          <p:nvPr/>
        </p:nvSpPr>
        <p:spPr>
          <a:xfrm>
            <a:off x="893826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She buys</a:t>
            </a:r>
            <a:endParaRPr lang="en-US" sz="1900" dirty="0"/>
          </a:p>
        </p:txBody>
      </p:sp>
      <p:sp>
        <p:nvSpPr>
          <p:cNvPr id="20" name="Text 18"/>
          <p:cNvSpPr/>
          <p:nvPr/>
        </p:nvSpPr>
        <p:spPr>
          <a:xfrm>
            <a:off x="893826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When she is ready, the offer is right there and it is obvious.</a:t>
            </a:r>
            <a:endParaRPr lang="en-US" sz="13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86</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WHAT TO WRITE ABOUT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Content that leads somewhere, not content that just exists.</a:t>
            </a:r>
            <a:endParaRPr lang="en-US" sz="3200" dirty="0"/>
          </a:p>
        </p:txBody>
      </p:sp>
      <p:sp>
        <p:nvSpPr>
          <p:cNvPr id="5" name="Text 3"/>
          <p:cNvSpPr/>
          <p:nvPr/>
        </p:nvSpPr>
        <p:spPr>
          <a:xfrm>
            <a:off x="822960" y="2331720"/>
            <a:ext cx="9875520" cy="3840480"/>
          </a:xfrm>
          <a:prstGeom prst="rect">
            <a:avLst/>
          </a:prstGeom>
          <a:noFill/>
          <a:ln/>
        </p:spPr>
        <p:txBody>
          <a:bodyPr wrap="square" lIns="0" tIns="0" rIns="0" bIns="0" rtlCol="0" anchor="ctr"/>
          <a:lstStyle/>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questions people ask right before they are ready to buy</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mistake you see constantly, and what to do instead</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behind the scenes of a real result</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thing everyone in your niche says, and why you disagree</a:t>
            </a:r>
            <a:endParaRPr lang="en-US" sz="1500" dirty="0"/>
          </a:p>
          <a:p>
            <a:pPr marL="342900" indent="-342900">
              <a:lnSpc>
                <a:spcPts val="2300"/>
              </a:lnSpc>
              <a:spcAft>
                <a:spcPts val="2000"/>
              </a:spcAft>
              <a:buSzPct val="100000"/>
              <a:buChar char="●"/>
            </a:pPr>
            <a:r>
              <a:rPr lang="en-US" sz="1500" dirty="0">
                <a:solidFill>
                  <a:srgbClr val="2E1F27"/>
                </a:solidFill>
                <a:latin typeface="Karla" pitchFamily="34" charset="0"/>
                <a:ea typeface="Karla" pitchFamily="34" charset="-122"/>
                <a:cs typeface="Karla" pitchFamily="34" charset="-120"/>
              </a:rPr>
              <a:t>The step-by-step for the part they can do themselves</a:t>
            </a:r>
            <a:endParaRPr lang="en-US" sz="15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87</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NOT ALL TRAFFIC IS EQUAL</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Big numbers are not the goal. Right numbers are.</a:t>
            </a:r>
            <a:endParaRPr lang="en-US" sz="3200" dirty="0"/>
          </a:p>
        </p:txBody>
      </p:sp>
      <p:sp>
        <p:nvSpPr>
          <p:cNvPr id="5" name="Shape 3"/>
          <p:cNvSpPr/>
          <p:nvPr/>
        </p:nvSpPr>
        <p:spPr>
          <a:xfrm>
            <a:off x="777240" y="2194560"/>
            <a:ext cx="5120640" cy="3840480"/>
          </a:xfrm>
          <a:prstGeom prst="roundRect">
            <a:avLst>
              <a:gd name="adj" fmla="val 2857"/>
            </a:avLst>
          </a:prstGeom>
          <a:solidFill>
            <a:srgbClr val="FBF6EE"/>
          </a:solidFill>
          <a:ln w="9525">
            <a:solidFill>
              <a:srgbClr val="D8CCC0"/>
            </a:solidFill>
            <a:prstDash val="solid"/>
          </a:ln>
        </p:spPr>
      </p:sp>
      <p:sp>
        <p:nvSpPr>
          <p:cNvPr id="6" name="Text 4"/>
          <p:cNvSpPr/>
          <p:nvPr/>
        </p:nvSpPr>
        <p:spPr>
          <a:xfrm>
            <a:off x="11430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6E5C63"/>
                </a:solidFill>
                <a:latin typeface="Karla" pitchFamily="34" charset="0"/>
                <a:ea typeface="Karla" pitchFamily="34" charset="-122"/>
                <a:cs typeface="Karla" pitchFamily="34" charset="-120"/>
              </a:rPr>
              <a:t>TRAFFIC THAT FEELS GOOD</a:t>
            </a:r>
            <a:endParaRPr lang="en-US" sz="1100" dirty="0"/>
          </a:p>
        </p:txBody>
      </p:sp>
      <p:sp>
        <p:nvSpPr>
          <p:cNvPr id="7" name="Text 5"/>
          <p:cNvSpPr/>
          <p:nvPr/>
        </p:nvSpPr>
        <p:spPr>
          <a:xfrm>
            <a:off x="11430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A viral post about nothing</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Visitors from the wrong country</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People who came for a free tool</a:t>
            </a:r>
            <a:endParaRPr lang="en-US" sz="1300" dirty="0"/>
          </a:p>
          <a:p>
            <a:pPr marL="342900" indent="-342900">
              <a:lnSpc>
                <a:spcPts val="1900"/>
              </a:lnSpc>
              <a:spcAft>
                <a:spcPts val="1000"/>
              </a:spcAft>
              <a:buSzPct val="100000"/>
              <a:buChar char="✕"/>
            </a:pPr>
            <a:r>
              <a:rPr lang="en-US" sz="1300" dirty="0">
                <a:solidFill>
                  <a:srgbClr val="6E5C63"/>
                </a:solidFill>
                <a:latin typeface="Karla" pitchFamily="34" charset="0"/>
                <a:ea typeface="Karla" pitchFamily="34" charset="-122"/>
                <a:cs typeface="Karla" pitchFamily="34" charset="-120"/>
              </a:rPr>
              <a:t>Followers who never open anything</a:t>
            </a:r>
            <a:endParaRPr lang="en-US" sz="1300" dirty="0"/>
          </a:p>
        </p:txBody>
      </p:sp>
      <p:sp>
        <p:nvSpPr>
          <p:cNvPr id="8" name="Shape 6"/>
          <p:cNvSpPr/>
          <p:nvPr/>
        </p:nvSpPr>
        <p:spPr>
          <a:xfrm>
            <a:off x="6263640" y="2194560"/>
            <a:ext cx="5120640" cy="3840480"/>
          </a:xfrm>
          <a:prstGeom prst="roundRect">
            <a:avLst>
              <a:gd name="adj" fmla="val 2857"/>
            </a:avLst>
          </a:prstGeom>
          <a:solidFill>
            <a:srgbClr val="2E1F27"/>
          </a:solidFill>
          <a:ln w="9525">
            <a:solidFill>
              <a:srgbClr val="2E1F27"/>
            </a:solidFill>
            <a:prstDash val="solid"/>
          </a:ln>
          <a:effectLst>
            <a:outerShdw sx="100000" sy="100000" kx="0" ky="0" algn="bl" rotWithShape="0" blurRad="177800" dist="50800" dir="5400000">
              <a:srgbClr val="2E1F27">
                <a:alpha val="13000"/>
              </a:srgbClr>
            </a:outerShdw>
          </a:effectLst>
        </p:spPr>
      </p:sp>
      <p:sp>
        <p:nvSpPr>
          <p:cNvPr id="9" name="Text 7"/>
          <p:cNvSpPr/>
          <p:nvPr/>
        </p:nvSpPr>
        <p:spPr>
          <a:xfrm>
            <a:off x="6629400" y="2542032"/>
            <a:ext cx="438912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TRAFFIC THAT CONVERTS</a:t>
            </a:r>
            <a:endParaRPr lang="en-US" sz="1100" dirty="0"/>
          </a:p>
        </p:txBody>
      </p:sp>
      <p:sp>
        <p:nvSpPr>
          <p:cNvPr id="10" name="Text 8"/>
          <p:cNvSpPr/>
          <p:nvPr/>
        </p:nvSpPr>
        <p:spPr>
          <a:xfrm>
            <a:off x="6629400" y="3035808"/>
            <a:ext cx="4389120" cy="2651760"/>
          </a:xfrm>
          <a:prstGeom prst="rect">
            <a:avLst/>
          </a:prstGeom>
          <a:noFill/>
          <a:ln/>
        </p:spPr>
        <p:txBody>
          <a:bodyPr wrap="square" lIns="0" tIns="0" rIns="0" bIns="0" rtlCol="0" anchor="ctr"/>
          <a:lstStyle/>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A post answering a buying question</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Visitors who match your person</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People who came for your topic</a:t>
            </a:r>
            <a:endParaRPr lang="en-US" sz="1300" dirty="0"/>
          </a:p>
          <a:p>
            <a:pPr marL="342900" indent="-342900">
              <a:lnSpc>
                <a:spcPts val="1900"/>
              </a:lnSpc>
              <a:spcAft>
                <a:spcPts val="1000"/>
              </a:spcAft>
              <a:buSzPct val="100000"/>
              <a:buChar char="✓"/>
            </a:pPr>
            <a:r>
              <a:rPr lang="en-US" sz="1300" dirty="0">
                <a:solidFill>
                  <a:srgbClr val="FBF6EE"/>
                </a:solidFill>
                <a:latin typeface="Karla" pitchFamily="34" charset="0"/>
                <a:ea typeface="Karla" pitchFamily="34" charset="-122"/>
                <a:cs typeface="Karla" pitchFamily="34" charset="-120"/>
              </a:rPr>
              <a:t>A small list that opens everything</a:t>
            </a:r>
            <a:endParaRPr lang="en-US" sz="13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88</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EMAIL LIST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The only audience you actually own.</a:t>
            </a:r>
            <a:endParaRPr lang="en-US" sz="3200" dirty="0"/>
          </a:p>
        </p:txBody>
      </p:sp>
      <p:sp>
        <p:nvSpPr>
          <p:cNvPr id="5" name="Text 3"/>
          <p:cNvSpPr/>
          <p:nvPr/>
        </p:nvSpPr>
        <p:spPr>
          <a:xfrm>
            <a:off x="777240" y="2148840"/>
            <a:ext cx="10058400" cy="3840480"/>
          </a:xfrm>
          <a:prstGeom prst="rect">
            <a:avLst/>
          </a:prstGeom>
          <a:noFill/>
          <a:ln/>
        </p:spPr>
        <p:txBody>
          <a:bodyPr wrap="square" lIns="0" tIns="0" rIns="0" bIns="0" rtlCol="0" anchor="ctr"/>
          <a:lstStyle/>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Social platforms lend you an audience and can take it back tomorrow. Search rankings move. An email list is yours.</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You do not need a big one. A few hundred people who genuinely want to hear from you will out-earn thousands of passive followers.</a:t>
            </a:r>
            <a:endParaRPr lang="en-US" sz="1550" dirty="0"/>
          </a:p>
          <a:p>
            <a:pPr indent="0" marL="0">
              <a:lnSpc>
                <a:spcPts val="2600"/>
              </a:lnSpc>
              <a:spcAft>
                <a:spcPts val="1600"/>
              </a:spcAft>
              <a:buNone/>
            </a:pPr>
            <a:r>
              <a:rPr lang="en-US" sz="1550" dirty="0">
                <a:solidFill>
                  <a:srgbClr val="2E1F27"/>
                </a:solidFill>
                <a:latin typeface="Karla" pitchFamily="34" charset="0"/>
                <a:ea typeface="Karla" pitchFamily="34" charset="-122"/>
                <a:cs typeface="Karla" pitchFamily="34" charset="-120"/>
              </a:rPr>
              <a:t>Give away something specific enough to be worth an email address, then actually email them. The second half is where most people quit.</a:t>
            </a:r>
            <a:endParaRPr lang="en-US" sz="1550" dirty="0"/>
          </a:p>
        </p:txBody>
      </p:sp>
      <p:sp>
        <p:nvSpPr>
          <p:cNvPr id="6" name="Text 4"/>
          <p:cNvSpPr/>
          <p:nvPr/>
        </p:nvSpPr>
        <p:spPr>
          <a:xfrm>
            <a:off x="777240" y="5806440"/>
            <a:ext cx="10607040" cy="457200"/>
          </a:xfrm>
          <a:prstGeom prst="rect">
            <a:avLst/>
          </a:prstGeom>
          <a:noFill/>
          <a:ln/>
        </p:spPr>
        <p:txBody>
          <a:bodyPr wrap="square" lIns="0" tIns="0" rIns="0" bIns="0" rtlCol="0" anchor="ctr"/>
          <a:lstStyle/>
          <a:p>
            <a:pPr algn="l" indent="0" marL="0">
              <a:buNone/>
            </a:pPr>
            <a:r>
              <a:rPr lang="en-US" sz="2200" dirty="0">
                <a:solidFill>
                  <a:srgbClr val="BC8A47"/>
                </a:solidFill>
                <a:latin typeface="Ephesis" pitchFamily="34" charset="0"/>
                <a:ea typeface="Ephesis" pitchFamily="34" charset="-122"/>
                <a:cs typeface="Ephesis" pitchFamily="34" charset="-120"/>
              </a:rPr>
              <a:t>small and warm beats big and cold</a:t>
            </a:r>
            <a:endParaRPr lang="en-US" sz="22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89</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TRAFFIC CHECKLIST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Before you chase a single new visitor.</a:t>
            </a:r>
            <a:endParaRPr lang="en-US" sz="3200" dirty="0"/>
          </a:p>
        </p:txBody>
      </p:sp>
      <p:sp>
        <p:nvSpPr>
          <p:cNvPr id="5" name="Shape 3"/>
          <p:cNvSpPr/>
          <p:nvPr/>
        </p:nvSpPr>
        <p:spPr>
          <a:xfrm>
            <a:off x="777240" y="2377440"/>
            <a:ext cx="310896" cy="310896"/>
          </a:xfrm>
          <a:prstGeom prst="roundRect">
            <a:avLst>
              <a:gd name="adj" fmla="val 17647"/>
            </a:avLst>
          </a:prstGeom>
          <a:solidFill>
            <a:srgbClr val="FFFFFF"/>
          </a:solidFill>
          <a:ln w="15875">
            <a:solidFill>
              <a:srgbClr val="A93F63"/>
            </a:solidFill>
            <a:prstDash val="solid"/>
          </a:ln>
        </p:spPr>
      </p:sp>
      <p:sp>
        <p:nvSpPr>
          <p:cNvPr id="6" name="Text 4"/>
          <p:cNvSpPr/>
          <p:nvPr/>
        </p:nvSpPr>
        <p:spPr>
          <a:xfrm>
            <a:off x="1280160" y="234086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There is an offer on my site worth arriving to</a:t>
            </a:r>
            <a:endParaRPr lang="en-US" sz="1400" dirty="0"/>
          </a:p>
        </p:txBody>
      </p:sp>
      <p:sp>
        <p:nvSpPr>
          <p:cNvPr id="7" name="Shape 5"/>
          <p:cNvSpPr/>
          <p:nvPr/>
        </p:nvSpPr>
        <p:spPr>
          <a:xfrm>
            <a:off x="777240" y="3108960"/>
            <a:ext cx="310896" cy="310896"/>
          </a:xfrm>
          <a:prstGeom prst="roundRect">
            <a:avLst>
              <a:gd name="adj" fmla="val 17647"/>
            </a:avLst>
          </a:prstGeom>
          <a:solidFill>
            <a:srgbClr val="FFFFFF"/>
          </a:solidFill>
          <a:ln w="15875">
            <a:solidFill>
              <a:srgbClr val="A93F63"/>
            </a:solidFill>
            <a:prstDash val="solid"/>
          </a:ln>
        </p:spPr>
      </p:sp>
      <p:sp>
        <p:nvSpPr>
          <p:cNvPr id="8" name="Text 6"/>
          <p:cNvSpPr/>
          <p:nvPr/>
        </p:nvSpPr>
        <p:spPr>
          <a:xfrm>
            <a:off x="1280160" y="307238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 have one freebie worth an email address</a:t>
            </a:r>
            <a:endParaRPr lang="en-US" sz="1400" dirty="0"/>
          </a:p>
        </p:txBody>
      </p:sp>
      <p:sp>
        <p:nvSpPr>
          <p:cNvPr id="9" name="Shape 7"/>
          <p:cNvSpPr/>
          <p:nvPr/>
        </p:nvSpPr>
        <p:spPr>
          <a:xfrm>
            <a:off x="777240" y="3840480"/>
            <a:ext cx="310896" cy="310896"/>
          </a:xfrm>
          <a:prstGeom prst="roundRect">
            <a:avLst>
              <a:gd name="adj" fmla="val 17647"/>
            </a:avLst>
          </a:prstGeom>
          <a:solidFill>
            <a:srgbClr val="FFFFFF"/>
          </a:solidFill>
          <a:ln w="15875">
            <a:solidFill>
              <a:srgbClr val="A93F63"/>
            </a:solidFill>
            <a:prstDash val="solid"/>
          </a:ln>
        </p:spPr>
      </p:sp>
      <p:sp>
        <p:nvSpPr>
          <p:cNvPr id="10" name="Text 8"/>
          <p:cNvSpPr/>
          <p:nvPr/>
        </p:nvSpPr>
        <p:spPr>
          <a:xfrm>
            <a:off x="1280160" y="380390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Every post points somewhere specific</a:t>
            </a:r>
            <a:endParaRPr lang="en-US" sz="1400" dirty="0"/>
          </a:p>
        </p:txBody>
      </p:sp>
      <p:sp>
        <p:nvSpPr>
          <p:cNvPr id="11" name="Shape 9"/>
          <p:cNvSpPr/>
          <p:nvPr/>
        </p:nvSpPr>
        <p:spPr>
          <a:xfrm>
            <a:off x="777240" y="4572000"/>
            <a:ext cx="310896" cy="310896"/>
          </a:xfrm>
          <a:prstGeom prst="roundRect">
            <a:avLst>
              <a:gd name="adj" fmla="val 17647"/>
            </a:avLst>
          </a:prstGeom>
          <a:solidFill>
            <a:srgbClr val="FFFFFF"/>
          </a:solidFill>
          <a:ln w="15875">
            <a:solidFill>
              <a:srgbClr val="A93F63"/>
            </a:solidFill>
            <a:prstDash val="solid"/>
          </a:ln>
        </p:spPr>
      </p:sp>
      <p:sp>
        <p:nvSpPr>
          <p:cNvPr id="12" name="Text 10"/>
          <p:cNvSpPr/>
          <p:nvPr/>
        </p:nvSpPr>
        <p:spPr>
          <a:xfrm>
            <a:off x="1280160" y="453542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 have chosen one traffic source to focus on</a:t>
            </a:r>
            <a:endParaRPr lang="en-US" sz="1400" dirty="0"/>
          </a:p>
        </p:txBody>
      </p:sp>
      <p:sp>
        <p:nvSpPr>
          <p:cNvPr id="13" name="Shape 11"/>
          <p:cNvSpPr/>
          <p:nvPr/>
        </p:nvSpPr>
        <p:spPr>
          <a:xfrm>
            <a:off x="777240" y="5303520"/>
            <a:ext cx="310896" cy="310896"/>
          </a:xfrm>
          <a:prstGeom prst="roundRect">
            <a:avLst>
              <a:gd name="adj" fmla="val 17647"/>
            </a:avLst>
          </a:prstGeom>
          <a:solidFill>
            <a:srgbClr val="FFFFFF"/>
          </a:solidFill>
          <a:ln w="15875">
            <a:solidFill>
              <a:srgbClr val="A93F63"/>
            </a:solidFill>
            <a:prstDash val="solid"/>
          </a:ln>
        </p:spPr>
      </p:sp>
      <p:sp>
        <p:nvSpPr>
          <p:cNvPr id="14" name="Text 12"/>
          <p:cNvSpPr/>
          <p:nvPr/>
        </p:nvSpPr>
        <p:spPr>
          <a:xfrm>
            <a:off x="1280160" y="526694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 email my list at least twice a month</a:t>
            </a:r>
            <a:endParaRPr lang="en-US" sz="14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0DCE2"/>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90</a:t>
            </a:r>
            <a:endParaRPr lang="en-US" sz="1000" dirty="0"/>
          </a:p>
        </p:txBody>
      </p:sp>
      <p:sp>
        <p:nvSpPr>
          <p:cNvPr id="3" name="Text 1"/>
          <p:cNvSpPr/>
          <p:nvPr/>
        </p:nvSpPr>
        <p:spPr>
          <a:xfrm>
            <a:off x="914400" y="914400"/>
            <a:ext cx="1371600" cy="1371600"/>
          </a:xfrm>
          <a:prstGeom prst="rect">
            <a:avLst/>
          </a:prstGeom>
          <a:noFill/>
          <a:ln/>
        </p:spPr>
        <p:txBody>
          <a:bodyPr wrap="square" lIns="0" tIns="0" rIns="0" bIns="0" rtlCol="0" anchor="ctr"/>
          <a:lstStyle/>
          <a:p>
            <a:pPr indent="0" marL="0">
              <a:buNone/>
            </a:pPr>
            <a:r>
              <a:rPr lang="en-US" sz="11000" i="1" dirty="0">
                <a:solidFill>
                  <a:srgbClr val="A93F63"/>
                </a:solidFill>
                <a:latin typeface="Fraunces" pitchFamily="34" charset="0"/>
                <a:ea typeface="Fraunces" pitchFamily="34" charset="-122"/>
                <a:cs typeface="Fraunces" pitchFamily="34" charset="-120"/>
              </a:rPr>
              <a:t>“</a:t>
            </a:r>
            <a:endParaRPr lang="en-US" sz="11000" dirty="0"/>
          </a:p>
        </p:txBody>
      </p:sp>
      <p:sp>
        <p:nvSpPr>
          <p:cNvPr id="4" name="Text 2"/>
          <p:cNvSpPr/>
          <p:nvPr/>
        </p:nvSpPr>
        <p:spPr>
          <a:xfrm>
            <a:off x="1691640" y="1965960"/>
            <a:ext cx="8778240" cy="2377440"/>
          </a:xfrm>
          <a:prstGeom prst="rect">
            <a:avLst/>
          </a:prstGeom>
          <a:noFill/>
          <a:ln/>
        </p:spPr>
        <p:txBody>
          <a:bodyPr wrap="square" lIns="0" tIns="0" rIns="0" bIns="0" rtlCol="0" anchor="ctr"/>
          <a:lstStyle/>
          <a:p>
            <a:pPr algn="ctr" indent="0" marL="0">
              <a:lnSpc>
                <a:spcPts val="3800"/>
              </a:lnSpc>
              <a:buNone/>
            </a:pPr>
            <a:r>
              <a:rPr lang="en-US" sz="3000" i="1" dirty="0">
                <a:solidFill>
                  <a:srgbClr val="2E1F27"/>
                </a:solidFill>
                <a:latin typeface="Fraunces" pitchFamily="34" charset="0"/>
                <a:ea typeface="Fraunces" pitchFamily="34" charset="-122"/>
                <a:cs typeface="Fraunces" pitchFamily="34" charset="-120"/>
              </a:rPr>
              <a:t>Traffic is worth exactly as much as what it lands on. Ten thousand visitors times nothing is still nothing.</a:t>
            </a:r>
            <a:endParaRPr lang="en-US" sz="3000" dirty="0"/>
          </a:p>
        </p:txBody>
      </p:sp>
      <p:sp>
        <p:nvSpPr>
          <p:cNvPr id="5" name="Text 3"/>
          <p:cNvSpPr/>
          <p:nvPr/>
        </p:nvSpPr>
        <p:spPr>
          <a:xfrm>
            <a:off x="2377440" y="4572000"/>
            <a:ext cx="7406640" cy="365760"/>
          </a:xfrm>
          <a:prstGeom prst="rect">
            <a:avLst/>
          </a:prstGeom>
          <a:noFill/>
          <a:ln/>
        </p:spPr>
        <p:txBody>
          <a:bodyPr wrap="square" lIns="0" tIns="0" rIns="0" bIns="0" rtlCol="0" anchor="ctr"/>
          <a:lstStyle/>
          <a:p>
            <a:pPr algn="ctr" indent="0" marL="0">
              <a:buNone/>
            </a:pPr>
            <a:r>
              <a:rPr lang="en-US" sz="1100" b="1" spc="400" kern="0" dirty="0">
                <a:solidFill>
                  <a:srgbClr val="7C2B48"/>
                </a:solidFill>
                <a:latin typeface="Karla" pitchFamily="34" charset="0"/>
                <a:ea typeface="Karla" pitchFamily="34" charset="-122"/>
                <a:cs typeface="Karla" pitchFamily="34" charset="-120"/>
              </a:rPr>
              <a:t>THE LAST LESSON</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4EBD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91</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YOUR TURN</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Choose one.</a:t>
            </a:r>
            <a:endParaRPr lang="en-US" sz="3200" dirty="0"/>
          </a:p>
        </p:txBody>
      </p:sp>
      <p:sp>
        <p:nvSpPr>
          <p:cNvPr id="5" name="Shape 3"/>
          <p:cNvSpPr/>
          <p:nvPr/>
        </p:nvSpPr>
        <p:spPr>
          <a:xfrm>
            <a:off x="777240" y="2148840"/>
            <a:ext cx="10607040" cy="3703320"/>
          </a:xfrm>
          <a:prstGeom prst="roundRect">
            <a:avLst>
              <a:gd name="adj" fmla="val 2963"/>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234440" y="2487168"/>
            <a:ext cx="9692640" cy="731520"/>
          </a:xfrm>
          <a:prstGeom prst="rect">
            <a:avLst/>
          </a:prstGeom>
          <a:noFill/>
          <a:ln/>
        </p:spPr>
        <p:txBody>
          <a:bodyPr wrap="square" lIns="0" tIns="0" rIns="0" bIns="0" rtlCol="0" anchor="ctr"/>
          <a:lstStyle/>
          <a:p>
            <a:pPr indent="0" marL="0">
              <a:lnSpc>
                <a:spcPts val="2400"/>
              </a:lnSpc>
              <a:buNone/>
            </a:pPr>
            <a:r>
              <a:rPr lang="en-US" sz="2000" i="1" dirty="0">
                <a:solidFill>
                  <a:srgbClr val="A93F63"/>
                </a:solidFill>
                <a:latin typeface="Fraunces" pitchFamily="34" charset="0"/>
                <a:ea typeface="Fraunces" pitchFamily="34" charset="-122"/>
                <a:cs typeface="Fraunces" pitchFamily="34" charset="-120"/>
              </a:rPr>
              <a:t>Which single traffic source are you committing to for the next 90 days, and what will you publish there?</a:t>
            </a:r>
            <a:endParaRPr lang="en-US" sz="2000" dirty="0"/>
          </a:p>
        </p:txBody>
      </p:sp>
      <p:sp>
        <p:nvSpPr>
          <p:cNvPr id="7" name="Shape 5"/>
          <p:cNvSpPr/>
          <p:nvPr/>
        </p:nvSpPr>
        <p:spPr>
          <a:xfrm>
            <a:off x="1234440" y="3429000"/>
            <a:ext cx="9692640" cy="0"/>
          </a:xfrm>
          <a:prstGeom prst="line">
            <a:avLst/>
          </a:prstGeom>
          <a:noFill/>
          <a:ln w="12700">
            <a:solidFill>
              <a:srgbClr val="DCD2C7"/>
            </a:solidFill>
            <a:prstDash val="dash"/>
          </a:ln>
        </p:spPr>
      </p:sp>
      <p:sp>
        <p:nvSpPr>
          <p:cNvPr id="8" name="Shape 6"/>
          <p:cNvSpPr/>
          <p:nvPr/>
        </p:nvSpPr>
        <p:spPr>
          <a:xfrm>
            <a:off x="1234440" y="3995928"/>
            <a:ext cx="9692640" cy="0"/>
          </a:xfrm>
          <a:prstGeom prst="line">
            <a:avLst/>
          </a:prstGeom>
          <a:noFill/>
          <a:ln w="12700">
            <a:solidFill>
              <a:srgbClr val="DCD2C7"/>
            </a:solidFill>
            <a:prstDash val="dash"/>
          </a:ln>
        </p:spPr>
      </p:sp>
      <p:sp>
        <p:nvSpPr>
          <p:cNvPr id="9" name="Shape 7"/>
          <p:cNvSpPr/>
          <p:nvPr/>
        </p:nvSpPr>
        <p:spPr>
          <a:xfrm>
            <a:off x="1234440" y="4562856"/>
            <a:ext cx="9692640" cy="0"/>
          </a:xfrm>
          <a:prstGeom prst="line">
            <a:avLst/>
          </a:prstGeom>
          <a:noFill/>
          <a:ln w="12700">
            <a:solidFill>
              <a:srgbClr val="DCD2C7"/>
            </a:solidFill>
            <a:prstDash val="dash"/>
          </a:ln>
        </p:spPr>
      </p:sp>
      <p:sp>
        <p:nvSpPr>
          <p:cNvPr id="10" name="Shape 8"/>
          <p:cNvSpPr/>
          <p:nvPr/>
        </p:nvSpPr>
        <p:spPr>
          <a:xfrm>
            <a:off x="1234440" y="5129784"/>
            <a:ext cx="9692640" cy="0"/>
          </a:xfrm>
          <a:prstGeom prst="line">
            <a:avLst/>
          </a:prstGeom>
          <a:noFill/>
          <a:ln w="12700">
            <a:solidFill>
              <a:srgbClr val="DCD2C7"/>
            </a:solidFill>
            <a:prstDash val="dash"/>
          </a:ln>
        </p:spPr>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92</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indent="0" marL="0">
              <a:buNone/>
            </a:pPr>
            <a:r>
              <a:rPr lang="en-US" sz="1100" b="1" spc="300" kern="0" dirty="0">
                <a:solidFill>
                  <a:srgbClr val="BC8A47"/>
                </a:solidFill>
                <a:latin typeface="Karla" pitchFamily="34" charset="0"/>
                <a:ea typeface="Karla" pitchFamily="34" charset="-122"/>
                <a:cs typeface="Karla" pitchFamily="34" charset="-120"/>
              </a:rPr>
              <a:t>MODULE FIVE</a:t>
            </a:r>
            <a:endParaRPr lang="en-US" sz="1100" dirty="0"/>
          </a:p>
        </p:txBody>
      </p:sp>
      <p:sp>
        <p:nvSpPr>
          <p:cNvPr id="4" name="Text 2"/>
          <p:cNvSpPr/>
          <p:nvPr/>
        </p:nvSpPr>
        <p:spPr>
          <a:xfrm>
            <a:off x="777240" y="932688"/>
            <a:ext cx="10607040" cy="914400"/>
          </a:xfrm>
          <a:prstGeom prst="rect">
            <a:avLst/>
          </a:prstGeom>
          <a:noFill/>
          <a:ln/>
        </p:spPr>
        <p:txBody>
          <a:bodyPr wrap="square" lIns="0" tIns="0" rIns="0" bIns="0" rtlCol="0" anchor="ctr"/>
          <a:lstStyle/>
          <a:p>
            <a:pPr indent="0" marL="0">
              <a:lnSpc>
                <a:spcPts val="3800"/>
              </a:lnSpc>
              <a:buNone/>
            </a:pPr>
            <a:r>
              <a:rPr lang="en-US" sz="3400" dirty="0">
                <a:solidFill>
                  <a:srgbClr val="FBF6EE"/>
                </a:solidFill>
                <a:latin typeface="Fraunces" pitchFamily="34" charset="0"/>
                <a:ea typeface="Fraunces" pitchFamily="34" charset="-122"/>
                <a:cs typeface="Fraunces" pitchFamily="34" charset="-120"/>
              </a:rPr>
              <a:t>What to take with you.</a:t>
            </a:r>
            <a:endParaRPr lang="en-US" sz="3400" dirty="0"/>
          </a:p>
        </p:txBody>
      </p:sp>
      <p:sp>
        <p:nvSpPr>
          <p:cNvPr id="5" name="Shape 3"/>
          <p:cNvSpPr/>
          <p:nvPr/>
        </p:nvSpPr>
        <p:spPr>
          <a:xfrm>
            <a:off x="777240" y="2423160"/>
            <a:ext cx="457200" cy="457200"/>
          </a:xfrm>
          <a:prstGeom prst="ellipse">
            <a:avLst/>
          </a:prstGeom>
          <a:solidFill>
            <a:srgbClr val="A93F63"/>
          </a:solidFill>
          <a:ln w="12700">
            <a:solidFill>
              <a:srgbClr val="A93F63"/>
            </a:solidFill>
            <a:prstDash val="solid"/>
          </a:ln>
        </p:spPr>
      </p:sp>
      <p:sp>
        <p:nvSpPr>
          <p:cNvPr id="6" name="Text 4"/>
          <p:cNvSpPr/>
          <p:nvPr/>
        </p:nvSpPr>
        <p:spPr>
          <a:xfrm>
            <a:off x="777240" y="24231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1</a:t>
            </a:r>
            <a:endParaRPr lang="en-US" sz="1200" dirty="0"/>
          </a:p>
        </p:txBody>
      </p:sp>
      <p:sp>
        <p:nvSpPr>
          <p:cNvPr id="7" name="Text 5"/>
          <p:cNvSpPr/>
          <p:nvPr/>
        </p:nvSpPr>
        <p:spPr>
          <a:xfrm>
            <a:off x="1463040" y="240487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Traffic amplifies what is already there, good or bad.</a:t>
            </a:r>
            <a:endParaRPr lang="en-US" sz="1450" dirty="0"/>
          </a:p>
        </p:txBody>
      </p:sp>
      <p:sp>
        <p:nvSpPr>
          <p:cNvPr id="8" name="Shape 6"/>
          <p:cNvSpPr/>
          <p:nvPr/>
        </p:nvSpPr>
        <p:spPr>
          <a:xfrm>
            <a:off x="777240" y="3291840"/>
            <a:ext cx="457200" cy="457200"/>
          </a:xfrm>
          <a:prstGeom prst="ellipse">
            <a:avLst/>
          </a:prstGeom>
          <a:solidFill>
            <a:srgbClr val="A93F63"/>
          </a:solidFill>
          <a:ln w="12700">
            <a:solidFill>
              <a:srgbClr val="A93F63"/>
            </a:solidFill>
            <a:prstDash val="solid"/>
          </a:ln>
        </p:spPr>
      </p:sp>
      <p:sp>
        <p:nvSpPr>
          <p:cNvPr id="9" name="Text 7"/>
          <p:cNvSpPr/>
          <p:nvPr/>
        </p:nvSpPr>
        <p:spPr>
          <a:xfrm>
            <a:off x="777240" y="329184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2</a:t>
            </a:r>
            <a:endParaRPr lang="en-US" sz="1200" dirty="0"/>
          </a:p>
        </p:txBody>
      </p:sp>
      <p:sp>
        <p:nvSpPr>
          <p:cNvPr id="10" name="Text 8"/>
          <p:cNvSpPr/>
          <p:nvPr/>
        </p:nvSpPr>
        <p:spPr>
          <a:xfrm>
            <a:off x="1463040" y="327355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Pick one source and get genuinely good at it.</a:t>
            </a:r>
            <a:endParaRPr lang="en-US" sz="1450" dirty="0"/>
          </a:p>
        </p:txBody>
      </p:sp>
      <p:sp>
        <p:nvSpPr>
          <p:cNvPr id="11" name="Shape 9"/>
          <p:cNvSpPr/>
          <p:nvPr/>
        </p:nvSpPr>
        <p:spPr>
          <a:xfrm>
            <a:off x="777240" y="4160520"/>
            <a:ext cx="457200" cy="457200"/>
          </a:xfrm>
          <a:prstGeom prst="ellipse">
            <a:avLst/>
          </a:prstGeom>
          <a:solidFill>
            <a:srgbClr val="A93F63"/>
          </a:solidFill>
          <a:ln w="12700">
            <a:solidFill>
              <a:srgbClr val="A93F63"/>
            </a:solidFill>
            <a:prstDash val="solid"/>
          </a:ln>
        </p:spPr>
      </p:sp>
      <p:sp>
        <p:nvSpPr>
          <p:cNvPr id="12" name="Text 10"/>
          <p:cNvSpPr/>
          <p:nvPr/>
        </p:nvSpPr>
        <p:spPr>
          <a:xfrm>
            <a:off x="777240" y="416052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3</a:t>
            </a:r>
            <a:endParaRPr lang="en-US" sz="1200" dirty="0"/>
          </a:p>
        </p:txBody>
      </p:sp>
      <p:sp>
        <p:nvSpPr>
          <p:cNvPr id="13" name="Text 11"/>
          <p:cNvSpPr/>
          <p:nvPr/>
        </p:nvSpPr>
        <p:spPr>
          <a:xfrm>
            <a:off x="1463040" y="414223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Every post points somewhere. No dead ends.</a:t>
            </a:r>
            <a:endParaRPr lang="en-US" sz="1450" dirty="0"/>
          </a:p>
        </p:txBody>
      </p:sp>
      <p:sp>
        <p:nvSpPr>
          <p:cNvPr id="14" name="Shape 12"/>
          <p:cNvSpPr/>
          <p:nvPr/>
        </p:nvSpPr>
        <p:spPr>
          <a:xfrm>
            <a:off x="777240" y="5029200"/>
            <a:ext cx="457200" cy="457200"/>
          </a:xfrm>
          <a:prstGeom prst="ellipse">
            <a:avLst/>
          </a:prstGeom>
          <a:solidFill>
            <a:srgbClr val="A93F63"/>
          </a:solidFill>
          <a:ln w="12700">
            <a:solidFill>
              <a:srgbClr val="A93F63"/>
            </a:solidFill>
            <a:prstDash val="solid"/>
          </a:ln>
        </p:spPr>
      </p:sp>
      <p:sp>
        <p:nvSpPr>
          <p:cNvPr id="15" name="Text 13"/>
          <p:cNvSpPr/>
          <p:nvPr/>
        </p:nvSpPr>
        <p:spPr>
          <a:xfrm>
            <a:off x="777240" y="502920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Karla" pitchFamily="34" charset="0"/>
                <a:ea typeface="Karla" pitchFamily="34" charset="-122"/>
                <a:cs typeface="Karla" pitchFamily="34" charset="-120"/>
              </a:rPr>
              <a:t>4</a:t>
            </a:r>
            <a:endParaRPr lang="en-US" sz="1200" dirty="0"/>
          </a:p>
        </p:txBody>
      </p:sp>
      <p:sp>
        <p:nvSpPr>
          <p:cNvPr id="16" name="Text 14"/>
          <p:cNvSpPr/>
          <p:nvPr/>
        </p:nvSpPr>
        <p:spPr>
          <a:xfrm>
            <a:off x="1463040" y="5010912"/>
            <a:ext cx="9692640" cy="548640"/>
          </a:xfrm>
          <a:prstGeom prst="rect">
            <a:avLst/>
          </a:prstGeom>
          <a:noFill/>
          <a:ln/>
        </p:spPr>
        <p:txBody>
          <a:bodyPr wrap="square" lIns="0" tIns="0" rIns="0" bIns="0" rtlCol="0" anchor="ctr"/>
          <a:lstStyle/>
          <a:p>
            <a:pPr indent="0" marL="0">
              <a:lnSpc>
                <a:spcPts val="2000"/>
              </a:lnSpc>
              <a:buNone/>
            </a:pPr>
            <a:r>
              <a:rPr lang="en-US" sz="1450" dirty="0">
                <a:solidFill>
                  <a:srgbClr val="FBF6EE"/>
                </a:solidFill>
                <a:latin typeface="Karla" pitchFamily="34" charset="0"/>
                <a:ea typeface="Karla" pitchFamily="34" charset="-122"/>
                <a:cs typeface="Karla" pitchFamily="34" charset="-120"/>
              </a:rPr>
              <a:t>The email list is the only audience you own.</a:t>
            </a:r>
            <a:endParaRPr lang="en-US" sz="14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93</a:t>
            </a:r>
            <a:endParaRPr lang="en-US" sz="1000" dirty="0"/>
          </a:p>
        </p:txBody>
      </p:sp>
      <p:sp>
        <p:nvSpPr>
          <p:cNvPr id="3" name="Shape 1"/>
          <p:cNvSpPr/>
          <p:nvPr/>
        </p:nvSpPr>
        <p:spPr>
          <a:xfrm>
            <a:off x="9509760" y="4389120"/>
            <a:ext cx="4206240" cy="4206240"/>
          </a:xfrm>
          <a:prstGeom prst="ellipse">
            <a:avLst/>
          </a:prstGeom>
          <a:solidFill>
            <a:srgbClr val="A93F63">
              <a:alpha val="26000"/>
            </a:srgbClr>
          </a:solidFill>
          <a:ln w="12700">
            <a:solidFill>
              <a:srgbClr val="333333"/>
            </a:solidFill>
            <a:prstDash val="solid"/>
          </a:ln>
        </p:spPr>
      </p:sp>
      <p:sp>
        <p:nvSpPr>
          <p:cNvPr id="4" name="Text 2"/>
          <p:cNvSpPr/>
          <p:nvPr/>
        </p:nvSpPr>
        <p:spPr>
          <a:xfrm>
            <a:off x="777240" y="914400"/>
            <a:ext cx="3657600" cy="2194560"/>
          </a:xfrm>
          <a:prstGeom prst="rect">
            <a:avLst/>
          </a:prstGeom>
          <a:noFill/>
          <a:ln/>
        </p:spPr>
        <p:txBody>
          <a:bodyPr wrap="square" lIns="0" tIns="0" rIns="0" bIns="0" rtlCol="0" anchor="ctr"/>
          <a:lstStyle/>
          <a:p>
            <a:pPr indent="0" marL="0">
              <a:buNone/>
            </a:pPr>
            <a:r>
              <a:rPr lang="en-US" sz="9600" i="1" dirty="0">
                <a:solidFill>
                  <a:srgbClr val="A93F63"/>
                </a:solidFill>
                <a:latin typeface="Fraunces" pitchFamily="34" charset="0"/>
                <a:ea typeface="Fraunces" pitchFamily="34" charset="-122"/>
                <a:cs typeface="Fraunces" pitchFamily="34" charset="-120"/>
              </a:rPr>
              <a:t>06</a:t>
            </a:r>
            <a:endParaRPr lang="en-US" sz="9600" dirty="0"/>
          </a:p>
        </p:txBody>
      </p:sp>
      <p:sp>
        <p:nvSpPr>
          <p:cNvPr id="5" name="Text 3"/>
          <p:cNvSpPr/>
          <p:nvPr/>
        </p:nvSpPr>
        <p:spPr>
          <a:xfrm>
            <a:off x="777240" y="3017520"/>
            <a:ext cx="8229600" cy="1371600"/>
          </a:xfrm>
          <a:prstGeom prst="rect">
            <a:avLst/>
          </a:prstGeom>
          <a:noFill/>
          <a:ln/>
        </p:spPr>
        <p:txBody>
          <a:bodyPr wrap="square" lIns="0" tIns="0" rIns="0" bIns="0" rtlCol="0" anchor="ctr"/>
          <a:lstStyle/>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Putting it</a:t>
            </a:r>
            <a:endParaRPr lang="en-US" sz="4000" dirty="0"/>
          </a:p>
          <a:p>
            <a:pPr indent="0" marL="0">
              <a:lnSpc>
                <a:spcPts val="4400"/>
              </a:lnSpc>
              <a:buNone/>
            </a:pPr>
            <a:r>
              <a:rPr lang="en-US" sz="4000" dirty="0">
                <a:solidFill>
                  <a:srgbClr val="FBF6EE"/>
                </a:solidFill>
                <a:latin typeface="Fraunces" pitchFamily="34" charset="0"/>
                <a:ea typeface="Fraunces" pitchFamily="34" charset="-122"/>
                <a:cs typeface="Fraunces" pitchFamily="34" charset="-120"/>
              </a:rPr>
              <a:t>all together</a:t>
            </a:r>
            <a:endParaRPr lang="en-US" sz="4000" dirty="0"/>
          </a:p>
        </p:txBody>
      </p:sp>
      <p:sp>
        <p:nvSpPr>
          <p:cNvPr id="6" name="Text 4"/>
          <p:cNvSpPr/>
          <p:nvPr/>
        </p:nvSpPr>
        <p:spPr>
          <a:xfrm>
            <a:off x="777240" y="4434840"/>
            <a:ext cx="7863840" cy="502920"/>
          </a:xfrm>
          <a:prstGeom prst="rect">
            <a:avLst/>
          </a:prstGeom>
          <a:noFill/>
          <a:ln/>
        </p:spPr>
        <p:txBody>
          <a:bodyPr wrap="square" lIns="0" tIns="0" rIns="0" bIns="0" rtlCol="0" anchor="ctr"/>
          <a:lstStyle/>
          <a:p>
            <a:pPr indent="0" marL="0">
              <a:buNone/>
            </a:pPr>
            <a:r>
              <a:rPr lang="en-US" sz="2400" dirty="0">
                <a:solidFill>
                  <a:srgbClr val="BC8A47"/>
                </a:solidFill>
                <a:latin typeface="Ephesis" pitchFamily="34" charset="0"/>
                <a:ea typeface="Ephesis" pitchFamily="34" charset="-122"/>
                <a:cs typeface="Ephesis" pitchFamily="34" charset="-120"/>
              </a:rPr>
              <a:t>the whole thing on one page</a:t>
            </a:r>
            <a:endParaRPr lang="en-US" sz="2400" dirty="0"/>
          </a:p>
        </p:txBody>
      </p:sp>
      <p:sp>
        <p:nvSpPr>
          <p:cNvPr id="7" name="Text 5"/>
          <p:cNvSpPr/>
          <p:nvPr/>
        </p:nvSpPr>
        <p:spPr>
          <a:xfrm>
            <a:off x="777240" y="5029200"/>
            <a:ext cx="7863840" cy="1188720"/>
          </a:xfrm>
          <a:prstGeom prst="rect">
            <a:avLst/>
          </a:prstGeom>
          <a:noFill/>
          <a:ln/>
        </p:spPr>
        <p:txBody>
          <a:bodyPr wrap="square" lIns="0" tIns="0" rIns="0" bIns="0" rtlCol="0" anchor="ctr"/>
          <a:lstStyle/>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The framework start to finish</a:t>
            </a:r>
            <a:endParaRPr lang="en-US" sz="1300" dirty="0"/>
          </a:p>
          <a:p>
            <a:pPr marL="342900" indent="-342900">
              <a:lnSpc>
                <a:spcPts val="1800"/>
              </a:lnSpc>
              <a:spcAft>
                <a:spcPts val="500"/>
              </a:spcAft>
              <a:buSzPct val="100000"/>
              <a:buChar char="●"/>
            </a:pPr>
            <a:r>
              <a:rPr lang="en-US" sz="1300" dirty="0">
                <a:solidFill>
                  <a:srgbClr val="D8CBC3"/>
                </a:solidFill>
                <a:latin typeface="Karla" pitchFamily="34" charset="0"/>
                <a:ea typeface="Karla" pitchFamily="34" charset="-122"/>
                <a:cs typeface="Karla" pitchFamily="34" charset="-120"/>
              </a:rPr>
              <a:t>What to do in the next 30 days</a:t>
            </a:r>
            <a:endParaRPr lang="en-US" sz="13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94</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THE WHOLE FRAMEWORK</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This is the course, in five moves.</a:t>
            </a:r>
            <a:endParaRPr lang="en-US" sz="3200" dirty="0"/>
          </a:p>
        </p:txBody>
      </p:sp>
      <p:sp>
        <p:nvSpPr>
          <p:cNvPr id="5" name="Shape 3"/>
          <p:cNvSpPr/>
          <p:nvPr/>
        </p:nvSpPr>
        <p:spPr>
          <a:xfrm>
            <a:off x="777240" y="2377440"/>
            <a:ext cx="566928" cy="566928"/>
          </a:xfrm>
          <a:prstGeom prst="ellipse">
            <a:avLst/>
          </a:prstGeom>
          <a:solidFill>
            <a:srgbClr val="A93F63"/>
          </a:solidFill>
          <a:ln w="12700">
            <a:solidFill>
              <a:srgbClr val="A93F63"/>
            </a:solidFill>
            <a:prstDash val="solid"/>
          </a:ln>
        </p:spPr>
      </p:sp>
      <p:sp>
        <p:nvSpPr>
          <p:cNvPr id="6" name="Text 4"/>
          <p:cNvSpPr/>
          <p:nvPr/>
        </p:nvSpPr>
        <p:spPr>
          <a:xfrm>
            <a:off x="77724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7" name="Text 5"/>
          <p:cNvSpPr/>
          <p:nvPr/>
        </p:nvSpPr>
        <p:spPr>
          <a:xfrm>
            <a:off x="777240" y="3200400"/>
            <a:ext cx="1764792"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Name the offer</a:t>
            </a:r>
            <a:endParaRPr lang="en-US" sz="1900" dirty="0"/>
          </a:p>
        </p:txBody>
      </p:sp>
      <p:sp>
        <p:nvSpPr>
          <p:cNvPr id="8" name="Text 6"/>
          <p:cNvSpPr/>
          <p:nvPr/>
        </p:nvSpPr>
        <p:spPr>
          <a:xfrm>
            <a:off x="777240" y="4206240"/>
            <a:ext cx="1764792"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Specific person, specific outcome, specific price.</a:t>
            </a:r>
            <a:endParaRPr lang="en-US" sz="1300" dirty="0"/>
          </a:p>
        </p:txBody>
      </p:sp>
      <p:sp>
        <p:nvSpPr>
          <p:cNvPr id="9" name="Shape 7"/>
          <p:cNvSpPr/>
          <p:nvPr/>
        </p:nvSpPr>
        <p:spPr>
          <a:xfrm>
            <a:off x="2953512" y="2377440"/>
            <a:ext cx="566928" cy="566928"/>
          </a:xfrm>
          <a:prstGeom prst="ellipse">
            <a:avLst/>
          </a:prstGeom>
          <a:solidFill>
            <a:srgbClr val="A93F63"/>
          </a:solidFill>
          <a:ln w="12700">
            <a:solidFill>
              <a:srgbClr val="A93F63"/>
            </a:solidFill>
            <a:prstDash val="solid"/>
          </a:ln>
        </p:spPr>
      </p:sp>
      <p:sp>
        <p:nvSpPr>
          <p:cNvPr id="10" name="Text 8"/>
          <p:cNvSpPr/>
          <p:nvPr/>
        </p:nvSpPr>
        <p:spPr>
          <a:xfrm>
            <a:off x="2953512"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1" name="Text 9"/>
          <p:cNvSpPr/>
          <p:nvPr/>
        </p:nvSpPr>
        <p:spPr>
          <a:xfrm>
            <a:off x="2953512" y="3200400"/>
            <a:ext cx="1764792"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Write the copy</a:t>
            </a:r>
            <a:endParaRPr lang="en-US" sz="1900" dirty="0"/>
          </a:p>
        </p:txBody>
      </p:sp>
      <p:sp>
        <p:nvSpPr>
          <p:cNvPr id="12" name="Text 10"/>
          <p:cNvSpPr/>
          <p:nvPr/>
        </p:nvSpPr>
        <p:spPr>
          <a:xfrm>
            <a:off x="2953512" y="4206240"/>
            <a:ext cx="1764792"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Hook, proof, offer, step. In her words.</a:t>
            </a:r>
            <a:endParaRPr lang="en-US" sz="1300" dirty="0"/>
          </a:p>
        </p:txBody>
      </p:sp>
      <p:sp>
        <p:nvSpPr>
          <p:cNvPr id="13" name="Shape 11"/>
          <p:cNvSpPr/>
          <p:nvPr/>
        </p:nvSpPr>
        <p:spPr>
          <a:xfrm>
            <a:off x="5129784" y="2377440"/>
            <a:ext cx="566928" cy="566928"/>
          </a:xfrm>
          <a:prstGeom prst="ellipse">
            <a:avLst/>
          </a:prstGeom>
          <a:solidFill>
            <a:srgbClr val="A93F63"/>
          </a:solidFill>
          <a:ln w="12700">
            <a:solidFill>
              <a:srgbClr val="A93F63"/>
            </a:solidFill>
            <a:prstDash val="solid"/>
          </a:ln>
        </p:spPr>
      </p:sp>
      <p:sp>
        <p:nvSpPr>
          <p:cNvPr id="14" name="Text 12"/>
          <p:cNvSpPr/>
          <p:nvPr/>
        </p:nvSpPr>
        <p:spPr>
          <a:xfrm>
            <a:off x="5129784"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5" name="Text 13"/>
          <p:cNvSpPr/>
          <p:nvPr/>
        </p:nvSpPr>
        <p:spPr>
          <a:xfrm>
            <a:off x="5129784" y="3200400"/>
            <a:ext cx="1764792"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Design around it</a:t>
            </a:r>
            <a:endParaRPr lang="en-US" sz="1900" dirty="0"/>
          </a:p>
        </p:txBody>
      </p:sp>
      <p:sp>
        <p:nvSpPr>
          <p:cNvPr id="16" name="Text 14"/>
          <p:cNvSpPr/>
          <p:nvPr/>
        </p:nvSpPr>
        <p:spPr>
          <a:xfrm>
            <a:off x="5129784" y="4206240"/>
            <a:ext cx="1764792"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Build the page in the order she reads.</a:t>
            </a:r>
            <a:endParaRPr lang="en-US" sz="1300" dirty="0"/>
          </a:p>
        </p:txBody>
      </p:sp>
      <p:sp>
        <p:nvSpPr>
          <p:cNvPr id="17" name="Shape 15"/>
          <p:cNvSpPr/>
          <p:nvPr/>
        </p:nvSpPr>
        <p:spPr>
          <a:xfrm>
            <a:off x="7306056" y="2377440"/>
            <a:ext cx="566928" cy="566928"/>
          </a:xfrm>
          <a:prstGeom prst="ellipse">
            <a:avLst/>
          </a:prstGeom>
          <a:solidFill>
            <a:srgbClr val="A93F63"/>
          </a:solidFill>
          <a:ln w="12700">
            <a:solidFill>
              <a:srgbClr val="A93F63"/>
            </a:solidFill>
            <a:prstDash val="solid"/>
          </a:ln>
        </p:spPr>
      </p:sp>
      <p:sp>
        <p:nvSpPr>
          <p:cNvPr id="18" name="Text 16"/>
          <p:cNvSpPr/>
          <p:nvPr/>
        </p:nvSpPr>
        <p:spPr>
          <a:xfrm>
            <a:off x="7306056"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4</a:t>
            </a:r>
            <a:endParaRPr lang="en-US" sz="1500" dirty="0"/>
          </a:p>
        </p:txBody>
      </p:sp>
      <p:sp>
        <p:nvSpPr>
          <p:cNvPr id="19" name="Text 17"/>
          <p:cNvSpPr/>
          <p:nvPr/>
        </p:nvSpPr>
        <p:spPr>
          <a:xfrm>
            <a:off x="7306056" y="3200400"/>
            <a:ext cx="1764792"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Bring the traffic</a:t>
            </a:r>
            <a:endParaRPr lang="en-US" sz="1900" dirty="0"/>
          </a:p>
        </p:txBody>
      </p:sp>
      <p:sp>
        <p:nvSpPr>
          <p:cNvPr id="20" name="Text 18"/>
          <p:cNvSpPr/>
          <p:nvPr/>
        </p:nvSpPr>
        <p:spPr>
          <a:xfrm>
            <a:off x="7306056" y="4206240"/>
            <a:ext cx="1764792"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One source, done well, pointing at the offer.</a:t>
            </a:r>
            <a:endParaRPr lang="en-US" sz="1300" dirty="0"/>
          </a:p>
        </p:txBody>
      </p:sp>
      <p:sp>
        <p:nvSpPr>
          <p:cNvPr id="21" name="Shape 19"/>
          <p:cNvSpPr/>
          <p:nvPr/>
        </p:nvSpPr>
        <p:spPr>
          <a:xfrm>
            <a:off x="9482328" y="2377440"/>
            <a:ext cx="566928" cy="566928"/>
          </a:xfrm>
          <a:prstGeom prst="ellipse">
            <a:avLst/>
          </a:prstGeom>
          <a:solidFill>
            <a:srgbClr val="A93F63"/>
          </a:solidFill>
          <a:ln w="12700">
            <a:solidFill>
              <a:srgbClr val="A93F63"/>
            </a:solidFill>
            <a:prstDash val="solid"/>
          </a:ln>
        </p:spPr>
      </p:sp>
      <p:sp>
        <p:nvSpPr>
          <p:cNvPr id="22" name="Text 20"/>
          <p:cNvSpPr/>
          <p:nvPr/>
        </p:nvSpPr>
        <p:spPr>
          <a:xfrm>
            <a:off x="9482328"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5</a:t>
            </a:r>
            <a:endParaRPr lang="en-US" sz="1500" dirty="0"/>
          </a:p>
        </p:txBody>
      </p:sp>
      <p:sp>
        <p:nvSpPr>
          <p:cNvPr id="23" name="Text 21"/>
          <p:cNvSpPr/>
          <p:nvPr/>
        </p:nvSpPr>
        <p:spPr>
          <a:xfrm>
            <a:off x="9482328" y="3200400"/>
            <a:ext cx="1764792"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Email the list</a:t>
            </a:r>
            <a:endParaRPr lang="en-US" sz="1900" dirty="0"/>
          </a:p>
        </p:txBody>
      </p:sp>
      <p:sp>
        <p:nvSpPr>
          <p:cNvPr id="24" name="Text 22"/>
          <p:cNvSpPr/>
          <p:nvPr/>
        </p:nvSpPr>
        <p:spPr>
          <a:xfrm>
            <a:off x="9482328" y="4206240"/>
            <a:ext cx="1764792"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The audience you own, warmed up over time.</a:t>
            </a:r>
            <a:endParaRPr lang="en-US" sz="13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95</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YOUR NEXT 30 DAYS</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Do it in this order and do not skip ahead.</a:t>
            </a:r>
            <a:endParaRPr lang="en-US" sz="3200" dirty="0"/>
          </a:p>
        </p:txBody>
      </p:sp>
      <p:sp>
        <p:nvSpPr>
          <p:cNvPr id="5" name="Shape 3"/>
          <p:cNvSpPr/>
          <p:nvPr/>
        </p:nvSpPr>
        <p:spPr>
          <a:xfrm>
            <a:off x="777240" y="2377440"/>
            <a:ext cx="566928" cy="566928"/>
          </a:xfrm>
          <a:prstGeom prst="ellipse">
            <a:avLst/>
          </a:prstGeom>
          <a:solidFill>
            <a:srgbClr val="A93F63"/>
          </a:solidFill>
          <a:ln w="12700">
            <a:solidFill>
              <a:srgbClr val="A93F63"/>
            </a:solidFill>
            <a:prstDash val="solid"/>
          </a:ln>
        </p:spPr>
      </p:sp>
      <p:sp>
        <p:nvSpPr>
          <p:cNvPr id="6" name="Text 4"/>
          <p:cNvSpPr/>
          <p:nvPr/>
        </p:nvSpPr>
        <p:spPr>
          <a:xfrm>
            <a:off x="77724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1</a:t>
            </a:r>
            <a:endParaRPr lang="en-US" sz="1500" dirty="0"/>
          </a:p>
        </p:txBody>
      </p:sp>
      <p:sp>
        <p:nvSpPr>
          <p:cNvPr id="7" name="Text 5"/>
          <p:cNvSpPr/>
          <p:nvPr/>
        </p:nvSpPr>
        <p:spPr>
          <a:xfrm>
            <a:off x="77724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Week one</a:t>
            </a:r>
            <a:endParaRPr lang="en-US" sz="1900" dirty="0"/>
          </a:p>
        </p:txBody>
      </p:sp>
      <p:sp>
        <p:nvSpPr>
          <p:cNvPr id="8" name="Text 6"/>
          <p:cNvSpPr/>
          <p:nvPr/>
        </p:nvSpPr>
        <p:spPr>
          <a:xfrm>
            <a:off x="77724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Write your offer sentence. Put a price on it. Say it out loud to one person.</a:t>
            </a:r>
            <a:endParaRPr lang="en-US" sz="1300" dirty="0"/>
          </a:p>
        </p:txBody>
      </p:sp>
      <p:sp>
        <p:nvSpPr>
          <p:cNvPr id="9" name="Shape 7"/>
          <p:cNvSpPr/>
          <p:nvPr/>
        </p:nvSpPr>
        <p:spPr>
          <a:xfrm>
            <a:off x="3497580" y="2377440"/>
            <a:ext cx="566928" cy="566928"/>
          </a:xfrm>
          <a:prstGeom prst="ellipse">
            <a:avLst/>
          </a:prstGeom>
          <a:solidFill>
            <a:srgbClr val="A93F63"/>
          </a:solidFill>
          <a:ln w="12700">
            <a:solidFill>
              <a:srgbClr val="A93F63"/>
            </a:solidFill>
            <a:prstDash val="solid"/>
          </a:ln>
        </p:spPr>
      </p:sp>
      <p:sp>
        <p:nvSpPr>
          <p:cNvPr id="10" name="Text 8"/>
          <p:cNvSpPr/>
          <p:nvPr/>
        </p:nvSpPr>
        <p:spPr>
          <a:xfrm>
            <a:off x="349758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2</a:t>
            </a:r>
            <a:endParaRPr lang="en-US" sz="1500" dirty="0"/>
          </a:p>
        </p:txBody>
      </p:sp>
      <p:sp>
        <p:nvSpPr>
          <p:cNvPr id="11" name="Text 9"/>
          <p:cNvSpPr/>
          <p:nvPr/>
        </p:nvSpPr>
        <p:spPr>
          <a:xfrm>
            <a:off x="349758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Week two</a:t>
            </a:r>
            <a:endParaRPr lang="en-US" sz="1900" dirty="0"/>
          </a:p>
        </p:txBody>
      </p:sp>
      <p:sp>
        <p:nvSpPr>
          <p:cNvPr id="12" name="Text 10"/>
          <p:cNvSpPr/>
          <p:nvPr/>
        </p:nvSpPr>
        <p:spPr>
          <a:xfrm>
            <a:off x="349758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Write the offer page. Hook, proof, offer, step. Ugly is fine.</a:t>
            </a:r>
            <a:endParaRPr lang="en-US" sz="1300" dirty="0"/>
          </a:p>
        </p:txBody>
      </p:sp>
      <p:sp>
        <p:nvSpPr>
          <p:cNvPr id="13" name="Shape 11"/>
          <p:cNvSpPr/>
          <p:nvPr/>
        </p:nvSpPr>
        <p:spPr>
          <a:xfrm>
            <a:off x="6217920" y="2377440"/>
            <a:ext cx="566928" cy="566928"/>
          </a:xfrm>
          <a:prstGeom prst="ellipse">
            <a:avLst/>
          </a:prstGeom>
          <a:solidFill>
            <a:srgbClr val="A93F63"/>
          </a:solidFill>
          <a:ln w="12700">
            <a:solidFill>
              <a:srgbClr val="A93F63"/>
            </a:solidFill>
            <a:prstDash val="solid"/>
          </a:ln>
        </p:spPr>
      </p:sp>
      <p:sp>
        <p:nvSpPr>
          <p:cNvPr id="14" name="Text 12"/>
          <p:cNvSpPr/>
          <p:nvPr/>
        </p:nvSpPr>
        <p:spPr>
          <a:xfrm>
            <a:off x="621792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3</a:t>
            </a:r>
            <a:endParaRPr lang="en-US" sz="1500" dirty="0"/>
          </a:p>
        </p:txBody>
      </p:sp>
      <p:sp>
        <p:nvSpPr>
          <p:cNvPr id="15" name="Text 13"/>
          <p:cNvSpPr/>
          <p:nvPr/>
        </p:nvSpPr>
        <p:spPr>
          <a:xfrm>
            <a:off x="621792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Week three</a:t>
            </a:r>
            <a:endParaRPr lang="en-US" sz="1900" dirty="0"/>
          </a:p>
        </p:txBody>
      </p:sp>
      <p:sp>
        <p:nvSpPr>
          <p:cNvPr id="16" name="Text 14"/>
          <p:cNvSpPr/>
          <p:nvPr/>
        </p:nvSpPr>
        <p:spPr>
          <a:xfrm>
            <a:off x="621792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Build or rebuild the page around that copy. Run the three second test.</a:t>
            </a:r>
            <a:endParaRPr lang="en-US" sz="1300" dirty="0"/>
          </a:p>
        </p:txBody>
      </p:sp>
      <p:sp>
        <p:nvSpPr>
          <p:cNvPr id="17" name="Shape 15"/>
          <p:cNvSpPr/>
          <p:nvPr/>
        </p:nvSpPr>
        <p:spPr>
          <a:xfrm>
            <a:off x="8938260" y="2377440"/>
            <a:ext cx="566928" cy="566928"/>
          </a:xfrm>
          <a:prstGeom prst="ellipse">
            <a:avLst/>
          </a:prstGeom>
          <a:solidFill>
            <a:srgbClr val="A93F63"/>
          </a:solidFill>
          <a:ln w="12700">
            <a:solidFill>
              <a:srgbClr val="A93F63"/>
            </a:solidFill>
            <a:prstDash val="solid"/>
          </a:ln>
        </p:spPr>
      </p:sp>
      <p:sp>
        <p:nvSpPr>
          <p:cNvPr id="18" name="Text 16"/>
          <p:cNvSpPr/>
          <p:nvPr/>
        </p:nvSpPr>
        <p:spPr>
          <a:xfrm>
            <a:off x="8938260" y="2377440"/>
            <a:ext cx="566928" cy="566928"/>
          </a:xfrm>
          <a:prstGeom prst="rect">
            <a:avLst/>
          </a:prstGeom>
          <a:noFill/>
          <a:ln/>
        </p:spPr>
        <p:txBody>
          <a:bodyPr wrap="square" lIns="0" tIns="0" rIns="0" bIns="0" rtlCol="0" anchor="ctr"/>
          <a:lstStyle/>
          <a:p>
            <a:pPr algn="ctr" indent="0" marL="0">
              <a:buNone/>
            </a:pPr>
            <a:r>
              <a:rPr lang="en-US" sz="1500" b="1" dirty="0">
                <a:solidFill>
                  <a:srgbClr val="FFFFFF"/>
                </a:solidFill>
                <a:latin typeface="Karla" pitchFamily="34" charset="0"/>
                <a:ea typeface="Karla" pitchFamily="34" charset="-122"/>
                <a:cs typeface="Karla" pitchFamily="34" charset="-120"/>
              </a:rPr>
              <a:t>4</a:t>
            </a:r>
            <a:endParaRPr lang="en-US" sz="1500" dirty="0"/>
          </a:p>
        </p:txBody>
      </p:sp>
      <p:sp>
        <p:nvSpPr>
          <p:cNvPr id="19" name="Text 17"/>
          <p:cNvSpPr/>
          <p:nvPr/>
        </p:nvSpPr>
        <p:spPr>
          <a:xfrm>
            <a:off x="8938260" y="3200400"/>
            <a:ext cx="2308860" cy="822960"/>
          </a:xfrm>
          <a:prstGeom prst="rect">
            <a:avLst/>
          </a:prstGeom>
          <a:noFill/>
          <a:ln/>
        </p:spPr>
        <p:txBody>
          <a:bodyPr wrap="square" lIns="0" tIns="0" rIns="0" bIns="0" rtlCol="0" anchor="ctr"/>
          <a:lstStyle/>
          <a:p>
            <a:pPr indent="0" marL="0">
              <a:lnSpc>
                <a:spcPts val="2200"/>
              </a:lnSpc>
              <a:buNone/>
            </a:pPr>
            <a:r>
              <a:rPr lang="en-US" sz="1900" dirty="0">
                <a:solidFill>
                  <a:srgbClr val="2E1F27"/>
                </a:solidFill>
                <a:latin typeface="Fraunces" pitchFamily="34" charset="0"/>
                <a:ea typeface="Fraunces" pitchFamily="34" charset="-122"/>
                <a:cs typeface="Fraunces" pitchFamily="34" charset="-120"/>
              </a:rPr>
              <a:t>Week four</a:t>
            </a:r>
            <a:endParaRPr lang="en-US" sz="1900" dirty="0"/>
          </a:p>
        </p:txBody>
      </p:sp>
      <p:sp>
        <p:nvSpPr>
          <p:cNvPr id="20" name="Text 18"/>
          <p:cNvSpPr/>
          <p:nvPr/>
        </p:nvSpPr>
        <p:spPr>
          <a:xfrm>
            <a:off x="8938260" y="4206240"/>
            <a:ext cx="2308860" cy="2103120"/>
          </a:xfrm>
          <a:prstGeom prst="rect">
            <a:avLst/>
          </a:prstGeom>
          <a:noFill/>
          <a:ln/>
        </p:spPr>
        <p:txBody>
          <a:bodyPr wrap="square" lIns="0" tIns="0" rIns="0" bIns="0" rtlCol="0" anchor="ctr"/>
          <a:lstStyle/>
          <a:p>
            <a:pPr indent="0" marL="0">
              <a:lnSpc>
                <a:spcPts val="2000"/>
              </a:lnSpc>
              <a:buNone/>
            </a:pPr>
            <a:r>
              <a:rPr lang="en-US" sz="1300" dirty="0">
                <a:solidFill>
                  <a:srgbClr val="6E5C63"/>
                </a:solidFill>
                <a:latin typeface="Karla" pitchFamily="34" charset="0"/>
                <a:ea typeface="Karla" pitchFamily="34" charset="-122"/>
                <a:cs typeface="Karla" pitchFamily="34" charset="-120"/>
              </a:rPr>
              <a:t>Publish, tell your list, and ask five people to look at it.</a:t>
            </a:r>
            <a:endParaRPr lang="en-US" sz="13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96</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LAUNCH CHECKLIST</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Before you call it done.</a:t>
            </a:r>
            <a:endParaRPr lang="en-US" sz="3200" dirty="0"/>
          </a:p>
        </p:txBody>
      </p:sp>
      <p:sp>
        <p:nvSpPr>
          <p:cNvPr id="5" name="Shape 3"/>
          <p:cNvSpPr/>
          <p:nvPr/>
        </p:nvSpPr>
        <p:spPr>
          <a:xfrm>
            <a:off x="777240" y="2377440"/>
            <a:ext cx="310896" cy="310896"/>
          </a:xfrm>
          <a:prstGeom prst="roundRect">
            <a:avLst>
              <a:gd name="adj" fmla="val 17647"/>
            </a:avLst>
          </a:prstGeom>
          <a:solidFill>
            <a:srgbClr val="FFFFFF"/>
          </a:solidFill>
          <a:ln w="15875">
            <a:solidFill>
              <a:srgbClr val="A93F63"/>
            </a:solidFill>
            <a:prstDash val="solid"/>
          </a:ln>
        </p:spPr>
      </p:sp>
      <p:sp>
        <p:nvSpPr>
          <p:cNvPr id="6" name="Text 4"/>
          <p:cNvSpPr/>
          <p:nvPr/>
        </p:nvSpPr>
        <p:spPr>
          <a:xfrm>
            <a:off x="1280160" y="234086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My offer sentence is written and priced</a:t>
            </a:r>
            <a:endParaRPr lang="en-US" sz="1400" dirty="0"/>
          </a:p>
        </p:txBody>
      </p:sp>
      <p:sp>
        <p:nvSpPr>
          <p:cNvPr id="7" name="Shape 5"/>
          <p:cNvSpPr/>
          <p:nvPr/>
        </p:nvSpPr>
        <p:spPr>
          <a:xfrm>
            <a:off x="777240" y="3108960"/>
            <a:ext cx="310896" cy="310896"/>
          </a:xfrm>
          <a:prstGeom prst="roundRect">
            <a:avLst>
              <a:gd name="adj" fmla="val 17647"/>
            </a:avLst>
          </a:prstGeom>
          <a:solidFill>
            <a:srgbClr val="FFFFFF"/>
          </a:solidFill>
          <a:ln w="15875">
            <a:solidFill>
              <a:srgbClr val="A93F63"/>
            </a:solidFill>
            <a:prstDash val="solid"/>
          </a:ln>
        </p:spPr>
      </p:sp>
      <p:sp>
        <p:nvSpPr>
          <p:cNvPr id="8" name="Text 6"/>
          <p:cNvSpPr/>
          <p:nvPr/>
        </p:nvSpPr>
        <p:spPr>
          <a:xfrm>
            <a:off x="1280160" y="307238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 offer page has a headline naming the outcome</a:t>
            </a:r>
            <a:endParaRPr lang="en-US" sz="1400" dirty="0"/>
          </a:p>
        </p:txBody>
      </p:sp>
      <p:sp>
        <p:nvSpPr>
          <p:cNvPr id="9" name="Shape 7"/>
          <p:cNvSpPr/>
          <p:nvPr/>
        </p:nvSpPr>
        <p:spPr>
          <a:xfrm>
            <a:off x="777240" y="3840480"/>
            <a:ext cx="310896" cy="310896"/>
          </a:xfrm>
          <a:prstGeom prst="roundRect">
            <a:avLst>
              <a:gd name="adj" fmla="val 17647"/>
            </a:avLst>
          </a:prstGeom>
          <a:solidFill>
            <a:srgbClr val="FFFFFF"/>
          </a:solidFill>
          <a:ln w="15875">
            <a:solidFill>
              <a:srgbClr val="A93F63"/>
            </a:solidFill>
            <a:prstDash val="solid"/>
          </a:ln>
        </p:spPr>
      </p:sp>
      <p:sp>
        <p:nvSpPr>
          <p:cNvPr id="10" name="Text 8"/>
          <p:cNvSpPr/>
          <p:nvPr/>
        </p:nvSpPr>
        <p:spPr>
          <a:xfrm>
            <a:off x="1280160" y="380390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There is proof above the fold</a:t>
            </a:r>
            <a:endParaRPr lang="en-US" sz="1400" dirty="0"/>
          </a:p>
        </p:txBody>
      </p:sp>
      <p:sp>
        <p:nvSpPr>
          <p:cNvPr id="11" name="Shape 9"/>
          <p:cNvSpPr/>
          <p:nvPr/>
        </p:nvSpPr>
        <p:spPr>
          <a:xfrm>
            <a:off x="777240" y="4572000"/>
            <a:ext cx="310896" cy="310896"/>
          </a:xfrm>
          <a:prstGeom prst="roundRect">
            <a:avLst>
              <a:gd name="adj" fmla="val 17647"/>
            </a:avLst>
          </a:prstGeom>
          <a:solidFill>
            <a:srgbClr val="FFFFFF"/>
          </a:solidFill>
          <a:ln w="15875">
            <a:solidFill>
              <a:srgbClr val="A93F63"/>
            </a:solidFill>
            <a:prstDash val="solid"/>
          </a:ln>
        </p:spPr>
      </p:sp>
      <p:sp>
        <p:nvSpPr>
          <p:cNvPr id="12" name="Text 10"/>
          <p:cNvSpPr/>
          <p:nvPr/>
        </p:nvSpPr>
        <p:spPr>
          <a:xfrm>
            <a:off x="1280160" y="453542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One clear button, repeated down the page</a:t>
            </a:r>
            <a:endParaRPr lang="en-US" sz="1400" dirty="0"/>
          </a:p>
        </p:txBody>
      </p:sp>
      <p:sp>
        <p:nvSpPr>
          <p:cNvPr id="13" name="Shape 11"/>
          <p:cNvSpPr/>
          <p:nvPr/>
        </p:nvSpPr>
        <p:spPr>
          <a:xfrm>
            <a:off x="777240" y="5303520"/>
            <a:ext cx="310896" cy="310896"/>
          </a:xfrm>
          <a:prstGeom prst="roundRect">
            <a:avLst>
              <a:gd name="adj" fmla="val 17647"/>
            </a:avLst>
          </a:prstGeom>
          <a:solidFill>
            <a:srgbClr val="FFFFFF"/>
          </a:solidFill>
          <a:ln w="15875">
            <a:solidFill>
              <a:srgbClr val="A93F63"/>
            </a:solidFill>
            <a:prstDash val="solid"/>
          </a:ln>
        </p:spPr>
      </p:sp>
      <p:sp>
        <p:nvSpPr>
          <p:cNvPr id="14" name="Text 12"/>
          <p:cNvSpPr/>
          <p:nvPr/>
        </p:nvSpPr>
        <p:spPr>
          <a:xfrm>
            <a:off x="1280160" y="5266944"/>
            <a:ext cx="9875520" cy="411480"/>
          </a:xfrm>
          <a:prstGeom prst="rect">
            <a:avLst/>
          </a:prstGeom>
          <a:noFill/>
          <a:ln/>
        </p:spPr>
        <p:txBody>
          <a:bodyPr wrap="square" lIns="0" tIns="0" rIns="0" bIns="0" rtlCol="0" anchor="ctr"/>
          <a:lstStyle/>
          <a:p>
            <a:pPr indent="0" marL="0">
              <a:buNone/>
            </a:pPr>
            <a:r>
              <a:rPr lang="en-US" sz="1400" dirty="0">
                <a:solidFill>
                  <a:srgbClr val="2E1F27"/>
                </a:solidFill>
                <a:latin typeface="Karla" pitchFamily="34" charset="0"/>
                <a:ea typeface="Karla" pitchFamily="34" charset="-122"/>
                <a:cs typeface="Karla" pitchFamily="34" charset="-120"/>
              </a:rPr>
              <a:t>It passes the three second test on a phone</a:t>
            </a:r>
            <a:endParaRPr lang="en-US" sz="14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97</a:t>
            </a:r>
            <a:endParaRPr lang="en-US" sz="1000" dirty="0"/>
          </a:p>
        </p:txBody>
      </p:sp>
      <p:sp>
        <p:nvSpPr>
          <p:cNvPr id="3" name="Text 1"/>
          <p:cNvSpPr/>
          <p:nvPr/>
        </p:nvSpPr>
        <p:spPr>
          <a:xfrm>
            <a:off x="1188720" y="1920240"/>
            <a:ext cx="9784080" cy="2377440"/>
          </a:xfrm>
          <a:prstGeom prst="rect">
            <a:avLst/>
          </a:prstGeom>
          <a:noFill/>
          <a:ln/>
        </p:spPr>
        <p:txBody>
          <a:bodyPr wrap="square" lIns="0" tIns="0" rIns="0" bIns="0" rtlCol="0" anchor="ctr"/>
          <a:lstStyle/>
          <a:p>
            <a:pPr algn="ctr" indent="0" marL="0">
              <a:lnSpc>
                <a:spcPts val="5000"/>
              </a:lnSpc>
              <a:buNone/>
            </a:pPr>
            <a:r>
              <a:rPr lang="en-US" sz="4400" dirty="0">
                <a:solidFill>
                  <a:srgbClr val="FBF6EE"/>
                </a:solidFill>
                <a:latin typeface="Fraunces" pitchFamily="34" charset="0"/>
                <a:ea typeface="Fraunces" pitchFamily="34" charset="-122"/>
                <a:cs typeface="Fraunces" pitchFamily="34" charset="-120"/>
              </a:rPr>
              <a:t>You do not need two years.
</a:t>
            </a:r>
            <a:pPr algn="ctr" indent="0" marL="0">
              <a:lnSpc>
                <a:spcPts val="5000"/>
              </a:lnSpc>
              <a:buNone/>
            </a:pPr>
            <a:r>
              <a:rPr lang="en-US" sz="4400" i="1" dirty="0">
                <a:solidFill>
                  <a:srgbClr val="A93F63"/>
                </a:solidFill>
                <a:latin typeface="Fraunces" pitchFamily="34" charset="0"/>
                <a:ea typeface="Fraunces" pitchFamily="34" charset="-122"/>
                <a:cs typeface="Fraunces" pitchFamily="34" charset="-120"/>
              </a:rPr>
              <a:t>You needed the order.</a:t>
            </a:r>
            <a:endParaRPr lang="en-US" sz="4400" dirty="0"/>
          </a:p>
        </p:txBody>
      </p:sp>
      <p:sp>
        <p:nvSpPr>
          <p:cNvPr id="4" name="Text 2"/>
          <p:cNvSpPr/>
          <p:nvPr/>
        </p:nvSpPr>
        <p:spPr>
          <a:xfrm>
            <a:off x="2011680" y="4480560"/>
            <a:ext cx="8138160" cy="548640"/>
          </a:xfrm>
          <a:prstGeom prst="rect">
            <a:avLst/>
          </a:prstGeom>
          <a:noFill/>
          <a:ln/>
        </p:spPr>
        <p:txBody>
          <a:bodyPr wrap="square" lIns="0" tIns="0" rIns="0" bIns="0" rtlCol="0" anchor="ctr"/>
          <a:lstStyle/>
          <a:p>
            <a:pPr algn="ctr" indent="0" marL="0">
              <a:buNone/>
            </a:pPr>
            <a:r>
              <a:rPr lang="en-US" sz="1400" dirty="0">
                <a:solidFill>
                  <a:srgbClr val="D8CBC3"/>
                </a:solidFill>
                <a:latin typeface="Karla" pitchFamily="34" charset="0"/>
                <a:ea typeface="Karla" pitchFamily="34" charset="-122"/>
                <a:cs typeface="Karla" pitchFamily="34" charset="-120"/>
              </a:rPr>
              <a:t>That is the whole thing. Now go build it.</a:t>
            </a:r>
            <a:endParaRPr lang="en-US" sz="14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BF6EE"/>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B7A99F"/>
                </a:solidFill>
                <a:latin typeface="Karla" pitchFamily="34" charset="0"/>
                <a:ea typeface="Karla" pitchFamily="34" charset="-122"/>
                <a:cs typeface="Karla" pitchFamily="34" charset="-120"/>
              </a:rPr>
              <a:t>98</a:t>
            </a:r>
            <a:endParaRPr lang="en-US" sz="1000" dirty="0"/>
          </a:p>
        </p:txBody>
      </p:sp>
      <p:sp>
        <p:nvSpPr>
          <p:cNvPr id="3" name="Text 1"/>
          <p:cNvSpPr/>
          <p:nvPr/>
        </p:nvSpPr>
        <p:spPr>
          <a:xfrm>
            <a:off x="777240" y="566928"/>
            <a:ext cx="10607040" cy="274320"/>
          </a:xfrm>
          <a:prstGeom prst="rect">
            <a:avLst/>
          </a:prstGeom>
          <a:noFill/>
          <a:ln/>
        </p:spPr>
        <p:txBody>
          <a:bodyPr wrap="square" lIns="0" tIns="0" rIns="0" bIns="0" rtlCol="0" anchor="ctr"/>
          <a:lstStyle/>
          <a:p>
            <a:pPr algn="l" indent="0" marL="0">
              <a:buNone/>
            </a:pPr>
            <a:r>
              <a:rPr lang="en-US" sz="1100" b="1" spc="300" kern="0" dirty="0">
                <a:solidFill>
                  <a:srgbClr val="7C2B48"/>
                </a:solidFill>
                <a:latin typeface="Karla" pitchFamily="34" charset="0"/>
                <a:ea typeface="Karla" pitchFamily="34" charset="-122"/>
                <a:cs typeface="Karla" pitchFamily="34" charset="-120"/>
              </a:rPr>
              <a:t>KEEP GOING</a:t>
            </a:r>
            <a:endParaRPr lang="en-US" sz="1100" dirty="0"/>
          </a:p>
        </p:txBody>
      </p:sp>
      <p:sp>
        <p:nvSpPr>
          <p:cNvPr id="4" name="Text 2"/>
          <p:cNvSpPr/>
          <p:nvPr/>
        </p:nvSpPr>
        <p:spPr>
          <a:xfrm>
            <a:off x="777240" y="932688"/>
            <a:ext cx="10607040" cy="960120"/>
          </a:xfrm>
          <a:prstGeom prst="rect">
            <a:avLst/>
          </a:prstGeom>
          <a:noFill/>
          <a:ln/>
        </p:spPr>
        <p:txBody>
          <a:bodyPr wrap="square" lIns="0" tIns="0" rIns="0" bIns="0" rtlCol="0" anchor="t"/>
          <a:lstStyle/>
          <a:p>
            <a:pPr algn="l" indent="0" marL="0">
              <a:lnSpc>
                <a:spcPts val="3800"/>
              </a:lnSpc>
              <a:buNone/>
            </a:pPr>
            <a:r>
              <a:rPr lang="en-US" sz="3200" dirty="0">
                <a:solidFill>
                  <a:srgbClr val="2E1F27"/>
                </a:solidFill>
                <a:latin typeface="Fraunces" pitchFamily="34" charset="0"/>
                <a:ea typeface="Fraunces" pitchFamily="34" charset="-122"/>
                <a:cs typeface="Fraunces" pitchFamily="34" charset="-120"/>
              </a:rPr>
              <a:t>Everything else that will help.</a:t>
            </a:r>
            <a:endParaRPr lang="en-US" sz="3200" dirty="0"/>
          </a:p>
        </p:txBody>
      </p:sp>
      <p:sp>
        <p:nvSpPr>
          <p:cNvPr id="5" name="Shape 3"/>
          <p:cNvSpPr/>
          <p:nvPr/>
        </p:nvSpPr>
        <p:spPr>
          <a:xfrm>
            <a:off x="777240" y="2331720"/>
            <a:ext cx="5166360" cy="1097280"/>
          </a:xfrm>
          <a:prstGeom prst="roundRect">
            <a:avLst>
              <a:gd name="adj" fmla="val 10000"/>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6" name="Text 4"/>
          <p:cNvSpPr/>
          <p:nvPr/>
        </p:nvSpPr>
        <p:spPr>
          <a:xfrm>
            <a:off x="1097280" y="2514600"/>
            <a:ext cx="4526280" cy="310896"/>
          </a:xfrm>
          <a:prstGeom prst="rect">
            <a:avLst/>
          </a:prstGeom>
          <a:noFill/>
          <a:ln/>
        </p:spPr>
        <p:txBody>
          <a:bodyPr wrap="square" lIns="0" tIns="0" rIns="0" bIns="0" rtlCol="0" anchor="ctr"/>
          <a:lstStyle/>
          <a:p>
            <a:pPr indent="0" marL="0">
              <a:buNone/>
            </a:pPr>
            <a:r>
              <a:rPr lang="en-US" sz="1600" dirty="0">
                <a:solidFill>
                  <a:srgbClr val="2E1F27"/>
                </a:solidFill>
                <a:latin typeface="Fraunces" pitchFamily="34" charset="0"/>
                <a:ea typeface="Fraunces" pitchFamily="34" charset="-122"/>
                <a:cs typeface="Fraunces" pitchFamily="34" charset="-120"/>
              </a:rPr>
              <a:t>The rest of the free library</a:t>
            </a:r>
            <a:endParaRPr lang="en-US" sz="1600" dirty="0"/>
          </a:p>
        </p:txBody>
      </p:sp>
      <p:sp>
        <p:nvSpPr>
          <p:cNvPr id="7" name="Text 5"/>
          <p:cNvSpPr/>
          <p:nvPr/>
        </p:nvSpPr>
        <p:spPr>
          <a:xfrm>
            <a:off x="1097280" y="2862072"/>
            <a:ext cx="4526280" cy="310896"/>
          </a:xfrm>
          <a:prstGeom prst="rect">
            <a:avLst/>
          </a:prstGeom>
          <a:noFill/>
          <a:ln/>
        </p:spPr>
        <p:txBody>
          <a:bodyPr wrap="square" lIns="0" tIns="0" rIns="0" bIns="0" rtlCol="0" anchor="ctr"/>
          <a:lstStyle/>
          <a:p>
            <a:pPr indent="0" marL="0">
              <a:buNone/>
            </a:pPr>
            <a:r>
              <a:rPr lang="en-US" sz="1200" dirty="0">
                <a:solidFill>
                  <a:srgbClr val="A93F63"/>
                </a:solidFill>
                <a:latin typeface="Karla" pitchFamily="34" charset="0"/>
                <a:ea typeface="Karla" pitchFamily="34" charset="-122"/>
                <a:cs typeface="Karla" pitchFamily="34" charset="-120"/>
              </a:rPr>
              <a:t>bossladybloggers.com/freebies</a:t>
            </a:r>
            <a:endParaRPr lang="en-US" sz="1200" dirty="0"/>
          </a:p>
        </p:txBody>
      </p:sp>
      <p:sp>
        <p:nvSpPr>
          <p:cNvPr id="8" name="Shape 6"/>
          <p:cNvSpPr/>
          <p:nvPr/>
        </p:nvSpPr>
        <p:spPr>
          <a:xfrm>
            <a:off x="6217920" y="2331720"/>
            <a:ext cx="5166360" cy="1097280"/>
          </a:xfrm>
          <a:prstGeom prst="roundRect">
            <a:avLst>
              <a:gd name="adj" fmla="val 10000"/>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9" name="Text 7"/>
          <p:cNvSpPr/>
          <p:nvPr/>
        </p:nvSpPr>
        <p:spPr>
          <a:xfrm>
            <a:off x="6537960" y="2514600"/>
            <a:ext cx="4526280" cy="310896"/>
          </a:xfrm>
          <a:prstGeom prst="rect">
            <a:avLst/>
          </a:prstGeom>
          <a:noFill/>
          <a:ln/>
        </p:spPr>
        <p:txBody>
          <a:bodyPr wrap="square" lIns="0" tIns="0" rIns="0" bIns="0" rtlCol="0" anchor="ctr"/>
          <a:lstStyle/>
          <a:p>
            <a:pPr indent="0" marL="0">
              <a:buNone/>
            </a:pPr>
            <a:r>
              <a:rPr lang="en-US" sz="1600" dirty="0">
                <a:solidFill>
                  <a:srgbClr val="2E1F27"/>
                </a:solidFill>
                <a:latin typeface="Fraunces" pitchFamily="34" charset="0"/>
                <a:ea typeface="Fraunces" pitchFamily="34" charset="-122"/>
                <a:cs typeface="Fraunces" pitchFamily="34" charset="-120"/>
              </a:rPr>
              <a:t>The podcast</a:t>
            </a:r>
            <a:endParaRPr lang="en-US" sz="1600" dirty="0"/>
          </a:p>
        </p:txBody>
      </p:sp>
      <p:sp>
        <p:nvSpPr>
          <p:cNvPr id="10" name="Text 8"/>
          <p:cNvSpPr/>
          <p:nvPr/>
        </p:nvSpPr>
        <p:spPr>
          <a:xfrm>
            <a:off x="6537960" y="2862072"/>
            <a:ext cx="4526280" cy="310896"/>
          </a:xfrm>
          <a:prstGeom prst="rect">
            <a:avLst/>
          </a:prstGeom>
          <a:noFill/>
          <a:ln/>
        </p:spPr>
        <p:txBody>
          <a:bodyPr wrap="square" lIns="0" tIns="0" rIns="0" bIns="0" rtlCol="0" anchor="ctr"/>
          <a:lstStyle/>
          <a:p>
            <a:pPr indent="0" marL="0">
              <a:buNone/>
            </a:pPr>
            <a:r>
              <a:rPr lang="en-US" sz="1200" dirty="0">
                <a:solidFill>
                  <a:srgbClr val="A93F63"/>
                </a:solidFill>
                <a:latin typeface="Karla" pitchFamily="34" charset="0"/>
                <a:ea typeface="Karla" pitchFamily="34" charset="-122"/>
                <a:cs typeface="Karla" pitchFamily="34" charset="-120"/>
              </a:rPr>
              <a:t>bossladybloggers.com/podcast</a:t>
            </a:r>
            <a:endParaRPr lang="en-US" sz="1200" dirty="0"/>
          </a:p>
        </p:txBody>
      </p:sp>
      <p:sp>
        <p:nvSpPr>
          <p:cNvPr id="11" name="Shape 9"/>
          <p:cNvSpPr/>
          <p:nvPr/>
        </p:nvSpPr>
        <p:spPr>
          <a:xfrm>
            <a:off x="777240" y="3648456"/>
            <a:ext cx="5166360" cy="1097280"/>
          </a:xfrm>
          <a:prstGeom prst="roundRect">
            <a:avLst>
              <a:gd name="adj" fmla="val 10000"/>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2" name="Text 10"/>
          <p:cNvSpPr/>
          <p:nvPr/>
        </p:nvSpPr>
        <p:spPr>
          <a:xfrm>
            <a:off x="1097280" y="3831336"/>
            <a:ext cx="4526280" cy="310896"/>
          </a:xfrm>
          <a:prstGeom prst="rect">
            <a:avLst/>
          </a:prstGeom>
          <a:noFill/>
          <a:ln/>
        </p:spPr>
        <p:txBody>
          <a:bodyPr wrap="square" lIns="0" tIns="0" rIns="0" bIns="0" rtlCol="0" anchor="ctr"/>
          <a:lstStyle/>
          <a:p>
            <a:pPr indent="0" marL="0">
              <a:buNone/>
            </a:pPr>
            <a:r>
              <a:rPr lang="en-US" sz="1600" dirty="0">
                <a:solidFill>
                  <a:srgbClr val="2E1F27"/>
                </a:solidFill>
                <a:latin typeface="Fraunces" pitchFamily="34" charset="0"/>
                <a:ea typeface="Fraunces" pitchFamily="34" charset="-122"/>
                <a:cs typeface="Fraunces" pitchFamily="34" charset="-120"/>
              </a:rPr>
              <a:t>The Blog Accelerator</a:t>
            </a:r>
            <a:endParaRPr lang="en-US" sz="1600" dirty="0"/>
          </a:p>
        </p:txBody>
      </p:sp>
      <p:sp>
        <p:nvSpPr>
          <p:cNvPr id="13" name="Text 11"/>
          <p:cNvSpPr/>
          <p:nvPr/>
        </p:nvSpPr>
        <p:spPr>
          <a:xfrm>
            <a:off x="1097280" y="4178808"/>
            <a:ext cx="4526280" cy="310896"/>
          </a:xfrm>
          <a:prstGeom prst="rect">
            <a:avLst/>
          </a:prstGeom>
          <a:noFill/>
          <a:ln/>
        </p:spPr>
        <p:txBody>
          <a:bodyPr wrap="square" lIns="0" tIns="0" rIns="0" bIns="0" rtlCol="0" anchor="ctr"/>
          <a:lstStyle/>
          <a:p>
            <a:pPr indent="0" marL="0">
              <a:buNone/>
            </a:pPr>
            <a:r>
              <a:rPr lang="en-US" sz="1200" dirty="0">
                <a:solidFill>
                  <a:srgbClr val="A93F63"/>
                </a:solidFill>
                <a:latin typeface="Karla" pitchFamily="34" charset="0"/>
                <a:ea typeface="Karla" pitchFamily="34" charset="-122"/>
                <a:cs typeface="Karla" pitchFamily="34" charset="-120"/>
              </a:rPr>
              <a:t>bossladybloggers.com/blog-accelerator</a:t>
            </a:r>
            <a:endParaRPr lang="en-US" sz="1200" dirty="0"/>
          </a:p>
        </p:txBody>
      </p:sp>
      <p:sp>
        <p:nvSpPr>
          <p:cNvPr id="14" name="Shape 12"/>
          <p:cNvSpPr/>
          <p:nvPr/>
        </p:nvSpPr>
        <p:spPr>
          <a:xfrm>
            <a:off x="6217920" y="3648456"/>
            <a:ext cx="5166360" cy="1097280"/>
          </a:xfrm>
          <a:prstGeom prst="roundRect">
            <a:avLst>
              <a:gd name="adj" fmla="val 10000"/>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5" name="Text 13"/>
          <p:cNvSpPr/>
          <p:nvPr/>
        </p:nvSpPr>
        <p:spPr>
          <a:xfrm>
            <a:off x="6537960" y="3831336"/>
            <a:ext cx="4526280" cy="310896"/>
          </a:xfrm>
          <a:prstGeom prst="rect">
            <a:avLst/>
          </a:prstGeom>
          <a:noFill/>
          <a:ln/>
        </p:spPr>
        <p:txBody>
          <a:bodyPr wrap="square" lIns="0" tIns="0" rIns="0" bIns="0" rtlCol="0" anchor="ctr"/>
          <a:lstStyle/>
          <a:p>
            <a:pPr indent="0" marL="0">
              <a:buNone/>
            </a:pPr>
            <a:r>
              <a:rPr lang="en-US" sz="1600" dirty="0">
                <a:solidFill>
                  <a:srgbClr val="2E1F27"/>
                </a:solidFill>
                <a:latin typeface="Fraunces" pitchFamily="34" charset="0"/>
                <a:ea typeface="Fraunces" pitchFamily="34" charset="-122"/>
                <a:cs typeface="Fraunces" pitchFamily="34" charset="-120"/>
              </a:rPr>
              <a:t>Book a free call</a:t>
            </a:r>
            <a:endParaRPr lang="en-US" sz="1600" dirty="0"/>
          </a:p>
        </p:txBody>
      </p:sp>
      <p:sp>
        <p:nvSpPr>
          <p:cNvPr id="16" name="Text 14"/>
          <p:cNvSpPr/>
          <p:nvPr/>
        </p:nvSpPr>
        <p:spPr>
          <a:xfrm>
            <a:off x="6537960" y="4178808"/>
            <a:ext cx="4526280" cy="310896"/>
          </a:xfrm>
          <a:prstGeom prst="rect">
            <a:avLst/>
          </a:prstGeom>
          <a:noFill/>
          <a:ln/>
        </p:spPr>
        <p:txBody>
          <a:bodyPr wrap="square" lIns="0" tIns="0" rIns="0" bIns="0" rtlCol="0" anchor="ctr"/>
          <a:lstStyle/>
          <a:p>
            <a:pPr indent="0" marL="0">
              <a:buNone/>
            </a:pPr>
            <a:r>
              <a:rPr lang="en-US" sz="1200" dirty="0">
                <a:solidFill>
                  <a:srgbClr val="A93F63"/>
                </a:solidFill>
                <a:latin typeface="Karla" pitchFamily="34" charset="0"/>
                <a:ea typeface="Karla" pitchFamily="34" charset="-122"/>
                <a:cs typeface="Karla" pitchFamily="34" charset="-120"/>
              </a:rPr>
              <a:t>bossladybloggers.com/book-a-call</a:t>
            </a:r>
            <a:endParaRPr lang="en-US" sz="1200" dirty="0"/>
          </a:p>
        </p:txBody>
      </p:sp>
      <p:sp>
        <p:nvSpPr>
          <p:cNvPr id="17" name="Shape 15"/>
          <p:cNvSpPr/>
          <p:nvPr/>
        </p:nvSpPr>
        <p:spPr>
          <a:xfrm>
            <a:off x="777240" y="4965192"/>
            <a:ext cx="5166360" cy="1097280"/>
          </a:xfrm>
          <a:prstGeom prst="roundRect">
            <a:avLst>
              <a:gd name="adj" fmla="val 10000"/>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18" name="Text 16"/>
          <p:cNvSpPr/>
          <p:nvPr/>
        </p:nvSpPr>
        <p:spPr>
          <a:xfrm>
            <a:off x="1097280" y="5148072"/>
            <a:ext cx="4526280" cy="310896"/>
          </a:xfrm>
          <a:prstGeom prst="rect">
            <a:avLst/>
          </a:prstGeom>
          <a:noFill/>
          <a:ln/>
        </p:spPr>
        <p:txBody>
          <a:bodyPr wrap="square" lIns="0" tIns="0" rIns="0" bIns="0" rtlCol="0" anchor="ctr"/>
          <a:lstStyle/>
          <a:p>
            <a:pPr indent="0" marL="0">
              <a:buNone/>
            </a:pPr>
            <a:r>
              <a:rPr lang="en-US" sz="1600" dirty="0">
                <a:solidFill>
                  <a:srgbClr val="2E1F27"/>
                </a:solidFill>
                <a:latin typeface="Fraunces" pitchFamily="34" charset="0"/>
                <a:ea typeface="Fraunces" pitchFamily="34" charset="-122"/>
                <a:cs typeface="Fraunces" pitchFamily="34" charset="-120"/>
              </a:rPr>
              <a:t>Blog coaching sessions</a:t>
            </a:r>
            <a:endParaRPr lang="en-US" sz="1600" dirty="0"/>
          </a:p>
        </p:txBody>
      </p:sp>
      <p:sp>
        <p:nvSpPr>
          <p:cNvPr id="19" name="Text 17"/>
          <p:cNvSpPr/>
          <p:nvPr/>
        </p:nvSpPr>
        <p:spPr>
          <a:xfrm>
            <a:off x="1097280" y="5495544"/>
            <a:ext cx="4526280" cy="310896"/>
          </a:xfrm>
          <a:prstGeom prst="rect">
            <a:avLst/>
          </a:prstGeom>
          <a:noFill/>
          <a:ln/>
        </p:spPr>
        <p:txBody>
          <a:bodyPr wrap="square" lIns="0" tIns="0" rIns="0" bIns="0" rtlCol="0" anchor="ctr"/>
          <a:lstStyle/>
          <a:p>
            <a:pPr indent="0" marL="0">
              <a:buNone/>
            </a:pPr>
            <a:r>
              <a:rPr lang="en-US" sz="1200" dirty="0">
                <a:solidFill>
                  <a:srgbClr val="A93F63"/>
                </a:solidFill>
                <a:latin typeface="Karla" pitchFamily="34" charset="0"/>
                <a:ea typeface="Karla" pitchFamily="34" charset="-122"/>
                <a:cs typeface="Karla" pitchFamily="34" charset="-120"/>
              </a:rPr>
              <a:t>bossladybloggers.com/blog-coaching</a:t>
            </a:r>
            <a:endParaRPr lang="en-US" sz="1200" dirty="0"/>
          </a:p>
        </p:txBody>
      </p:sp>
      <p:sp>
        <p:nvSpPr>
          <p:cNvPr id="20" name="Shape 18"/>
          <p:cNvSpPr/>
          <p:nvPr/>
        </p:nvSpPr>
        <p:spPr>
          <a:xfrm>
            <a:off x="6217920" y="4965192"/>
            <a:ext cx="5166360" cy="1097280"/>
          </a:xfrm>
          <a:prstGeom prst="roundRect">
            <a:avLst>
              <a:gd name="adj" fmla="val 10000"/>
            </a:avLst>
          </a:prstGeom>
          <a:solidFill>
            <a:srgbClr val="FFFFFF"/>
          </a:solidFill>
          <a:ln w="9525">
            <a:solidFill>
              <a:srgbClr val="E2D8CE"/>
            </a:solidFill>
            <a:prstDash val="solid"/>
          </a:ln>
          <a:effectLst>
            <a:outerShdw sx="100000" sy="100000" kx="0" ky="0" algn="bl" rotWithShape="0" blurRad="177800" dist="50800" dir="5400000">
              <a:srgbClr val="2E1F27">
                <a:alpha val="13000"/>
              </a:srgbClr>
            </a:outerShdw>
          </a:effectLst>
        </p:spPr>
      </p:sp>
      <p:sp>
        <p:nvSpPr>
          <p:cNvPr id="21" name="Text 19"/>
          <p:cNvSpPr/>
          <p:nvPr/>
        </p:nvSpPr>
        <p:spPr>
          <a:xfrm>
            <a:off x="6537960" y="5148072"/>
            <a:ext cx="4526280" cy="310896"/>
          </a:xfrm>
          <a:prstGeom prst="rect">
            <a:avLst/>
          </a:prstGeom>
          <a:noFill/>
          <a:ln/>
        </p:spPr>
        <p:txBody>
          <a:bodyPr wrap="square" lIns="0" tIns="0" rIns="0" bIns="0" rtlCol="0" anchor="ctr"/>
          <a:lstStyle/>
          <a:p>
            <a:pPr indent="0" marL="0">
              <a:buNone/>
            </a:pPr>
            <a:r>
              <a:rPr lang="en-US" sz="1600" dirty="0">
                <a:solidFill>
                  <a:srgbClr val="2E1F27"/>
                </a:solidFill>
                <a:latin typeface="Fraunces" pitchFamily="34" charset="0"/>
                <a:ea typeface="Fraunces" pitchFamily="34" charset="-122"/>
                <a:cs typeface="Fraunces" pitchFamily="34" charset="-120"/>
              </a:rPr>
              <a:t>Questions?</a:t>
            </a:r>
            <a:endParaRPr lang="en-US" sz="1600" dirty="0"/>
          </a:p>
        </p:txBody>
      </p:sp>
      <p:sp>
        <p:nvSpPr>
          <p:cNvPr id="22" name="Text 20"/>
          <p:cNvSpPr/>
          <p:nvPr/>
        </p:nvSpPr>
        <p:spPr>
          <a:xfrm>
            <a:off x="6537960" y="5495544"/>
            <a:ext cx="4526280" cy="310896"/>
          </a:xfrm>
          <a:prstGeom prst="rect">
            <a:avLst/>
          </a:prstGeom>
          <a:noFill/>
          <a:ln/>
        </p:spPr>
        <p:txBody>
          <a:bodyPr wrap="square" lIns="0" tIns="0" rIns="0" bIns="0" rtlCol="0" anchor="ctr"/>
          <a:lstStyle/>
          <a:p>
            <a:pPr indent="0" marL="0">
              <a:buNone/>
            </a:pPr>
            <a:r>
              <a:rPr lang="en-US" sz="1200" dirty="0">
                <a:solidFill>
                  <a:srgbClr val="A93F63"/>
                </a:solidFill>
                <a:latin typeface="Karla" pitchFamily="34" charset="0"/>
                <a:ea typeface="Karla" pitchFamily="34" charset="-122"/>
                <a:cs typeface="Karla" pitchFamily="34" charset="-120"/>
              </a:rPr>
              <a:t>hello@bossladybloggers.com</a:t>
            </a:r>
            <a:endParaRPr lang="en-US" sz="12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99</a:t>
            </a:r>
            <a:endParaRPr lang="en-US" sz="1000" dirty="0"/>
          </a:p>
        </p:txBody>
      </p:sp>
      <p:sp>
        <p:nvSpPr>
          <p:cNvPr id="3" name="Shape 1"/>
          <p:cNvSpPr/>
          <p:nvPr/>
        </p:nvSpPr>
        <p:spPr>
          <a:xfrm>
            <a:off x="-1280160" y="-1463040"/>
            <a:ext cx="4206240" cy="4206240"/>
          </a:xfrm>
          <a:prstGeom prst="ellipse">
            <a:avLst/>
          </a:prstGeom>
          <a:solidFill>
            <a:srgbClr val="A93F63">
              <a:alpha val="24000"/>
            </a:srgbClr>
          </a:solidFill>
          <a:ln w="12700">
            <a:solidFill>
              <a:srgbClr val="333333"/>
            </a:solidFill>
            <a:prstDash val="solid"/>
          </a:ln>
        </p:spPr>
      </p:sp>
      <p:sp>
        <p:nvSpPr>
          <p:cNvPr id="4" name="Text 2"/>
          <p:cNvSpPr/>
          <p:nvPr/>
        </p:nvSpPr>
        <p:spPr>
          <a:xfrm>
            <a:off x="777240" y="777240"/>
            <a:ext cx="10607040" cy="274320"/>
          </a:xfrm>
          <a:prstGeom prst="rect">
            <a:avLst/>
          </a:prstGeom>
          <a:noFill/>
          <a:ln/>
        </p:spPr>
        <p:txBody>
          <a:bodyPr wrap="square" lIns="0" tIns="0" rIns="0" bIns="0" rtlCol="0" anchor="ctr"/>
          <a:lstStyle/>
          <a:p>
            <a:pPr indent="0" marL="0">
              <a:buNone/>
            </a:pPr>
            <a:r>
              <a:rPr lang="en-US" sz="1100" b="1" spc="400" kern="0" dirty="0">
                <a:solidFill>
                  <a:srgbClr val="BC8A47"/>
                </a:solidFill>
                <a:latin typeface="Karla" pitchFamily="34" charset="0"/>
                <a:ea typeface="Karla" pitchFamily="34" charset="-122"/>
                <a:cs typeface="Karla" pitchFamily="34" charset="-120"/>
              </a:rPr>
              <a:t>IF YOU WOULD RATHER NOT DO IT ALONE</a:t>
            </a:r>
            <a:endParaRPr lang="en-US" sz="1100" dirty="0"/>
          </a:p>
        </p:txBody>
      </p:sp>
      <p:sp>
        <p:nvSpPr>
          <p:cNvPr id="5" name="Text 3"/>
          <p:cNvSpPr/>
          <p:nvPr/>
        </p:nvSpPr>
        <p:spPr>
          <a:xfrm>
            <a:off x="777240" y="1188720"/>
            <a:ext cx="6400800" cy="1371600"/>
          </a:xfrm>
          <a:prstGeom prst="rect">
            <a:avLst/>
          </a:prstGeom>
          <a:noFill/>
          <a:ln/>
        </p:spPr>
        <p:txBody>
          <a:bodyPr wrap="square" lIns="0" tIns="0" rIns="0" bIns="0" rtlCol="0" anchor="ctr"/>
          <a:lstStyle/>
          <a:p>
            <a:pPr indent="0" marL="0">
              <a:lnSpc>
                <a:spcPts val="4200"/>
              </a:lnSpc>
              <a:buNone/>
            </a:pPr>
            <a:r>
              <a:rPr lang="en-US" sz="3800" dirty="0">
                <a:solidFill>
                  <a:srgbClr val="FBF6EE"/>
                </a:solidFill>
                <a:latin typeface="Fraunces" pitchFamily="34" charset="0"/>
                <a:ea typeface="Fraunces" pitchFamily="34" charset="-122"/>
                <a:cs typeface="Fraunces" pitchFamily="34" charset="-120"/>
              </a:rPr>
              <a:t>The Blog Accelerator</a:t>
            </a:r>
            <a:endParaRPr lang="en-US" sz="3800" dirty="0"/>
          </a:p>
        </p:txBody>
      </p:sp>
      <p:sp>
        <p:nvSpPr>
          <p:cNvPr id="6" name="Text 4"/>
          <p:cNvSpPr/>
          <p:nvPr/>
        </p:nvSpPr>
        <p:spPr>
          <a:xfrm>
            <a:off x="777240" y="2651760"/>
            <a:ext cx="6217920" cy="914400"/>
          </a:xfrm>
          <a:prstGeom prst="rect">
            <a:avLst/>
          </a:prstGeom>
          <a:noFill/>
          <a:ln/>
        </p:spPr>
        <p:txBody>
          <a:bodyPr wrap="square" lIns="0" tIns="0" rIns="0" bIns="0" rtlCol="0" anchor="ctr"/>
          <a:lstStyle/>
          <a:p>
            <a:pPr indent="0" marL="0">
              <a:lnSpc>
                <a:spcPts val="2200"/>
              </a:lnSpc>
              <a:buNone/>
            </a:pPr>
            <a:r>
              <a:rPr lang="en-US" sz="1400" dirty="0">
                <a:solidFill>
                  <a:srgbClr val="D8CBC3"/>
                </a:solidFill>
                <a:latin typeface="Karla" pitchFamily="34" charset="0"/>
                <a:ea typeface="Karla" pitchFamily="34" charset="-122"/>
                <a:cs typeface="Karla" pitchFamily="34" charset="-120"/>
              </a:rPr>
              <a:t>Everything in this course, done with you in 21 days. Your offer, your copy, and a custom site designed around it.</a:t>
            </a:r>
            <a:endParaRPr lang="en-US" sz="1400" dirty="0"/>
          </a:p>
        </p:txBody>
      </p:sp>
      <p:sp>
        <p:nvSpPr>
          <p:cNvPr id="7" name="Text 5"/>
          <p:cNvSpPr/>
          <p:nvPr/>
        </p:nvSpPr>
        <p:spPr>
          <a:xfrm>
            <a:off x="777240" y="3703320"/>
            <a:ext cx="6217920" cy="18288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350" dirty="0">
                <a:solidFill>
                  <a:srgbClr val="FBF6EE"/>
                </a:solidFill>
                <a:latin typeface="Karla" pitchFamily="34" charset="0"/>
                <a:ea typeface="Karla" pitchFamily="34" charset="-122"/>
                <a:cs typeface="Karla" pitchFamily="34" charset="-120"/>
              </a:rPr>
              <a:t>Your offer nailed down and priced</a:t>
            </a:r>
            <a:endParaRPr lang="en-US" sz="1350" dirty="0"/>
          </a:p>
          <a:p>
            <a:pPr marL="342900" indent="-342900">
              <a:lnSpc>
                <a:spcPts val="1900"/>
              </a:lnSpc>
              <a:spcAft>
                <a:spcPts val="800"/>
              </a:spcAft>
              <a:buSzPct val="100000"/>
              <a:buChar char="✓"/>
            </a:pPr>
            <a:r>
              <a:rPr lang="en-US" sz="1350" dirty="0">
                <a:solidFill>
                  <a:srgbClr val="FBF6EE"/>
                </a:solidFill>
                <a:latin typeface="Karla" pitchFamily="34" charset="0"/>
                <a:ea typeface="Karla" pitchFamily="34" charset="-122"/>
                <a:cs typeface="Karla" pitchFamily="34" charset="-120"/>
              </a:rPr>
              <a:t>Sales copy written in your voice</a:t>
            </a:r>
            <a:endParaRPr lang="en-US" sz="1350" dirty="0"/>
          </a:p>
          <a:p>
            <a:pPr marL="342900" indent="-342900">
              <a:lnSpc>
                <a:spcPts val="1900"/>
              </a:lnSpc>
              <a:spcAft>
                <a:spcPts val="800"/>
              </a:spcAft>
              <a:buSzPct val="100000"/>
              <a:buChar char="✓"/>
            </a:pPr>
            <a:r>
              <a:rPr lang="en-US" sz="1350" dirty="0">
                <a:solidFill>
                  <a:srgbClr val="FBF6EE"/>
                </a:solidFill>
                <a:latin typeface="Karla" pitchFamily="34" charset="0"/>
                <a:ea typeface="Karla" pitchFamily="34" charset="-122"/>
                <a:cs typeface="Karla" pitchFamily="34" charset="-120"/>
              </a:rPr>
              <a:t>A custom Showit site built around it</a:t>
            </a:r>
            <a:endParaRPr lang="en-US" sz="1350" dirty="0"/>
          </a:p>
          <a:p>
            <a:pPr marL="342900" indent="-342900">
              <a:lnSpc>
                <a:spcPts val="1900"/>
              </a:lnSpc>
              <a:spcAft>
                <a:spcPts val="800"/>
              </a:spcAft>
              <a:buSzPct val="100000"/>
              <a:buChar char="✓"/>
            </a:pPr>
            <a:r>
              <a:rPr lang="en-US" sz="1350" dirty="0">
                <a:solidFill>
                  <a:srgbClr val="FBF6EE"/>
                </a:solidFill>
                <a:latin typeface="Karla" pitchFamily="34" charset="0"/>
                <a:ea typeface="Karla" pitchFamily="34" charset="-122"/>
                <a:cs typeface="Karla" pitchFamily="34" charset="-120"/>
              </a:rPr>
              <a:t>Weekly 1:1 coaching the whole way</a:t>
            </a:r>
            <a:endParaRPr lang="en-US" sz="1350" dirty="0"/>
          </a:p>
          <a:p>
            <a:pPr marL="342900" indent="-342900">
              <a:lnSpc>
                <a:spcPts val="1900"/>
              </a:lnSpc>
              <a:spcAft>
                <a:spcPts val="800"/>
              </a:spcAft>
              <a:buSzPct val="100000"/>
              <a:buChar char="✓"/>
            </a:pPr>
            <a:r>
              <a:rPr lang="en-US" sz="1350" dirty="0">
                <a:solidFill>
                  <a:srgbClr val="FBF6EE"/>
                </a:solidFill>
                <a:latin typeface="Karla" pitchFamily="34" charset="0"/>
                <a:ea typeface="Karla" pitchFamily="34" charset="-122"/>
                <a:cs typeface="Karla" pitchFamily="34" charset="-120"/>
              </a:rPr>
              <a:t>Only three clients at a time</a:t>
            </a:r>
            <a:endParaRPr lang="en-US" sz="1350" dirty="0"/>
          </a:p>
        </p:txBody>
      </p:sp>
      <p:sp>
        <p:nvSpPr>
          <p:cNvPr id="8" name="Shape 6"/>
          <p:cNvSpPr/>
          <p:nvPr/>
        </p:nvSpPr>
        <p:spPr>
          <a:xfrm>
            <a:off x="7818120" y="2103120"/>
            <a:ext cx="3566160" cy="3017520"/>
          </a:xfrm>
          <a:prstGeom prst="roundRect">
            <a:avLst>
              <a:gd name="adj" fmla="val 3636"/>
            </a:avLst>
          </a:prstGeom>
          <a:solidFill>
            <a:srgbClr val="FBF6EE"/>
          </a:solidFill>
          <a:ln w="9525">
            <a:solidFill>
              <a:srgbClr val="FBF6EE"/>
            </a:solidFill>
            <a:prstDash val="solid"/>
          </a:ln>
          <a:effectLst>
            <a:outerShdw sx="100000" sy="100000" kx="0" ky="0" algn="bl" rotWithShape="0" blurRad="177800" dist="50800" dir="5400000">
              <a:srgbClr val="2E1F27">
                <a:alpha val="13000"/>
              </a:srgbClr>
            </a:outerShdw>
          </a:effectLst>
        </p:spPr>
      </p:sp>
      <p:sp>
        <p:nvSpPr>
          <p:cNvPr id="9" name="Text 7"/>
          <p:cNvSpPr/>
          <p:nvPr/>
        </p:nvSpPr>
        <p:spPr>
          <a:xfrm>
            <a:off x="7818120" y="2514600"/>
            <a:ext cx="3566160" cy="822960"/>
          </a:xfrm>
          <a:prstGeom prst="rect">
            <a:avLst/>
          </a:prstGeom>
          <a:noFill/>
          <a:ln/>
        </p:spPr>
        <p:txBody>
          <a:bodyPr wrap="square" lIns="0" tIns="0" rIns="0" bIns="0" rtlCol="0" anchor="ctr"/>
          <a:lstStyle/>
          <a:p>
            <a:pPr algn="ctr" indent="0" marL="0">
              <a:buNone/>
            </a:pPr>
            <a:r>
              <a:rPr lang="en-US" sz="4200" dirty="0">
                <a:solidFill>
                  <a:srgbClr val="A93F63"/>
                </a:solidFill>
                <a:latin typeface="Fraunces" pitchFamily="34" charset="0"/>
                <a:ea typeface="Fraunces" pitchFamily="34" charset="-122"/>
                <a:cs typeface="Fraunces" pitchFamily="34" charset="-120"/>
              </a:rPr>
              <a:t>$3,000</a:t>
            </a:r>
            <a:endParaRPr lang="en-US" sz="4200" dirty="0"/>
          </a:p>
        </p:txBody>
      </p:sp>
      <p:sp>
        <p:nvSpPr>
          <p:cNvPr id="10" name="Text 8"/>
          <p:cNvSpPr/>
          <p:nvPr/>
        </p:nvSpPr>
        <p:spPr>
          <a:xfrm>
            <a:off x="8138160" y="3337560"/>
            <a:ext cx="2926080" cy="457200"/>
          </a:xfrm>
          <a:prstGeom prst="rect">
            <a:avLst/>
          </a:prstGeom>
          <a:noFill/>
          <a:ln/>
        </p:spPr>
        <p:txBody>
          <a:bodyPr wrap="square" lIns="0" tIns="0" rIns="0" bIns="0" rtlCol="0" anchor="ctr"/>
          <a:lstStyle/>
          <a:p>
            <a:pPr algn="ctr" indent="0" marL="0">
              <a:buNone/>
            </a:pPr>
            <a:r>
              <a:rPr lang="en-US" sz="1250" dirty="0">
                <a:solidFill>
                  <a:srgbClr val="6E5C63"/>
                </a:solidFill>
                <a:latin typeface="Karla" pitchFamily="34" charset="0"/>
                <a:ea typeface="Karla" pitchFamily="34" charset="-122"/>
                <a:cs typeface="Karla" pitchFamily="34" charset="-120"/>
              </a:rPr>
              <a:t>or three payments of $1,000</a:t>
            </a:r>
            <a:endParaRPr lang="en-US" sz="1250" dirty="0"/>
          </a:p>
        </p:txBody>
      </p:sp>
      <p:sp>
        <p:nvSpPr>
          <p:cNvPr id="11" name="Shape 9"/>
          <p:cNvSpPr/>
          <p:nvPr/>
        </p:nvSpPr>
        <p:spPr>
          <a:xfrm>
            <a:off x="8229600" y="3977640"/>
            <a:ext cx="2743200" cy="658368"/>
          </a:xfrm>
          <a:prstGeom prst="roundRect">
            <a:avLst>
              <a:gd name="adj" fmla="val 50000"/>
            </a:avLst>
          </a:prstGeom>
          <a:solidFill>
            <a:srgbClr val="A93F63"/>
          </a:solidFill>
          <a:ln w="12700">
            <a:solidFill>
              <a:srgbClr val="A93F63"/>
            </a:solidFill>
            <a:prstDash val="solid"/>
          </a:ln>
        </p:spPr>
      </p:sp>
      <p:sp>
        <p:nvSpPr>
          <p:cNvPr id="12" name="Text 10"/>
          <p:cNvSpPr/>
          <p:nvPr/>
        </p:nvSpPr>
        <p:spPr>
          <a:xfrm>
            <a:off x="8229600" y="3977640"/>
            <a:ext cx="2743200" cy="658368"/>
          </a:xfrm>
          <a:prstGeom prst="rect">
            <a:avLst/>
          </a:prstGeom>
          <a:noFill/>
          <a:ln/>
        </p:spPr>
        <p:txBody>
          <a:bodyPr wrap="square" lIns="0" tIns="0" rIns="0" bIns="0" rtlCol="0" anchor="ctr"/>
          <a:lstStyle/>
          <a:p>
            <a:pPr algn="ctr" indent="0" marL="0">
              <a:buNone/>
            </a:pPr>
            <a:r>
              <a:rPr lang="en-US" sz="1150" b="1" spc="250" kern="0" dirty="0">
                <a:solidFill>
                  <a:srgbClr val="FFFFFF"/>
                </a:solidFill>
                <a:latin typeface="Karla" pitchFamily="34" charset="0"/>
                <a:ea typeface="Karla" pitchFamily="34" charset="-122"/>
                <a:cs typeface="Karla" pitchFamily="34" charset="-120"/>
              </a:rPr>
              <a:t>SEE THE PROGRAM</a:t>
            </a:r>
            <a:endParaRPr lang="en-US" sz="11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2E1F27"/>
        </a:solidFill>
      </p:bgPr>
    </p:bg>
    <p:spTree>
      <p:nvGrpSpPr>
        <p:cNvPr id="1" name=""/>
        <p:cNvGrpSpPr/>
        <p:nvPr/>
      </p:nvGrpSpPr>
      <p:grpSpPr>
        <a:xfrm>
          <a:off x="0" y="0"/>
          <a:ext cx="0" cy="0"/>
          <a:chOff x="0" y="0"/>
          <a:chExt cx="0" cy="0"/>
        </a:xfrm>
      </p:grpSpPr>
      <p:sp>
        <p:nvSpPr>
          <p:cNvPr id="2" name="Text 0"/>
          <p:cNvSpPr/>
          <p:nvPr/>
        </p:nvSpPr>
        <p:spPr>
          <a:xfrm>
            <a:off x="11201400" y="6291072"/>
            <a:ext cx="548640" cy="292608"/>
          </a:xfrm>
          <a:prstGeom prst="rect">
            <a:avLst/>
          </a:prstGeom>
          <a:noFill/>
          <a:ln/>
        </p:spPr>
        <p:txBody>
          <a:bodyPr wrap="square" lIns="0" tIns="0" rIns="0" bIns="0" rtlCol="0" anchor="ctr"/>
          <a:lstStyle/>
          <a:p>
            <a:pPr algn="r" indent="0" marL="0">
              <a:buNone/>
            </a:pPr>
            <a:r>
              <a:rPr lang="en-US" sz="1000" dirty="0">
                <a:solidFill>
                  <a:srgbClr val="6B5A61"/>
                </a:solidFill>
                <a:latin typeface="Karla" pitchFamily="34" charset="0"/>
                <a:ea typeface="Karla" pitchFamily="34" charset="-122"/>
                <a:cs typeface="Karla" pitchFamily="34" charset="-120"/>
              </a:rPr>
              <a:t>100</a:t>
            </a:r>
            <a:endParaRPr lang="en-US" sz="1000" dirty="0"/>
          </a:p>
        </p:txBody>
      </p:sp>
      <p:sp>
        <p:nvSpPr>
          <p:cNvPr id="3" name="Shape 1"/>
          <p:cNvSpPr/>
          <p:nvPr/>
        </p:nvSpPr>
        <p:spPr>
          <a:xfrm>
            <a:off x="9235440" y="4663440"/>
            <a:ext cx="4206240" cy="4206240"/>
          </a:xfrm>
          <a:prstGeom prst="ellipse">
            <a:avLst/>
          </a:prstGeom>
          <a:solidFill>
            <a:srgbClr val="BC8A47">
              <a:alpha val="20000"/>
            </a:srgbClr>
          </a:solidFill>
          <a:ln w="12700">
            <a:solidFill>
              <a:srgbClr val="333333"/>
            </a:solidFill>
            <a:prstDash val="solid"/>
          </a:ln>
        </p:spPr>
      </p:sp>
      <p:sp>
        <p:nvSpPr>
          <p:cNvPr id="4" name="Text 2"/>
          <p:cNvSpPr/>
          <p:nvPr/>
        </p:nvSpPr>
        <p:spPr>
          <a:xfrm>
            <a:off x="1280160" y="1920240"/>
            <a:ext cx="9601200" cy="1645920"/>
          </a:xfrm>
          <a:prstGeom prst="rect">
            <a:avLst/>
          </a:prstGeom>
          <a:noFill/>
          <a:ln/>
        </p:spPr>
        <p:txBody>
          <a:bodyPr wrap="square" lIns="0" tIns="0" rIns="0" bIns="0" rtlCol="0" anchor="ctr"/>
          <a:lstStyle/>
          <a:p>
            <a:pPr algn="ctr" indent="0" marL="0">
              <a:lnSpc>
                <a:spcPts val="5200"/>
              </a:lnSpc>
              <a:buNone/>
            </a:pPr>
            <a:r>
              <a:rPr lang="en-US" sz="4600" dirty="0">
                <a:solidFill>
                  <a:srgbClr val="FBF6EE"/>
                </a:solidFill>
                <a:latin typeface="Fraunces" pitchFamily="34" charset="0"/>
                <a:ea typeface="Fraunces" pitchFamily="34" charset="-122"/>
                <a:cs typeface="Fraunces" pitchFamily="34" charset="-120"/>
              </a:rPr>
              <a:t>Thank you for </a:t>
            </a:r>
            <a:pPr algn="ctr" indent="0" marL="0">
              <a:lnSpc>
                <a:spcPts val="5200"/>
              </a:lnSpc>
              <a:buNone/>
            </a:pPr>
            <a:r>
              <a:rPr lang="en-US" sz="4600" i="1" dirty="0">
                <a:solidFill>
                  <a:srgbClr val="A93F63"/>
                </a:solidFill>
                <a:latin typeface="Fraunces" pitchFamily="34" charset="0"/>
                <a:ea typeface="Fraunces" pitchFamily="34" charset="-122"/>
                <a:cs typeface="Fraunces" pitchFamily="34" charset="-120"/>
              </a:rPr>
              <a:t>doing the work.</a:t>
            </a:r>
            <a:endParaRPr lang="en-US" sz="4600" dirty="0"/>
          </a:p>
        </p:txBody>
      </p:sp>
      <p:sp>
        <p:nvSpPr>
          <p:cNvPr id="5" name="Text 3"/>
          <p:cNvSpPr/>
          <p:nvPr/>
        </p:nvSpPr>
        <p:spPr>
          <a:xfrm>
            <a:off x="2377440" y="3611880"/>
            <a:ext cx="7406640" cy="822960"/>
          </a:xfrm>
          <a:prstGeom prst="rect">
            <a:avLst/>
          </a:prstGeom>
          <a:noFill/>
          <a:ln/>
        </p:spPr>
        <p:txBody>
          <a:bodyPr wrap="square" lIns="0" tIns="0" rIns="0" bIns="0" rtlCol="0" anchor="ctr"/>
          <a:lstStyle/>
          <a:p>
            <a:pPr algn="ctr" indent="0" marL="0">
              <a:buNone/>
            </a:pPr>
            <a:r>
              <a:rPr lang="en-US" sz="3000" dirty="0">
                <a:solidFill>
                  <a:srgbClr val="BC8A47"/>
                </a:solidFill>
                <a:latin typeface="Ephesis" pitchFamily="34" charset="0"/>
                <a:ea typeface="Ephesis" pitchFamily="34" charset="-122"/>
                <a:cs typeface="Ephesis" pitchFamily="34" charset="-120"/>
              </a:rPr>
              <a:t>now go make something that sells</a:t>
            </a:r>
            <a:endParaRPr lang="en-US" sz="3000" dirty="0"/>
          </a:p>
        </p:txBody>
      </p:sp>
      <p:sp>
        <p:nvSpPr>
          <p:cNvPr id="6" name="Text 4"/>
          <p:cNvSpPr/>
          <p:nvPr/>
        </p:nvSpPr>
        <p:spPr>
          <a:xfrm>
            <a:off x="2377440" y="4617720"/>
            <a:ext cx="7406640" cy="457200"/>
          </a:xfrm>
          <a:prstGeom prst="rect">
            <a:avLst/>
          </a:prstGeom>
          <a:noFill/>
          <a:ln/>
        </p:spPr>
        <p:txBody>
          <a:bodyPr wrap="square" lIns="0" tIns="0" rIns="0" bIns="0" rtlCol="0" anchor="ctr"/>
          <a:lstStyle/>
          <a:p>
            <a:pPr algn="ctr" indent="0" marL="0">
              <a:buNone/>
            </a:pPr>
            <a:r>
              <a:rPr lang="en-US" sz="1300" spc="200" kern="0" dirty="0">
                <a:solidFill>
                  <a:srgbClr val="D8CBC3"/>
                </a:solidFill>
                <a:latin typeface="Karla" pitchFamily="34" charset="0"/>
                <a:ea typeface="Karla" pitchFamily="34" charset="-122"/>
                <a:cs typeface="Karla" pitchFamily="34" charset="-120"/>
              </a:rPr>
              <a:t>BOSSLADYBLOGGERS.COM  ·  HELLO@BOSSLADYBLOGGERS.COM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Boss Lady Bloggers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Blog Foundations Course Deck Template</dc:title>
  <dc:subject>PptxGenJS Presentation</dc:subject>
  <dc:creator>Boss Lady Bloggers</dc:creator>
  <cp:lastModifiedBy>Boss Lady Bloggers</cp:lastModifiedBy>
  <cp:revision>1</cp:revision>
  <dcterms:created xsi:type="dcterms:W3CDTF">2026-08-07T18:02:36Z</dcterms:created>
  <dcterms:modified xsi:type="dcterms:W3CDTF">2026-08-07T18:02:36Z</dcterms:modified>
</cp:coreProperties>
</file>